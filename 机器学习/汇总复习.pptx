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1155" r:id="rId4"/>
    <p:sldId id="1153" r:id="rId5"/>
    <p:sldId id="1154" r:id="rId6"/>
    <p:sldId id="338" r:id="rId7"/>
    <p:sldId id="340" r:id="rId8"/>
    <p:sldId id="295" r:id="rId9"/>
    <p:sldId id="296" r:id="rId10"/>
    <p:sldId id="302" r:id="rId11"/>
    <p:sldId id="305" r:id="rId12"/>
    <p:sldId id="319" r:id="rId13"/>
    <p:sldId id="320" r:id="rId14"/>
    <p:sldId id="321" r:id="rId15"/>
    <p:sldId id="1062" r:id="rId16"/>
    <p:sldId id="1082" r:id="rId17"/>
    <p:sldId id="1047" r:id="rId18"/>
    <p:sldId id="1058" r:id="rId19"/>
    <p:sldId id="1086" r:id="rId20"/>
    <p:sldId id="1087" r:id="rId21"/>
    <p:sldId id="1071" r:id="rId22"/>
    <p:sldId id="1072" r:id="rId23"/>
    <p:sldId id="1073" r:id="rId24"/>
    <p:sldId id="1092" r:id="rId25"/>
    <p:sldId id="1097" r:id="rId26"/>
    <p:sldId id="1156" r:id="rId27"/>
    <p:sldId id="1093" r:id="rId28"/>
    <p:sldId id="1157" r:id="rId29"/>
    <p:sldId id="1095" r:id="rId30"/>
    <p:sldId id="1096" r:id="rId31"/>
    <p:sldId id="1210" r:id="rId32"/>
    <p:sldId id="1211" r:id="rId33"/>
    <p:sldId id="1212" r:id="rId34"/>
    <p:sldId id="1213" r:id="rId35"/>
    <p:sldId id="258" r:id="rId36"/>
    <p:sldId id="1214" r:id="rId37"/>
    <p:sldId id="1215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问答题" id="{84928A79-8A64-4A1B-A1E9-2052FFD6C5C5}">
          <p14:sldIdLst>
            <p14:sldId id="256"/>
            <p14:sldId id="257"/>
          </p14:sldIdLst>
        </p14:section>
        <p14:section name="余弦相似性" id="{456FC584-E662-4C01-8FAB-D4226DC5216A}">
          <p14:sldIdLst>
            <p14:sldId id="1155"/>
            <p14:sldId id="1153"/>
            <p14:sldId id="1154"/>
          </p14:sldIdLst>
        </p14:section>
        <p14:section name="决策树ID3、C4.5、基尼（三选一）" id="{F2E4CA9B-CD6F-4CE4-A538-6FD042A13CC0}">
          <p14:sldIdLst>
            <p14:sldId id="338"/>
            <p14:sldId id="340"/>
            <p14:sldId id="295"/>
            <p14:sldId id="296"/>
            <p14:sldId id="302"/>
            <p14:sldId id="305"/>
            <p14:sldId id="319"/>
            <p14:sldId id="320"/>
            <p14:sldId id="321"/>
          </p14:sldIdLst>
        </p14:section>
        <p14:section name="线性模型" id="{98BB4DEC-4D90-4612-8CA8-65D829F24E88}">
          <p14:sldIdLst>
            <p14:sldId id="1062"/>
            <p14:sldId id="1082"/>
          </p14:sldIdLst>
        </p14:section>
        <p14:section name="K近邻" id="{26EF4780-8003-46A1-90CF-9B6B3C1C393E}">
          <p14:sldIdLst>
            <p14:sldId id="1047"/>
            <p14:sldId id="1058"/>
          </p14:sldIdLst>
        </p14:section>
        <p14:section name="朴素贝叶斯" id="{5A96A94B-1AB6-45BF-8D25-A961FE232654}">
          <p14:sldIdLst>
            <p14:sldId id="1086"/>
            <p14:sldId id="1087"/>
            <p14:sldId id="1071"/>
            <p14:sldId id="1072"/>
            <p14:sldId id="1073"/>
          </p14:sldIdLst>
        </p14:section>
        <p14:section name="K-means" id="{F9B9AEFC-6496-484F-9183-21FF91F8F0FD}">
          <p14:sldIdLst>
            <p14:sldId id="1092"/>
            <p14:sldId id="1097"/>
            <p14:sldId id="1156"/>
            <p14:sldId id="1093"/>
            <p14:sldId id="1157"/>
            <p14:sldId id="1095"/>
            <p14:sldId id="1096"/>
          </p14:sldIdLst>
        </p14:section>
        <p14:section name="集成学习" id="{E39B688B-F3F6-4581-B2CB-F6A99FB8DF25}">
          <p14:sldIdLst>
            <p14:sldId id="1210"/>
            <p14:sldId id="1211"/>
            <p14:sldId id="1212"/>
            <p14:sldId id="1213"/>
          </p14:sldIdLst>
        </p14:section>
        <p14:section name="编程题" id="{C935BF09-A8DF-4473-BC85-96706C3F5803}">
          <p14:sldIdLst>
            <p14:sldId id="258"/>
            <p14:sldId id="1214"/>
            <p14:sldId id="121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74.4186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4-02-28T03:24:56.5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9990 9906 0,'0'36'359,"0"35"-328,0-47-31,0 0 16,0-12 0,0 12-1,0-13-15,0 13 16,0 12 31,0-12-47,0-12 15,0 11-15,0 1 32,0-12-17,0 12-15,0-12 16,0 12 0,0-12-1,0 0-15,0-1 16,0 13 15,0-12-15,0 12-1,0 0 1,0-12 0,0 12-1,0-13-15,0 13 16,0 12 46,0-24-46,0 0-16,0 0 16,0 0-16,0-1 15,0 13 1,0-12-1,0 12-15,0-12 16,0 12 0,0 0 15,0-13-15,0 13-1,0-12-15,0 12 31,12 0 1,-12-12-1,0-24 531,0-12-546,0 12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2AA0E-F943-495C-8880-74F380F80C34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F3D8D-929F-47DE-A616-13048D8DD1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813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4771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109707-B7F9-5BC8-4CA3-6389F9849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FC7B5-4D87-EC1A-6DB4-79F385890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1DC505-2EE1-3883-5DCF-20BAF508B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F768C8-3653-C039-83CA-AD52B724F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0BDA46-B3B2-5273-4F5A-C64E548D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06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ACD5B1-EF1B-DB25-9FCE-732B3E65E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CDEFC4-7057-4F7A-EAE7-4CDD02178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CAD710-6750-EB44-3F8F-6B791D1AE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248C6D-E98B-0FD9-3817-2148A5457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D57058-C56B-5451-DC4F-853D2C261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58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873B7-4CD3-3083-6675-5A900B78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C18DAB-FC0B-2541-4820-6BEAA42CC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DB7704-B648-02E6-C421-AE36E784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EC135E-DE17-6EC4-2249-50E1AF36D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BE2724-CFD9-A0B4-BA74-8910A8F88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737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E498F9-66F8-5482-BBE3-AE0834157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41FD42-8410-4BBD-0DA7-F2C60A9390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5D561D-A602-2412-057A-215DA9686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205AB2-6695-7A57-E0E8-69209887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0B8E8F-FA39-AC2E-E6FE-A68582177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DAD3D4-86FE-2838-7920-53DD1254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34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550E1A-5C9E-FAC6-ECAD-F4BDA8343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15809B-478A-D36C-26E0-75C3052D7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E27EA2-5B0A-7158-42E4-86AD76F0B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C727B6-4FEA-C626-355D-E4481C1FC2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24B5D90-ED56-8062-2D51-9172D3769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5D749F1-CBF6-CD4D-923D-E6E22D2D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716288-513A-C80B-730A-CD48CCD5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FAFDF2-9D56-00AE-0EB5-DE5EF1C3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069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89C25D-C855-6F84-2900-848A12B0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709122-1CDF-C479-2F83-5584D0C09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9F29BB2-764A-E449-7D76-646CB336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CA7FCF-CA95-0E6E-F647-01B2F17E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811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65B5AD-B1DE-B4E2-D694-7D231FC61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448DEE2-6942-C5D2-5C47-91677AC59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173138-E228-8AE5-89C4-7E22F260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823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551A5-42A9-B7ED-EE8F-E62FC2A61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962A4B-7050-11F5-58B8-BB969727E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444796-73AF-6502-4E86-CF6AABD421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3E3FC7-7E97-0F7C-F6B3-0101F439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EC9FF9-5017-8500-FE67-63FF695A9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3F8E89-DFBA-BA7E-2ACF-4CEF98F3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03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908EE-EC2B-7D82-F413-5B79E401F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2F38D0-C8BF-1EC6-D966-1A58E3CDF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796A0D-03F1-A434-9BD5-94D414CEF6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69A284-4CAA-2099-72C7-D359C39DE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8DE405-C8C3-8707-AE95-9F138025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FAC995-92B2-3685-5F16-36E78927C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82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7A2674-06A5-9A5D-3963-0D37BA017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136276-95C0-1ADF-8241-254C1C07C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0FB66-E658-1C64-6862-C88552D1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00B6D-8B4D-60FE-0002-E1CE497FA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F76C57-6781-254C-6CFE-28BFB684A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35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81B114-BCF9-1CF3-854C-B636131882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55A1FB-ED4D-6C11-795A-B26119D3D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409948-682D-BE1C-984B-94E52364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4A5270-F685-E487-D0CC-45C1D13B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E4AD6D-F31E-CDCD-7118-D3B9B665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65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381E6D-89A6-9A5A-59E3-AEEBE56D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64E9C2-D7C3-E319-0BBF-A2B757C42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4A042-86A5-9E49-1DA9-CA38D5C46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486161-962A-4221-A106-6CE24B9A4585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64A866-A4C1-B004-D288-84AB42E52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FFDEE9-5C40-E9E3-F0FB-2B867A497D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09CD2-DC70-4E7F-8E9D-6060321FE5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71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19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DE62FC5-379B-EE13-1050-66C3BA647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017" y="751818"/>
            <a:ext cx="7375264" cy="434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57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B25A0A5-A436-31F2-1DCA-F50260B15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633" y="781634"/>
            <a:ext cx="7282733" cy="456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674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动手练一练</a:t>
            </a:r>
            <a:r>
              <a:rPr lang="en-US" altLang="zh-CN" dirty="0"/>
              <a:t>---</a:t>
            </a:r>
            <a:r>
              <a:rPr lang="zh-CN" altLang="en-US" dirty="0"/>
              <a:t>淘宝购物网站文本相似性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9120" y="1142985"/>
            <a:ext cx="10789920" cy="4983179"/>
          </a:xfrm>
        </p:spPr>
        <p:txBody>
          <a:bodyPr>
            <a:normAutofit/>
          </a:bodyPr>
          <a:lstStyle/>
          <a:p>
            <a:r>
              <a:rPr lang="zh-CN" altLang="en-US" dirty="0"/>
              <a:t>某购物网站有如下数据：小明购买了新概念英语</a:t>
            </a:r>
            <a:r>
              <a:rPr lang="en-US" altLang="zh-CN" dirty="0"/>
              <a:t>A, </a:t>
            </a:r>
            <a:r>
              <a:rPr lang="zh-CN" altLang="en-US" dirty="0"/>
              <a:t>机器学习</a:t>
            </a:r>
            <a:r>
              <a:rPr lang="en-US" altLang="zh-CN" dirty="0"/>
              <a:t>B, </a:t>
            </a:r>
            <a:r>
              <a:rPr lang="zh-CN" altLang="en-US" dirty="0"/>
              <a:t>苹果手机</a:t>
            </a:r>
            <a:r>
              <a:rPr lang="en-US" altLang="zh-CN" dirty="0"/>
              <a:t>C</a:t>
            </a:r>
            <a:r>
              <a:rPr lang="zh-CN" altLang="en-US" dirty="0"/>
              <a:t>，小红购买了机器学习</a:t>
            </a:r>
            <a:r>
              <a:rPr lang="en-US" altLang="zh-CN" dirty="0"/>
              <a:t>B, </a:t>
            </a:r>
            <a:r>
              <a:rPr lang="zh-CN" altLang="en-US" dirty="0"/>
              <a:t>苹果手机</a:t>
            </a:r>
            <a:r>
              <a:rPr lang="en-US" altLang="zh-CN" dirty="0"/>
              <a:t>C,</a:t>
            </a:r>
            <a:r>
              <a:rPr lang="zh-CN" altLang="en-US" dirty="0"/>
              <a:t>小强购买了新概念英语</a:t>
            </a:r>
            <a:r>
              <a:rPr lang="en-US" altLang="zh-CN" dirty="0"/>
              <a:t>A</a:t>
            </a:r>
            <a:r>
              <a:rPr lang="zh-CN" altLang="en-US" dirty="0"/>
              <a:t>，苹果手机</a:t>
            </a:r>
            <a:r>
              <a:rPr lang="en-US" altLang="zh-CN" dirty="0"/>
              <a:t>C</a:t>
            </a:r>
            <a:r>
              <a:rPr lang="zh-CN" altLang="en-US" dirty="0"/>
              <a:t>，羽绒服</a:t>
            </a:r>
            <a:r>
              <a:rPr lang="en-US" altLang="zh-CN" dirty="0"/>
              <a:t>D,</a:t>
            </a:r>
            <a:r>
              <a:rPr lang="zh-CN" altLang="en-US" dirty="0"/>
              <a:t>计算三者购买物品的相似性？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小明和小红的相似度</a:t>
            </a:r>
            <a:r>
              <a:rPr lang="en-US" altLang="zh-CN" dirty="0"/>
              <a:t>=</a:t>
            </a:r>
          </a:p>
          <a:p>
            <a:r>
              <a:rPr lang="zh-CN" altLang="en-US" dirty="0"/>
              <a:t>小明和小强的相似 度</a:t>
            </a:r>
            <a:r>
              <a:rPr lang="en-US" altLang="zh-CN" dirty="0"/>
              <a:t>=</a:t>
            </a:r>
          </a:p>
          <a:p>
            <a:r>
              <a:rPr lang="zh-CN" altLang="en-US" dirty="0"/>
              <a:t>小红和小强的相似 度</a:t>
            </a:r>
            <a:r>
              <a:rPr lang="en-US" altLang="zh-CN" dirty="0"/>
              <a:t>=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2636912"/>
            <a:ext cx="5842300" cy="17281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墨迹 7"/>
              <p14:cNvContentPartPr/>
              <p14:nvPr/>
            </p14:nvContentPartPr>
            <p14:xfrm>
              <a:off x="5120400" y="3566160"/>
              <a:ext cx="4680" cy="334800"/>
            </p14:xfrm>
          </p:contentPart>
        </mc:Choice>
        <mc:Fallback xmlns="">
          <p:pic>
            <p:nvPicPr>
              <p:cNvPr id="8" name="墨迹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11040" y="3556800"/>
                <a:ext cx="23400" cy="35352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921" y="4507981"/>
            <a:ext cx="2295525" cy="5810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606" y="5087157"/>
            <a:ext cx="2238375" cy="5143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5605" y="5697539"/>
            <a:ext cx="2895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6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52651" y="1"/>
            <a:ext cx="7886700" cy="889413"/>
          </a:xfrm>
        </p:spPr>
        <p:txBody>
          <a:bodyPr/>
          <a:lstStyle/>
          <a:p>
            <a:pPr algn="ctr"/>
            <a:r>
              <a:rPr lang="zh-CN" altLang="en-US" dirty="0"/>
              <a:t>动手练一练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6740" y="910148"/>
            <a:ext cx="12359640" cy="5648324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b="1" dirty="0"/>
              <a:t>句子</a:t>
            </a:r>
            <a:r>
              <a:rPr lang="en-US" altLang="zh-CN" b="1" dirty="0"/>
              <a:t>A</a:t>
            </a:r>
            <a:r>
              <a:rPr lang="zh-CN" altLang="en-US" b="1" dirty="0"/>
              <a:t>：我是江西理工大学信息工程学院的</a:t>
            </a:r>
            <a:r>
              <a:rPr lang="zh-CN" altLang="en-US" dirty="0"/>
              <a:t>学生。我</a:t>
            </a:r>
            <a:r>
              <a:rPr lang="en-US" altLang="zh-CN" dirty="0"/>
              <a:t>/</a:t>
            </a:r>
            <a:r>
              <a:rPr lang="zh-CN" altLang="en-US" dirty="0"/>
              <a:t>是</a:t>
            </a:r>
            <a:r>
              <a:rPr lang="en-US" altLang="zh-CN" dirty="0"/>
              <a:t>/</a:t>
            </a:r>
            <a:r>
              <a:rPr lang="zh-CN" altLang="en-US" dirty="0"/>
              <a:t>江西</a:t>
            </a:r>
            <a:r>
              <a:rPr lang="en-US" altLang="zh-CN" dirty="0"/>
              <a:t>/</a:t>
            </a:r>
            <a:r>
              <a:rPr lang="zh-CN" altLang="en-US" dirty="0"/>
              <a:t>理工</a:t>
            </a:r>
            <a:r>
              <a:rPr lang="en-US" altLang="zh-CN" dirty="0"/>
              <a:t>/</a:t>
            </a:r>
            <a:r>
              <a:rPr lang="zh-CN" altLang="en-US" dirty="0"/>
              <a:t>大学</a:t>
            </a:r>
            <a:r>
              <a:rPr lang="en-US" altLang="zh-CN" dirty="0"/>
              <a:t>/</a:t>
            </a:r>
            <a:r>
              <a:rPr lang="zh-CN" altLang="en-US" dirty="0"/>
              <a:t>信息工程</a:t>
            </a:r>
            <a:r>
              <a:rPr lang="en-US" altLang="zh-CN" dirty="0"/>
              <a:t>/</a:t>
            </a:r>
            <a:r>
              <a:rPr lang="zh-CN" altLang="en-US" dirty="0"/>
              <a:t>学院</a:t>
            </a:r>
            <a:r>
              <a:rPr lang="en-US" altLang="zh-CN" dirty="0"/>
              <a:t>/ </a:t>
            </a:r>
            <a:r>
              <a:rPr lang="zh-CN" altLang="en-US" dirty="0"/>
              <a:t>的</a:t>
            </a:r>
            <a:r>
              <a:rPr lang="en-US" altLang="zh-CN" dirty="0"/>
              <a:t>/ </a:t>
            </a:r>
            <a:r>
              <a:rPr lang="zh-CN" altLang="en-US" dirty="0"/>
              <a:t>学生。</a:t>
            </a:r>
          </a:p>
          <a:p>
            <a:r>
              <a:rPr lang="zh-CN" altLang="en-US" b="1" dirty="0"/>
              <a:t>句子</a:t>
            </a:r>
            <a:r>
              <a:rPr lang="en-US" altLang="zh-CN" b="1" dirty="0"/>
              <a:t>B</a:t>
            </a:r>
            <a:r>
              <a:rPr lang="zh-CN" altLang="en-US" b="1" dirty="0"/>
              <a:t>：我是江西理工大学理学院的学生</a:t>
            </a:r>
            <a:r>
              <a:rPr lang="zh-CN" altLang="en-US" dirty="0"/>
              <a:t>。我</a:t>
            </a:r>
            <a:r>
              <a:rPr lang="en-US" altLang="zh-CN" dirty="0"/>
              <a:t>/</a:t>
            </a:r>
            <a:r>
              <a:rPr lang="zh-CN" altLang="en-US" dirty="0"/>
              <a:t>是</a:t>
            </a:r>
            <a:r>
              <a:rPr lang="en-US" altLang="zh-CN" dirty="0"/>
              <a:t>/</a:t>
            </a:r>
            <a:r>
              <a:rPr lang="zh-CN" altLang="en-US" dirty="0"/>
              <a:t>江西</a:t>
            </a:r>
            <a:r>
              <a:rPr lang="en-US" altLang="zh-CN" dirty="0"/>
              <a:t>/</a:t>
            </a:r>
            <a:r>
              <a:rPr lang="zh-CN" altLang="en-US" dirty="0"/>
              <a:t>理工</a:t>
            </a:r>
            <a:r>
              <a:rPr lang="en-US" altLang="zh-CN" dirty="0"/>
              <a:t>/</a:t>
            </a:r>
            <a:r>
              <a:rPr lang="zh-CN" altLang="en-US" dirty="0"/>
              <a:t>大学</a:t>
            </a:r>
            <a:r>
              <a:rPr lang="en-US" altLang="zh-CN" dirty="0"/>
              <a:t>/</a:t>
            </a:r>
            <a:r>
              <a:rPr lang="zh-CN" altLang="en-US" dirty="0"/>
              <a:t>理</a:t>
            </a:r>
            <a:r>
              <a:rPr lang="en-US" altLang="zh-CN" dirty="0"/>
              <a:t>/</a:t>
            </a:r>
            <a:r>
              <a:rPr lang="zh-CN" altLang="en-US" dirty="0"/>
              <a:t>学院</a:t>
            </a:r>
            <a:r>
              <a:rPr lang="en-US" altLang="zh-CN" dirty="0"/>
              <a:t>/ </a:t>
            </a:r>
            <a:r>
              <a:rPr lang="zh-CN" altLang="en-US" dirty="0"/>
              <a:t>的</a:t>
            </a:r>
            <a:r>
              <a:rPr lang="en-US" altLang="zh-CN" dirty="0"/>
              <a:t>/ </a:t>
            </a:r>
            <a:r>
              <a:rPr lang="zh-CN" altLang="en-US" dirty="0"/>
              <a:t>学生。</a:t>
            </a:r>
            <a:endParaRPr lang="en-US" altLang="zh-CN" b="1" dirty="0"/>
          </a:p>
          <a:p>
            <a:r>
              <a:rPr lang="zh-CN" altLang="en-US" dirty="0"/>
              <a:t>怎样计算上面两句话的相似程度？</a:t>
            </a:r>
            <a:r>
              <a:rPr lang="en-US" altLang="zh-CN" dirty="0"/>
              <a:t>---</a:t>
            </a:r>
            <a:r>
              <a:rPr lang="zh-CN" altLang="en-US" dirty="0"/>
              <a:t>余弦相似性</a:t>
            </a:r>
          </a:p>
          <a:p>
            <a:r>
              <a:rPr lang="zh-CN" altLang="en-US" dirty="0"/>
              <a:t>基本思路是：如果这两句话的用词越相似，它们的内容就应该越相似。因此，可以从词频入手，计算它们的相似程度。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第一步，分词</a:t>
            </a:r>
            <a:r>
              <a:rPr lang="zh-CN" altLang="en-US" b="1" dirty="0">
                <a:solidFill>
                  <a:srgbClr val="FF0000"/>
                </a:solidFill>
              </a:rPr>
              <a:t>。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b="1" dirty="0"/>
              <a:t>句子</a:t>
            </a:r>
            <a:r>
              <a:rPr lang="en-US" altLang="zh-CN" b="1" dirty="0"/>
              <a:t>A</a:t>
            </a:r>
            <a:r>
              <a:rPr lang="zh-CN" altLang="en-US" b="1" dirty="0"/>
              <a:t>：我</a:t>
            </a:r>
            <a:r>
              <a:rPr lang="en-US" altLang="zh-CN" b="1" dirty="0"/>
              <a:t>/</a:t>
            </a:r>
            <a:r>
              <a:rPr lang="zh-CN" altLang="en-US" b="1" dirty="0"/>
              <a:t>是</a:t>
            </a:r>
            <a:r>
              <a:rPr lang="en-US" altLang="zh-CN" b="1" dirty="0"/>
              <a:t>/</a:t>
            </a:r>
            <a:r>
              <a:rPr lang="zh-CN" altLang="en-US" b="1" dirty="0"/>
              <a:t>江西</a:t>
            </a:r>
            <a:r>
              <a:rPr lang="en-US" altLang="zh-CN" b="1" dirty="0"/>
              <a:t>/</a:t>
            </a:r>
            <a:r>
              <a:rPr lang="zh-CN" altLang="en-US" b="1" dirty="0"/>
              <a:t>理工</a:t>
            </a:r>
            <a:r>
              <a:rPr lang="en-US" altLang="zh-CN" b="1" dirty="0"/>
              <a:t>/</a:t>
            </a:r>
            <a:r>
              <a:rPr lang="zh-CN" altLang="en-US" b="1" dirty="0"/>
              <a:t>大学</a:t>
            </a:r>
            <a:r>
              <a:rPr lang="en-US" altLang="zh-CN" b="1" dirty="0"/>
              <a:t>/</a:t>
            </a:r>
            <a:r>
              <a:rPr lang="zh-CN" altLang="en-US" b="1" dirty="0"/>
              <a:t>信息工程</a:t>
            </a:r>
            <a:r>
              <a:rPr lang="en-US" altLang="zh-CN" b="1" dirty="0"/>
              <a:t>/</a:t>
            </a:r>
            <a:r>
              <a:rPr lang="zh-CN" altLang="en-US" b="1" dirty="0"/>
              <a:t>学院</a:t>
            </a:r>
            <a:r>
              <a:rPr lang="en-US" altLang="zh-CN" b="1" dirty="0"/>
              <a:t>/ </a:t>
            </a:r>
            <a:r>
              <a:rPr lang="zh-CN" altLang="en-US" b="1" dirty="0"/>
              <a:t>的</a:t>
            </a:r>
            <a:r>
              <a:rPr lang="en-US" altLang="zh-CN" b="1" dirty="0"/>
              <a:t>/ </a:t>
            </a:r>
            <a:r>
              <a:rPr lang="zh-CN" altLang="en-US" b="1" dirty="0"/>
              <a:t>学生。</a:t>
            </a:r>
            <a:endParaRPr lang="zh-CN" altLang="en-US" dirty="0"/>
          </a:p>
          <a:p>
            <a:r>
              <a:rPr lang="zh-CN" altLang="en-US" b="1" dirty="0"/>
              <a:t>句子</a:t>
            </a:r>
            <a:r>
              <a:rPr lang="en-US" altLang="zh-CN" b="1" dirty="0"/>
              <a:t>B</a:t>
            </a:r>
            <a:r>
              <a:rPr lang="zh-CN" altLang="en-US" b="1" dirty="0"/>
              <a:t>：我</a:t>
            </a:r>
            <a:r>
              <a:rPr lang="en-US" altLang="zh-CN" b="1" dirty="0"/>
              <a:t>/</a:t>
            </a:r>
            <a:r>
              <a:rPr lang="zh-CN" altLang="en-US" b="1" dirty="0"/>
              <a:t>是</a:t>
            </a:r>
            <a:r>
              <a:rPr lang="en-US" altLang="zh-CN" b="1" dirty="0"/>
              <a:t>/</a:t>
            </a:r>
            <a:r>
              <a:rPr lang="zh-CN" altLang="en-US" b="1" dirty="0"/>
              <a:t>江西</a:t>
            </a:r>
            <a:r>
              <a:rPr lang="en-US" altLang="zh-CN" b="1" dirty="0"/>
              <a:t>/</a:t>
            </a:r>
            <a:r>
              <a:rPr lang="zh-CN" altLang="en-US" b="1" dirty="0"/>
              <a:t>理工</a:t>
            </a:r>
            <a:r>
              <a:rPr lang="en-US" altLang="zh-CN" b="1" dirty="0"/>
              <a:t>/</a:t>
            </a:r>
            <a:r>
              <a:rPr lang="zh-CN" altLang="en-US" b="1" dirty="0"/>
              <a:t>大学</a:t>
            </a:r>
            <a:r>
              <a:rPr lang="en-US" altLang="zh-CN" b="1" dirty="0"/>
              <a:t>/</a:t>
            </a:r>
            <a:r>
              <a:rPr lang="zh-CN" altLang="en-US" b="1" dirty="0"/>
              <a:t>理</a:t>
            </a:r>
            <a:r>
              <a:rPr lang="en-US" altLang="zh-CN" b="1" dirty="0"/>
              <a:t>/</a:t>
            </a:r>
            <a:r>
              <a:rPr lang="zh-CN" altLang="en-US" b="1" dirty="0"/>
              <a:t>学院</a:t>
            </a:r>
            <a:r>
              <a:rPr lang="en-US" altLang="zh-CN" b="1" dirty="0"/>
              <a:t>/ </a:t>
            </a:r>
            <a:r>
              <a:rPr lang="zh-CN" altLang="en-US" b="1" dirty="0"/>
              <a:t>的</a:t>
            </a:r>
            <a:r>
              <a:rPr lang="en-US" altLang="zh-CN" b="1" dirty="0"/>
              <a:t>/ </a:t>
            </a:r>
            <a:r>
              <a:rPr lang="zh-CN" altLang="en-US" b="1" dirty="0"/>
              <a:t>学生。</a:t>
            </a:r>
            <a:endParaRPr lang="zh-CN" altLang="en-US" dirty="0"/>
          </a:p>
          <a:p>
            <a:r>
              <a:rPr lang="zh-CN" altLang="en-US" dirty="0">
                <a:solidFill>
                  <a:srgbClr val="FF0000"/>
                </a:solidFill>
              </a:rPr>
              <a:t>第二步，列出所有的词。</a:t>
            </a:r>
          </a:p>
          <a:p>
            <a:r>
              <a:rPr lang="zh-CN" altLang="en-US" b="1" dirty="0"/>
              <a:t>我，是，江西，理工，大学，信息工程，学院，的，学生，理。</a:t>
            </a:r>
            <a:endParaRPr lang="en-US" altLang="zh-CN" b="1" dirty="0"/>
          </a:p>
          <a:p>
            <a:r>
              <a:rPr lang="zh-CN" altLang="en-US" dirty="0">
                <a:solidFill>
                  <a:srgbClr val="FF0000"/>
                </a:solidFill>
              </a:rPr>
              <a:t>第三步，计算词频。</a:t>
            </a:r>
          </a:p>
          <a:p>
            <a:r>
              <a:rPr lang="zh-CN" altLang="en-US" b="1" dirty="0"/>
              <a:t>句子</a:t>
            </a:r>
            <a:r>
              <a:rPr lang="en-US" altLang="zh-CN" b="1" dirty="0"/>
              <a:t>A</a:t>
            </a:r>
            <a:r>
              <a:rPr lang="zh-CN" altLang="en-US" b="1" dirty="0"/>
              <a:t>：我</a:t>
            </a:r>
            <a:r>
              <a:rPr lang="en-US" altLang="zh-CN" b="1" dirty="0"/>
              <a:t>1</a:t>
            </a:r>
            <a:r>
              <a:rPr lang="zh-CN" altLang="en-US" b="1" dirty="0"/>
              <a:t>，是</a:t>
            </a:r>
            <a:r>
              <a:rPr lang="en-US" altLang="zh-CN" b="1" dirty="0"/>
              <a:t>1</a:t>
            </a:r>
            <a:r>
              <a:rPr lang="zh-CN" altLang="en-US" b="1" dirty="0"/>
              <a:t>，江西</a:t>
            </a:r>
            <a:r>
              <a:rPr lang="en-US" altLang="zh-CN" b="1" dirty="0"/>
              <a:t>1</a:t>
            </a:r>
            <a:r>
              <a:rPr lang="zh-CN" altLang="en-US" b="1" dirty="0"/>
              <a:t>，理工</a:t>
            </a:r>
            <a:r>
              <a:rPr lang="en-US" altLang="zh-CN" b="1" dirty="0"/>
              <a:t>1</a:t>
            </a:r>
            <a:r>
              <a:rPr lang="zh-CN" altLang="en-US" b="1" dirty="0"/>
              <a:t>，大学</a:t>
            </a:r>
            <a:r>
              <a:rPr lang="en-US" altLang="zh-CN" b="1" dirty="0"/>
              <a:t>1</a:t>
            </a:r>
            <a:r>
              <a:rPr lang="zh-CN" altLang="en-US" b="1" dirty="0"/>
              <a:t>，信息工程</a:t>
            </a:r>
            <a:r>
              <a:rPr lang="en-US" altLang="zh-CN" b="1" dirty="0"/>
              <a:t>1</a:t>
            </a:r>
            <a:r>
              <a:rPr lang="zh-CN" altLang="en-US" b="1" dirty="0"/>
              <a:t>，学院</a:t>
            </a:r>
            <a:r>
              <a:rPr lang="en-US" altLang="zh-CN" b="1" dirty="0"/>
              <a:t>1</a:t>
            </a:r>
            <a:r>
              <a:rPr lang="zh-CN" altLang="en-US" b="1" dirty="0"/>
              <a:t>，的</a:t>
            </a:r>
            <a:r>
              <a:rPr lang="en-US" altLang="zh-CN" b="1" dirty="0"/>
              <a:t>1</a:t>
            </a:r>
            <a:r>
              <a:rPr lang="zh-CN" altLang="en-US" b="1" dirty="0"/>
              <a:t>，学生</a:t>
            </a:r>
            <a:r>
              <a:rPr lang="en-US" altLang="zh-CN" b="1" dirty="0"/>
              <a:t>1</a:t>
            </a:r>
            <a:r>
              <a:rPr lang="zh-CN" altLang="en-US" b="1" dirty="0"/>
              <a:t>，理</a:t>
            </a:r>
            <a:r>
              <a:rPr lang="en-US" altLang="zh-CN" b="1" dirty="0"/>
              <a:t>0</a:t>
            </a:r>
            <a:r>
              <a:rPr lang="zh-CN" altLang="en-US" b="1" dirty="0"/>
              <a:t>。</a:t>
            </a:r>
            <a:endParaRPr lang="zh-CN" altLang="en-US" dirty="0"/>
          </a:p>
          <a:p>
            <a:r>
              <a:rPr lang="zh-CN" altLang="en-US" b="1" dirty="0"/>
              <a:t>句子</a:t>
            </a:r>
            <a:r>
              <a:rPr lang="en-US" altLang="zh-CN" b="1" dirty="0"/>
              <a:t>B</a:t>
            </a:r>
            <a:r>
              <a:rPr lang="zh-CN" altLang="en-US" b="1" dirty="0"/>
              <a:t>：我</a:t>
            </a:r>
            <a:r>
              <a:rPr lang="en-US" altLang="zh-CN" b="1" dirty="0"/>
              <a:t>1</a:t>
            </a:r>
            <a:r>
              <a:rPr lang="zh-CN" altLang="en-US" b="1" dirty="0"/>
              <a:t>，是</a:t>
            </a:r>
            <a:r>
              <a:rPr lang="en-US" altLang="zh-CN" b="1" dirty="0"/>
              <a:t>1</a:t>
            </a:r>
            <a:r>
              <a:rPr lang="zh-CN" altLang="en-US" b="1" dirty="0"/>
              <a:t>，江西</a:t>
            </a:r>
            <a:r>
              <a:rPr lang="en-US" altLang="zh-CN" b="1" dirty="0"/>
              <a:t>1</a:t>
            </a:r>
            <a:r>
              <a:rPr lang="zh-CN" altLang="en-US" b="1" dirty="0"/>
              <a:t>，理工</a:t>
            </a:r>
            <a:r>
              <a:rPr lang="en-US" altLang="zh-CN" b="1" dirty="0"/>
              <a:t>1</a:t>
            </a:r>
            <a:r>
              <a:rPr lang="zh-CN" altLang="en-US" b="1" dirty="0"/>
              <a:t>，大学</a:t>
            </a:r>
            <a:r>
              <a:rPr lang="en-US" altLang="zh-CN" b="1" dirty="0"/>
              <a:t>1</a:t>
            </a:r>
            <a:r>
              <a:rPr lang="zh-CN" altLang="en-US" b="1" dirty="0"/>
              <a:t>，信息工程</a:t>
            </a:r>
            <a:r>
              <a:rPr lang="en-US" altLang="zh-CN" b="1" dirty="0"/>
              <a:t>0</a:t>
            </a:r>
            <a:r>
              <a:rPr lang="zh-CN" altLang="en-US" b="1" dirty="0"/>
              <a:t>，学院</a:t>
            </a:r>
            <a:r>
              <a:rPr lang="en-US" altLang="zh-CN" b="1" dirty="0"/>
              <a:t>1</a:t>
            </a:r>
            <a:r>
              <a:rPr lang="zh-CN" altLang="en-US" b="1" dirty="0"/>
              <a:t>，的</a:t>
            </a:r>
            <a:r>
              <a:rPr lang="en-US" altLang="zh-CN" b="1" dirty="0"/>
              <a:t>1</a:t>
            </a:r>
            <a:r>
              <a:rPr lang="zh-CN" altLang="en-US" b="1" dirty="0"/>
              <a:t>，学生</a:t>
            </a:r>
            <a:r>
              <a:rPr lang="en-US" altLang="zh-CN" b="1" dirty="0"/>
              <a:t>1</a:t>
            </a:r>
            <a:r>
              <a:rPr lang="zh-CN" altLang="en-US" b="1" dirty="0"/>
              <a:t>，理</a:t>
            </a:r>
            <a:r>
              <a:rPr lang="en-US" altLang="zh-CN" b="1" dirty="0"/>
              <a:t>1</a:t>
            </a:r>
            <a:r>
              <a:rPr lang="zh-CN" altLang="en-US" b="1" dirty="0"/>
              <a:t>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83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88825" y="229704"/>
            <a:ext cx="7886700" cy="5275816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第四步，写出词频向量，公式计算相似性。</a:t>
            </a:r>
          </a:p>
          <a:p>
            <a:r>
              <a:rPr lang="zh-CN" altLang="en-US" sz="2800" dirty="0"/>
              <a:t>句子</a:t>
            </a:r>
            <a:r>
              <a:rPr lang="en-US" altLang="zh-CN" sz="2800" dirty="0"/>
              <a:t>A</a:t>
            </a:r>
            <a:r>
              <a:rPr lang="zh-CN" altLang="en-US" sz="2800" dirty="0"/>
              <a:t>：</a:t>
            </a:r>
            <a:r>
              <a:rPr lang="en-US" altLang="zh-CN" sz="2800" dirty="0"/>
              <a:t>(1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0)</a:t>
            </a:r>
            <a:endParaRPr lang="zh-CN" altLang="en-US" sz="2800" dirty="0"/>
          </a:p>
          <a:p>
            <a:r>
              <a:rPr lang="zh-CN" altLang="en-US" sz="2800" dirty="0"/>
              <a:t>句子</a:t>
            </a:r>
            <a:r>
              <a:rPr lang="en-US" altLang="zh-CN" sz="2800" dirty="0"/>
              <a:t>B</a:t>
            </a:r>
            <a:r>
              <a:rPr lang="zh-CN" altLang="en-US" sz="2800" dirty="0"/>
              <a:t>：</a:t>
            </a:r>
            <a:r>
              <a:rPr lang="en-US" altLang="zh-CN" sz="2800" dirty="0"/>
              <a:t>(1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0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1)</a:t>
            </a:r>
            <a:endParaRPr lang="zh-CN" altLang="en-US" sz="2800" dirty="0"/>
          </a:p>
          <a:p>
            <a:r>
              <a:rPr lang="zh-CN" altLang="en-US" sz="2800" dirty="0"/>
              <a:t>到这里，问题就变成了如何计算这两个向量的相似程度。</a:t>
            </a:r>
            <a:endParaRPr lang="en-US" altLang="zh-CN" sz="2800" dirty="0"/>
          </a:p>
          <a:p>
            <a:r>
              <a:rPr lang="zh-CN" altLang="en-US" sz="2800" dirty="0"/>
              <a:t>计算两个句子向量</a:t>
            </a:r>
          </a:p>
          <a:p>
            <a:r>
              <a:rPr lang="zh-CN" altLang="en-US" sz="2800" dirty="0"/>
              <a:t>句子</a:t>
            </a:r>
            <a:r>
              <a:rPr lang="en-US" altLang="zh-CN" sz="2800" dirty="0"/>
              <a:t>A</a:t>
            </a:r>
            <a:r>
              <a:rPr lang="zh-CN" altLang="en-US" sz="2800" dirty="0"/>
              <a:t>：</a:t>
            </a:r>
            <a:r>
              <a:rPr lang="en-US" altLang="zh-CN" sz="2800" dirty="0"/>
              <a:t>(1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0)</a:t>
            </a:r>
            <a:endParaRPr lang="zh-CN" altLang="en-US" sz="2800" dirty="0"/>
          </a:p>
          <a:p>
            <a:r>
              <a:rPr lang="zh-CN" altLang="en-US" sz="2800" dirty="0"/>
              <a:t>和句子</a:t>
            </a:r>
            <a:r>
              <a:rPr lang="en-US" altLang="zh-CN" sz="2800" dirty="0"/>
              <a:t>B</a:t>
            </a:r>
            <a:r>
              <a:rPr lang="zh-CN" altLang="en-US" sz="2800" dirty="0"/>
              <a:t>：</a:t>
            </a:r>
            <a:r>
              <a:rPr lang="en-US" altLang="zh-CN" sz="2800" dirty="0"/>
              <a:t>(1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0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，</a:t>
            </a:r>
            <a:r>
              <a:rPr lang="en-US" altLang="zh-CN" sz="2800" dirty="0"/>
              <a:t>1)</a:t>
            </a:r>
            <a:endParaRPr lang="zh-CN" altLang="en-US" sz="2800" dirty="0"/>
          </a:p>
          <a:p>
            <a:r>
              <a:rPr lang="zh-CN" altLang="en-US" sz="2800" dirty="0"/>
              <a:t>的向量余弦值来确定两个句子的相似度。</a:t>
            </a:r>
          </a:p>
          <a:p>
            <a:r>
              <a:rPr lang="zh-CN" altLang="en-US" sz="2800" dirty="0"/>
              <a:t>计算过程如下：</a:t>
            </a:r>
            <a:endParaRPr lang="en-US" altLang="zh-CN" sz="2800" dirty="0"/>
          </a:p>
          <a:p>
            <a:endParaRPr lang="en-US" altLang="zh-CN" b="1" dirty="0"/>
          </a:p>
          <a:p>
            <a:r>
              <a:rPr lang="zh-CN" altLang="en-US" b="1" dirty="0"/>
              <a:t> 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5" name="椭圆形标注 4"/>
          <p:cNvSpPr/>
          <p:nvPr/>
        </p:nvSpPr>
        <p:spPr>
          <a:xfrm>
            <a:off x="5447928" y="5487080"/>
            <a:ext cx="4464496" cy="1296144"/>
          </a:xfrm>
          <a:prstGeom prst="wedgeEllipseCallout">
            <a:avLst>
              <a:gd name="adj1" fmla="val 62995"/>
              <a:gd name="adj2" fmla="val -607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结论：</a:t>
            </a:r>
            <a:r>
              <a:rPr lang="zh-CN" altLang="en-US" sz="1600" dirty="0">
                <a:solidFill>
                  <a:schemeClr val="tx1"/>
                </a:solidFill>
              </a:rPr>
              <a:t>计算结果中夹角的余弦值为</a:t>
            </a:r>
            <a:r>
              <a:rPr lang="en-US" altLang="zh-CN" sz="1600" dirty="0">
                <a:solidFill>
                  <a:schemeClr val="tx1"/>
                </a:solidFill>
              </a:rPr>
              <a:t>0.88</a:t>
            </a:r>
            <a:r>
              <a:rPr lang="zh-CN" altLang="en-US" sz="1600" dirty="0">
                <a:solidFill>
                  <a:schemeClr val="tx1"/>
                </a:solidFill>
              </a:rPr>
              <a:t>不接近于</a:t>
            </a: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r>
              <a:rPr lang="zh-CN" altLang="en-US" sz="1600" dirty="0">
                <a:solidFill>
                  <a:schemeClr val="tx1"/>
                </a:solidFill>
              </a:rPr>
              <a:t>，所以，上面的句子</a:t>
            </a:r>
            <a:r>
              <a:rPr lang="en-US" altLang="zh-CN" sz="1600" dirty="0">
                <a:solidFill>
                  <a:schemeClr val="tx1"/>
                </a:solidFill>
              </a:rPr>
              <a:t>A</a:t>
            </a:r>
            <a:r>
              <a:rPr lang="zh-CN" altLang="en-US" sz="1600" dirty="0">
                <a:solidFill>
                  <a:schemeClr val="tx1"/>
                </a:solidFill>
              </a:rPr>
              <a:t>和句子</a:t>
            </a:r>
            <a:r>
              <a:rPr lang="en-US" altLang="zh-CN" sz="1600" dirty="0">
                <a:solidFill>
                  <a:schemeClr val="tx1"/>
                </a:solidFill>
              </a:rPr>
              <a:t>B</a:t>
            </a:r>
            <a:r>
              <a:rPr lang="zh-CN" altLang="en-US" sz="1600" dirty="0">
                <a:solidFill>
                  <a:schemeClr val="tx1"/>
                </a:solidFill>
              </a:rPr>
              <a:t>是相似度较大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4509120"/>
            <a:ext cx="6120680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5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79" y="320981"/>
            <a:ext cx="11735851" cy="1325563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例题：某钢铁厂需通过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ID3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算法构建决策树（钢铁质量分类），基于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碳含量（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硅含量（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Si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锰含量（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Mn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”3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个离散化特征，将钢坯分为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优质钢（满足高端制造标准）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”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普通钢（仅满足基础工业标准）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。现有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16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条钢坯样本数据，特征取值均为低、中、高，下面求解该决策树？当碳含量高，硅含量中，锰含量低，预测类型？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096000" y="2601030"/>
                <a:ext cx="6096000" cy="157709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zh-CN" altLang="en-US" sz="2800" dirty="0"/>
                  <a:t>有</a:t>
                </a:r>
                <a:r>
                  <a:rPr lang="en-US" altLang="zh-CN" sz="2800" dirty="0"/>
                  <a:t>8</a:t>
                </a:r>
                <a:r>
                  <a:rPr lang="zh-CN" altLang="en-US" sz="2800" dirty="0"/>
                  <a:t>个优质钢，</a:t>
                </a:r>
                <a:r>
                  <a:rPr lang="en-US" altLang="zh-CN" sz="2800" dirty="0"/>
                  <a:t>8</a:t>
                </a:r>
                <a:r>
                  <a:rPr lang="zh-CN" altLang="en-US" sz="2800" dirty="0"/>
                  <a:t>个普通钢</a:t>
                </a:r>
                <a:r>
                  <a:rPr lang="en-US" altLang="zh-CN" sz="2800" dirty="0"/>
                  <a:t>,</a:t>
                </a:r>
                <a:r>
                  <a:rPr lang="zh-CN" altLang="en-US" sz="2800" dirty="0"/>
                  <a:t>对应的信息熵为：</a:t>
                </a:r>
                <a:endParaRPr lang="en-US" altLang="zh-CN" sz="2800" dirty="0"/>
              </a:p>
              <a:p>
                <a:r>
                  <a:rPr lang="en-US" altLang="zh-CN" sz="2800" dirty="0"/>
                  <a:t>Ent(D)= -(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zh-CN" sz="2800" dirty="0"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zh-CN" sz="2800" baseline="-25000" dirty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2800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zh-CN" sz="2800" i="1" baseline="-25000" dirty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</m:oMath>
                </a14:m>
                <a:r>
                  <a:rPr lang="en-US" altLang="zh-CN" sz="2800" dirty="0"/>
                  <a:t>)=1.0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601030"/>
                <a:ext cx="6096000" cy="1577098"/>
              </a:xfrm>
              <a:prstGeom prst="rect">
                <a:avLst/>
              </a:prstGeom>
              <a:blipFill>
                <a:blip r:embed="rId2"/>
                <a:stretch>
                  <a:fillRect l="-2000" t="-4651" b="-4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69" y="1911390"/>
            <a:ext cx="5744435" cy="469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53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>
              <a:xfrm>
                <a:off x="116378" y="740929"/>
                <a:ext cx="7800556" cy="566262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/>
                  <a:t>（</a:t>
                </a:r>
                <a:r>
                  <a:rPr lang="en-US" altLang="zh-CN" sz="2400" dirty="0"/>
                  <a:t>1</a:t>
                </a:r>
                <a:r>
                  <a:rPr lang="zh-CN" altLang="en-US" sz="2400" dirty="0"/>
                  <a:t>）碳含量</a:t>
                </a:r>
                <a:r>
                  <a:rPr lang="en-US" altLang="zh-CN" sz="2400" dirty="0"/>
                  <a:t>C</a:t>
                </a:r>
                <a:r>
                  <a:rPr lang="zh-CN" altLang="en-US" sz="2400" dirty="0"/>
                  <a:t>的信息增益</a:t>
                </a:r>
                <a:r>
                  <a:rPr lang="en-US" altLang="zh-CN" sz="2400" dirty="0"/>
                  <a:t>Gain(</a:t>
                </a:r>
                <a:r>
                  <a:rPr lang="zh-CN" altLang="en-US" sz="2400" dirty="0"/>
                  <a:t>碳含量</a:t>
                </a:r>
                <a:r>
                  <a:rPr lang="en-US" altLang="zh-CN" sz="2400" dirty="0"/>
                  <a:t>)</a:t>
                </a:r>
              </a:p>
              <a:p>
                <a:pPr marL="0" indent="0">
                  <a:buNone/>
                </a:pPr>
                <a:r>
                  <a:rPr lang="zh-CN" altLang="en-US" sz="2400" dirty="0"/>
                  <a:t>碳含量有</a:t>
                </a:r>
                <a:r>
                  <a:rPr lang="en-US" altLang="zh-CN" sz="2400" dirty="0"/>
                  <a:t>3</a:t>
                </a:r>
                <a:r>
                  <a:rPr lang="zh-CN" altLang="en-US" sz="2400" dirty="0"/>
                  <a:t>个取值：低、中、高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碳含量</a:t>
                </a:r>
                <a:r>
                  <a:rPr lang="en-US" altLang="zh-CN" sz="2400" dirty="0"/>
                  <a:t>=</a:t>
                </a:r>
                <a:r>
                  <a:rPr lang="zh-CN" altLang="en-US" sz="2400" dirty="0"/>
                  <a:t>低 </a:t>
                </a:r>
                <a:r>
                  <a:rPr lang="en-US" altLang="zh-CN" sz="2400" dirty="0"/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Ent(0,6)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= -(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altLang="zh-CN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zh-CN" sz="2400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zh-CN" sz="2400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)=0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碳含量</a:t>
                </a:r>
                <a:r>
                  <a:rPr lang="en-US" altLang="zh-CN" sz="2400" dirty="0"/>
                  <a:t>=</a:t>
                </a:r>
                <a:r>
                  <a:rPr lang="zh-CN" altLang="en-US" sz="2400" dirty="0"/>
                  <a:t>中 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Ent(4,2)= -(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altLang="zh-CN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zh-CN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lang="en-US" altLang="zh-CN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zh-CN" sz="240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altLang="zh-CN" sz="2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chemeClr val="tx1"/>
                    </a:solidFill>
                  </a:rPr>
                  <a:t>)=0.918</a:t>
                </a:r>
              </a:p>
              <a:p>
                <a:pPr marL="0" indent="0">
                  <a:buNone/>
                </a:pPr>
                <a:r>
                  <a:rPr lang="zh-CN" altLang="en-US" sz="2400" dirty="0"/>
                  <a:t>碳含量</a:t>
                </a:r>
                <a:r>
                  <a:rPr lang="en-US" altLang="zh-CN" sz="2400" dirty="0"/>
                  <a:t>=</a:t>
                </a:r>
                <a:r>
                  <a:rPr lang="zh-CN" altLang="en-US" sz="2400" dirty="0"/>
                  <a:t>高 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Ent(4,0)= -(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zh-CN" sz="2400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num>
                      <m:den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zh-CN" sz="2400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num>
                      <m:den>
                        <m:r>
                          <a:rPr lang="en-US" altLang="zh-CN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)=0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Ent(</a:t>
                </a:r>
                <a:r>
                  <a:rPr lang="zh-CN" altLang="en-US" sz="2400" dirty="0"/>
                  <a:t>碳含量</a:t>
                </a:r>
                <a:r>
                  <a:rPr lang="en-US" altLang="zh-CN" sz="2400" dirty="0"/>
                  <a:t>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𝟏𝟔</m:t>
                        </m:r>
                      </m:den>
                    </m:f>
                  </m:oMath>
                </a14:m>
                <a:r>
                  <a:rPr lang="en-US" altLang="zh-CN" sz="2400" dirty="0"/>
                  <a:t> Ent(0,6)+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𝟔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altLang="zh-CN" sz="2400" dirty="0"/>
                  <a:t> Ent(4,2)+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altLang="zh-CN" sz="2400" dirty="0"/>
                  <a:t> Ent(4,0)=0.344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Gain(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碳含量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)=Ent(D)- Ent(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碳含量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)=0.656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内容占位符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6378" y="740929"/>
                <a:ext cx="7800556" cy="5662622"/>
              </a:xfrm>
              <a:blipFill>
                <a:blip r:embed="rId2"/>
                <a:stretch>
                  <a:fillRect l="-1172" t="-1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云形标注 8"/>
          <p:cNvSpPr/>
          <p:nvPr/>
        </p:nvSpPr>
        <p:spPr>
          <a:xfrm>
            <a:off x="3985523" y="5372888"/>
            <a:ext cx="2988855" cy="1235730"/>
          </a:xfrm>
          <a:prstGeom prst="cloudCallout">
            <a:avLst>
              <a:gd name="adj1" fmla="val -56666"/>
              <a:gd name="adj2" fmla="val -13542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类别信息熵 </a:t>
            </a:r>
            <a:r>
              <a:rPr lang="en-US" altLang="zh-CN" dirty="0">
                <a:solidFill>
                  <a:srgbClr val="00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- </a:t>
            </a:r>
            <a:r>
              <a:rPr lang="zh-CN" altLang="en-US" dirty="0">
                <a:solidFill>
                  <a:srgbClr val="00000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属性信息熵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1034" y="3897238"/>
            <a:ext cx="4675533" cy="290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9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622" y="359712"/>
            <a:ext cx="10515600" cy="5486141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同理，我们可以算出其他属性的信息增益：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Gain(</a:t>
            </a:r>
            <a:r>
              <a:rPr lang="zh-CN" altLang="en-US" dirty="0">
                <a:solidFill>
                  <a:srgbClr val="FF0000"/>
                </a:solidFill>
              </a:rPr>
              <a:t>碳含量</a:t>
            </a:r>
            <a:r>
              <a:rPr lang="en-US" altLang="zh-CN" dirty="0">
                <a:solidFill>
                  <a:srgbClr val="FF0000"/>
                </a:solidFill>
              </a:rPr>
              <a:t>)=0.656</a:t>
            </a:r>
          </a:p>
          <a:p>
            <a:r>
              <a:rPr lang="en-US" altLang="zh-CN" dirty="0"/>
              <a:t>Gain(</a:t>
            </a:r>
            <a:r>
              <a:rPr lang="zh-CN" altLang="en-US" dirty="0"/>
              <a:t>硅含量</a:t>
            </a:r>
            <a:r>
              <a:rPr lang="en-US" altLang="zh-CN" dirty="0"/>
              <a:t>)=0.311   Gain(</a:t>
            </a:r>
            <a:r>
              <a:rPr lang="zh-CN" altLang="en-US" dirty="0"/>
              <a:t>锰含量）</a:t>
            </a:r>
            <a:r>
              <a:rPr lang="en-US" altLang="zh-CN" dirty="0"/>
              <a:t>=0.5   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进一步分裂</a:t>
            </a:r>
            <a:endParaRPr lang="en-US" altLang="zh-CN" dirty="0"/>
          </a:p>
          <a:p>
            <a:r>
              <a:rPr lang="en-US" altLang="zh-CN" dirty="0"/>
              <a:t>Gain(</a:t>
            </a:r>
            <a:r>
              <a:rPr lang="zh-CN" altLang="en-US" dirty="0"/>
              <a:t>硅含量</a:t>
            </a:r>
            <a:r>
              <a:rPr lang="en-US" altLang="zh-CN" dirty="0"/>
              <a:t>)=0.918   </a:t>
            </a:r>
          </a:p>
          <a:p>
            <a:r>
              <a:rPr lang="en-US" altLang="zh-CN" dirty="0"/>
              <a:t>Gain(</a:t>
            </a:r>
            <a:r>
              <a:rPr lang="zh-CN" altLang="en-US" dirty="0"/>
              <a:t>锰含量）</a:t>
            </a:r>
            <a:r>
              <a:rPr lang="en-US" altLang="zh-CN" dirty="0"/>
              <a:t>=0.0</a:t>
            </a:r>
          </a:p>
          <a:p>
            <a:r>
              <a:rPr lang="zh-CN" altLang="en-US" dirty="0"/>
              <a:t>选择硅含量继续分裂，最后生成的决策如下：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椭圆形标注 3"/>
          <p:cNvSpPr/>
          <p:nvPr/>
        </p:nvSpPr>
        <p:spPr>
          <a:xfrm>
            <a:off x="7787879" y="706583"/>
            <a:ext cx="3200401" cy="1712422"/>
          </a:xfrm>
          <a:prstGeom prst="wedgeEllipseCallout">
            <a:avLst>
              <a:gd name="adj1" fmla="val -92284"/>
              <a:gd name="adj2" fmla="val 889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碳含量的信息增益大，选它做根节点</a:t>
            </a:r>
          </a:p>
        </p:txBody>
      </p:sp>
    </p:spTree>
    <p:extLst>
      <p:ext uri="{BB962C8B-B14F-4D97-AF65-F5344CB8AC3E}">
        <p14:creationId xmlns:p14="http://schemas.microsoft.com/office/powerpoint/2010/main" val="3958758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713608" y="2738181"/>
            <a:ext cx="420243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并判断</a:t>
            </a:r>
            <a:r>
              <a:rPr lang="en-US" altLang="zh-CN" sz="2800" dirty="0"/>
              <a:t>IF{</a:t>
            </a:r>
            <a:r>
              <a:rPr lang="zh-CN" altLang="en-US" sz="2800" dirty="0"/>
              <a:t>当碳含量高，硅含量中，锰含量低，预测类型？</a:t>
            </a:r>
            <a:r>
              <a:rPr lang="en-US" altLang="zh-CN" sz="2800" dirty="0"/>
              <a:t>}</a:t>
            </a:r>
            <a:r>
              <a:rPr lang="zh-CN" altLang="en-US" sz="2800" dirty="0"/>
              <a:t>，</a:t>
            </a:r>
            <a:r>
              <a:rPr lang="en-US" altLang="zh-CN" sz="2800" dirty="0"/>
              <a:t>Then</a:t>
            </a:r>
            <a:r>
              <a:rPr lang="zh-CN" altLang="en-US" sz="2800" dirty="0"/>
              <a:t>是优质钢还是普通钢？结果是</a:t>
            </a:r>
            <a:r>
              <a:rPr lang="zh-CN" altLang="en-US" sz="2800" dirty="0">
                <a:solidFill>
                  <a:srgbClr val="FF0000"/>
                </a:solidFill>
              </a:rPr>
              <a:t>优质钢</a:t>
            </a:r>
            <a:r>
              <a:rPr lang="zh-CN" altLang="en-US" sz="2800" dirty="0"/>
              <a:t>。</a:t>
            </a:r>
          </a:p>
        </p:txBody>
      </p:sp>
      <p:sp>
        <p:nvSpPr>
          <p:cNvPr id="7" name="云形标注 6"/>
          <p:cNvSpPr/>
          <p:nvPr/>
        </p:nvSpPr>
        <p:spPr>
          <a:xfrm>
            <a:off x="6665662" y="0"/>
            <a:ext cx="4502630" cy="2554013"/>
          </a:xfrm>
          <a:prstGeom prst="cloudCallout">
            <a:avLst>
              <a:gd name="adj1" fmla="val -49435"/>
              <a:gd name="adj2" fmla="val 60284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该预测过程可直接应用于</a:t>
            </a:r>
            <a:r>
              <a:rPr lang="zh-CN" altLang="en-US" sz="2000" dirty="0">
                <a:solidFill>
                  <a:srgbClr val="FF0000"/>
                </a:solidFill>
              </a:rPr>
              <a:t>钢铁厂质检环节，通过快速检测碳和硅含量</a:t>
            </a:r>
            <a:r>
              <a:rPr lang="zh-CN" altLang="en-US" sz="2000" dirty="0"/>
              <a:t>，</a:t>
            </a:r>
            <a:r>
              <a:rPr lang="en-US" altLang="zh-CN" sz="2000" dirty="0"/>
              <a:t>5 </a:t>
            </a:r>
            <a:r>
              <a:rPr lang="zh-CN" altLang="en-US" sz="2000" dirty="0"/>
              <a:t>秒内即可完成单样本质量判断，大幅提升质检效率。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51" y="1046830"/>
            <a:ext cx="5814091" cy="457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4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2440" y="231394"/>
            <a:ext cx="10687685" cy="551499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例：下图有</a:t>
            </a:r>
            <a:r>
              <a:rPr lang="en-US" altLang="zh-CN" dirty="0"/>
              <a:t>22</a:t>
            </a:r>
            <a:r>
              <a:rPr lang="zh-CN" altLang="en-US" dirty="0"/>
              <a:t>名冶金专业学生就业情况以及相关属性的数据集，用</a:t>
            </a:r>
            <a:r>
              <a:rPr lang="en-US" altLang="zh-CN" dirty="0"/>
              <a:t>C4.5</a:t>
            </a:r>
            <a:r>
              <a:rPr lang="zh-CN" altLang="en-US" dirty="0"/>
              <a:t>算法求解决策树的根结点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68" y="1230285"/>
            <a:ext cx="5212079" cy="4896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/>
              <p:cNvSpPr txBox="1">
                <a:spLocks/>
              </p:cNvSpPr>
              <p:nvPr/>
            </p:nvSpPr>
            <p:spPr>
              <a:xfrm>
                <a:off x="5385502" y="959118"/>
                <a:ext cx="6600976" cy="53195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60000"/>
                  </a:lnSpc>
                </a:pPr>
                <a:r>
                  <a:rPr lang="en-US" altLang="zh-CN" sz="2400" dirty="0"/>
                  <a:t>Ent(</a:t>
                </a:r>
                <a:r>
                  <a:rPr lang="zh-CN" altLang="zh-CN" sz="2400" dirty="0"/>
                  <a:t>就业情况</a:t>
                </a:r>
                <a:r>
                  <a:rPr lang="en-US" altLang="zh-CN" sz="2400" dirty="0"/>
                  <a:t>)= -(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𝟏𝟒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𝟐𝟐</m:t>
                        </m:r>
                      </m:den>
                    </m:f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zh-CN" sz="2400" baseline="-25000" dirty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𝟏𝟒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𝟐𝟐</m:t>
                        </m:r>
                      </m:den>
                    </m:f>
                  </m:oMath>
                </a14:m>
                <a:r>
                  <a:rPr lang="en-US" altLang="zh-CN" sz="2400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𝟐𝟐</m:t>
                        </m:r>
                      </m:den>
                    </m:f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𝟐𝟐</m:t>
                        </m:r>
                      </m:den>
                    </m:f>
                  </m:oMath>
                </a14:m>
                <a:r>
                  <a:rPr lang="en-US" altLang="zh-CN" sz="2400" dirty="0"/>
                  <a:t>)=0.94566</a:t>
                </a:r>
              </a:p>
              <a:p>
                <a:pPr>
                  <a:lnSpc>
                    <a:spcPct val="160000"/>
                  </a:lnSpc>
                </a:pPr>
                <a:r>
                  <a:rPr lang="zh-CN" altLang="en-US" sz="2400" dirty="0"/>
                  <a:t>第一个属性：性别</a:t>
                </a:r>
                <a:endParaRPr lang="en-US" altLang="zh-CN" sz="2400" dirty="0"/>
              </a:p>
              <a:p>
                <a:pPr>
                  <a:lnSpc>
                    <a:spcPct val="160000"/>
                  </a:lnSpc>
                </a:pPr>
                <a:r>
                  <a:rPr lang="en-US" altLang="zh-CN" sz="2400" dirty="0"/>
                  <a:t>Ent(</a:t>
                </a:r>
                <a:r>
                  <a:rPr lang="zh-CN" altLang="en-US" sz="2400" dirty="0"/>
                  <a:t>男</a:t>
                </a:r>
                <a:r>
                  <a:rPr lang="en-US" altLang="zh-CN" sz="2400" dirty="0"/>
                  <a:t>)= -(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𝟏𝟕</m:t>
                        </m:r>
                      </m:den>
                    </m:f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zh-CN" sz="2400" baseline="-25000" dirty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𝟏𝟕</m:t>
                        </m:r>
                      </m:den>
                    </m:f>
                  </m:oMath>
                </a14:m>
                <a:r>
                  <a:rPr lang="en-US" altLang="zh-CN" sz="2400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𝟏𝟕</m:t>
                        </m:r>
                      </m:den>
                    </m:f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𝟕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𝟏𝟕</m:t>
                        </m:r>
                      </m:den>
                    </m:f>
                  </m:oMath>
                </a14:m>
                <a:r>
                  <a:rPr lang="en-US" altLang="zh-CN" sz="2400" dirty="0"/>
                  <a:t>)=0.97742</a:t>
                </a:r>
              </a:p>
              <a:p>
                <a:pPr>
                  <a:lnSpc>
                    <a:spcPct val="160000"/>
                  </a:lnSpc>
                </a:pPr>
                <a:r>
                  <a:rPr lang="en-US" altLang="zh-CN" sz="2400" dirty="0"/>
                  <a:t>Ent(</a:t>
                </a:r>
                <a:r>
                  <a:rPr lang="zh-CN" altLang="en-US" sz="2400" dirty="0"/>
                  <a:t>女</a:t>
                </a:r>
                <a:r>
                  <a:rPr lang="en-US" altLang="zh-CN" sz="2400" dirty="0"/>
                  <a:t>)= -(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zh-CN" sz="2400" baseline="-25000" dirty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altLang="zh-CN" sz="2400" dirty="0"/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altLang="zh-CN" sz="2400" dirty="0"/>
                  <a:t>)=0.72193</a:t>
                </a:r>
              </a:p>
              <a:p>
                <a:pPr>
                  <a:lnSpc>
                    <a:spcPct val="160000"/>
                  </a:lnSpc>
                </a:pPr>
                <a:r>
                  <a:rPr lang="en-US" altLang="zh-CN" sz="2400" dirty="0"/>
                  <a:t>Ent(</a:t>
                </a:r>
                <a:r>
                  <a:rPr lang="zh-CN" altLang="en-US" sz="2400" dirty="0"/>
                  <a:t>性别</a:t>
                </a:r>
                <a:r>
                  <a:rPr lang="en-US" altLang="zh-CN" sz="2400" dirty="0"/>
                  <a:t>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𝟏𝟕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𝟐𝟐</m:t>
                        </m:r>
                      </m:den>
                    </m:f>
                  </m:oMath>
                </a14:m>
                <a:r>
                  <a:rPr lang="en-US" altLang="zh-CN" sz="2400" dirty="0"/>
                  <a:t> Ent(</a:t>
                </a:r>
                <a:r>
                  <a:rPr lang="zh-CN" altLang="en-US" sz="2400" dirty="0"/>
                  <a:t>男</a:t>
                </a:r>
                <a:r>
                  <a:rPr lang="en-US" altLang="zh-CN" sz="2400" dirty="0"/>
                  <a:t>)+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𝟐𝟐</m:t>
                        </m:r>
                      </m:den>
                    </m:f>
                  </m:oMath>
                </a14:m>
                <a:r>
                  <a:rPr lang="en-US" altLang="zh-CN" sz="2400" dirty="0"/>
                  <a:t> Ent(</a:t>
                </a:r>
                <a:r>
                  <a:rPr lang="zh-CN" altLang="en-US" sz="2400" dirty="0"/>
                  <a:t>女）</a:t>
                </a:r>
                <a:r>
                  <a:rPr lang="en-US" altLang="zh-CN" sz="2400" dirty="0"/>
                  <a:t>=0.91935</a:t>
                </a:r>
              </a:p>
              <a:p>
                <a:pPr>
                  <a:lnSpc>
                    <a:spcPct val="160000"/>
                  </a:lnSpc>
                </a:pPr>
                <a:r>
                  <a:rPr lang="zh-CN" altLang="en-US" sz="2400" dirty="0"/>
                  <a:t>信息增益：</a:t>
                </a:r>
                <a:r>
                  <a:rPr lang="en-US" altLang="zh-CN" sz="2400" dirty="0"/>
                  <a:t>Gain(</a:t>
                </a:r>
                <a:r>
                  <a:rPr lang="zh-CN" altLang="en-US" sz="2400" dirty="0"/>
                  <a:t>性别</a:t>
                </a:r>
                <a:r>
                  <a:rPr lang="en-US" altLang="zh-CN" sz="2400" dirty="0"/>
                  <a:t>)=0.94566-0.91935=0.02631</a:t>
                </a:r>
              </a:p>
              <a:p>
                <a:pPr>
                  <a:lnSpc>
                    <a:spcPct val="160000"/>
                  </a:lnSpc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分裂信息：</a:t>
                </a:r>
                <a:r>
                  <a:rPr lang="en-US" altLang="zh-CN" sz="2400" dirty="0" err="1">
                    <a:solidFill>
                      <a:srgbClr val="FF0000"/>
                    </a:solidFill>
                  </a:rPr>
                  <a:t>SplitI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(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性别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)= -(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𝟏𝟕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den>
                    </m:f>
                    <m:r>
                      <a:rPr lang="en-US" altLang="zh-CN" sz="24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altLang="zh-CN" sz="2400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𝟏𝟕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den>
                    </m:f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𝒍𝒐𝒈</m:t>
                    </m:r>
                    <m:r>
                      <a:rPr lang="en-US" altLang="zh-CN" sz="2400" i="1" baseline="-25000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f>
                      <m:f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den>
                    </m:f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)=0.77323</a:t>
                </a:r>
              </a:p>
              <a:p>
                <a:pPr>
                  <a:lnSpc>
                    <a:spcPct val="160000"/>
                  </a:lnSpc>
                </a:pPr>
                <a:r>
                  <a:rPr lang="zh-CN" altLang="en-US" sz="2400" dirty="0">
                    <a:solidFill>
                      <a:srgbClr val="FF0000"/>
                    </a:solidFill>
                  </a:rPr>
                  <a:t>信息增益率：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400" dirty="0" err="1">
                    <a:solidFill>
                      <a:srgbClr val="FF0000"/>
                    </a:solidFill>
                  </a:rPr>
                  <a:t>GainRatio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(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性别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)=0.02631/0.77323=0.03403</a:t>
                </a:r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502" y="959118"/>
                <a:ext cx="6600976" cy="5319507"/>
              </a:xfrm>
              <a:prstGeom prst="rect">
                <a:avLst/>
              </a:prstGeom>
              <a:blipFill>
                <a:blip r:embed="rId3"/>
                <a:stretch>
                  <a:fillRect l="-6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00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07323" y="1398908"/>
            <a:ext cx="614310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同理我们求得剩余属性的信息增益率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GainRatio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性别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)=0.03403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GainRatio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学生干部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)=</a:t>
            </a:r>
            <a:r>
              <a:rPr lang="en-US" altLang="zh-CN" sz="2400" dirty="0">
                <a:solidFill>
                  <a:srgbClr val="FF0000"/>
                </a:solidFill>
              </a:rPr>
              <a:t>0.41171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/>
              <a:t>GainRatio</a:t>
            </a:r>
            <a:r>
              <a:rPr lang="en-US" altLang="zh-CN" sz="2400" dirty="0"/>
              <a:t>(</a:t>
            </a:r>
            <a:r>
              <a:rPr lang="zh-CN" altLang="en-US" sz="2400" dirty="0"/>
              <a:t>综合成绩</a:t>
            </a:r>
            <a:r>
              <a:rPr lang="en-US" altLang="zh-CN" sz="2400" dirty="0"/>
              <a:t>)=0.088391</a:t>
            </a:r>
          </a:p>
          <a:p>
            <a:pPr>
              <a:lnSpc>
                <a:spcPct val="150000"/>
              </a:lnSpc>
            </a:pPr>
            <a:r>
              <a:rPr lang="en-US" altLang="zh-CN" sz="2400" dirty="0" err="1"/>
              <a:t>GainRatio</a:t>
            </a:r>
            <a:r>
              <a:rPr lang="en-US" altLang="zh-CN" sz="2400" dirty="0"/>
              <a:t>(</a:t>
            </a:r>
            <a:r>
              <a:rPr lang="zh-CN" altLang="en-US" sz="2400" dirty="0"/>
              <a:t>毕业论文</a:t>
            </a:r>
            <a:r>
              <a:rPr lang="en-US" altLang="zh-CN" sz="2400" dirty="0"/>
              <a:t>)=0.10167158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5" name="云形标注 4"/>
          <p:cNvSpPr/>
          <p:nvPr/>
        </p:nvSpPr>
        <p:spPr>
          <a:xfrm>
            <a:off x="7880465" y="473825"/>
            <a:ext cx="2992582" cy="2468880"/>
          </a:xfrm>
          <a:prstGeom prst="cloudCallout">
            <a:avLst>
              <a:gd name="adj1" fmla="val -138611"/>
              <a:gd name="adj2" fmla="val 4431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</a:rPr>
              <a:t>学生干部信息增益率最大为根结点，再依次递归生成树</a:t>
            </a:r>
          </a:p>
        </p:txBody>
      </p:sp>
    </p:spTree>
    <p:extLst>
      <p:ext uri="{BB962C8B-B14F-4D97-AF65-F5344CB8AC3E}">
        <p14:creationId xmlns:p14="http://schemas.microsoft.com/office/powerpoint/2010/main" val="3657683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950" y="356686"/>
            <a:ext cx="10515600" cy="551815"/>
          </a:xfrm>
        </p:spPr>
        <p:txBody>
          <a:bodyPr/>
          <a:lstStyle/>
          <a:p>
            <a:r>
              <a:rPr lang="zh-CN" altLang="en-US" dirty="0"/>
              <a:t>例：用</a:t>
            </a:r>
            <a:r>
              <a:rPr lang="en-US" altLang="zh-CN" dirty="0"/>
              <a:t>CART</a:t>
            </a:r>
            <a:r>
              <a:rPr lang="zh-CN" altLang="en-US" dirty="0"/>
              <a:t>算法实现决策树</a:t>
            </a:r>
          </a:p>
          <a:p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629E0F4-2E73-45B7-A7C6-89863A37CE2D}"/>
              </a:ext>
            </a:extLst>
          </p:cNvPr>
          <p:cNvGraphicFramePr>
            <a:graphicFrameLocks noGrp="1"/>
          </p:cNvGraphicFramePr>
          <p:nvPr/>
        </p:nvGraphicFramePr>
        <p:xfrm>
          <a:off x="443693" y="1156274"/>
          <a:ext cx="5196987" cy="5002651"/>
        </p:xfrm>
        <a:graphic>
          <a:graphicData uri="http://schemas.openxmlformats.org/drawingml/2006/table">
            <a:tbl>
              <a:tblPr firstRow="1" firstCol="1" bandRow="1"/>
              <a:tblGrid>
                <a:gridCol w="625648">
                  <a:extLst>
                    <a:ext uri="{9D8B030D-6E8A-4147-A177-3AD203B41FA5}">
                      <a16:colId xmlns:a16="http://schemas.microsoft.com/office/drawing/2014/main" val="3153268860"/>
                    </a:ext>
                  </a:extLst>
                </a:gridCol>
                <a:gridCol w="578769">
                  <a:extLst>
                    <a:ext uri="{9D8B030D-6E8A-4147-A177-3AD203B41FA5}">
                      <a16:colId xmlns:a16="http://schemas.microsoft.com/office/drawing/2014/main" val="4267130685"/>
                    </a:ext>
                  </a:extLst>
                </a:gridCol>
                <a:gridCol w="604341">
                  <a:extLst>
                    <a:ext uri="{9D8B030D-6E8A-4147-A177-3AD203B41FA5}">
                      <a16:colId xmlns:a16="http://schemas.microsoft.com/office/drawing/2014/main" val="2530239030"/>
                    </a:ext>
                  </a:extLst>
                </a:gridCol>
                <a:gridCol w="603488">
                  <a:extLst>
                    <a:ext uri="{9D8B030D-6E8A-4147-A177-3AD203B41FA5}">
                      <a16:colId xmlns:a16="http://schemas.microsoft.com/office/drawing/2014/main" val="2719295029"/>
                    </a:ext>
                  </a:extLst>
                </a:gridCol>
                <a:gridCol w="604341">
                  <a:extLst>
                    <a:ext uri="{9D8B030D-6E8A-4147-A177-3AD203B41FA5}">
                      <a16:colId xmlns:a16="http://schemas.microsoft.com/office/drawing/2014/main" val="491202922"/>
                    </a:ext>
                  </a:extLst>
                </a:gridCol>
                <a:gridCol w="604341">
                  <a:extLst>
                    <a:ext uri="{9D8B030D-6E8A-4147-A177-3AD203B41FA5}">
                      <a16:colId xmlns:a16="http://schemas.microsoft.com/office/drawing/2014/main" val="3325892614"/>
                    </a:ext>
                  </a:extLst>
                </a:gridCol>
                <a:gridCol w="971718">
                  <a:extLst>
                    <a:ext uri="{9D8B030D-6E8A-4147-A177-3AD203B41FA5}">
                      <a16:colId xmlns:a16="http://schemas.microsoft.com/office/drawing/2014/main" val="890689282"/>
                    </a:ext>
                  </a:extLst>
                </a:gridCol>
                <a:gridCol w="604341">
                  <a:extLst>
                    <a:ext uri="{9D8B030D-6E8A-4147-A177-3AD203B41FA5}">
                      <a16:colId xmlns:a16="http://schemas.microsoft.com/office/drawing/2014/main" val="657147595"/>
                    </a:ext>
                  </a:extLst>
                </a:gridCol>
              </a:tblGrid>
              <a:tr h="4441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编号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形状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颜色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大小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土壤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水份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日照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发芽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4471819"/>
                  </a:ext>
                </a:extLst>
              </a:tr>
              <a:tr h="4441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圆形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灰色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饱满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酸性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小时以上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6751425"/>
                  </a:ext>
                </a:extLst>
              </a:tr>
              <a:tr h="42693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圆形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白色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缢缩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碱性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少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小时以上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795930"/>
                  </a:ext>
                </a:extLst>
              </a:tr>
              <a:tr h="4441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皱形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白色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饱满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碱性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小时以上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46641"/>
                  </a:ext>
                </a:extLst>
              </a:tr>
              <a:tr h="4633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皱形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灰色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饱满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酸性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小时以下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9195405"/>
                  </a:ext>
                </a:extLst>
              </a:tr>
              <a:tr h="4633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圆形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白色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缢缩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碱性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少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小时以下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6099639"/>
                  </a:ext>
                </a:extLst>
              </a:tr>
              <a:tr h="4633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皱形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灰色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缢缩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酸性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少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小时以上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279041"/>
                  </a:ext>
                </a:extLst>
              </a:tr>
              <a:tr h="4633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圆形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白色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饱满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酸性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少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小时以下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443747"/>
                  </a:ext>
                </a:extLst>
              </a:tr>
              <a:tr h="4633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皱形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灰色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缢缩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碱性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小时以下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306165"/>
                  </a:ext>
                </a:extLst>
              </a:tr>
              <a:tr h="4633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圆形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灰色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缢缩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碱性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少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小时以上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否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3018137"/>
                  </a:ext>
                </a:extLst>
              </a:tr>
              <a:tr h="4633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测试</a:t>
                      </a:r>
                      <a:r>
                        <a:rPr lang="en-US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圆形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白色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饱满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碱性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多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400" kern="10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小时以下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71126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838531" y="908501"/>
                <a:ext cx="5713424" cy="40046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zh-CN" dirty="0"/>
                  <a:t>例如，</a:t>
                </a:r>
                <a:r>
                  <a:rPr lang="zh-CN" altLang="en-US" dirty="0"/>
                  <a:t>对于</a:t>
                </a:r>
                <a:r>
                  <a:rPr lang="zh-CN" altLang="zh-CN" dirty="0"/>
                  <a:t>表给出的豌豆数据集</a:t>
                </a:r>
                <a:endParaRPr lang="en-US" altLang="zh-CN" dirty="0"/>
              </a:p>
              <a:p>
                <a:pPr>
                  <a:spcAft>
                    <a:spcPts val="1200"/>
                  </a:spcAft>
                </a:pPr>
                <a:endParaRPr lang="en-US" altLang="zh-CN" dirty="0"/>
              </a:p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以</a:t>
                </a:r>
                <a:r>
                  <a:rPr lang="zh-CN" altLang="zh-CN" dirty="0"/>
                  <a:t>大小作为划分属性把集合划分</a:t>
                </a:r>
                <a:r>
                  <a:rPr lang="zh-CN" altLang="en-US" dirty="0"/>
                  <a:t>：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altLang="zh-CN" dirty="0"/>
                  <a:t>		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zh-CN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饱满</m:t>
                    </m:r>
                    <m:r>
                      <a:rPr lang="en-US" altLang="zh-CN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zh-CN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溢缩</m:t>
                        </m:r>
                      </m:e>
                    </m:d>
                  </m:oMath>
                </a14:m>
                <a:endParaRPr lang="en-US" altLang="zh-CN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zh-CN" altLang="zh-CN" dirty="0"/>
                  <a:t>分别计算这两个子集的基尼指数：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Gini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饱满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altLang="zh-CN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Gini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溢缩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zh-CN" altLang="en-US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num>
                                    <m:den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zh-CN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zh-CN" altLang="zh-CN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altLang="zh-CN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=0.48</m:t>
                      </m:r>
                    </m:oMath>
                  </m:oMathPara>
                </a14:m>
                <a:endParaRPr lang="zh-CN" altLang="zh-CN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531" y="908501"/>
                <a:ext cx="5713424" cy="4004686"/>
              </a:xfrm>
              <a:prstGeom prst="rect">
                <a:avLst/>
              </a:prstGeom>
              <a:blipFill>
                <a:blip r:embed="rId2"/>
                <a:stretch>
                  <a:fillRect l="-961" t="-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5762736" y="5027917"/>
                <a:ext cx="6096000" cy="120308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zh-CN" dirty="0"/>
                  <a:t>由此可得在大小属性条件下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zh-CN" dirty="0"/>
                  <a:t>的基尼指数为：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Gini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大小</m:t>
                          </m:r>
                        </m:e>
                      </m:d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Gini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饱满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Gini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溢缩</m:t>
                          </m:r>
                          <m:r>
                            <a:rPr lang="en-US" altLang="zh-CN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=0.489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736" y="5027917"/>
                <a:ext cx="6096000" cy="1203086"/>
              </a:xfrm>
              <a:prstGeom prst="rect">
                <a:avLst/>
              </a:prstGeom>
              <a:blipFill>
                <a:blip r:embed="rId3"/>
                <a:stretch>
                  <a:fillRect l="-800" t="-30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圆角矩形标注 5"/>
          <p:cNvSpPr/>
          <p:nvPr/>
        </p:nvSpPr>
        <p:spPr>
          <a:xfrm>
            <a:off x="10028903" y="542741"/>
            <a:ext cx="1752109" cy="1628222"/>
          </a:xfrm>
          <a:prstGeom prst="wedgeRound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请同学们在下面求解其他属性</a:t>
            </a:r>
            <a:r>
              <a:rPr lang="en-US" altLang="zh-CN" dirty="0"/>
              <a:t>Gini</a:t>
            </a:r>
            <a:r>
              <a:rPr lang="zh-CN" altLang="en-US" dirty="0"/>
              <a:t>指数</a:t>
            </a:r>
          </a:p>
        </p:txBody>
      </p:sp>
    </p:spTree>
    <p:extLst>
      <p:ext uri="{BB962C8B-B14F-4D97-AF65-F5344CB8AC3E}">
        <p14:creationId xmlns:p14="http://schemas.microsoft.com/office/powerpoint/2010/main" val="355042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831063" y="1203814"/>
                <a:ext cx="9949092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zh-CN" altLang="zh-CN" dirty="0"/>
                  <a:t>同理可得：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Gini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形状</m:t>
                          </m:r>
                        </m:e>
                      </m:d>
                      <m: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=0.489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Gini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颜色</m:t>
                          </m:r>
                        </m:e>
                      </m:d>
                      <m: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=0.433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Gini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土壤</m:t>
                          </m:r>
                        </m:e>
                      </m:d>
                      <m: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=0.433</m:t>
                      </m:r>
                    </m:oMath>
                  </m:oMathPara>
                </a14:m>
                <a:endParaRPr lang="en-US" altLang="zh-CN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Gini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zh-CN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水份</m:t>
                          </m:r>
                        </m:e>
                      </m:d>
                      <m:r>
                        <a:rPr lang="en-US" altLang="zh-CN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=0.344</m:t>
                      </m:r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Gini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zh-CN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日照</m:t>
                          </m:r>
                        </m:e>
                      </m:d>
                      <m:r>
                        <a:rPr lang="en-US" altLang="zh-CN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=0.433</m:t>
                      </m:r>
                    </m:oMath>
                  </m:oMathPara>
                </a14:m>
                <a:endParaRPr lang="zh-CN" altLang="zh-CN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063" y="1203814"/>
                <a:ext cx="9949092" cy="2677656"/>
              </a:xfrm>
              <a:prstGeom prst="rect">
                <a:avLst/>
              </a:prstGeom>
              <a:blipFill>
                <a:blip r:embed="rId2"/>
                <a:stretch>
                  <a:fillRect l="-490" t="-1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椭圆形标注 4"/>
          <p:cNvSpPr/>
          <p:nvPr/>
        </p:nvSpPr>
        <p:spPr>
          <a:xfrm>
            <a:off x="7765992" y="2698853"/>
            <a:ext cx="3083735" cy="1456734"/>
          </a:xfrm>
          <a:prstGeom prst="wedgeEllipseCallout">
            <a:avLst>
              <a:gd name="adj1" fmla="val -67663"/>
              <a:gd name="adj2" fmla="val -2278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选最小的作为根节点</a:t>
            </a:r>
          </a:p>
        </p:txBody>
      </p:sp>
    </p:spTree>
    <p:extLst>
      <p:ext uri="{BB962C8B-B14F-4D97-AF65-F5344CB8AC3E}">
        <p14:creationId xmlns:p14="http://schemas.microsoft.com/office/powerpoint/2010/main" val="4032881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91358" y="545465"/>
                <a:ext cx="11099449" cy="1365316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dirty="0">
                    <a:solidFill>
                      <a:schemeClr val="accent6"/>
                    </a:solidFill>
                  </a:rPr>
                  <a:t>水份属性的基尼指数最小，将水份作为第一个划分属性</a:t>
                </a:r>
                <a:r>
                  <a:rPr lang="zh-CN" altLang="zh-CN" dirty="0"/>
                  <a:t>，将集合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zh-CN" altLang="zh-CN" dirty="0"/>
                  <a:t>划分为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少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，分别对样本集合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多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少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dirty="0"/>
                  <a:t>递归调用以上步骤，最后可得完整决策树。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1358" y="545465"/>
                <a:ext cx="11099449" cy="1365316"/>
              </a:xfrm>
              <a:blipFill>
                <a:blip r:embed="rId2"/>
                <a:stretch>
                  <a:fillRect l="-659" r="-32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6FDC89CB-FF6D-427D-99D2-20E0ED482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244" y="1769806"/>
            <a:ext cx="6344044" cy="4465812"/>
          </a:xfrm>
          <a:prstGeom prst="rect">
            <a:avLst/>
          </a:prstGeom>
        </p:spPr>
      </p:pic>
      <p:sp>
        <p:nvSpPr>
          <p:cNvPr id="2" name="椭圆形标注 1"/>
          <p:cNvSpPr/>
          <p:nvPr/>
        </p:nvSpPr>
        <p:spPr>
          <a:xfrm>
            <a:off x="7303401" y="2047076"/>
            <a:ext cx="4287406" cy="1852397"/>
          </a:xfrm>
          <a:prstGeom prst="wedgeEllipseCallout">
            <a:avLst>
              <a:gd name="adj1" fmla="val -51429"/>
              <a:gd name="adj2" fmla="val 5931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新样本：</a:t>
            </a:r>
            <a:endParaRPr lang="en-US" altLang="zh-CN" dirty="0"/>
          </a:p>
          <a:p>
            <a:pPr algn="ctr"/>
            <a:r>
              <a:rPr lang="zh-CN" altLang="en-US" dirty="0"/>
              <a:t>当形状</a:t>
            </a:r>
            <a:r>
              <a:rPr lang="en-US" altLang="zh-CN" dirty="0"/>
              <a:t>=</a:t>
            </a:r>
            <a:r>
              <a:rPr lang="zh-CN" altLang="en-US" dirty="0">
                <a:solidFill>
                  <a:srgbClr val="FF0000"/>
                </a:solidFill>
              </a:rPr>
              <a:t>圆形</a:t>
            </a:r>
            <a:r>
              <a:rPr lang="zh-CN" altLang="en-US" dirty="0"/>
              <a:t>，颜色</a:t>
            </a:r>
            <a:r>
              <a:rPr lang="en-US" altLang="zh-CN" dirty="0"/>
              <a:t>=</a:t>
            </a:r>
            <a:r>
              <a:rPr lang="zh-CN" altLang="en-US" dirty="0">
                <a:solidFill>
                  <a:srgbClr val="FF0000"/>
                </a:solidFill>
              </a:rPr>
              <a:t>白色</a:t>
            </a:r>
            <a:r>
              <a:rPr lang="zh-CN" altLang="en-US" dirty="0"/>
              <a:t>，大小</a:t>
            </a:r>
            <a:r>
              <a:rPr lang="en-US" altLang="zh-CN" dirty="0"/>
              <a:t>=</a:t>
            </a:r>
            <a:r>
              <a:rPr lang="zh-CN" altLang="en-US" dirty="0">
                <a:solidFill>
                  <a:srgbClr val="FF0000"/>
                </a:solidFill>
              </a:rPr>
              <a:t>饱满</a:t>
            </a:r>
            <a:r>
              <a:rPr lang="zh-CN" altLang="en-US" dirty="0"/>
              <a:t>，土壤</a:t>
            </a:r>
            <a:r>
              <a:rPr lang="en-US" altLang="zh-CN" dirty="0"/>
              <a:t>=</a:t>
            </a:r>
            <a:r>
              <a:rPr lang="zh-CN" altLang="en-US" dirty="0">
                <a:solidFill>
                  <a:srgbClr val="FF0000"/>
                </a:solidFill>
              </a:rPr>
              <a:t>碱性</a:t>
            </a:r>
            <a:r>
              <a:rPr lang="zh-CN" altLang="en-US" dirty="0"/>
              <a:t>，水份</a:t>
            </a:r>
            <a:r>
              <a:rPr lang="en-US" altLang="zh-CN" dirty="0"/>
              <a:t>=</a:t>
            </a:r>
            <a:r>
              <a:rPr lang="zh-CN" altLang="en-US" dirty="0">
                <a:solidFill>
                  <a:srgbClr val="FF0000"/>
                </a:solidFill>
              </a:rPr>
              <a:t>多</a:t>
            </a:r>
            <a:r>
              <a:rPr lang="zh-CN" altLang="en-US" dirty="0"/>
              <a:t>，日照</a:t>
            </a:r>
            <a:r>
              <a:rPr lang="en-US" altLang="zh-CN" dirty="0"/>
              <a:t>=</a:t>
            </a:r>
            <a:r>
              <a:rPr lang="en-US" altLang="zh-CN" dirty="0">
                <a:solidFill>
                  <a:srgbClr val="FF0000"/>
                </a:solidFill>
              </a:rPr>
              <a:t>12</a:t>
            </a:r>
            <a:r>
              <a:rPr lang="zh-CN" altLang="en-US" dirty="0">
                <a:solidFill>
                  <a:srgbClr val="FF0000"/>
                </a:solidFill>
              </a:rPr>
              <a:t>小时以下</a:t>
            </a:r>
            <a:r>
              <a:rPr lang="zh-CN" altLang="en-US" dirty="0"/>
              <a:t>，种子会发芽吗？</a:t>
            </a:r>
            <a:endParaRPr lang="en-US" altLang="zh-CN" dirty="0"/>
          </a:p>
          <a:p>
            <a:pPr algn="ctr"/>
            <a:r>
              <a:rPr lang="zh-CN" altLang="en-US" dirty="0"/>
              <a:t>是</a:t>
            </a:r>
          </a:p>
        </p:txBody>
      </p:sp>
    </p:spTree>
    <p:extLst>
      <p:ext uri="{BB962C8B-B14F-4D97-AF65-F5344CB8AC3E}">
        <p14:creationId xmlns:p14="http://schemas.microsoft.com/office/powerpoint/2010/main" val="311906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5416" y="103305"/>
            <a:ext cx="9518680" cy="942340"/>
          </a:xfrm>
        </p:spPr>
        <p:txBody>
          <a:bodyPr/>
          <a:lstStyle/>
          <a:p>
            <a:pPr algn="ctr"/>
            <a:r>
              <a:rPr lang="zh-CN" altLang="en-US" dirty="0"/>
              <a:t>第二部分：实战演练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0339" y="959290"/>
            <a:ext cx="12053661" cy="19477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、理论知识课堂抢答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(1)</a:t>
            </a:r>
            <a:r>
              <a:rPr lang="zh-CN" altLang="zh-CN" dirty="0"/>
              <a:t>炼钢是一个氧化降碳的过程，钢水含碳量的多少直接影响冶炼时间的长短，必须掌握钢水含碳量和冶炼时间的关系。如果已测得炉料熔化完毕时，钢水的含碳量</a:t>
            </a:r>
            <a:r>
              <a:rPr lang="en-US" altLang="zh-CN" dirty="0"/>
              <a:t>x</a:t>
            </a:r>
            <a:r>
              <a:rPr lang="zh-CN" altLang="zh-CN" dirty="0"/>
              <a:t>与冶炼时间</a:t>
            </a:r>
            <a:r>
              <a:rPr lang="en-US" altLang="zh-CN" dirty="0"/>
              <a:t>y</a:t>
            </a:r>
            <a:r>
              <a:rPr lang="zh-CN" altLang="zh-CN" dirty="0"/>
              <a:t>（从炉料熔化完毕到出刚的时间）的一列数据，如下表所示：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521" y="3325266"/>
            <a:ext cx="6633296" cy="10248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653045" y="4579859"/>
            <a:ext cx="9348248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1</a:t>
            </a: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y</a:t>
            </a: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与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x</a:t>
            </a: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是否具有线性相关关系；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2</a:t>
            </a: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）如果具有线性相关关系，求回归直线方程；</a:t>
            </a: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3</a:t>
            </a: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）预测当钢水含碳量为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160</a:t>
            </a: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个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0.01%</a:t>
            </a:r>
            <a:r>
              <a:rPr lang="zh-CN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时，应冶炼多少分钟？</a:t>
            </a:r>
          </a:p>
          <a:p>
            <a:pPr indent="266700" algn="just">
              <a:lnSpc>
                <a:spcPts val="2000"/>
              </a:lnSpc>
              <a:spcAft>
                <a:spcPts val="0"/>
              </a:spcAft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 </a:t>
            </a:r>
            <a:endParaRPr lang="zh-CN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07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3560" y="0"/>
            <a:ext cx="10687685" cy="726435"/>
          </a:xfrm>
        </p:spPr>
        <p:txBody>
          <a:bodyPr/>
          <a:lstStyle/>
          <a:p>
            <a:r>
              <a:rPr lang="zh-CN" altLang="zh-CN" dirty="0"/>
              <a:t>解：</a:t>
            </a:r>
            <a:r>
              <a:rPr lang="en-US" altLang="zh-CN" dirty="0"/>
              <a:t>(1)</a:t>
            </a:r>
            <a:r>
              <a:rPr lang="zh-CN" altLang="zh-CN" dirty="0"/>
              <a:t>列出下表</a:t>
            </a:r>
            <a:r>
              <a:rPr lang="en-US" altLang="zh-CN" dirty="0"/>
              <a:t>,</a:t>
            </a:r>
            <a:r>
              <a:rPr lang="zh-CN" altLang="zh-CN" dirty="0"/>
              <a:t>并计算</a:t>
            </a:r>
          </a:p>
          <a:p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5590" y="528239"/>
            <a:ext cx="8430261" cy="1904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5378" y="2572290"/>
            <a:ext cx="5590684" cy="1349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738704" y="4039418"/>
            <a:ext cx="2877711" cy="3488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ts val="2000"/>
              </a:lnSpc>
              <a:spcAft>
                <a:spcPts val="0"/>
              </a:spcAft>
            </a:pPr>
            <a:r>
              <a:rPr lang="en-US" altLang="zh-CN" sz="20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设所求的回归方程为</a:t>
            </a:r>
          </a:p>
        </p:txBody>
      </p:sp>
      <p:pic>
        <p:nvPicPr>
          <p:cNvPr id="7" name="图片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76673" y="4039418"/>
            <a:ext cx="3668844" cy="1502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770876" y="4368107"/>
            <a:ext cx="3220777" cy="62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矩形 8"/>
          <p:cNvSpPr/>
          <p:nvPr/>
        </p:nvSpPr>
        <p:spPr>
          <a:xfrm>
            <a:off x="1049517" y="5542191"/>
            <a:ext cx="6096000" cy="96295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所以回归直线的方程为 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=1.267x-30.47 </a:t>
            </a:r>
            <a:endParaRPr lang="zh-CN" altLang="zh-CN" sz="20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当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x=160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时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, 1.267*60-30.47=172.25 </a:t>
            </a:r>
            <a:endParaRPr lang="zh-CN" altLang="zh-CN" sz="20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950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7553" y="85184"/>
            <a:ext cx="9518680" cy="566822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第二部分：实战演练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2889" y="739470"/>
            <a:ext cx="10687685" cy="2409246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K</a:t>
            </a:r>
            <a:r>
              <a:rPr lang="zh-CN" altLang="en-US" dirty="0"/>
              <a:t>近邻理论知识抢答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zh-CN" altLang="zh-CN" dirty="0"/>
              <a:t>打斗次数和接吻次数来界定电影类型，接吻多的是</a:t>
            </a:r>
            <a:r>
              <a:rPr lang="en-US" altLang="zh-CN" dirty="0"/>
              <a:t>Romance</a:t>
            </a:r>
            <a:r>
              <a:rPr lang="zh-CN" altLang="zh-CN" dirty="0"/>
              <a:t>类型的，而打斗多的是</a:t>
            </a:r>
            <a:r>
              <a:rPr lang="en-US" altLang="zh-CN" dirty="0"/>
              <a:t>Action</a:t>
            </a:r>
            <a:r>
              <a:rPr lang="zh-CN" altLang="zh-CN" dirty="0"/>
              <a:t>类型的电影，还有一部名字未知，打斗次数为</a:t>
            </a:r>
            <a:r>
              <a:rPr lang="en-US" altLang="zh-CN" dirty="0"/>
              <a:t>20</a:t>
            </a:r>
            <a:r>
              <a:rPr lang="zh-CN" altLang="zh-CN" dirty="0"/>
              <a:t>次，接吻次数为</a:t>
            </a:r>
            <a:r>
              <a:rPr lang="en-US" altLang="zh-CN" dirty="0"/>
              <a:t>100</a:t>
            </a:r>
            <a:r>
              <a:rPr lang="zh-CN" altLang="zh-CN" dirty="0"/>
              <a:t>次的电影，</a:t>
            </a:r>
            <a:r>
              <a:rPr lang="zh-CN" altLang="en-US" dirty="0"/>
              <a:t>当</a:t>
            </a:r>
            <a:r>
              <a:rPr lang="en-US" altLang="zh-CN" dirty="0"/>
              <a:t>K=4</a:t>
            </a:r>
            <a:r>
              <a:rPr lang="zh-CN" altLang="en-US" dirty="0"/>
              <a:t>，</a:t>
            </a:r>
            <a:r>
              <a:rPr lang="zh-CN" altLang="zh-CN" dirty="0"/>
              <a:t>它到底属于哪种类型的电影呢？</a:t>
            </a: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389265" y="3236180"/>
          <a:ext cx="6655256" cy="25663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0013">
                  <a:extLst>
                    <a:ext uri="{9D8B030D-6E8A-4147-A177-3AD203B41FA5}">
                      <a16:colId xmlns:a16="http://schemas.microsoft.com/office/drawing/2014/main" val="4112418638"/>
                    </a:ext>
                  </a:extLst>
                </a:gridCol>
                <a:gridCol w="2487976">
                  <a:extLst>
                    <a:ext uri="{9D8B030D-6E8A-4147-A177-3AD203B41FA5}">
                      <a16:colId xmlns:a16="http://schemas.microsoft.com/office/drawing/2014/main" val="787448240"/>
                    </a:ext>
                  </a:extLst>
                </a:gridCol>
                <a:gridCol w="1025553">
                  <a:extLst>
                    <a:ext uri="{9D8B030D-6E8A-4147-A177-3AD203B41FA5}">
                      <a16:colId xmlns:a16="http://schemas.microsoft.com/office/drawing/2014/main" val="2260971846"/>
                    </a:ext>
                  </a:extLst>
                </a:gridCol>
                <a:gridCol w="1316799">
                  <a:extLst>
                    <a:ext uri="{9D8B030D-6E8A-4147-A177-3AD203B41FA5}">
                      <a16:colId xmlns:a16="http://schemas.microsoft.com/office/drawing/2014/main" val="552448590"/>
                    </a:ext>
                  </a:extLst>
                </a:gridCol>
                <a:gridCol w="784915">
                  <a:extLst>
                    <a:ext uri="{9D8B030D-6E8A-4147-A177-3AD203B41FA5}">
                      <a16:colId xmlns:a16="http://schemas.microsoft.com/office/drawing/2014/main" val="2206633417"/>
                    </a:ext>
                  </a:extLst>
                </a:gridCol>
              </a:tblGrid>
              <a:tr h="55624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电影编号 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chemeClr val="tx1"/>
                          </a:solidFill>
                          <a:effectLst/>
                        </a:rPr>
                        <a:t>电影名称 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21590" marR="21590" marT="21590" marB="2159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打斗次数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接吻次数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chemeClr val="tx1"/>
                          </a:solidFill>
                          <a:effectLst/>
                        </a:rPr>
                        <a:t>电影类型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extLst>
                  <a:ext uri="{0D108BD9-81ED-4DB2-BD59-A6C34878D82A}">
                    <a16:rowId xmlns:a16="http://schemas.microsoft.com/office/drawing/2014/main" val="3943707486"/>
                  </a:ext>
                </a:extLst>
              </a:tr>
              <a:tr h="35243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1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 dirty="0">
                          <a:solidFill>
                            <a:schemeClr val="tx1"/>
                          </a:solidFill>
                          <a:effectLst/>
                        </a:rPr>
                        <a:t>California Man 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21590" marR="21590" marT="21590" marB="2159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3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104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Romance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extLst>
                  <a:ext uri="{0D108BD9-81ED-4DB2-BD59-A6C34878D82A}">
                    <a16:rowId xmlns:a16="http://schemas.microsoft.com/office/drawing/2014/main" val="224224809"/>
                  </a:ext>
                </a:extLst>
              </a:tr>
              <a:tr h="40678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2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He’s Not Really into Dudes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21590" marR="21590" marT="21590" marB="2159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 dirty="0">
                          <a:solidFill>
                            <a:schemeClr val="tx1"/>
                          </a:solidFill>
                          <a:effectLst/>
                        </a:rPr>
                        <a:t>2 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100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Romance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extLst>
                  <a:ext uri="{0D108BD9-81ED-4DB2-BD59-A6C34878D82A}">
                    <a16:rowId xmlns:a16="http://schemas.microsoft.com/office/drawing/2014/main" val="4188485779"/>
                  </a:ext>
                </a:extLst>
              </a:tr>
              <a:tr h="29298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3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Beautiful Woman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21590" marR="21590" marT="21590" marB="2159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 dirty="0">
                          <a:solidFill>
                            <a:schemeClr val="tx1"/>
                          </a:solidFill>
                          <a:effectLst/>
                        </a:rPr>
                        <a:t>1 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 dirty="0">
                          <a:solidFill>
                            <a:schemeClr val="tx1"/>
                          </a:solidFill>
                          <a:effectLst/>
                        </a:rPr>
                        <a:t>81 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Romance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extLst>
                  <a:ext uri="{0D108BD9-81ED-4DB2-BD59-A6C34878D82A}">
                    <a16:rowId xmlns:a16="http://schemas.microsoft.com/office/drawing/2014/main" val="1403323606"/>
                  </a:ext>
                </a:extLst>
              </a:tr>
              <a:tr h="28619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4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Kevin Longblade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21590" marR="21590" marT="21590" marB="2159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101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 dirty="0">
                          <a:solidFill>
                            <a:schemeClr val="tx1"/>
                          </a:solidFill>
                          <a:effectLst/>
                        </a:rPr>
                        <a:t>10 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Action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extLst>
                  <a:ext uri="{0D108BD9-81ED-4DB2-BD59-A6C34878D82A}">
                    <a16:rowId xmlns:a16="http://schemas.microsoft.com/office/drawing/2014/main" val="1168656975"/>
                  </a:ext>
                </a:extLst>
              </a:tr>
              <a:tr h="39998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5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Robo Slayer 3000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21590" marR="21590" marT="21590" marB="2159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99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 dirty="0">
                          <a:solidFill>
                            <a:schemeClr val="tx1"/>
                          </a:solidFill>
                          <a:effectLst/>
                        </a:rPr>
                        <a:t>5 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 dirty="0">
                          <a:solidFill>
                            <a:schemeClr val="tx1"/>
                          </a:solidFill>
                          <a:effectLst/>
                        </a:rPr>
                        <a:t>Action 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extLst>
                  <a:ext uri="{0D108BD9-81ED-4DB2-BD59-A6C34878D82A}">
                    <a16:rowId xmlns:a16="http://schemas.microsoft.com/office/drawing/2014/main" val="363778554"/>
                  </a:ext>
                </a:extLst>
              </a:tr>
              <a:tr h="27175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6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Amped II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21590" marR="21590" marT="21590" marB="2159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98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>
                          <a:solidFill>
                            <a:schemeClr val="tx1"/>
                          </a:solidFill>
                          <a:effectLst/>
                        </a:rPr>
                        <a:t>2 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400" kern="100" dirty="0">
                          <a:solidFill>
                            <a:schemeClr val="tx1"/>
                          </a:solidFill>
                          <a:effectLst/>
                        </a:rPr>
                        <a:t>Action 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8890" marR="8890" marT="8890" marB="0" anchor="ctr"/>
                </a:tc>
                <a:extLst>
                  <a:ext uri="{0D108BD9-81ED-4DB2-BD59-A6C34878D82A}">
                    <a16:rowId xmlns:a16="http://schemas.microsoft.com/office/drawing/2014/main" val="3198615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022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87330" y="148865"/>
            <a:ext cx="10687685" cy="4818380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1800" dirty="0"/>
              <a:t>打斗次数和接吻次数来界定电影类型，接吻多的是</a:t>
            </a:r>
            <a:r>
              <a:rPr lang="en-US" altLang="zh-CN" sz="1800" dirty="0"/>
              <a:t>Romance</a:t>
            </a:r>
            <a:r>
              <a:rPr lang="zh-CN" altLang="zh-CN" sz="1800" dirty="0"/>
              <a:t>类型的，而打斗多的是</a:t>
            </a:r>
            <a:r>
              <a:rPr lang="en-US" altLang="zh-CN" sz="1800" dirty="0"/>
              <a:t>Action</a:t>
            </a:r>
            <a:r>
              <a:rPr lang="zh-CN" altLang="zh-CN" sz="1800" dirty="0"/>
              <a:t>类型的电影，还有一部名字未知，打斗次数为</a:t>
            </a:r>
            <a:r>
              <a:rPr lang="en-US" altLang="zh-CN" sz="1800" dirty="0"/>
              <a:t>20</a:t>
            </a:r>
            <a:r>
              <a:rPr lang="zh-CN" altLang="zh-CN" sz="1800" dirty="0"/>
              <a:t>次，接吻次数为</a:t>
            </a:r>
            <a:r>
              <a:rPr lang="en-US" altLang="zh-CN" sz="1800" dirty="0"/>
              <a:t>100</a:t>
            </a:r>
            <a:r>
              <a:rPr lang="zh-CN" altLang="zh-CN" sz="1800" dirty="0"/>
              <a:t>次的电影，它到底属于哪种类型的电影呢？</a:t>
            </a:r>
          </a:p>
          <a:p>
            <a:pPr marL="0" indent="0">
              <a:buNone/>
            </a:pPr>
            <a:r>
              <a:rPr lang="zh-CN" altLang="zh-CN" sz="1800" dirty="0"/>
              <a:t>首先用打斗次数和接吻次数作为电影的坐标，计算其他六部电影与未知电影之间的距离，取得前</a:t>
            </a:r>
            <a:r>
              <a:rPr lang="en-US" altLang="zh-CN" sz="1800" dirty="0"/>
              <a:t>K</a:t>
            </a:r>
            <a:r>
              <a:rPr lang="zh-CN" altLang="zh-CN" sz="1800" dirty="0"/>
              <a:t>个距离最近的电影。 </a:t>
            </a:r>
          </a:p>
          <a:p>
            <a:pPr marL="0" indent="0">
              <a:buNone/>
            </a:pPr>
            <a:r>
              <a:rPr lang="zh-CN" altLang="zh-CN" sz="1800" dirty="0"/>
              <a:t>然后统计这</a:t>
            </a:r>
            <a:r>
              <a:rPr lang="en-US" altLang="zh-CN" sz="1800" dirty="0"/>
              <a:t>k</a:t>
            </a:r>
            <a:r>
              <a:rPr lang="zh-CN" altLang="zh-CN" sz="1800" dirty="0"/>
              <a:t>个距离最近的电影里，属于哪种类型的电影最多。 </a:t>
            </a:r>
          </a:p>
          <a:p>
            <a:pPr marL="0" indent="0">
              <a:buNone/>
            </a:pPr>
            <a:r>
              <a:rPr lang="zh-CN" altLang="zh-CN" sz="1800" dirty="0"/>
              <a:t>比如</a:t>
            </a:r>
            <a:r>
              <a:rPr lang="en-US" altLang="zh-CN" sz="1800" dirty="0"/>
              <a:t>Action</a:t>
            </a:r>
            <a:r>
              <a:rPr lang="zh-CN" altLang="zh-CN" sz="1800" dirty="0"/>
              <a:t>最多，则说明未知的这部电影属于动作片类型。 </a:t>
            </a:r>
          </a:p>
          <a:p>
            <a:pPr marL="0" indent="0">
              <a:buNone/>
            </a:pPr>
            <a:r>
              <a:rPr lang="zh-CN" altLang="zh-CN" sz="1800" dirty="0"/>
              <a:t>使用欧几里得距离公式计算未知电影与表中每个电影之间的距离： </a:t>
            </a:r>
          </a:p>
          <a:p>
            <a:pPr marL="0" indent="0">
              <a:buNone/>
            </a:pPr>
            <a:r>
              <a:rPr lang="en-US" altLang="zh-CN" sz="1800" dirty="0"/>
              <a:t>d(x, 1)=( (18 -3)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 + (90 -104)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( 225 + 196)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20.52 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d(x, 2)=( (18 -2)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 + (90 -100)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( 256 + 100)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18.87 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d(x, 3)=( (18 -1)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 + (90 -81)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( 289 + 81)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19.23 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d(x, 4)=( (18 -101)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 + (90 -10)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( 6889 + 6400)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115.28 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d(x, 5)=( (18 -99)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 + (90 -5)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( 6561 + 7225)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117.41 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/>
              <a:t>d(x, 6)=( (18 -98)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 + (90 -2)</a:t>
            </a:r>
            <a:r>
              <a:rPr lang="en-US" altLang="zh-CN" sz="1800" baseline="30000" dirty="0"/>
              <a:t>2</a:t>
            </a:r>
            <a:r>
              <a:rPr lang="en-US" altLang="zh-CN" sz="1800" dirty="0"/>
              <a:t>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( 6400 + 7744)</a:t>
            </a:r>
            <a:r>
              <a:rPr lang="en-US" altLang="zh-CN" sz="1800" baseline="30000" dirty="0"/>
              <a:t>1/2</a:t>
            </a:r>
            <a:r>
              <a:rPr lang="en-US" altLang="zh-CN" sz="1800" dirty="0"/>
              <a:t> = 118.93 </a:t>
            </a:r>
            <a:endParaRPr lang="zh-CN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8323001" y="2331513"/>
            <a:ext cx="3413125" cy="203041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68580" tIns="34290" rIns="68580" bIns="34290"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zh-CN" sz="2100" dirty="0">
                <a:solidFill>
                  <a:schemeClr val="accent2"/>
                </a:solidFill>
              </a:rPr>
              <a:t>如果选择</a:t>
            </a:r>
            <a:r>
              <a:rPr lang="en-US" altLang="zh-CN" sz="2100" dirty="0">
                <a:solidFill>
                  <a:schemeClr val="accent2"/>
                </a:solidFill>
              </a:rPr>
              <a:t>k=4</a:t>
            </a:r>
            <a:r>
              <a:rPr lang="zh-CN" altLang="zh-CN" sz="2100" dirty="0">
                <a:solidFill>
                  <a:schemeClr val="accent2"/>
                </a:solidFill>
              </a:rPr>
              <a:t>，因为</a:t>
            </a:r>
            <a:r>
              <a:rPr lang="en-US" altLang="zh-CN" sz="2100" dirty="0">
                <a:solidFill>
                  <a:schemeClr val="accent2"/>
                </a:solidFill>
              </a:rPr>
              <a:t>Romance</a:t>
            </a:r>
            <a:r>
              <a:rPr lang="zh-CN" altLang="zh-CN" sz="2100" dirty="0">
                <a:solidFill>
                  <a:schemeClr val="accent2"/>
                </a:solidFill>
              </a:rPr>
              <a:t>类型的电影占了</a:t>
            </a:r>
            <a:r>
              <a:rPr lang="en-US" altLang="zh-CN" sz="2100" dirty="0">
                <a:solidFill>
                  <a:schemeClr val="accent2"/>
                </a:solidFill>
              </a:rPr>
              <a:t>3/4</a:t>
            </a:r>
            <a:r>
              <a:rPr lang="zh-CN" altLang="zh-CN" sz="2100" dirty="0">
                <a:solidFill>
                  <a:schemeClr val="accent2"/>
                </a:solidFill>
              </a:rPr>
              <a:t>，未知电影的类型应该是</a:t>
            </a:r>
            <a:r>
              <a:rPr lang="en-US" altLang="zh-CN" sz="2100" dirty="0">
                <a:solidFill>
                  <a:schemeClr val="accent2"/>
                </a:solidFill>
              </a:rPr>
              <a:t>Romance</a:t>
            </a:r>
            <a:r>
              <a:rPr lang="zh-CN" altLang="zh-CN" sz="2100" dirty="0">
                <a:solidFill>
                  <a:schemeClr val="accent2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5330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9907" y="530527"/>
            <a:ext cx="11771147" cy="1401640"/>
          </a:xfrm>
        </p:spPr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）现在给我们的问题是，如果一对男女朋友，男生向女生求婚，男生的四个特点分别是不帅，性格不好，身高矮，不上进，请判断女生会不会嫁给他。</a:t>
            </a:r>
          </a:p>
          <a:p>
            <a:endParaRPr lang="zh-CN" altLang="en-US" dirty="0"/>
          </a:p>
        </p:txBody>
      </p: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7862" y="2006904"/>
            <a:ext cx="6737943" cy="4004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6984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5038" y="331744"/>
            <a:ext cx="10687685" cy="48183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P(</a:t>
            </a:r>
            <a:r>
              <a:rPr lang="zh-CN" altLang="en-US" sz="2000" dirty="0"/>
              <a:t>嫁</a:t>
            </a:r>
            <a:r>
              <a:rPr lang="en-US" altLang="zh-CN" sz="2000" dirty="0"/>
              <a:t>)=6/12=1/2     P(</a:t>
            </a:r>
            <a:r>
              <a:rPr lang="zh-CN" altLang="en-US" sz="2000" dirty="0"/>
              <a:t>不嫁</a:t>
            </a:r>
            <a:r>
              <a:rPr lang="en-US" altLang="zh-CN" sz="2000" dirty="0"/>
              <a:t>)= 6/12=1/2</a:t>
            </a:r>
          </a:p>
          <a:p>
            <a:pPr marL="0" indent="0">
              <a:buNone/>
            </a:pPr>
            <a:r>
              <a:rPr lang="en-US" altLang="zh-CN" sz="2000" dirty="0"/>
              <a:t>X={</a:t>
            </a:r>
            <a:r>
              <a:rPr lang="zh-CN" altLang="en-US" sz="2000" dirty="0"/>
              <a:t>不帅，性格不好，身高矮，不上进</a:t>
            </a:r>
            <a:r>
              <a:rPr lang="en-US" altLang="zh-CN" sz="2000" dirty="0"/>
              <a:t>}</a:t>
            </a:r>
          </a:p>
          <a:p>
            <a:pPr marL="0" indent="0">
              <a:buNone/>
            </a:pPr>
            <a:r>
              <a:rPr lang="en-US" altLang="zh-CN" sz="2000" dirty="0"/>
              <a:t>P(</a:t>
            </a:r>
            <a:r>
              <a:rPr lang="zh-CN" altLang="en-US" sz="2000" dirty="0"/>
              <a:t>不帅｜嫁</a:t>
            </a:r>
            <a:r>
              <a:rPr lang="en-US" altLang="zh-CN" sz="2000" dirty="0"/>
              <a:t>)=3/6=1/2          P(</a:t>
            </a:r>
            <a:r>
              <a:rPr lang="zh-CN" altLang="en-US" sz="2000" dirty="0"/>
              <a:t>不帅｜不嫁</a:t>
            </a:r>
            <a:r>
              <a:rPr lang="en-US" altLang="zh-CN" sz="2000" dirty="0"/>
              <a:t>)=2/6=1/2   </a:t>
            </a:r>
          </a:p>
          <a:p>
            <a:pPr marL="0" indent="0">
              <a:buNone/>
            </a:pPr>
            <a:r>
              <a:rPr lang="en-US" altLang="zh-CN" sz="2000" dirty="0"/>
              <a:t>P(</a:t>
            </a:r>
            <a:r>
              <a:rPr lang="zh-CN" altLang="en-US" sz="2000" dirty="0"/>
              <a:t>性格不好｜嫁</a:t>
            </a:r>
            <a:r>
              <a:rPr lang="en-US" altLang="zh-CN" sz="2000" dirty="0"/>
              <a:t>)=1/6        P(</a:t>
            </a:r>
            <a:r>
              <a:rPr lang="zh-CN" altLang="en-US" sz="2000" dirty="0"/>
              <a:t>性格不好｜不嫁</a:t>
            </a:r>
            <a:r>
              <a:rPr lang="en-US" altLang="zh-CN" sz="2000" dirty="0"/>
              <a:t>)=4/6=2/3</a:t>
            </a:r>
          </a:p>
          <a:p>
            <a:pPr marL="0" indent="0">
              <a:buNone/>
            </a:pPr>
            <a:r>
              <a:rPr lang="en-US" altLang="zh-CN" sz="2000" dirty="0"/>
              <a:t>P(</a:t>
            </a:r>
            <a:r>
              <a:rPr lang="zh-CN" altLang="en-US" sz="2000" dirty="0"/>
              <a:t>身高矮｜嫁</a:t>
            </a:r>
            <a:r>
              <a:rPr lang="en-US" altLang="zh-CN" sz="2000" dirty="0"/>
              <a:t>)=1/6                     P(</a:t>
            </a:r>
            <a:r>
              <a:rPr lang="zh-CN" altLang="en-US" sz="2000" dirty="0"/>
              <a:t>身高矮｜不嫁</a:t>
            </a:r>
            <a:r>
              <a:rPr lang="en-US" altLang="zh-CN" sz="2000" dirty="0"/>
              <a:t>)=6/6=1</a:t>
            </a:r>
          </a:p>
          <a:p>
            <a:pPr marL="0" indent="0">
              <a:buNone/>
            </a:pPr>
            <a:r>
              <a:rPr lang="en-US" altLang="zh-CN" sz="2000" dirty="0"/>
              <a:t>P(</a:t>
            </a:r>
            <a:r>
              <a:rPr lang="zh-CN" altLang="en-US" sz="2000" dirty="0"/>
              <a:t>不上进｜嫁</a:t>
            </a:r>
            <a:r>
              <a:rPr lang="en-US" altLang="zh-CN" sz="2000" dirty="0"/>
              <a:t>)=1/6                 P(</a:t>
            </a:r>
            <a:r>
              <a:rPr lang="zh-CN" altLang="en-US" sz="2000" dirty="0"/>
              <a:t>不上进｜不嫁</a:t>
            </a:r>
            <a:r>
              <a:rPr lang="en-US" altLang="zh-CN" sz="2000" dirty="0"/>
              <a:t>)=4/6=2/3</a:t>
            </a:r>
          </a:p>
          <a:p>
            <a:pPr marL="0" indent="0">
              <a:buNone/>
            </a:pPr>
            <a:r>
              <a:rPr lang="en-US" altLang="zh-CN" sz="2000" dirty="0"/>
              <a:t>P(x|</a:t>
            </a:r>
            <a:r>
              <a:rPr lang="zh-CN" altLang="en-US" sz="2000" dirty="0"/>
              <a:t>嫁</a:t>
            </a:r>
            <a:r>
              <a:rPr lang="en-US" altLang="zh-CN" sz="2000" dirty="0"/>
              <a:t>)=1/2*1/6*1/6*1/6=0.0022</a:t>
            </a:r>
          </a:p>
          <a:p>
            <a:pPr marL="0" indent="0">
              <a:buNone/>
            </a:pPr>
            <a:r>
              <a:rPr lang="en-US" altLang="zh-CN" sz="2000" dirty="0"/>
              <a:t>P(x|</a:t>
            </a:r>
            <a:r>
              <a:rPr lang="zh-CN" altLang="en-US" sz="2000" dirty="0"/>
              <a:t>不嫁</a:t>
            </a:r>
            <a:r>
              <a:rPr lang="en-US" altLang="zh-CN" sz="2000" dirty="0"/>
              <a:t>) =  ½*2/3*1*2/3=  0.22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X|Ci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)*P(Ci) :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｜嫁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P(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=0.0022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0.5= 0.0011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｜不嫁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P(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不嫁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=0. 22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0.5= 0.11</a:t>
            </a:r>
          </a:p>
          <a:p>
            <a:pPr marL="0" indent="0">
              <a:buClr>
                <a:schemeClr val="accent1"/>
              </a:buClr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0.0011&lt;0.11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结果是不嫁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75963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611" y="1287376"/>
            <a:ext cx="10687685" cy="598558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）设某网球俱乐部由下表给出的打球与气候情况的历史数据样本集</a:t>
            </a:r>
            <a:r>
              <a:rPr lang="en-US" altLang="zh-CN" dirty="0"/>
              <a:t>S.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2496" y="1953758"/>
            <a:ext cx="6508641" cy="3416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1457794" y="5505816"/>
            <a:ext cx="976950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俱乐部计划后天安排一次网球比赛活动，而后天的天气预报情况如下：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Z=(</a:t>
            </a:r>
            <a:r>
              <a:rPr lang="zh-CN" altLang="en-US" dirty="0">
                <a:solidFill>
                  <a:srgbClr val="FF0000"/>
                </a:solidFill>
              </a:rPr>
              <a:t>天气</a:t>
            </a:r>
            <a:r>
              <a:rPr lang="en-US" altLang="zh-CN" dirty="0">
                <a:solidFill>
                  <a:srgbClr val="FF0000"/>
                </a:solidFill>
              </a:rPr>
              <a:t>=“</a:t>
            </a:r>
            <a:r>
              <a:rPr lang="zh-CN" altLang="en-US" dirty="0">
                <a:solidFill>
                  <a:srgbClr val="FF0000"/>
                </a:solidFill>
              </a:rPr>
              <a:t>晴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zh-CN" altLang="en-US" dirty="0">
                <a:solidFill>
                  <a:srgbClr val="FF0000"/>
                </a:solidFill>
              </a:rPr>
              <a:t>，温度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“高”，湿度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“小”，风力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zh-CN" altLang="en-US" dirty="0">
                <a:solidFill>
                  <a:srgbClr val="FF0000"/>
                </a:solidFill>
              </a:rPr>
              <a:t>“无”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  <a:p>
            <a:r>
              <a:rPr lang="zh-CN" altLang="en-US" dirty="0"/>
              <a:t>请根据历史样本集</a:t>
            </a:r>
            <a:r>
              <a:rPr lang="en-US" altLang="zh-CN" dirty="0"/>
              <a:t>S</a:t>
            </a:r>
            <a:r>
              <a:rPr lang="zh-CN" altLang="en-US" dirty="0"/>
              <a:t>，利用朴素贝叶斯分类器，判断后天是否适宜进行网球比赛。</a:t>
            </a:r>
            <a:br>
              <a:rPr lang="en-US" altLang="zh-CN" sz="3200" dirty="0"/>
            </a:br>
            <a:endParaRPr lang="zh-CN" altLang="en-US" sz="3200" dirty="0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90575" y="276016"/>
            <a:ext cx="9518680" cy="942340"/>
          </a:xfrm>
        </p:spPr>
        <p:txBody>
          <a:bodyPr/>
          <a:lstStyle/>
          <a:p>
            <a:pPr algn="ctr"/>
            <a:r>
              <a:rPr lang="zh-CN" altLang="en-US" dirty="0"/>
              <a:t>第二部分  实战演练</a:t>
            </a:r>
          </a:p>
        </p:txBody>
      </p:sp>
    </p:spTree>
    <p:extLst>
      <p:ext uri="{BB962C8B-B14F-4D97-AF65-F5344CB8AC3E}">
        <p14:creationId xmlns:p14="http://schemas.microsoft.com/office/powerpoint/2010/main" val="425159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8304" y="276086"/>
            <a:ext cx="10687685" cy="4818380"/>
          </a:xfrm>
        </p:spPr>
        <p:txBody>
          <a:bodyPr/>
          <a:lstStyle/>
          <a:p>
            <a:r>
              <a:rPr lang="zh-CN" altLang="en-US" dirty="0"/>
              <a:t>解：由于</a:t>
            </a:r>
            <a:r>
              <a:rPr lang="en-US" altLang="zh-CN" dirty="0"/>
              <a:t>S</a:t>
            </a:r>
            <a:r>
              <a:rPr lang="zh-CN" altLang="en-US" dirty="0"/>
              <a:t>的类别属性</a:t>
            </a:r>
            <a:r>
              <a:rPr lang="en-US" altLang="zh-CN" dirty="0"/>
              <a:t>C</a:t>
            </a:r>
            <a:r>
              <a:rPr lang="zh-CN" altLang="en-US" dirty="0"/>
              <a:t>取值为“是”和“否”，因此，</a:t>
            </a:r>
            <a:r>
              <a:rPr lang="en-US" altLang="zh-CN" dirty="0"/>
              <a:t>C</a:t>
            </a:r>
            <a:r>
              <a:rPr lang="zh-CN" altLang="en-US" dirty="0"/>
              <a:t>将</a:t>
            </a:r>
            <a:r>
              <a:rPr lang="en-US" altLang="zh-CN" dirty="0"/>
              <a:t>S</a:t>
            </a:r>
            <a:r>
              <a:rPr lang="zh-CN" altLang="en-US" dirty="0"/>
              <a:t>分为两个类别集合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en-US" altLang="zh-CN" baseline="-25000" dirty="0"/>
              <a:t>1</a:t>
            </a:r>
            <a:r>
              <a:rPr lang="en-US" altLang="zh-CN" dirty="0"/>
              <a:t>=C</a:t>
            </a:r>
            <a:r>
              <a:rPr lang="zh-CN" altLang="en-US" baseline="-25000" dirty="0"/>
              <a:t>是</a:t>
            </a:r>
            <a:r>
              <a:rPr lang="en-US" altLang="zh-CN" dirty="0"/>
              <a:t>={X</a:t>
            </a:r>
            <a:r>
              <a:rPr lang="en-US" altLang="zh-CN" baseline="-25000" dirty="0"/>
              <a:t>3</a:t>
            </a:r>
            <a:r>
              <a:rPr lang="en-US" altLang="zh-CN" dirty="0"/>
              <a:t>,X</a:t>
            </a:r>
            <a:r>
              <a:rPr lang="en-US" altLang="zh-CN" baseline="-25000" dirty="0"/>
              <a:t>4</a:t>
            </a:r>
            <a:r>
              <a:rPr lang="en-US" altLang="zh-CN" dirty="0"/>
              <a:t>,X</a:t>
            </a:r>
            <a:r>
              <a:rPr lang="en-US" altLang="zh-CN" baseline="-25000" dirty="0"/>
              <a:t>5</a:t>
            </a:r>
            <a:r>
              <a:rPr lang="en-US" altLang="zh-CN" dirty="0"/>
              <a:t>,X</a:t>
            </a:r>
            <a:r>
              <a:rPr lang="en-US" altLang="zh-CN" baseline="-25000" dirty="0"/>
              <a:t>7</a:t>
            </a:r>
            <a:r>
              <a:rPr lang="en-US" altLang="zh-CN" dirty="0"/>
              <a:t>,X</a:t>
            </a:r>
            <a:r>
              <a:rPr lang="en-US" altLang="zh-CN" baseline="-25000" dirty="0"/>
              <a:t>9</a:t>
            </a:r>
            <a:r>
              <a:rPr lang="en-US" altLang="zh-CN" dirty="0"/>
              <a:t>,X</a:t>
            </a:r>
            <a:r>
              <a:rPr lang="en-US" altLang="zh-CN" baseline="-25000" dirty="0"/>
              <a:t>10</a:t>
            </a:r>
            <a:r>
              <a:rPr lang="en-US" altLang="zh-CN" dirty="0"/>
              <a:t>,X</a:t>
            </a:r>
            <a:r>
              <a:rPr lang="en-US" altLang="zh-CN" baseline="-25000" dirty="0"/>
              <a:t>11</a:t>
            </a:r>
            <a:r>
              <a:rPr lang="en-US" altLang="zh-CN" dirty="0"/>
              <a:t>,X</a:t>
            </a:r>
            <a:r>
              <a:rPr lang="en-US" altLang="zh-CN" baseline="-25000" dirty="0"/>
              <a:t>12</a:t>
            </a:r>
            <a:r>
              <a:rPr lang="en-US" altLang="zh-CN" dirty="0"/>
              <a:t>,X</a:t>
            </a:r>
            <a:r>
              <a:rPr lang="en-US" altLang="zh-CN" baseline="-25000" dirty="0"/>
              <a:t>13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C</a:t>
            </a:r>
            <a:r>
              <a:rPr lang="en-US" altLang="zh-CN" baseline="-25000" dirty="0"/>
              <a:t>2</a:t>
            </a:r>
            <a:r>
              <a:rPr lang="en-US" altLang="zh-CN" dirty="0"/>
              <a:t>=C</a:t>
            </a:r>
            <a:r>
              <a:rPr lang="zh-CN" altLang="en-US" baseline="-25000" dirty="0"/>
              <a:t>否</a:t>
            </a:r>
            <a:r>
              <a:rPr lang="en-US" altLang="zh-CN" dirty="0"/>
              <a:t>={X</a:t>
            </a:r>
            <a:r>
              <a:rPr lang="en-US" altLang="zh-CN" baseline="-25000" dirty="0"/>
              <a:t>1</a:t>
            </a:r>
            <a:r>
              <a:rPr lang="en-US" altLang="zh-CN" dirty="0"/>
              <a:t>,X</a:t>
            </a:r>
            <a:r>
              <a:rPr lang="en-US" altLang="zh-CN" baseline="-25000" dirty="0"/>
              <a:t>2</a:t>
            </a:r>
            <a:r>
              <a:rPr lang="en-US" altLang="zh-CN" dirty="0"/>
              <a:t>,X</a:t>
            </a:r>
            <a:r>
              <a:rPr lang="en-US" altLang="zh-CN" baseline="-25000" dirty="0"/>
              <a:t>6</a:t>
            </a:r>
            <a:r>
              <a:rPr lang="en-US" altLang="zh-CN" dirty="0"/>
              <a:t>,X</a:t>
            </a:r>
            <a:r>
              <a:rPr lang="en-US" altLang="zh-CN" baseline="-25000" dirty="0"/>
              <a:t>8</a:t>
            </a:r>
            <a:r>
              <a:rPr lang="en-US" altLang="zh-CN" dirty="0"/>
              <a:t>,X</a:t>
            </a:r>
            <a:r>
              <a:rPr lang="en-US" altLang="zh-CN" baseline="-25000" dirty="0"/>
              <a:t>14</a:t>
            </a:r>
            <a:r>
              <a:rPr lang="en-US" altLang="zh-CN" dirty="0"/>
              <a:t>}</a:t>
            </a:r>
          </a:p>
          <a:p>
            <a:r>
              <a:rPr lang="zh-CN" altLang="en-US" dirty="0"/>
              <a:t>根据公式，我们只需要计算</a:t>
            </a:r>
            <a:r>
              <a:rPr lang="en-US" altLang="zh-CN" dirty="0"/>
              <a:t>P(z|C</a:t>
            </a:r>
            <a:r>
              <a:rPr lang="en-US" altLang="zh-CN" baseline="-25000" dirty="0"/>
              <a:t>1</a:t>
            </a:r>
            <a:r>
              <a:rPr lang="en-US" altLang="zh-CN" dirty="0"/>
              <a:t>)*P(C</a:t>
            </a:r>
            <a:r>
              <a:rPr lang="en-US" altLang="zh-CN" baseline="-25000" dirty="0"/>
              <a:t>1</a:t>
            </a:r>
            <a:r>
              <a:rPr lang="en-US" altLang="zh-CN" dirty="0"/>
              <a:t>)</a:t>
            </a:r>
            <a:r>
              <a:rPr lang="zh-CN" altLang="en-US" dirty="0"/>
              <a:t>和</a:t>
            </a:r>
            <a:r>
              <a:rPr lang="en-US" altLang="zh-CN" dirty="0"/>
              <a:t>P(z|C</a:t>
            </a:r>
            <a:r>
              <a:rPr lang="en-US" altLang="zh-CN" baseline="-25000" dirty="0"/>
              <a:t>2</a:t>
            </a:r>
            <a:r>
              <a:rPr lang="en-US" altLang="zh-CN" dirty="0"/>
              <a:t>)*P(C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计算  </a:t>
            </a:r>
            <a:r>
              <a:rPr lang="en-US" altLang="zh-CN" dirty="0"/>
              <a:t>P(C</a:t>
            </a:r>
            <a:r>
              <a:rPr lang="en-US" altLang="zh-CN" baseline="-25000" dirty="0"/>
              <a:t>1</a:t>
            </a:r>
            <a:r>
              <a:rPr lang="en-US" altLang="zh-CN" dirty="0"/>
              <a:t>)=9/14, P(C</a:t>
            </a:r>
            <a:r>
              <a:rPr lang="en-US" altLang="zh-CN" baseline="-25000" dirty="0"/>
              <a:t>2</a:t>
            </a:r>
            <a:r>
              <a:rPr lang="en-US" altLang="zh-CN" dirty="0"/>
              <a:t>)=5/14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1922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0109" y="0"/>
            <a:ext cx="10687685" cy="481838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zh-CN" altLang="en-US" dirty="0"/>
              <a:t>计算</a:t>
            </a:r>
            <a:r>
              <a:rPr lang="en-US" altLang="zh-CN" dirty="0"/>
              <a:t>P(Z|C1)=</a:t>
            </a:r>
          </a:p>
          <a:p>
            <a:pPr>
              <a:buNone/>
            </a:pPr>
            <a:r>
              <a:rPr lang="en-US" altLang="zh-CN" dirty="0"/>
              <a:t>    </a:t>
            </a:r>
            <a:r>
              <a:rPr lang="zh-CN" altLang="en-US" dirty="0"/>
              <a:t>已知</a:t>
            </a:r>
            <a:r>
              <a:rPr lang="en-US" altLang="zh-CN" dirty="0"/>
              <a:t>Z=(Z1,Z2,Z3,Z4)=(</a:t>
            </a:r>
            <a:r>
              <a:rPr lang="zh-CN" altLang="en-US" dirty="0"/>
              <a:t>天气</a:t>
            </a:r>
            <a:r>
              <a:rPr lang="en-US" altLang="zh-CN" dirty="0"/>
              <a:t>=</a:t>
            </a:r>
            <a:r>
              <a:rPr lang="zh-CN" altLang="en-US" dirty="0"/>
              <a:t>“晴”，温度</a:t>
            </a:r>
            <a:r>
              <a:rPr lang="en-US" altLang="zh-CN" dirty="0"/>
              <a:t>=</a:t>
            </a:r>
            <a:r>
              <a:rPr lang="zh-CN" altLang="en-US" dirty="0"/>
              <a:t>“高”，湿度</a:t>
            </a:r>
            <a:r>
              <a:rPr lang="en-US" altLang="zh-CN" dirty="0"/>
              <a:t>=</a:t>
            </a:r>
            <a:r>
              <a:rPr lang="zh-CN" altLang="en-US" dirty="0"/>
              <a:t>“小”，风力</a:t>
            </a:r>
            <a:r>
              <a:rPr lang="en-US" altLang="zh-CN" dirty="0"/>
              <a:t>=</a:t>
            </a:r>
            <a:r>
              <a:rPr lang="zh-CN" altLang="en-US" dirty="0"/>
              <a:t>“无”</a:t>
            </a:r>
            <a:r>
              <a:rPr lang="en-US" altLang="zh-CN" dirty="0"/>
              <a:t>)</a:t>
            </a:r>
          </a:p>
          <a:p>
            <a:pPr>
              <a:buNone/>
            </a:pPr>
            <a:r>
              <a:rPr lang="en-US" altLang="zh-CN" dirty="0"/>
              <a:t>P(Z1|C1)=2/9,</a:t>
            </a:r>
            <a:r>
              <a:rPr lang="zh-CN" altLang="en-US" dirty="0"/>
              <a:t>这里</a:t>
            </a:r>
            <a:r>
              <a:rPr lang="en-US" altLang="zh-CN" dirty="0"/>
              <a:t>S11={X9,X11}</a:t>
            </a:r>
            <a:r>
              <a:rPr lang="zh-CN" altLang="en-US" dirty="0"/>
              <a:t>是</a:t>
            </a:r>
            <a:r>
              <a:rPr lang="en-US" altLang="zh-CN" dirty="0"/>
              <a:t>S</a:t>
            </a:r>
            <a:r>
              <a:rPr lang="zh-CN" altLang="en-US" dirty="0"/>
              <a:t>中天气</a:t>
            </a:r>
            <a:r>
              <a:rPr lang="en-US" altLang="zh-CN" dirty="0"/>
              <a:t>=</a:t>
            </a:r>
            <a:r>
              <a:rPr lang="zh-CN" altLang="en-US" dirty="0"/>
              <a:t>“晴”且属于</a:t>
            </a:r>
            <a:r>
              <a:rPr lang="en-US" altLang="zh-CN" dirty="0"/>
              <a:t>C1</a:t>
            </a:r>
            <a:r>
              <a:rPr lang="zh-CN" altLang="en-US" dirty="0"/>
              <a:t>的样本数。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P(Z2|C1)=2/9,</a:t>
            </a:r>
            <a:r>
              <a:rPr lang="zh-CN" altLang="en-US" dirty="0"/>
              <a:t>这里</a:t>
            </a:r>
            <a:r>
              <a:rPr lang="en-US" altLang="zh-CN" dirty="0"/>
              <a:t>S12={X3,X13}</a:t>
            </a:r>
            <a:r>
              <a:rPr lang="zh-CN" altLang="en-US" dirty="0"/>
              <a:t>是</a:t>
            </a:r>
            <a:r>
              <a:rPr lang="en-US" altLang="zh-CN" dirty="0"/>
              <a:t>S</a:t>
            </a:r>
            <a:r>
              <a:rPr lang="zh-CN" altLang="en-US" dirty="0"/>
              <a:t>中温度</a:t>
            </a:r>
            <a:r>
              <a:rPr lang="en-US" altLang="zh-CN" dirty="0"/>
              <a:t>=</a:t>
            </a:r>
            <a:r>
              <a:rPr lang="zh-CN" altLang="en-US" dirty="0"/>
              <a:t>“高”且属于</a:t>
            </a:r>
            <a:r>
              <a:rPr lang="en-US" altLang="zh-CN" dirty="0"/>
              <a:t>C1</a:t>
            </a:r>
            <a:r>
              <a:rPr lang="zh-CN" altLang="en-US" dirty="0"/>
              <a:t>的样本数。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P(Z3|C1)=6/9</a:t>
            </a:r>
            <a:r>
              <a:rPr lang="zh-CN" altLang="en-US" dirty="0"/>
              <a:t>；</a:t>
            </a:r>
            <a:r>
              <a:rPr lang="en-US" altLang="zh-CN" dirty="0"/>
              <a:t> P(Z4|C1)=6/9</a:t>
            </a:r>
          </a:p>
          <a:p>
            <a:pPr>
              <a:buNone/>
            </a:pPr>
            <a:r>
              <a:rPr lang="zh-CN" altLang="en-US" dirty="0"/>
              <a:t>因此，</a:t>
            </a:r>
            <a:r>
              <a:rPr lang="en-US" altLang="zh-CN" dirty="0"/>
              <a:t>P(Z|C1)=2/9*2/9*6/9*6/9=0.022</a:t>
            </a:r>
          </a:p>
          <a:p>
            <a:pPr>
              <a:buNone/>
            </a:pPr>
            <a:r>
              <a:rPr lang="en-US" altLang="zh-CN" dirty="0"/>
              <a:t>(3)</a:t>
            </a:r>
            <a:r>
              <a:rPr lang="zh-CN" altLang="en-US" dirty="0"/>
              <a:t>同理计算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P(Z|C2)=3/5*2/5*1/5*3/5=0.029</a:t>
            </a:r>
          </a:p>
          <a:p>
            <a:pPr>
              <a:buNone/>
            </a:pPr>
            <a:r>
              <a:rPr lang="en-US" altLang="zh-CN" dirty="0"/>
              <a:t>(4)P(Z|C1)*P(C1)=0.014&gt;0.010=P(Z|C2)*P(C2),</a:t>
            </a:r>
            <a:r>
              <a:rPr lang="zh-CN" altLang="en-US" dirty="0"/>
              <a:t>因此</a:t>
            </a:r>
            <a:r>
              <a:rPr lang="en-US" altLang="zh-CN" dirty="0"/>
              <a:t>Z</a:t>
            </a:r>
            <a:r>
              <a:rPr lang="zh-CN" altLang="en-US" dirty="0"/>
              <a:t>属于类</a:t>
            </a:r>
            <a:r>
              <a:rPr lang="en-US" altLang="zh-CN" dirty="0"/>
              <a:t>C1=</a:t>
            </a:r>
            <a:r>
              <a:rPr lang="zh-CN" altLang="en-US" dirty="0"/>
              <a:t>是。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后天的气象条件为</a:t>
            </a:r>
            <a:r>
              <a:rPr lang="en-US" altLang="zh-CN" dirty="0"/>
              <a:t>Z</a:t>
            </a:r>
            <a:r>
              <a:rPr lang="zh-CN" altLang="en-US" dirty="0"/>
              <a:t>时适宜打球。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4903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例：设数据集</a:t>
            </a:r>
            <a:r>
              <a:rPr lang="en-US" altLang="zh-CN" dirty="0"/>
              <a:t>S={(1,1),(2,1),(1,2),(2,2),(4,3),(5,3),(4,4),(5,4)},</a:t>
            </a:r>
            <a:r>
              <a:rPr lang="zh-CN" altLang="en-US" dirty="0"/>
              <a:t>令</a:t>
            </a:r>
            <a:r>
              <a:rPr lang="en-US" altLang="zh-CN" dirty="0"/>
              <a:t>K=2,</a:t>
            </a:r>
            <a:r>
              <a:rPr lang="zh-CN" altLang="en-US" dirty="0"/>
              <a:t>试用</a:t>
            </a:r>
            <a:r>
              <a:rPr lang="en-US" altLang="zh-CN" dirty="0"/>
              <a:t>K-means</a:t>
            </a:r>
            <a:r>
              <a:rPr lang="zh-CN" altLang="en-US" dirty="0"/>
              <a:t>算法将</a:t>
            </a:r>
            <a:r>
              <a:rPr lang="en-US" altLang="zh-CN" dirty="0"/>
              <a:t>X</a:t>
            </a:r>
            <a:r>
              <a:rPr lang="zh-CN" altLang="en-US" dirty="0"/>
              <a:t>划分为</a:t>
            </a:r>
            <a:r>
              <a:rPr lang="en-US" altLang="zh-CN" dirty="0"/>
              <a:t>K</a:t>
            </a:r>
            <a:r>
              <a:rPr lang="zh-CN" altLang="en-US" dirty="0"/>
              <a:t>个簇。而每个对象在平面上的相对位置可用下图所示：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568" y="3169897"/>
            <a:ext cx="5276850" cy="1889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196" y="2983042"/>
            <a:ext cx="3482869" cy="226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839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答：</a:t>
            </a:r>
            <a:r>
              <a:rPr lang="zh-CN" altLang="zh-CN" dirty="0"/>
              <a:t>第一轮循环：</a:t>
            </a:r>
            <a:r>
              <a:rPr lang="en-US" altLang="zh-CN" dirty="0"/>
              <a:t>X1</a:t>
            </a:r>
            <a:r>
              <a:rPr lang="zh-CN" altLang="zh-CN" dirty="0"/>
              <a:t>和</a:t>
            </a:r>
            <a:r>
              <a:rPr lang="en-US" altLang="zh-CN" dirty="0"/>
              <a:t>X3</a:t>
            </a:r>
            <a:r>
              <a:rPr lang="zh-CN" altLang="zh-CN" dirty="0"/>
              <a:t>分配到</a:t>
            </a:r>
            <a:r>
              <a:rPr lang="en-US" altLang="zh-CN" dirty="0"/>
              <a:t>C1</a:t>
            </a:r>
            <a:r>
              <a:rPr lang="zh-CN" altLang="zh-CN" dirty="0"/>
              <a:t>和</a:t>
            </a:r>
            <a:r>
              <a:rPr lang="en-US" altLang="zh-CN" dirty="0"/>
              <a:t>C2</a:t>
            </a:r>
            <a:r>
              <a:rPr lang="zh-CN" altLang="zh-CN" dirty="0"/>
              <a:t>，分别计算</a:t>
            </a:r>
            <a:r>
              <a:rPr lang="en-US" altLang="zh-CN" dirty="0"/>
              <a:t>X2</a:t>
            </a:r>
            <a:r>
              <a:rPr lang="zh-CN" altLang="zh-CN" dirty="0"/>
              <a:t>等元素的归属，得到</a:t>
            </a:r>
            <a:r>
              <a:rPr lang="en-US" altLang="zh-CN" dirty="0"/>
              <a:t>C1={X1,X2},C2={X3,X4,X5,X6,X7,X8}</a:t>
            </a:r>
            <a:r>
              <a:rPr lang="zh-CN" altLang="zh-CN" dirty="0"/>
              <a:t>重新计算中心</a:t>
            </a:r>
            <a:r>
              <a:rPr lang="en-US" altLang="zh-CN" dirty="0"/>
              <a:t>X1=(1.5,1)</a:t>
            </a:r>
            <a:r>
              <a:rPr lang="zh-CN" altLang="zh-CN" dirty="0"/>
              <a:t>，</a:t>
            </a:r>
            <a:r>
              <a:rPr lang="en-US" altLang="zh-CN" dirty="0"/>
              <a:t>X2=(3.5,3)</a:t>
            </a:r>
            <a:endParaRPr lang="zh-CN" altLang="zh-CN" dirty="0"/>
          </a:p>
          <a:p>
            <a:r>
              <a:rPr lang="zh-CN" altLang="zh-CN" dirty="0"/>
              <a:t>第二轮循环：</a:t>
            </a:r>
            <a:r>
              <a:rPr lang="en-US" altLang="zh-CN" dirty="0"/>
              <a:t>C1={X1,X2</a:t>
            </a:r>
            <a:r>
              <a:rPr lang="zh-CN" altLang="zh-CN" dirty="0"/>
              <a:t>，</a:t>
            </a:r>
            <a:r>
              <a:rPr lang="en-US" altLang="zh-CN" dirty="0"/>
              <a:t>X3,X4},C2={ X5,X6,X7,X8},</a:t>
            </a:r>
            <a:r>
              <a:rPr lang="zh-CN" altLang="zh-CN" dirty="0"/>
              <a:t>重新计算中心为</a:t>
            </a:r>
            <a:r>
              <a:rPr lang="en-US" altLang="zh-CN" dirty="0"/>
              <a:t>X1=(1.5,1</a:t>
            </a:r>
            <a:r>
              <a:rPr lang="zh-CN" altLang="zh-CN" dirty="0"/>
              <a:t>。</a:t>
            </a:r>
            <a:r>
              <a:rPr lang="en-US" altLang="zh-CN" dirty="0"/>
              <a:t>5)</a:t>
            </a:r>
            <a:r>
              <a:rPr lang="zh-CN" altLang="zh-CN" dirty="0"/>
              <a:t>，</a:t>
            </a:r>
            <a:r>
              <a:rPr lang="en-US" altLang="zh-CN" dirty="0"/>
              <a:t>X2=(4.5,3.5)</a:t>
            </a:r>
            <a:endParaRPr lang="zh-CN" altLang="zh-CN" dirty="0"/>
          </a:p>
          <a:p>
            <a:r>
              <a:rPr lang="zh-CN" altLang="zh-CN" dirty="0"/>
              <a:t>第三轮循环：</a:t>
            </a:r>
            <a:r>
              <a:rPr lang="en-US" altLang="zh-CN" dirty="0"/>
              <a:t>C1={X1,X2</a:t>
            </a:r>
            <a:r>
              <a:rPr lang="zh-CN" altLang="zh-CN" dirty="0"/>
              <a:t>，</a:t>
            </a:r>
            <a:r>
              <a:rPr lang="en-US" altLang="zh-CN" dirty="0"/>
              <a:t>X3,X4},C2={ X5,X6,X7,X8},</a:t>
            </a:r>
            <a:r>
              <a:rPr lang="zh-CN" altLang="zh-CN" dirty="0"/>
              <a:t>重新计算中心不变，停止。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3853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第二部分：实战演练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6072" y="1106555"/>
            <a:ext cx="12053661" cy="194773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、理论知识课堂抢答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zh-CN" dirty="0"/>
              <a:t>假设有一组</a:t>
            </a:r>
            <a:r>
              <a:rPr lang="en-US" altLang="zh-CN" dirty="0"/>
              <a:t>9</a:t>
            </a:r>
            <a:r>
              <a:rPr lang="zh-CN" altLang="zh-CN" dirty="0"/>
              <a:t>位足球运动员，他们中每个人都在这一赛季进了一定数量的球（假设在</a:t>
            </a:r>
            <a:r>
              <a:rPr lang="en-US" altLang="zh-CN" dirty="0"/>
              <a:t>3-30</a:t>
            </a:r>
            <a:r>
              <a:rPr lang="zh-CN" altLang="zh-CN" dirty="0"/>
              <a:t>之间）。令</a:t>
            </a:r>
            <a:r>
              <a:rPr lang="en-US" altLang="zh-CN" dirty="0"/>
              <a:t>K=3</a:t>
            </a:r>
            <a:r>
              <a:rPr lang="zh-CN" altLang="zh-CN" dirty="0"/>
              <a:t>，试用</a:t>
            </a:r>
            <a:r>
              <a:rPr lang="en-US" altLang="zh-CN" dirty="0"/>
              <a:t>k-means</a:t>
            </a:r>
            <a:r>
              <a:rPr lang="zh-CN" altLang="zh-CN" dirty="0"/>
              <a:t>算法将</a:t>
            </a:r>
            <a:r>
              <a:rPr lang="en-US" altLang="zh-CN" dirty="0"/>
              <a:t>X</a:t>
            </a:r>
            <a:r>
              <a:rPr lang="zh-CN" altLang="zh-CN" dirty="0"/>
              <a:t>划分为</a:t>
            </a:r>
            <a:r>
              <a:rPr lang="en-US" altLang="zh-CN" dirty="0"/>
              <a:t>k</a:t>
            </a:r>
            <a:r>
              <a:rPr lang="zh-CN" altLang="zh-CN" dirty="0"/>
              <a:t>个簇。</a:t>
            </a:r>
            <a:r>
              <a:rPr lang="zh-CN" altLang="zh-CN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随机选</a:t>
            </a:r>
            <a:r>
              <a:rPr lang="en-US" altLang="zh-CN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E</a:t>
            </a:r>
            <a:r>
              <a:rPr lang="zh-CN" altLang="en-US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三个球员作为初始簇中心</a:t>
            </a:r>
            <a:endParaRPr lang="zh-CN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885102" y="3706372"/>
          <a:ext cx="5629249" cy="17607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8478">
                  <a:extLst>
                    <a:ext uri="{9D8B030D-6E8A-4147-A177-3AD203B41FA5}">
                      <a16:colId xmlns:a16="http://schemas.microsoft.com/office/drawing/2014/main" val="3195789481"/>
                    </a:ext>
                  </a:extLst>
                </a:gridCol>
                <a:gridCol w="464186">
                  <a:extLst>
                    <a:ext uri="{9D8B030D-6E8A-4147-A177-3AD203B41FA5}">
                      <a16:colId xmlns:a16="http://schemas.microsoft.com/office/drawing/2014/main" val="1412974854"/>
                    </a:ext>
                  </a:extLst>
                </a:gridCol>
                <a:gridCol w="464186">
                  <a:extLst>
                    <a:ext uri="{9D8B030D-6E8A-4147-A177-3AD203B41FA5}">
                      <a16:colId xmlns:a16="http://schemas.microsoft.com/office/drawing/2014/main" val="2348603707"/>
                    </a:ext>
                  </a:extLst>
                </a:gridCol>
                <a:gridCol w="465733">
                  <a:extLst>
                    <a:ext uri="{9D8B030D-6E8A-4147-A177-3AD203B41FA5}">
                      <a16:colId xmlns:a16="http://schemas.microsoft.com/office/drawing/2014/main" val="2029909359"/>
                    </a:ext>
                  </a:extLst>
                </a:gridCol>
                <a:gridCol w="468726">
                  <a:extLst>
                    <a:ext uri="{9D8B030D-6E8A-4147-A177-3AD203B41FA5}">
                      <a16:colId xmlns:a16="http://schemas.microsoft.com/office/drawing/2014/main" val="3232225788"/>
                    </a:ext>
                  </a:extLst>
                </a:gridCol>
                <a:gridCol w="499463">
                  <a:extLst>
                    <a:ext uri="{9D8B030D-6E8A-4147-A177-3AD203B41FA5}">
                      <a16:colId xmlns:a16="http://schemas.microsoft.com/office/drawing/2014/main" val="2347259869"/>
                    </a:ext>
                  </a:extLst>
                </a:gridCol>
                <a:gridCol w="461042">
                  <a:extLst>
                    <a:ext uri="{9D8B030D-6E8A-4147-A177-3AD203B41FA5}">
                      <a16:colId xmlns:a16="http://schemas.microsoft.com/office/drawing/2014/main" val="2637103138"/>
                    </a:ext>
                  </a:extLst>
                </a:gridCol>
                <a:gridCol w="568618">
                  <a:extLst>
                    <a:ext uri="{9D8B030D-6E8A-4147-A177-3AD203B41FA5}">
                      <a16:colId xmlns:a16="http://schemas.microsoft.com/office/drawing/2014/main" val="3593303808"/>
                    </a:ext>
                  </a:extLst>
                </a:gridCol>
                <a:gridCol w="568619">
                  <a:extLst>
                    <a:ext uri="{9D8B030D-6E8A-4147-A177-3AD203B41FA5}">
                      <a16:colId xmlns:a16="http://schemas.microsoft.com/office/drawing/2014/main" val="1148958051"/>
                    </a:ext>
                  </a:extLst>
                </a:gridCol>
                <a:gridCol w="530198">
                  <a:extLst>
                    <a:ext uri="{9D8B030D-6E8A-4147-A177-3AD203B41FA5}">
                      <a16:colId xmlns:a16="http://schemas.microsoft.com/office/drawing/2014/main" val="1401588625"/>
                    </a:ext>
                  </a:extLst>
                </a:gridCol>
              </a:tblGrid>
              <a:tr h="8533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运动员 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A 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B 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C 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D 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E 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F 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G 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H 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I 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extLst>
                  <a:ext uri="{0D108BD9-81ED-4DB2-BD59-A6C34878D82A}">
                    <a16:rowId xmlns:a16="http://schemas.microsoft.com/office/drawing/2014/main" val="3315063371"/>
                  </a:ext>
                </a:extLst>
              </a:tr>
              <a:tr h="90743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400" kern="100" dirty="0">
                          <a:effectLst/>
                        </a:rPr>
                        <a:t>进球数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5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20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>
                          <a:effectLst/>
                        </a:rPr>
                        <a:t>11</a:t>
                      </a:r>
                      <a:endParaRPr lang="zh-CN" sz="2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5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9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19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30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3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100" dirty="0">
                          <a:effectLst/>
                        </a:rPr>
                        <a:t>15</a:t>
                      </a:r>
                      <a:endParaRPr lang="zh-CN" sz="2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8890" marB="0" anchor="ctr"/>
                </a:tc>
                <a:extLst>
                  <a:ext uri="{0D108BD9-81ED-4DB2-BD59-A6C34878D82A}">
                    <a16:rowId xmlns:a16="http://schemas.microsoft.com/office/drawing/2014/main" val="2723829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24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2328256" y="2961350"/>
          <a:ext cx="7491935" cy="1173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1792">
                  <a:extLst>
                    <a:ext uri="{9D8B030D-6E8A-4147-A177-3AD203B41FA5}">
                      <a16:colId xmlns:a16="http://schemas.microsoft.com/office/drawing/2014/main" val="2767374760"/>
                    </a:ext>
                  </a:extLst>
                </a:gridCol>
                <a:gridCol w="746089">
                  <a:extLst>
                    <a:ext uri="{9D8B030D-6E8A-4147-A177-3AD203B41FA5}">
                      <a16:colId xmlns:a16="http://schemas.microsoft.com/office/drawing/2014/main" val="3878602394"/>
                    </a:ext>
                  </a:extLst>
                </a:gridCol>
                <a:gridCol w="754960">
                  <a:extLst>
                    <a:ext uri="{9D8B030D-6E8A-4147-A177-3AD203B41FA5}">
                      <a16:colId xmlns:a16="http://schemas.microsoft.com/office/drawing/2014/main" val="1560285358"/>
                    </a:ext>
                  </a:extLst>
                </a:gridCol>
                <a:gridCol w="880047">
                  <a:extLst>
                    <a:ext uri="{9D8B030D-6E8A-4147-A177-3AD203B41FA5}">
                      <a16:colId xmlns:a16="http://schemas.microsoft.com/office/drawing/2014/main" val="1755758640"/>
                    </a:ext>
                  </a:extLst>
                </a:gridCol>
                <a:gridCol w="754960">
                  <a:extLst>
                    <a:ext uri="{9D8B030D-6E8A-4147-A177-3AD203B41FA5}">
                      <a16:colId xmlns:a16="http://schemas.microsoft.com/office/drawing/2014/main" val="2635583251"/>
                    </a:ext>
                  </a:extLst>
                </a:gridCol>
                <a:gridCol w="754073">
                  <a:extLst>
                    <a:ext uri="{9D8B030D-6E8A-4147-A177-3AD203B41FA5}">
                      <a16:colId xmlns:a16="http://schemas.microsoft.com/office/drawing/2014/main" val="705979247"/>
                    </a:ext>
                  </a:extLst>
                </a:gridCol>
                <a:gridCol w="754960">
                  <a:extLst>
                    <a:ext uri="{9D8B030D-6E8A-4147-A177-3AD203B41FA5}">
                      <a16:colId xmlns:a16="http://schemas.microsoft.com/office/drawing/2014/main" val="2384993037"/>
                    </a:ext>
                  </a:extLst>
                </a:gridCol>
                <a:gridCol w="880047">
                  <a:extLst>
                    <a:ext uri="{9D8B030D-6E8A-4147-A177-3AD203B41FA5}">
                      <a16:colId xmlns:a16="http://schemas.microsoft.com/office/drawing/2014/main" val="2565487568"/>
                    </a:ext>
                  </a:extLst>
                </a:gridCol>
                <a:gridCol w="754073">
                  <a:extLst>
                    <a:ext uri="{9D8B030D-6E8A-4147-A177-3AD203B41FA5}">
                      <a16:colId xmlns:a16="http://schemas.microsoft.com/office/drawing/2014/main" val="2086466419"/>
                    </a:ext>
                  </a:extLst>
                </a:gridCol>
                <a:gridCol w="880934">
                  <a:extLst>
                    <a:ext uri="{9D8B030D-6E8A-4147-A177-3AD203B41FA5}">
                      <a16:colId xmlns:a16="http://schemas.microsoft.com/office/drawing/2014/main" val="1746377849"/>
                    </a:ext>
                  </a:extLst>
                </a:gridCol>
              </a:tblGrid>
              <a:tr h="293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 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(A, 5) 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(B, 20) 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(C, 11)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(D, 5)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(E</a:t>
                      </a:r>
                      <a:r>
                        <a:rPr lang="zh-CN" sz="1400" kern="100">
                          <a:effectLst/>
                        </a:rPr>
                        <a:t>，</a:t>
                      </a:r>
                      <a:r>
                        <a:rPr lang="en-US" sz="1400" kern="100">
                          <a:effectLst/>
                        </a:rPr>
                        <a:t>9)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(F, 19)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(G, 30)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(H, 3)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(I, 15)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extLst>
                  <a:ext uri="{0D108BD9-81ED-4DB2-BD59-A6C34878D82A}">
                    <a16:rowId xmlns:a16="http://schemas.microsoft.com/office/drawing/2014/main" val="3045918731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5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sng" kern="100">
                          <a:effectLst/>
                        </a:rPr>
                        <a:t>0</a:t>
                      </a:r>
                      <a:r>
                        <a:rPr lang="en-US" sz="1400" kern="100">
                          <a:effectLst/>
                        </a:rPr>
                        <a:t>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15 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6 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sng" kern="100">
                          <a:effectLst/>
                        </a:rPr>
                        <a:t>0</a:t>
                      </a:r>
                      <a:r>
                        <a:rPr lang="en-US" sz="1400" kern="100">
                          <a:effectLst/>
                        </a:rPr>
                        <a:t>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4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14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sng" kern="100">
                          <a:effectLst/>
                        </a:rPr>
                        <a:t>2</a:t>
                      </a:r>
                      <a:r>
                        <a:rPr lang="en-US" sz="1400" kern="100">
                          <a:effectLst/>
                        </a:rPr>
                        <a:t>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10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extLst>
                  <a:ext uri="{0D108BD9-81ED-4DB2-BD59-A6C34878D82A}">
                    <a16:rowId xmlns:a16="http://schemas.microsoft.com/office/drawing/2014/main" val="297836356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11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6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sng" kern="100">
                          <a:effectLst/>
                        </a:rPr>
                        <a:t>9</a:t>
                      </a:r>
                      <a:r>
                        <a:rPr lang="en-US" sz="1400" kern="100">
                          <a:effectLst/>
                        </a:rPr>
                        <a:t>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sng" kern="100">
                          <a:effectLst/>
                        </a:rPr>
                        <a:t>0</a:t>
                      </a:r>
                      <a:r>
                        <a:rPr lang="en-US" sz="1400" kern="100">
                          <a:effectLst/>
                        </a:rPr>
                        <a:t>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8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sng" kern="100">
                          <a:effectLst/>
                        </a:rPr>
                        <a:t>8</a:t>
                      </a:r>
                      <a:r>
                        <a:rPr lang="en-US" sz="1400" kern="100">
                          <a:effectLst/>
                        </a:rPr>
                        <a:t>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sng" kern="100">
                          <a:effectLst/>
                        </a:rPr>
                        <a:t>19</a:t>
                      </a:r>
                      <a:r>
                        <a:rPr lang="en-US" sz="1400" kern="100">
                          <a:effectLst/>
                        </a:rPr>
                        <a:t>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8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sng" kern="100">
                          <a:effectLst/>
                        </a:rPr>
                        <a:t>4</a:t>
                      </a:r>
                      <a:r>
                        <a:rPr lang="en-US" sz="1400" kern="100">
                          <a:effectLst/>
                        </a:rPr>
                        <a:t>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extLst>
                  <a:ext uri="{0D108BD9-81ED-4DB2-BD59-A6C34878D82A}">
                    <a16:rowId xmlns:a16="http://schemas.microsoft.com/office/drawing/2014/main" val="3691924792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9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4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11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3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4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u="sng" kern="100">
                          <a:effectLst/>
                        </a:rPr>
                        <a:t>0</a:t>
                      </a:r>
                      <a:r>
                        <a:rPr lang="en-US" sz="1400" kern="100">
                          <a:effectLst/>
                        </a:rPr>
                        <a:t>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10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21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6 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6 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1435" marR="51435" marT="9525" marB="0" anchor="ctr"/>
                </a:tc>
                <a:extLst>
                  <a:ext uri="{0D108BD9-81ED-4DB2-BD59-A6C34878D82A}">
                    <a16:rowId xmlns:a16="http://schemas.microsoft.com/office/drawing/2014/main" val="2335285123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06825" y="353382"/>
            <a:ext cx="14457232" cy="2328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第一次迭代：随机选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三个球员作为初始簇中心，其余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6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个运动员与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个簇中心的距离如表所示： 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计算的欧几里得距离将数据对象分为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簇： 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第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簇：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{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），（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5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），（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H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ea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第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簇：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{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20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），（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11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），（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F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19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），（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G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30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），（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I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15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；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第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簇：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{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E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9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}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</a:p>
        </p:txBody>
      </p:sp>
      <p:sp>
        <p:nvSpPr>
          <p:cNvPr id="6" name="矩形 5"/>
          <p:cNvSpPr/>
          <p:nvPr/>
        </p:nvSpPr>
        <p:spPr>
          <a:xfrm>
            <a:off x="650581" y="4665028"/>
            <a:ext cx="115414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对于产生的簇分别计算平均值，得到新的簇中心为：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4.3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19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9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准则函数的值为：（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0x0+0x0+2x2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9x9+0x0+8x8+19x19+4x4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0x0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）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=4+522+0=526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。 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第二次迭代：使用新的簇中心调整数据对象所在的簇，重新计算每个运动员到新的</a:t>
            </a:r>
            <a:r>
              <a:rPr lang="en-US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个簇中心的距离。 </a:t>
            </a:r>
          </a:p>
        </p:txBody>
      </p:sp>
      <p:pic>
        <p:nvPicPr>
          <p:cNvPr id="7" name="Picture 2" descr="1354256805_707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2384" y="888164"/>
            <a:ext cx="2274888" cy="1428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箭头连接符 7"/>
          <p:cNvCxnSpPr/>
          <p:nvPr/>
        </p:nvCxnSpPr>
        <p:spPr>
          <a:xfrm flipV="1">
            <a:off x="9712618" y="2504995"/>
            <a:ext cx="975873" cy="271246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90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4662" y="462811"/>
            <a:ext cx="10687685" cy="4818380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dirty="0"/>
              <a:t>第二次迭代：使用新的簇中心调整数据对象所在的簇，重新计算每个运动员到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dirty="0"/>
              <a:t>新的</a:t>
            </a:r>
            <a:r>
              <a:rPr lang="en-US" altLang="zh-CN" dirty="0"/>
              <a:t>3</a:t>
            </a:r>
            <a:r>
              <a:rPr lang="zh-CN" altLang="en-US" dirty="0"/>
              <a:t>个簇中心的距离。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None/>
            </a:pP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None/>
            </a:pPr>
            <a:endParaRPr lang="en-US" altLang="zh-CN" sz="2000" dirty="0"/>
          </a:p>
          <a:p>
            <a:pPr eaLnBrk="1" hangingPunct="1">
              <a:spcBef>
                <a:spcPct val="0"/>
              </a:spcBef>
              <a:buClrTx/>
              <a:buNone/>
            </a:pP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None/>
            </a:pP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None/>
            </a:pP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None/>
            </a:pP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dirty="0"/>
              <a:t>计算的欧几里得距离重新分配，得到</a:t>
            </a:r>
            <a:r>
              <a:rPr lang="en-US" altLang="zh-CN" dirty="0"/>
              <a:t>3</a:t>
            </a:r>
            <a:r>
              <a:rPr lang="zh-CN" altLang="en-US" dirty="0"/>
              <a:t>个新簇：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000" dirty="0"/>
              <a:t>第</a:t>
            </a:r>
            <a:r>
              <a:rPr lang="en-US" altLang="zh-CN" sz="2000" dirty="0"/>
              <a:t>1</a:t>
            </a:r>
            <a:r>
              <a:rPr lang="zh-CN" altLang="en-US" sz="2000" dirty="0"/>
              <a:t>簇：（</a:t>
            </a:r>
            <a:r>
              <a:rPr lang="en-US" altLang="zh-CN" sz="2000" dirty="0"/>
              <a:t>A</a:t>
            </a:r>
            <a:r>
              <a:rPr lang="zh-CN" altLang="en-US" sz="2000" dirty="0"/>
              <a:t>，</a:t>
            </a:r>
            <a:r>
              <a:rPr lang="en-US" altLang="zh-CN" sz="2000" dirty="0"/>
              <a:t>5</a:t>
            </a:r>
            <a:r>
              <a:rPr lang="zh-CN" altLang="en-US" sz="2000" dirty="0"/>
              <a:t>），（</a:t>
            </a:r>
            <a:r>
              <a:rPr lang="en-US" altLang="zh-CN" sz="2000" dirty="0"/>
              <a:t>D</a:t>
            </a:r>
            <a:r>
              <a:rPr lang="zh-CN" altLang="en-US" sz="2000" dirty="0"/>
              <a:t>，</a:t>
            </a:r>
            <a:r>
              <a:rPr lang="en-US" altLang="zh-CN" sz="2000" dirty="0"/>
              <a:t>5</a:t>
            </a:r>
            <a:r>
              <a:rPr lang="zh-CN" altLang="en-US" sz="2000" dirty="0"/>
              <a:t>），（</a:t>
            </a:r>
            <a:r>
              <a:rPr lang="en-US" altLang="zh-CN" sz="2000" dirty="0"/>
              <a:t>H</a:t>
            </a:r>
            <a:r>
              <a:rPr lang="zh-CN" altLang="en-US" sz="2000" dirty="0"/>
              <a:t>，</a:t>
            </a:r>
            <a:r>
              <a:rPr lang="en-US" altLang="zh-CN" sz="2000" dirty="0"/>
              <a:t>3</a:t>
            </a:r>
            <a:r>
              <a:rPr lang="zh-CN" altLang="en-US" sz="2000" dirty="0"/>
              <a:t>）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000" dirty="0"/>
              <a:t>第</a:t>
            </a:r>
            <a:r>
              <a:rPr lang="en-US" altLang="zh-CN" sz="2000" dirty="0"/>
              <a:t>2</a:t>
            </a:r>
            <a:r>
              <a:rPr lang="zh-CN" altLang="en-US" sz="2000" dirty="0"/>
              <a:t>簇：（</a:t>
            </a:r>
            <a:r>
              <a:rPr lang="en-US" altLang="zh-CN" sz="2000" dirty="0"/>
              <a:t>B</a:t>
            </a:r>
            <a:r>
              <a:rPr lang="zh-CN" altLang="en-US" sz="2000" dirty="0"/>
              <a:t>，</a:t>
            </a:r>
            <a:r>
              <a:rPr lang="en-US" altLang="zh-CN" sz="2000" dirty="0"/>
              <a:t>20</a:t>
            </a:r>
            <a:r>
              <a:rPr lang="zh-CN" altLang="en-US" sz="2000" dirty="0"/>
              <a:t>），（</a:t>
            </a:r>
            <a:r>
              <a:rPr lang="en-US" altLang="zh-CN" sz="2000" dirty="0"/>
              <a:t>F</a:t>
            </a:r>
            <a:r>
              <a:rPr lang="zh-CN" altLang="en-US" sz="2000" dirty="0"/>
              <a:t>，</a:t>
            </a:r>
            <a:r>
              <a:rPr lang="en-US" altLang="zh-CN" sz="2000" dirty="0"/>
              <a:t>19</a:t>
            </a:r>
            <a:r>
              <a:rPr lang="zh-CN" altLang="en-US" sz="2000" dirty="0"/>
              <a:t>），（</a:t>
            </a:r>
            <a:r>
              <a:rPr lang="en-US" altLang="zh-CN" sz="2000" dirty="0"/>
              <a:t>G</a:t>
            </a:r>
            <a:r>
              <a:rPr lang="zh-CN" altLang="en-US" sz="2000" dirty="0"/>
              <a:t>，</a:t>
            </a:r>
            <a:r>
              <a:rPr lang="en-US" altLang="zh-CN" sz="2000" dirty="0"/>
              <a:t>30</a:t>
            </a:r>
            <a:r>
              <a:rPr lang="zh-CN" altLang="en-US" sz="2000" dirty="0"/>
              <a:t>），（</a:t>
            </a:r>
            <a:r>
              <a:rPr lang="en-US" altLang="zh-CN" sz="2000" dirty="0"/>
              <a:t>I</a:t>
            </a:r>
            <a:r>
              <a:rPr lang="zh-CN" altLang="en-US" sz="2000" dirty="0"/>
              <a:t>，</a:t>
            </a:r>
            <a:r>
              <a:rPr lang="en-US" altLang="zh-CN" sz="2000" dirty="0"/>
              <a:t>15</a:t>
            </a:r>
            <a:r>
              <a:rPr lang="zh-CN" altLang="en-US" sz="2000" dirty="0"/>
              <a:t>）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000" dirty="0"/>
              <a:t>第</a:t>
            </a:r>
            <a:r>
              <a:rPr lang="en-US" altLang="zh-CN" sz="2000" dirty="0"/>
              <a:t>3</a:t>
            </a:r>
            <a:r>
              <a:rPr lang="zh-CN" altLang="en-US" sz="2000" dirty="0"/>
              <a:t>簇：（</a:t>
            </a:r>
            <a:r>
              <a:rPr lang="en-US" altLang="zh-CN" sz="2000" dirty="0"/>
              <a:t>C</a:t>
            </a:r>
            <a:r>
              <a:rPr lang="zh-CN" altLang="en-US" sz="2000" dirty="0"/>
              <a:t>，</a:t>
            </a:r>
            <a:r>
              <a:rPr lang="en-US" altLang="zh-CN" sz="2000" dirty="0"/>
              <a:t>11</a:t>
            </a:r>
            <a:r>
              <a:rPr lang="zh-CN" altLang="en-US" sz="2000" dirty="0"/>
              <a:t>），（</a:t>
            </a:r>
            <a:r>
              <a:rPr lang="en-US" altLang="zh-CN" sz="2000" dirty="0"/>
              <a:t>E</a:t>
            </a:r>
            <a:r>
              <a:rPr lang="zh-CN" altLang="en-US" sz="2000" dirty="0"/>
              <a:t>，</a:t>
            </a:r>
            <a:r>
              <a:rPr lang="en-US" altLang="zh-CN" sz="2000" dirty="0"/>
              <a:t>9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846069"/>
              </p:ext>
            </p:extLst>
          </p:nvPr>
        </p:nvGraphicFramePr>
        <p:xfrm>
          <a:off x="1208790" y="1859770"/>
          <a:ext cx="9126930" cy="175577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98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4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9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90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62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877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99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(A, 5)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(B, 20)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(C, 11)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(D, 5)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(E</a:t>
                      </a:r>
                      <a:r>
                        <a:rPr lang="zh-CN" sz="2000" dirty="0">
                          <a:effectLst/>
                        </a:rPr>
                        <a:t>，</a:t>
                      </a:r>
                      <a:r>
                        <a:rPr lang="en-US" sz="2000" dirty="0">
                          <a:effectLst/>
                        </a:rPr>
                        <a:t>9)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(F, 19)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(G, 30)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(H, 3)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(I, 15)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5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4.3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0.7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15.7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6.7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0.7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4.7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14.7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25.7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>
                          <a:effectLst/>
                        </a:rPr>
                        <a:t>1.3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10.7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8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19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14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8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14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10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0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11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16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>
                          <a:effectLst/>
                        </a:rPr>
                        <a:t>4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9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4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11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>
                          <a:effectLst/>
                        </a:rPr>
                        <a:t>2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>
                          <a:effectLst/>
                        </a:rPr>
                        <a:t>0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10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21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6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6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7" marR="51437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1790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9673" y="485296"/>
            <a:ext cx="10687685" cy="2902481"/>
          </a:xfrm>
        </p:spPr>
        <p:txBody>
          <a:bodyPr/>
          <a:lstStyle/>
          <a:p>
            <a:pPr eaLnBrk="1" hangingPunct="1"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对于产生的簇重新分别计算平均值，得到新的簇中心为：</a:t>
            </a:r>
            <a:r>
              <a:rPr lang="en-US" altLang="zh-CN" dirty="0"/>
              <a:t>4.3</a:t>
            </a:r>
            <a:r>
              <a:rPr lang="zh-CN" altLang="en-US" dirty="0"/>
              <a:t>，</a:t>
            </a:r>
            <a:r>
              <a:rPr lang="en-US" altLang="zh-CN" dirty="0"/>
              <a:t>21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准则函数的值为：（</a:t>
            </a:r>
            <a:r>
              <a:rPr lang="en-US" altLang="zh-CN" dirty="0"/>
              <a:t>0.7x0.7+0.7x0.7+1.3x1.3</a:t>
            </a:r>
            <a:r>
              <a:rPr lang="zh-CN" altLang="en-US" dirty="0"/>
              <a:t>）</a:t>
            </a:r>
            <a:r>
              <a:rPr lang="en-US" altLang="zh-CN" dirty="0"/>
              <a:t>+</a:t>
            </a:r>
            <a:r>
              <a:rPr lang="zh-CN" altLang="en-US" dirty="0"/>
              <a:t>（</a:t>
            </a:r>
            <a:r>
              <a:rPr lang="en-US" altLang="zh-CN" dirty="0"/>
              <a:t>1x1+0x0+11x11+4x4</a:t>
            </a:r>
            <a:r>
              <a:rPr lang="zh-CN" altLang="en-US" dirty="0"/>
              <a:t>）</a:t>
            </a:r>
            <a:r>
              <a:rPr lang="en-US" altLang="zh-CN" dirty="0"/>
              <a:t>+</a:t>
            </a:r>
            <a:r>
              <a:rPr lang="zh-CN" altLang="en-US" dirty="0"/>
              <a:t>（</a:t>
            </a:r>
            <a:r>
              <a:rPr lang="en-US" altLang="zh-CN" dirty="0"/>
              <a:t>2x2+0x0</a:t>
            </a:r>
            <a:r>
              <a:rPr lang="zh-CN" altLang="en-US" dirty="0"/>
              <a:t>）</a:t>
            </a:r>
            <a:r>
              <a:rPr lang="en-US" altLang="zh-CN" dirty="0"/>
              <a:t>=2.67+138+4=144.67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第三次迭代：使用新的簇中心调整数据对象所在的簇，重新计算每个运动员到新的</a:t>
            </a:r>
            <a:r>
              <a:rPr lang="en-US" altLang="zh-CN" dirty="0"/>
              <a:t>3</a:t>
            </a:r>
            <a:r>
              <a:rPr lang="zh-CN" altLang="en-US" dirty="0"/>
              <a:t>个簇中心的距离。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191510" y="3710065"/>
          <a:ext cx="9764009" cy="2020888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1008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5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0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24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7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69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77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5656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095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(A, 5)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(B, 20)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(C, 11)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(D, 5)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(E</a:t>
                      </a:r>
                      <a:r>
                        <a:rPr lang="zh-CN" sz="2000">
                          <a:effectLst/>
                        </a:rPr>
                        <a:t>，</a:t>
                      </a:r>
                      <a:r>
                        <a:rPr lang="en-US" sz="2000">
                          <a:effectLst/>
                        </a:rPr>
                        <a:t>9)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(F, 19)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(G, 30)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(H, 3)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(I, 15)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4.3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0.7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15.7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6.7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0.7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4.7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14.7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25.7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>
                          <a:effectLst/>
                        </a:rPr>
                        <a:t>1.3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10.7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8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21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16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10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17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12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2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9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18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6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8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10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10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1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>
                          <a:effectLst/>
                        </a:rPr>
                        <a:t>1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9</a:t>
                      </a:r>
                      <a:endParaRPr lang="zh-CN" sz="20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20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7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u="sng" dirty="0">
                          <a:effectLst/>
                        </a:rPr>
                        <a:t>5</a:t>
                      </a:r>
                      <a:endParaRPr lang="zh-CN" sz="20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6" marR="51436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2757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4623" y="890031"/>
            <a:ext cx="10687685" cy="481838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计算的欧几里得距离重新分配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簇：（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），（</a:t>
            </a:r>
            <a:r>
              <a:rPr lang="en-US" altLang="zh-CN" dirty="0"/>
              <a:t>D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），（</a:t>
            </a:r>
            <a:r>
              <a:rPr lang="en-US" altLang="zh-CN" dirty="0"/>
              <a:t>H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</a:p>
          <a:p>
            <a:pPr eaLnBrk="1" hangingPunct="1">
              <a:defRPr/>
            </a:pPr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簇：（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20</a:t>
            </a:r>
            <a:r>
              <a:rPr lang="zh-CN" altLang="en-US" dirty="0"/>
              <a:t>），（</a:t>
            </a:r>
            <a:r>
              <a:rPr lang="en-US" altLang="zh-CN" dirty="0"/>
              <a:t>F</a:t>
            </a:r>
            <a:r>
              <a:rPr lang="zh-CN" altLang="en-US" dirty="0"/>
              <a:t>，</a:t>
            </a:r>
            <a:r>
              <a:rPr lang="en-US" altLang="zh-CN" dirty="0"/>
              <a:t>19</a:t>
            </a:r>
            <a:r>
              <a:rPr lang="zh-CN" altLang="en-US" dirty="0"/>
              <a:t>），（</a:t>
            </a:r>
            <a:r>
              <a:rPr lang="en-US" altLang="zh-CN" dirty="0"/>
              <a:t>G</a:t>
            </a:r>
            <a:r>
              <a:rPr lang="zh-CN" altLang="en-US" dirty="0"/>
              <a:t>，</a:t>
            </a:r>
            <a:r>
              <a:rPr lang="en-US" altLang="zh-CN" dirty="0"/>
              <a:t>30</a:t>
            </a:r>
            <a:r>
              <a:rPr lang="zh-CN" altLang="en-US" dirty="0"/>
              <a:t>）</a:t>
            </a:r>
          </a:p>
          <a:p>
            <a:pPr eaLnBrk="1" hangingPunct="1">
              <a:defRPr/>
            </a:pPr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簇：（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11</a:t>
            </a:r>
            <a:r>
              <a:rPr lang="zh-CN" altLang="en-US" dirty="0"/>
              <a:t>），（</a:t>
            </a:r>
            <a:r>
              <a:rPr lang="en-US" altLang="zh-CN" dirty="0"/>
              <a:t>E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  <a:r>
              <a:rPr lang="zh-CN" altLang="en-US" dirty="0"/>
              <a:t>），（</a:t>
            </a:r>
            <a:r>
              <a:rPr lang="en-US" altLang="zh-CN" dirty="0"/>
              <a:t>I</a:t>
            </a:r>
            <a:r>
              <a:rPr lang="zh-CN" altLang="en-US" dirty="0"/>
              <a:t>，</a:t>
            </a:r>
            <a:r>
              <a:rPr lang="en-US" altLang="zh-CN" dirty="0"/>
              <a:t>15</a:t>
            </a:r>
            <a:r>
              <a:rPr lang="zh-CN" altLang="en-US" dirty="0"/>
              <a:t>）</a:t>
            </a:r>
          </a:p>
          <a:p>
            <a:pPr marL="257175" indent="-257175" eaLnBrk="1" hangingPunct="1"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/>
              <a:t>对于产生的簇重新分别计算平均值，得到新的簇中心为：</a:t>
            </a:r>
            <a:r>
              <a:rPr lang="en-US" altLang="zh-CN" dirty="0"/>
              <a:t>4.3</a:t>
            </a:r>
            <a:r>
              <a:rPr lang="zh-CN" altLang="en-US" dirty="0"/>
              <a:t>，</a:t>
            </a:r>
            <a:r>
              <a:rPr lang="en-US" altLang="zh-CN" dirty="0"/>
              <a:t>23</a:t>
            </a:r>
            <a:r>
              <a:rPr lang="zh-CN" altLang="en-US" dirty="0"/>
              <a:t>，</a:t>
            </a:r>
            <a:r>
              <a:rPr lang="en-US" altLang="zh-CN" dirty="0"/>
              <a:t>11.6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57175" indent="-257175" eaLnBrk="1" hangingPunct="1">
              <a:buClr>
                <a:schemeClr val="accent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/>
              <a:t>准则函数的值为：（</a:t>
            </a:r>
            <a:r>
              <a:rPr lang="en-US" altLang="zh-CN" dirty="0"/>
              <a:t>0.7x0.7+0.7x0.7+1.3x1.3</a:t>
            </a:r>
            <a:r>
              <a:rPr lang="zh-CN" altLang="en-US" dirty="0"/>
              <a:t>）</a:t>
            </a:r>
            <a:r>
              <a:rPr lang="en-US" altLang="zh-CN" dirty="0"/>
              <a:t>+</a:t>
            </a:r>
            <a:r>
              <a:rPr lang="zh-CN" altLang="en-US" dirty="0"/>
              <a:t>（</a:t>
            </a:r>
            <a:r>
              <a:rPr lang="en-US" altLang="zh-CN" dirty="0"/>
              <a:t>1x1+2x2+9x9</a:t>
            </a:r>
            <a:r>
              <a:rPr lang="zh-CN" altLang="en-US" dirty="0"/>
              <a:t>）</a:t>
            </a:r>
            <a:r>
              <a:rPr lang="en-US" altLang="zh-CN" dirty="0"/>
              <a:t>+</a:t>
            </a:r>
            <a:r>
              <a:rPr lang="zh-CN" altLang="en-US" dirty="0"/>
              <a:t>（</a:t>
            </a:r>
            <a:r>
              <a:rPr lang="en-US" altLang="zh-CN" dirty="0"/>
              <a:t>1x1+1x1+5x5</a:t>
            </a:r>
            <a:r>
              <a:rPr lang="zh-CN" altLang="en-US" dirty="0"/>
              <a:t>）</a:t>
            </a:r>
            <a:r>
              <a:rPr lang="en-US" altLang="zh-CN" dirty="0"/>
              <a:t>=2.67+86+27=115.67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defRPr/>
            </a:pPr>
            <a:r>
              <a:rPr lang="zh-CN" altLang="en-US" dirty="0"/>
              <a:t>以此类推，第四次迭代时，得到的</a:t>
            </a:r>
            <a:r>
              <a:rPr lang="en-US" altLang="zh-CN" dirty="0"/>
              <a:t>3</a:t>
            </a:r>
            <a:r>
              <a:rPr lang="zh-CN" altLang="en-US" dirty="0"/>
              <a:t>个簇与第三次迭代的结果相同，而且准则函数收敛，迭代结束。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29346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7689F12-BCDC-4B73-A37A-3B8EE4476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113" y="549276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AA17F144-A38A-458A-82A4-4901E9C7BE0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9835" y="4221088"/>
              <a:ext cx="8747698" cy="129614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115616">
                      <a:extLst>
                        <a:ext uri="{9D8B030D-6E8A-4147-A177-3AD203B41FA5}">
                          <a16:colId xmlns:a16="http://schemas.microsoft.com/office/drawing/2014/main" val="4114528629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649970841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732948278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39700534"/>
                        </a:ext>
                      </a:extLst>
                    </a:gridCol>
                    <a:gridCol w="1070203">
                      <a:extLst>
                        <a:ext uri="{9D8B030D-6E8A-4147-A177-3AD203B41FA5}">
                          <a16:colId xmlns:a16="http://schemas.microsoft.com/office/drawing/2014/main" val="1393389280"/>
                        </a:ext>
                      </a:extLst>
                    </a:gridCol>
                    <a:gridCol w="808515">
                      <a:extLst>
                        <a:ext uri="{9D8B030D-6E8A-4147-A177-3AD203B41FA5}">
                          <a16:colId xmlns:a16="http://schemas.microsoft.com/office/drawing/2014/main" val="2434477239"/>
                        </a:ext>
                      </a:extLst>
                    </a:gridCol>
                    <a:gridCol w="807374">
                      <a:extLst>
                        <a:ext uri="{9D8B030D-6E8A-4147-A177-3AD203B41FA5}">
                          <a16:colId xmlns:a16="http://schemas.microsoft.com/office/drawing/2014/main" val="1873814568"/>
                        </a:ext>
                      </a:extLst>
                    </a:gridCol>
                    <a:gridCol w="808515">
                      <a:extLst>
                        <a:ext uri="{9D8B030D-6E8A-4147-A177-3AD203B41FA5}">
                          <a16:colId xmlns:a16="http://schemas.microsoft.com/office/drawing/2014/main" val="4229205931"/>
                        </a:ext>
                      </a:extLst>
                    </a:gridCol>
                    <a:gridCol w="785707">
                      <a:extLst>
                        <a:ext uri="{9D8B030D-6E8A-4147-A177-3AD203B41FA5}">
                          <a16:colId xmlns:a16="http://schemas.microsoft.com/office/drawing/2014/main" val="2674327474"/>
                        </a:ext>
                      </a:extLst>
                    </a:gridCol>
                    <a:gridCol w="759480">
                      <a:extLst>
                        <a:ext uri="{9D8B030D-6E8A-4147-A177-3AD203B41FA5}">
                          <a16:colId xmlns:a16="http://schemas.microsoft.com/office/drawing/2014/main" val="208574887"/>
                        </a:ext>
                      </a:extLst>
                    </a:gridCol>
                  </a:tblGrid>
                  <a:tr h="3961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zh-CN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序号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2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3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4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5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6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7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8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9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94896715"/>
                      </a:ext>
                    </a:extLst>
                  </a:tr>
                  <a:tr h="45000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km</m:t>
                                </m:r>
                                <m:r>
                                  <a:rPr lang="en-US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4.2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7.1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6.3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1.1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0.2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4.0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3.5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8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2.3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121779142"/>
                      </a:ext>
                    </a:extLst>
                  </a:tr>
                  <a:tr h="45000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6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元</m:t>
                                </m:r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zh-CN" sz="16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m</m:t>
                                    </m:r>
                                  </m:e>
                                  <m:sup>
                                    <m:r>
                                      <a:rPr lang="en-US" sz="16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6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8600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6100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6700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12000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14200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8500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8900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6200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11200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985078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>
                <a:extLst>
                  <a:ext uri="{FF2B5EF4-FFF2-40B4-BE49-F238E27FC236}">
                    <a16:creationId xmlns:a16="http://schemas.microsoft.com/office/drawing/2014/main" id="{AA17F144-A38A-458A-82A4-4901E9C7BE05}"/>
                  </a:ext>
                </a:extLst>
              </p:cNvPr>
              <p:cNvGraphicFramePr>
                <a:graphicFrameLocks noGrp="1"/>
              </p:cNvGraphicFramePr>
              <p:nvPr>
                <p:extLst/>
              </p:nvPr>
            </p:nvGraphicFramePr>
            <p:xfrm>
              <a:off x="1659835" y="4221088"/>
              <a:ext cx="8747698" cy="1296144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115616">
                      <a:extLst>
                        <a:ext uri="{9D8B030D-6E8A-4147-A177-3AD203B41FA5}">
                          <a16:colId xmlns:a16="http://schemas.microsoft.com/office/drawing/2014/main" val="4114528629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649970841"/>
                        </a:ext>
                      </a:extLst>
                    </a:gridCol>
                    <a:gridCol w="792088">
                      <a:extLst>
                        <a:ext uri="{9D8B030D-6E8A-4147-A177-3AD203B41FA5}">
                          <a16:colId xmlns:a16="http://schemas.microsoft.com/office/drawing/2014/main" val="732948278"/>
                        </a:ext>
                      </a:extLst>
                    </a:gridCol>
                    <a:gridCol w="1008112">
                      <a:extLst>
                        <a:ext uri="{9D8B030D-6E8A-4147-A177-3AD203B41FA5}">
                          <a16:colId xmlns:a16="http://schemas.microsoft.com/office/drawing/2014/main" val="339700534"/>
                        </a:ext>
                      </a:extLst>
                    </a:gridCol>
                    <a:gridCol w="1070203">
                      <a:extLst>
                        <a:ext uri="{9D8B030D-6E8A-4147-A177-3AD203B41FA5}">
                          <a16:colId xmlns:a16="http://schemas.microsoft.com/office/drawing/2014/main" val="1393389280"/>
                        </a:ext>
                      </a:extLst>
                    </a:gridCol>
                    <a:gridCol w="808515">
                      <a:extLst>
                        <a:ext uri="{9D8B030D-6E8A-4147-A177-3AD203B41FA5}">
                          <a16:colId xmlns:a16="http://schemas.microsoft.com/office/drawing/2014/main" val="2434477239"/>
                        </a:ext>
                      </a:extLst>
                    </a:gridCol>
                    <a:gridCol w="807374">
                      <a:extLst>
                        <a:ext uri="{9D8B030D-6E8A-4147-A177-3AD203B41FA5}">
                          <a16:colId xmlns:a16="http://schemas.microsoft.com/office/drawing/2014/main" val="1873814568"/>
                        </a:ext>
                      </a:extLst>
                    </a:gridCol>
                    <a:gridCol w="808515">
                      <a:extLst>
                        <a:ext uri="{9D8B030D-6E8A-4147-A177-3AD203B41FA5}">
                          <a16:colId xmlns:a16="http://schemas.microsoft.com/office/drawing/2014/main" val="4229205931"/>
                        </a:ext>
                      </a:extLst>
                    </a:gridCol>
                    <a:gridCol w="785707">
                      <a:extLst>
                        <a:ext uri="{9D8B030D-6E8A-4147-A177-3AD203B41FA5}">
                          <a16:colId xmlns:a16="http://schemas.microsoft.com/office/drawing/2014/main" val="2674327474"/>
                        </a:ext>
                      </a:extLst>
                    </a:gridCol>
                    <a:gridCol w="759480">
                      <a:extLst>
                        <a:ext uri="{9D8B030D-6E8A-4147-A177-3AD203B41FA5}">
                          <a16:colId xmlns:a16="http://schemas.microsoft.com/office/drawing/2014/main" val="208574887"/>
                        </a:ext>
                      </a:extLst>
                    </a:gridCol>
                  </a:tblGrid>
                  <a:tr h="39613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zh-CN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序号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2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3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4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5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6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7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8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9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94896715"/>
                      </a:ext>
                    </a:extLst>
                  </a:tr>
                  <a:tr h="45000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46" t="-101333" r="-685792" b="-10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4.2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7.1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6.3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1.1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0.2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4.0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3.5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8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2.3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121779142"/>
                      </a:ext>
                    </a:extLst>
                  </a:tr>
                  <a:tr h="45000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546" t="-204054" r="-685792" b="-27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8600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6100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6700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12000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14200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8500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8900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6200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0000"/>
                            </a:lnSpc>
                            <a:spcBef>
                              <a:spcPts val="20"/>
                            </a:spcBef>
                            <a:spcAft>
                              <a:spcPts val="20"/>
                            </a:spcAft>
                          </a:pPr>
                          <a:r>
                            <a:rPr lang="en-US" sz="1600" kern="100" dirty="0">
                              <a:effectLst/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11200</a:t>
                          </a:r>
                          <a:endParaRPr lang="zh-CN" sz="2000" kern="100" dirty="0">
                            <a:effectLst/>
                            <a:latin typeface="等线" panose="02010600030101010101" pitchFamily="2" charset="-122"/>
                            <a:ea typeface="等线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79850784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65586AD-03BC-4DF3-B869-58F479324DCC}"/>
                  </a:ext>
                </a:extLst>
              </p:cNvPr>
              <p:cNvSpPr/>
              <p:nvPr/>
            </p:nvSpPr>
            <p:spPr>
              <a:xfrm>
                <a:off x="2132696" y="1737172"/>
                <a:ext cx="8274837" cy="29977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auto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dirty="0">
                    <a:solidFill>
                      <a:prstClr val="black"/>
                    </a:solidFill>
                  </a:rPr>
                  <a:t>【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例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8.1】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现有一组某市房屋价格与房屋位置数据如表 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8-1 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所示，其中𝑋表示房屋到市中心的直线距离。试用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Bagging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集成学习方法构造一个包含三个线性回归模型的集成模型，并使用该集成模型预测距离市中心 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5.5 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千米的房屋价格。</a:t>
                </a:r>
                <a:endParaRPr lang="en-US" altLang="zh-CN" dirty="0">
                  <a:solidFill>
                    <a:prstClr val="black"/>
                  </a:solidFill>
                </a:endParaRPr>
              </a:p>
              <a:p>
                <a:pPr algn="ctr"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:endParaRPr lang="en-US" altLang="zh-CN" dirty="0">
                  <a:solidFill>
                    <a:prstClr val="black"/>
                  </a:solidFill>
                </a:endParaRPr>
              </a:p>
              <a:p>
                <a:pPr algn="ctr"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:r>
                  <a:rPr lang="zh-CN" altLang="zh-CN" sz="2000" dirty="0">
                    <a:solidFill>
                      <a:prstClr val="black"/>
                    </a:solidFill>
                  </a:rPr>
                  <a:t>表</a:t>
                </a:r>
                <a:r>
                  <a:rPr lang="en-US" altLang="zh-CN" sz="2000" dirty="0">
                    <a:solidFill>
                      <a:prstClr val="black"/>
                    </a:solidFill>
                  </a:rPr>
                  <a:t>8-1 </a:t>
                </a:r>
                <a:r>
                  <a:rPr lang="zh-CN" altLang="zh-CN" sz="2000" dirty="0">
                    <a:solidFill>
                      <a:prstClr val="black"/>
                    </a:solidFill>
                  </a:rPr>
                  <a:t>房屋价格与位置的数据样本集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zh-CN" altLang="zh-CN" sz="2000" dirty="0">
                  <a:solidFill>
                    <a:prstClr val="black"/>
                  </a:solidFill>
                </a:endParaRPr>
              </a:p>
              <a:p>
                <a:pPr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:endParaRPr lang="en-US" altLang="zh-CN" sz="2000" dirty="0">
                  <a:solidFill>
                    <a:prstClr val="black"/>
                  </a:solidFill>
                </a:endParaRPr>
              </a:p>
              <a:p>
                <a:pPr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:endParaRPr lang="en-US" altLang="zh-CN" sz="2000" dirty="0">
                  <a:solidFill>
                    <a:prstClr val="black"/>
                  </a:solidFill>
                </a:endParaRPr>
              </a:p>
              <a:p>
                <a:pPr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:endParaRPr lang="en-US" altLang="zh-CN" sz="2000" dirty="0">
                  <a:solidFill>
                    <a:prstClr val="black"/>
                  </a:solidFill>
                </a:endParaRPr>
              </a:p>
              <a:p>
                <a:pPr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:endParaRPr lang="en-US" altLang="zh-CN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65586AD-03BC-4DF3-B869-58F479324D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696" y="1737172"/>
                <a:ext cx="8274837" cy="2997744"/>
              </a:xfrm>
              <a:prstGeom prst="rect">
                <a:avLst/>
              </a:prstGeom>
              <a:blipFill>
                <a:blip r:embed="rId4"/>
                <a:stretch>
                  <a:fillRect l="-663" t="-16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">
            <a:extLst>
              <a:ext uri="{FF2B5EF4-FFF2-40B4-BE49-F238E27FC236}">
                <a16:creationId xmlns:a16="http://schemas.microsoft.com/office/drawing/2014/main" id="{F4D6BB05-0FDA-48CF-AC2C-E4E28EA6D7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664" y="582648"/>
            <a:ext cx="63373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例题</a:t>
            </a:r>
            <a:endParaRPr lang="zh-CN" altLang="en-US" sz="4800" b="1" dirty="0"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87569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7689F12-BCDC-4B73-A37A-3B8EE4476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113" y="549276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992C1EB-02D9-4BC8-BBBC-5BBDDB06E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532" y="4154798"/>
            <a:ext cx="8424936" cy="1008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24388BA-4D60-4AD9-87DC-4E3E17C222F6}"/>
                  </a:ext>
                </a:extLst>
              </p:cNvPr>
              <p:cNvSpPr/>
              <p:nvPr/>
            </p:nvSpPr>
            <p:spPr>
              <a:xfrm>
                <a:off x="2063552" y="1673514"/>
                <a:ext cx="8424936" cy="27761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auto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dirty="0">
                    <a:solidFill>
                      <a:prstClr val="black"/>
                    </a:solidFill>
                  </a:rPr>
                  <a:t>【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解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】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依题意知，需要构造三个弱学习器。如表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8-2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所示，可通过对样本数据集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进行</m:t>
                    </m:r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三次自助采样获得如下表所示的三个训练样本子集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dirty="0">
                  <a:solidFill>
                    <a:prstClr val="black"/>
                  </a:solidFill>
                </a:endParaRPr>
              </a:p>
              <a:p>
                <a:pPr algn="ctr"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:endParaRPr lang="en-US" altLang="zh-CN" dirty="0">
                  <a:solidFill>
                    <a:prstClr val="black"/>
                  </a:solidFill>
                </a:endParaRPr>
              </a:p>
              <a:p>
                <a:pPr algn="ctr"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:r>
                  <a:rPr lang="zh-CN" altLang="zh-CN" sz="2000" dirty="0">
                    <a:solidFill>
                      <a:prstClr val="black"/>
                    </a:solidFill>
                  </a:rPr>
                  <a:t>表</a:t>
                </a:r>
                <a:r>
                  <a:rPr lang="en-US" altLang="zh-CN" sz="2000" dirty="0">
                    <a:solidFill>
                      <a:prstClr val="black"/>
                    </a:solidFill>
                  </a:rPr>
                  <a:t>8-2</a:t>
                </a:r>
                <a:r>
                  <a:rPr lang="zh-CN" altLang="zh-CN" sz="2000" dirty="0">
                    <a:solidFill>
                      <a:prstClr val="black"/>
                    </a:solidFill>
                  </a:rPr>
                  <a:t>由数据样本集生成的样本子集</a:t>
                </a:r>
              </a:p>
              <a:p>
                <a:pPr algn="ctr"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14:m>
                  <m:oMath xmlns:m="http://schemas.openxmlformats.org/officeDocument/2006/math">
                    <m:r>
                      <a:rPr lang="zh-CN" altLang="en-US" sz="2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训练</m:t>
                    </m:r>
                  </m:oMath>
                </a14:m>
                <a:r>
                  <a:rPr lang="zh-CN" altLang="en-US" sz="2000" dirty="0">
                    <a:solidFill>
                      <a:prstClr val="black"/>
                    </a:solidFill>
                  </a:rPr>
                  <a:t>样本子集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000" dirty="0">
                  <a:solidFill>
                    <a:prstClr val="black"/>
                  </a:solidFill>
                </a:endParaRPr>
              </a:p>
              <a:p>
                <a:pPr algn="ctr"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:endParaRPr lang="zh-CN" altLang="en-US" sz="2000" dirty="0">
                  <a:solidFill>
                    <a:prstClr val="black"/>
                  </a:solidFill>
                </a:endParaRPr>
              </a:p>
              <a:p>
                <a:pPr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:endParaRPr lang="en-US" altLang="zh-CN" sz="2000" dirty="0">
                  <a:solidFill>
                    <a:prstClr val="black"/>
                  </a:solidFill>
                </a:endParaRPr>
              </a:p>
              <a:p>
                <a:pPr fontAlgn="auto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</a:pPr>
                <a:endParaRPr lang="en-US" altLang="zh-CN" sz="20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24388BA-4D60-4AD9-87DC-4E3E17C222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552" y="1673514"/>
                <a:ext cx="8424936" cy="2776145"/>
              </a:xfrm>
              <a:prstGeom prst="rect">
                <a:avLst/>
              </a:prstGeom>
              <a:blipFill>
                <a:blip r:embed="rId4"/>
                <a:stretch>
                  <a:fillRect l="-651" t="-1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">
            <a:extLst>
              <a:ext uri="{FF2B5EF4-FFF2-40B4-BE49-F238E27FC236}">
                <a16:creationId xmlns:a16="http://schemas.microsoft.com/office/drawing/2014/main" id="{4DC4991D-1AC1-4BDD-9C01-B630138F51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2724" y="476672"/>
            <a:ext cx="63373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例题</a:t>
            </a:r>
            <a:endParaRPr lang="zh-CN" altLang="en-US" sz="4800" b="1" dirty="0"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76907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7689F12-BCDC-4B73-A37A-3B8EE4476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113" y="549276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4FDD524F-266A-42BF-8CC3-01E0A37D9CD1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007768" y="2235696"/>
                <a:ext cx="3810000" cy="4114800"/>
              </a:xfrm>
            </p:spPr>
            <p:txBody>
              <a:bodyPr/>
              <a:lstStyle/>
              <a:p>
                <a:pPr marL="0" indent="0" algn="ctr" eaLnBrk="1" fontAlgn="auto" hangingPunct="1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  <a:buNone/>
                </a:pPr>
                <a14:m>
                  <m:oMath xmlns:m="http://schemas.openxmlformats.org/officeDocument/2006/math">
                    <m:r>
                      <a:rPr lang="zh-CN" altLang="en-US" sz="2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训练</m:t>
                    </m:r>
                  </m:oMath>
                </a14:m>
                <a:r>
                  <a:rPr lang="zh-CN" altLang="en-US" sz="2000" dirty="0">
                    <a:solidFill>
                      <a:prstClr val="black"/>
                    </a:solidFill>
                  </a:rPr>
                  <a:t>样本子集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sz="2000" dirty="0">
                  <a:solidFill>
                    <a:prstClr val="black"/>
                  </a:solidFill>
                </a:endParaRPr>
              </a:p>
              <a:p>
                <a:pPr marL="0" indent="0" eaLnBrk="1" fontAlgn="auto" hangingPunct="1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  <a:buNone/>
                </a:pPr>
                <a:endParaRPr lang="en-US" altLang="zh-CN" sz="2000" dirty="0">
                  <a:solidFill>
                    <a:prstClr val="black"/>
                  </a:solidFill>
                </a:endParaRPr>
              </a:p>
              <a:p>
                <a:pPr marL="0" indent="0" eaLnBrk="1" fontAlgn="auto" hangingPunct="1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  <a:buNone/>
                </a:pPr>
                <a:endParaRPr lang="en-US" altLang="zh-CN" sz="2000" dirty="0">
                  <a:solidFill>
                    <a:prstClr val="black"/>
                  </a:solidFill>
                </a:endParaRPr>
              </a:p>
              <a:p>
                <a:pPr marL="0" indent="0" eaLnBrk="1" fontAlgn="auto" hangingPunct="1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  <a:buNone/>
                </a:pPr>
                <a:endParaRPr lang="en-US" altLang="zh-CN" sz="2000" dirty="0">
                  <a:solidFill>
                    <a:prstClr val="black"/>
                  </a:solidFill>
                </a:endParaRPr>
              </a:p>
              <a:p>
                <a:pPr marL="0" indent="0" algn="ctr" eaLnBrk="1" fontAlgn="auto" hangingPunct="1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  <a:buNone/>
                </a:pPr>
                <a:endParaRPr lang="en-US" altLang="zh-CN" sz="2000" dirty="0">
                  <a:solidFill>
                    <a:prstClr val="black"/>
                  </a:solidFill>
                  <a:latin typeface="Cambria Math" panose="02040503050406030204" pitchFamily="18" charset="0"/>
                </a:endParaRPr>
              </a:p>
              <a:p>
                <a:pPr marL="0" indent="0" algn="ctr" eaLnBrk="1" fontAlgn="auto" hangingPunct="1">
                  <a:lnSpc>
                    <a:spcPct val="110000"/>
                  </a:lnSpc>
                  <a:spcBef>
                    <a:spcPts val="20"/>
                  </a:spcBef>
                  <a:spcAft>
                    <a:spcPts val="20"/>
                  </a:spcAft>
                  <a:buNone/>
                </a:pPr>
                <a14:m>
                  <m:oMath xmlns:m="http://schemas.openxmlformats.org/officeDocument/2006/math">
                    <m:r>
                      <a:rPr lang="zh-CN" altLang="en-US" sz="20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训练</m:t>
                    </m:r>
                  </m:oMath>
                </a14:m>
                <a:r>
                  <a:rPr lang="zh-CN" altLang="en-US" sz="2000" dirty="0">
                    <a:solidFill>
                      <a:prstClr val="black"/>
                    </a:solidFill>
                  </a:rPr>
                  <a:t>样本子集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 sz="20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sz="2000" dirty="0">
                  <a:solidFill>
                    <a:prstClr val="black"/>
                  </a:solidFill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4FDD524F-266A-42BF-8CC3-01E0A37D9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007768" y="2235696"/>
                <a:ext cx="3810000" cy="4114800"/>
              </a:xfrm>
              <a:blipFill>
                <a:blip r:embed="rId3"/>
                <a:stretch>
                  <a:fillRect t="-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88C1F5BA-8E71-44FD-9503-652F6A7F9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532" y="2595098"/>
            <a:ext cx="8424936" cy="83390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22E3D57-A928-4808-88CF-3ADE3789A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0043" y="4293096"/>
            <a:ext cx="8424936" cy="833902"/>
          </a:xfrm>
          <a:prstGeom prst="rect">
            <a:avLst/>
          </a:prstGeom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F929ADBD-7ECD-481E-87C2-C13214FCE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2724" y="476672"/>
            <a:ext cx="63373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6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例题</a:t>
            </a:r>
            <a:endParaRPr lang="zh-CN" altLang="en-US" sz="4800" b="1" dirty="0"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61084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7" name="Picture 6" descr="C:\Program Files\Microsoft Office\MEDIA\CAGCAT10\j0293844.wmf">
            <a:extLst>
              <a:ext uri="{FF2B5EF4-FFF2-40B4-BE49-F238E27FC236}">
                <a16:creationId xmlns:a16="http://schemas.microsoft.com/office/drawing/2014/main" id="{97689F12-BCDC-4B73-A37A-3B8EE4476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113" y="549276"/>
            <a:ext cx="10414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F516129-C33E-4232-971D-1D096CC4BC78}"/>
                  </a:ext>
                </a:extLst>
              </p:cNvPr>
              <p:cNvSpPr/>
              <p:nvPr/>
            </p:nvSpPr>
            <p:spPr>
              <a:xfrm>
                <a:off x="1703512" y="1916832"/>
                <a:ext cx="8784976" cy="33886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auto">
                  <a:lnSpc>
                    <a:spcPct val="110000"/>
                  </a:lnSpc>
                  <a:spcBef>
                    <a:spcPct val="19703"/>
                  </a:spcBef>
                  <a:spcAft>
                    <a:spcPct val="19604"/>
                  </a:spcAft>
                </a:pPr>
                <a:r>
                  <a:rPr lang="zh-CN" altLang="en-US" dirty="0">
                    <a:solidFill>
                      <a:prstClr val="black"/>
                    </a:solidFill>
                  </a:rPr>
                  <a:t>    假设线性回归模型为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，则可分别通过训练集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构造相应的弱学习器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。使用最小二乘法</a:t>
                </a:r>
                <a:r>
                  <a:rPr lang="en-US" altLang="zh-CN" dirty="0">
                    <a:solidFill>
                      <a:prstClr val="black"/>
                    </a:solidFill>
                  </a:rPr>
                  <a:t>,</a:t>
                </a:r>
                <a:r>
                  <a:rPr lang="zh-CN" altLang="en-US" dirty="0">
                    <a:solidFill>
                      <a:prstClr val="black"/>
                    </a:solidFill>
                  </a:rPr>
                  <a:t>不难得到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的具体表达式如下：</a:t>
                </a:r>
                <a:endParaRPr lang="en-US" altLang="zh-CN" dirty="0">
                  <a:solidFill>
                    <a:prstClr val="black"/>
                  </a:solidFill>
                </a:endParaRPr>
              </a:p>
              <a:p>
                <a:pPr fontAlgn="auto">
                  <a:lnSpc>
                    <a:spcPct val="110000"/>
                  </a:lnSpc>
                  <a:spcBef>
                    <a:spcPct val="19703"/>
                  </a:spcBef>
                  <a:spcAft>
                    <a:spcPct val="19604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=−1216.488</m:t>
                      </m:r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+13731.8219</m:t>
                      </m:r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</a:endParaRPr>
              </a:p>
              <a:p>
                <a:pPr fontAlgn="auto">
                  <a:lnSpc>
                    <a:spcPct val="110000"/>
                  </a:lnSpc>
                  <a:spcBef>
                    <a:spcPct val="19703"/>
                  </a:spcBef>
                  <a:spcAft>
                    <a:spcPct val="19604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=−984.0959</m:t>
                      </m:r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+12822.6216</m:t>
                      </m:r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</a:endParaRPr>
              </a:p>
              <a:p>
                <a:pPr fontAlgn="auto">
                  <a:lnSpc>
                    <a:spcPct val="110000"/>
                  </a:lnSpc>
                  <a:spcBef>
                    <a:spcPct val="19703"/>
                  </a:spcBef>
                  <a:spcAft>
                    <a:spcPct val="19604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=−1015.2945</m:t>
                      </m:r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+13044.9688</m:t>
                      </m:r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</a:endParaRPr>
              </a:p>
              <a:p>
                <a:pPr fontAlgn="auto">
                  <a:lnSpc>
                    <a:spcPct val="110000"/>
                  </a:lnSpc>
                  <a:spcBef>
                    <a:spcPct val="19703"/>
                  </a:spcBef>
                  <a:spcAft>
                    <a:spcPct val="19604"/>
                  </a:spcAft>
                </a:pPr>
                <a:r>
                  <a:rPr lang="zh-CN" altLang="en-US" dirty="0">
                    <a:solidFill>
                      <a:prstClr val="black"/>
                    </a:solidFill>
                  </a:rPr>
                  <a:t>使用简单平均法集成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，得到如下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en-US" dirty="0">
                    <a:solidFill>
                      <a:prstClr val="black"/>
                    </a:solidFill>
                  </a:rPr>
                  <a:t>集成模型：</a:t>
                </a:r>
                <a:endParaRPr lang="en-US" altLang="zh-CN" dirty="0">
                  <a:solidFill>
                    <a:prstClr val="black"/>
                  </a:solidFill>
                </a:endParaRPr>
              </a:p>
              <a:p>
                <a:pPr fontAlgn="auto">
                  <a:lnSpc>
                    <a:spcPct val="110000"/>
                  </a:lnSpc>
                  <a:spcBef>
                    <a:spcPct val="19703"/>
                  </a:spcBef>
                  <a:spcAft>
                    <a:spcPct val="19604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  <m:r>
                            <a:rPr lang="en-US" altLang="zh-CN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altLang="zh-CN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/3</m:t>
                      </m:r>
                    </m:oMath>
                  </m:oMathPara>
                </a14:m>
                <a:endParaRPr lang="en-US" altLang="zh-CN" dirty="0">
                  <a:solidFill>
                    <a:prstClr val="black"/>
                  </a:solidFill>
                </a:endParaRPr>
              </a:p>
              <a:p>
                <a:pPr>
                  <a:lnSpc>
                    <a:spcPct val="110000"/>
                  </a:lnSpc>
                  <a:spcBef>
                    <a:spcPct val="19703"/>
                  </a:spcBef>
                  <a:spcAft>
                    <a:spcPct val="19604"/>
                  </a:spcAft>
                </a:pPr>
                <a14:m>
                  <m:oMath xmlns:m="http://schemas.openxmlformats.org/officeDocument/2006/math"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5.5</m:t>
                        </m:r>
                      </m:e>
                    </m:d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5.5</m:t>
                            </m:r>
                          </m:e>
                        </m:d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5.5</m:t>
                            </m:r>
                          </m:e>
                        </m:d>
                        <m:r>
                          <a:rPr lang="en-US" altLang="zh-CN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5.5</m:t>
                            </m:r>
                          </m:e>
                        </m:d>
                      </m:e>
                    </m:d>
                    <m:r>
                      <a:rPr lang="en-US" altLang="zh-CN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/3</m:t>
                    </m:r>
                  </m:oMath>
                </a14:m>
                <a:r>
                  <a:rPr lang="en-US" altLang="zh-CN" dirty="0">
                    <a:solidFill>
                      <a:prstClr val="black"/>
                    </a:solidFill>
                  </a:rPr>
                  <a:t>=7304.2903</a:t>
                </a:r>
              </a:p>
              <a:p>
                <a:pPr fontAlgn="auto">
                  <a:lnSpc>
                    <a:spcPct val="110000"/>
                  </a:lnSpc>
                  <a:spcBef>
                    <a:spcPct val="19703"/>
                  </a:spcBef>
                  <a:spcAft>
                    <a:spcPct val="19604"/>
                  </a:spcAft>
                </a:pPr>
                <a:endParaRPr lang="en-US" altLang="zh-CN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F516129-C33E-4232-971D-1D096CC4B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1916832"/>
                <a:ext cx="8784976" cy="3388620"/>
              </a:xfrm>
              <a:prstGeom prst="rect">
                <a:avLst/>
              </a:prstGeom>
              <a:blipFill>
                <a:blip r:embed="rId3"/>
                <a:stretch>
                  <a:fillRect l="-555" t="-12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2">
            <a:extLst>
              <a:ext uri="{FF2B5EF4-FFF2-40B4-BE49-F238E27FC236}">
                <a16:creationId xmlns:a16="http://schemas.microsoft.com/office/drawing/2014/main" id="{79B1F72C-BD75-459E-BF05-9638DC7B8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2724" y="476672"/>
            <a:ext cx="6337300" cy="923330"/>
          </a:xfrm>
          <a:prstGeom prst="rect">
            <a:avLst/>
          </a:prstGeom>
          <a:solidFill>
            <a:srgbClr val="3366F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楷体_GB2312" pitchFamily="49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楷体_GB2312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Char char="&amp;"/>
            </a:pPr>
            <a:r>
              <a:rPr lang="en-US" altLang="zh-CN" sz="5400" b="1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 </a:t>
            </a:r>
            <a:r>
              <a:rPr lang="zh-CN" altLang="en-US" sz="5400" b="1" dirty="0">
                <a:solidFill>
                  <a:schemeClr val="bg1"/>
                </a:solidFill>
                <a:latin typeface="+mn-ea"/>
                <a:ea typeface="+mn-ea"/>
                <a:cs typeface="+mn-ea"/>
              </a:rPr>
              <a:t>例题</a:t>
            </a:r>
            <a:endParaRPr lang="zh-CN" altLang="en-US" sz="4800" b="1" dirty="0">
              <a:ea typeface="+mn-ea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72765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ADA3F7B-B242-6302-F445-5155160384DD}"/>
              </a:ext>
            </a:extLst>
          </p:cNvPr>
          <p:cNvSpPr txBox="1"/>
          <p:nvPr/>
        </p:nvSpPr>
        <p:spPr>
          <a:xfrm>
            <a:off x="420364" y="91006"/>
            <a:ext cx="6613149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 1.</a:t>
            </a:r>
            <a:r>
              <a:rPr lang="zh-CN" altLang="en-US" dirty="0"/>
              <a:t>导入需要的工具库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sklearn.datasets</a:t>
            </a:r>
            <a:r>
              <a:rPr lang="en-US" altLang="zh-CN" dirty="0"/>
              <a:t> import </a:t>
            </a:r>
            <a:r>
              <a:rPr lang="en-US" altLang="zh-CN" dirty="0" err="1"/>
              <a:t>load_iris</a:t>
            </a:r>
            <a:r>
              <a:rPr lang="en-US" altLang="zh-CN" dirty="0"/>
              <a:t>  # </a:t>
            </a:r>
            <a:r>
              <a:rPr lang="zh-CN" altLang="en-US" dirty="0"/>
              <a:t>加载鸢尾花数据集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sklearn.model_selection</a:t>
            </a:r>
            <a:r>
              <a:rPr lang="en-US" altLang="zh-CN" dirty="0"/>
              <a:t> import </a:t>
            </a:r>
            <a:r>
              <a:rPr lang="en-US" altLang="zh-CN" dirty="0" err="1"/>
              <a:t>train_test_split</a:t>
            </a:r>
            <a:r>
              <a:rPr lang="en-US" altLang="zh-CN" dirty="0"/>
              <a:t>  # </a:t>
            </a:r>
            <a:r>
              <a:rPr lang="zh-CN" altLang="en-US" dirty="0"/>
              <a:t>划分训练集</a:t>
            </a:r>
            <a:r>
              <a:rPr lang="en-US" altLang="zh-CN" dirty="0"/>
              <a:t>/</a:t>
            </a:r>
            <a:r>
              <a:rPr lang="zh-CN" altLang="en-US" dirty="0"/>
              <a:t>测试集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sklearn.metrics</a:t>
            </a:r>
            <a:r>
              <a:rPr lang="en-US" altLang="zh-CN" dirty="0"/>
              <a:t> import </a:t>
            </a:r>
            <a:r>
              <a:rPr lang="en-US" altLang="zh-CN" dirty="0" err="1"/>
              <a:t>accuracy_score</a:t>
            </a:r>
            <a:r>
              <a:rPr lang="en-US" altLang="zh-CN" dirty="0"/>
              <a:t>  # </a:t>
            </a:r>
            <a:r>
              <a:rPr lang="zh-CN" altLang="en-US" dirty="0"/>
              <a:t>分类准确率</a:t>
            </a:r>
          </a:p>
          <a:p>
            <a:r>
              <a:rPr lang="en-US" altLang="zh-CN" dirty="0"/>
              <a:t># </a:t>
            </a:r>
            <a:r>
              <a:rPr lang="zh-CN" altLang="en-US" dirty="0"/>
              <a:t>导入</a:t>
            </a:r>
            <a:r>
              <a:rPr lang="en-US" altLang="zh-CN" dirty="0"/>
              <a:t>5</a:t>
            </a:r>
            <a:r>
              <a:rPr lang="zh-CN" altLang="en-US" dirty="0"/>
              <a:t>个模型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sklearn.tree</a:t>
            </a:r>
            <a:r>
              <a:rPr lang="en-US" altLang="zh-CN" dirty="0"/>
              <a:t> import </a:t>
            </a:r>
            <a:r>
              <a:rPr lang="en-US" altLang="zh-CN" dirty="0" err="1"/>
              <a:t>DecisionTreeClassifier</a:t>
            </a:r>
            <a:r>
              <a:rPr lang="en-US" altLang="zh-CN" dirty="0"/>
              <a:t>  # </a:t>
            </a:r>
            <a:r>
              <a:rPr lang="zh-CN" altLang="en-US" dirty="0"/>
              <a:t>决策树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sklearn.neighbors</a:t>
            </a:r>
            <a:r>
              <a:rPr lang="en-US" altLang="zh-CN" dirty="0"/>
              <a:t> import </a:t>
            </a:r>
            <a:r>
              <a:rPr lang="en-US" altLang="zh-CN" dirty="0" err="1"/>
              <a:t>KNeighborsClassifier</a:t>
            </a:r>
            <a:r>
              <a:rPr lang="en-US" altLang="zh-CN" dirty="0"/>
              <a:t>  # KNN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sklearn.svm</a:t>
            </a:r>
            <a:r>
              <a:rPr lang="en-US" altLang="zh-CN" dirty="0"/>
              <a:t> import SVC  # </a:t>
            </a:r>
            <a:r>
              <a:rPr lang="zh-CN" altLang="en-US" dirty="0"/>
              <a:t>支持向量机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sklearn.linear_model</a:t>
            </a:r>
            <a:r>
              <a:rPr lang="en-US" altLang="zh-CN" dirty="0"/>
              <a:t> import </a:t>
            </a:r>
            <a:r>
              <a:rPr lang="en-US" altLang="zh-CN" dirty="0" err="1"/>
              <a:t>LogisticRegression</a:t>
            </a:r>
            <a:r>
              <a:rPr lang="en-US" altLang="zh-CN" dirty="0"/>
              <a:t>  # </a:t>
            </a:r>
            <a:r>
              <a:rPr lang="zh-CN" altLang="en-US" dirty="0"/>
              <a:t>逻辑回归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sklearn.cluster</a:t>
            </a:r>
            <a:r>
              <a:rPr lang="en-US" altLang="zh-CN" dirty="0"/>
              <a:t> import </a:t>
            </a:r>
            <a:r>
              <a:rPr lang="en-US" altLang="zh-CN" dirty="0" err="1"/>
              <a:t>KMeans</a:t>
            </a:r>
            <a:r>
              <a:rPr lang="en-US" altLang="zh-CN" dirty="0"/>
              <a:t>  # K-Means</a:t>
            </a:r>
            <a:r>
              <a:rPr lang="zh-CN" altLang="en-US" dirty="0"/>
              <a:t>聚类</a:t>
            </a:r>
          </a:p>
          <a:p>
            <a:endParaRPr lang="zh-CN" altLang="en-US" dirty="0"/>
          </a:p>
          <a:p>
            <a:r>
              <a:rPr lang="en-US" altLang="zh-CN" dirty="0"/>
              <a:t># 2.</a:t>
            </a:r>
            <a:r>
              <a:rPr lang="zh-CN" altLang="en-US" dirty="0"/>
              <a:t>加载数据并划分</a:t>
            </a:r>
          </a:p>
          <a:p>
            <a:r>
              <a:rPr lang="en-US" altLang="zh-CN" dirty="0"/>
              <a:t>iris = </a:t>
            </a:r>
            <a:r>
              <a:rPr lang="en-US" altLang="zh-CN" dirty="0" err="1"/>
              <a:t>load_iris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X, y = </a:t>
            </a:r>
            <a:r>
              <a:rPr lang="en-US" altLang="zh-CN" dirty="0" err="1"/>
              <a:t>iris.data</a:t>
            </a:r>
            <a:r>
              <a:rPr lang="en-US" altLang="zh-CN" dirty="0"/>
              <a:t>, </a:t>
            </a:r>
            <a:r>
              <a:rPr lang="en-US" altLang="zh-CN" dirty="0" err="1"/>
              <a:t>iris.target</a:t>
            </a:r>
            <a:r>
              <a:rPr lang="en-US" altLang="zh-CN" dirty="0"/>
              <a:t>  # X</a:t>
            </a:r>
            <a:r>
              <a:rPr lang="zh-CN" altLang="en-US" dirty="0"/>
              <a:t>特征，</a:t>
            </a:r>
            <a:r>
              <a:rPr lang="en-US" altLang="zh-CN" dirty="0"/>
              <a:t>y</a:t>
            </a:r>
            <a:r>
              <a:rPr lang="zh-CN" altLang="en-US" dirty="0"/>
              <a:t>标签</a:t>
            </a:r>
          </a:p>
          <a:p>
            <a:r>
              <a:rPr lang="en-US" altLang="zh-CN" dirty="0"/>
              <a:t># 70%</a:t>
            </a:r>
            <a:r>
              <a:rPr lang="zh-CN" altLang="en-US" dirty="0"/>
              <a:t>训练，</a:t>
            </a:r>
            <a:r>
              <a:rPr lang="en-US" altLang="zh-CN" dirty="0"/>
              <a:t>30%</a:t>
            </a:r>
            <a:r>
              <a:rPr lang="zh-CN" altLang="en-US" dirty="0"/>
              <a:t>测试</a:t>
            </a:r>
          </a:p>
          <a:p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X_test</a:t>
            </a:r>
            <a:r>
              <a:rPr lang="en-US" altLang="zh-CN" dirty="0"/>
              <a:t>, </a:t>
            </a:r>
            <a:r>
              <a:rPr lang="en-US" altLang="zh-CN" dirty="0" err="1"/>
              <a:t>y_train</a:t>
            </a:r>
            <a:r>
              <a:rPr lang="en-US" altLang="zh-CN" dirty="0"/>
              <a:t>, </a:t>
            </a:r>
            <a:r>
              <a:rPr lang="en-US" altLang="zh-CN" dirty="0" err="1"/>
              <a:t>y_test</a:t>
            </a:r>
            <a:r>
              <a:rPr lang="en-US" altLang="zh-CN" dirty="0"/>
              <a:t> = </a:t>
            </a:r>
            <a:r>
              <a:rPr lang="en-US" altLang="zh-CN" dirty="0" err="1"/>
              <a:t>train_test_split</a:t>
            </a:r>
            <a:r>
              <a:rPr lang="en-US" altLang="zh-CN" dirty="0"/>
              <a:t>(X, y, </a:t>
            </a:r>
            <a:r>
              <a:rPr lang="en-US" altLang="zh-CN" dirty="0" err="1"/>
              <a:t>test_size</a:t>
            </a:r>
            <a:r>
              <a:rPr lang="en-US" altLang="zh-CN" dirty="0"/>
              <a:t>=0.3)</a:t>
            </a:r>
          </a:p>
          <a:p>
            <a:endParaRPr lang="en-US" altLang="zh-CN" dirty="0"/>
          </a:p>
          <a:p>
            <a:r>
              <a:rPr lang="en-US" altLang="zh-CN" dirty="0"/>
              <a:t># 3.</a:t>
            </a:r>
            <a:r>
              <a:rPr lang="zh-CN" altLang="en-US" dirty="0"/>
              <a:t>决策树</a:t>
            </a:r>
          </a:p>
          <a:p>
            <a:r>
              <a:rPr lang="en-US" altLang="zh-CN" dirty="0"/>
              <a:t>dt = </a:t>
            </a:r>
            <a:r>
              <a:rPr lang="en-US" altLang="zh-CN" dirty="0" err="1"/>
              <a:t>DecisionTreeClassifier</a:t>
            </a:r>
            <a:r>
              <a:rPr lang="en-US" altLang="zh-CN" dirty="0"/>
              <a:t>()</a:t>
            </a:r>
          </a:p>
          <a:p>
            <a:r>
              <a:rPr lang="en-US" altLang="zh-CN" dirty="0" err="1"/>
              <a:t>dt.fit</a:t>
            </a:r>
            <a:r>
              <a:rPr lang="en-US" altLang="zh-CN" dirty="0"/>
              <a:t>(</a:t>
            </a:r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y_train</a:t>
            </a:r>
            <a:r>
              <a:rPr lang="en-US" altLang="zh-CN" dirty="0"/>
              <a:t>)  # </a:t>
            </a:r>
            <a:r>
              <a:rPr lang="zh-CN" altLang="en-US" dirty="0"/>
              <a:t>训练</a:t>
            </a:r>
          </a:p>
          <a:p>
            <a:r>
              <a:rPr lang="en-US" altLang="zh-CN" dirty="0"/>
              <a:t>print("</a:t>
            </a:r>
            <a:r>
              <a:rPr lang="zh-CN" altLang="en-US" dirty="0"/>
              <a:t>决策树准确率</a:t>
            </a:r>
            <a:r>
              <a:rPr lang="en-US" altLang="zh-CN" dirty="0"/>
              <a:t>", </a:t>
            </a:r>
            <a:r>
              <a:rPr lang="en-US" altLang="zh-CN" dirty="0" err="1"/>
              <a:t>accuracy_score</a:t>
            </a:r>
            <a:r>
              <a:rPr lang="en-US" altLang="zh-CN" dirty="0"/>
              <a:t>(</a:t>
            </a:r>
            <a:r>
              <a:rPr lang="en-US" altLang="zh-CN" dirty="0" err="1"/>
              <a:t>y_test</a:t>
            </a:r>
            <a:r>
              <a:rPr lang="en-US" altLang="zh-CN" dirty="0"/>
              <a:t>, </a:t>
            </a:r>
            <a:r>
              <a:rPr lang="en-US" altLang="zh-CN" dirty="0" err="1"/>
              <a:t>dt.predict</a:t>
            </a:r>
            <a:r>
              <a:rPr lang="en-US" altLang="zh-CN" dirty="0"/>
              <a:t>(</a:t>
            </a:r>
            <a:r>
              <a:rPr lang="en-US" altLang="zh-CN" dirty="0" err="1"/>
              <a:t>X_test</a:t>
            </a:r>
            <a:r>
              <a:rPr lang="en-US" altLang="zh-CN" dirty="0"/>
              <a:t>)))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2258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ADA3F7B-B242-6302-F445-5155160384DD}"/>
              </a:ext>
            </a:extLst>
          </p:cNvPr>
          <p:cNvSpPr txBox="1"/>
          <p:nvPr/>
        </p:nvSpPr>
        <p:spPr>
          <a:xfrm>
            <a:off x="580709" y="208014"/>
            <a:ext cx="661314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 4.K</a:t>
            </a:r>
            <a:r>
              <a:rPr lang="zh-CN" altLang="en-US" dirty="0"/>
              <a:t>近邻</a:t>
            </a:r>
            <a:r>
              <a:rPr lang="en-US" altLang="zh-CN" dirty="0"/>
              <a:t>KNN</a:t>
            </a:r>
          </a:p>
          <a:p>
            <a:r>
              <a:rPr lang="en-US" altLang="zh-CN" dirty="0" err="1"/>
              <a:t>knn</a:t>
            </a:r>
            <a:r>
              <a:rPr lang="en-US" altLang="zh-CN" dirty="0"/>
              <a:t> = </a:t>
            </a:r>
            <a:r>
              <a:rPr lang="en-US" altLang="zh-CN" dirty="0" err="1"/>
              <a:t>KNeighborsClassifier</a:t>
            </a:r>
            <a:r>
              <a:rPr lang="en-US" altLang="zh-CN" dirty="0"/>
              <a:t>(3)</a:t>
            </a:r>
          </a:p>
          <a:p>
            <a:r>
              <a:rPr lang="en-US" altLang="zh-CN" dirty="0" err="1"/>
              <a:t>knn.fit</a:t>
            </a:r>
            <a:r>
              <a:rPr lang="en-US" altLang="zh-CN" dirty="0"/>
              <a:t>(</a:t>
            </a:r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y_train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print("KNN</a:t>
            </a:r>
            <a:r>
              <a:rPr lang="zh-CN" altLang="en-US" dirty="0"/>
              <a:t>准确率</a:t>
            </a:r>
            <a:r>
              <a:rPr lang="en-US" altLang="zh-CN" dirty="0"/>
              <a:t>", </a:t>
            </a:r>
            <a:r>
              <a:rPr lang="en-US" altLang="zh-CN" dirty="0" err="1"/>
              <a:t>accuracy_score</a:t>
            </a:r>
            <a:r>
              <a:rPr lang="en-US" altLang="zh-CN" dirty="0"/>
              <a:t>(</a:t>
            </a:r>
            <a:r>
              <a:rPr lang="en-US" altLang="zh-CN" dirty="0" err="1"/>
              <a:t>y_test</a:t>
            </a:r>
            <a:r>
              <a:rPr lang="en-US" altLang="zh-CN" dirty="0"/>
              <a:t>, </a:t>
            </a:r>
            <a:r>
              <a:rPr lang="en-US" altLang="zh-CN" dirty="0" err="1"/>
              <a:t>knn.predict</a:t>
            </a:r>
            <a:r>
              <a:rPr lang="en-US" altLang="zh-CN" dirty="0"/>
              <a:t>(</a:t>
            </a:r>
            <a:r>
              <a:rPr lang="en-US" altLang="zh-CN" dirty="0" err="1"/>
              <a:t>X_test</a:t>
            </a:r>
            <a:r>
              <a:rPr lang="en-US" altLang="zh-CN" dirty="0"/>
              <a:t>)))</a:t>
            </a:r>
          </a:p>
          <a:p>
            <a:endParaRPr lang="en-US" altLang="zh-CN" dirty="0"/>
          </a:p>
          <a:p>
            <a:r>
              <a:rPr lang="en-US" altLang="zh-CN" dirty="0"/>
              <a:t># 5.</a:t>
            </a:r>
            <a:r>
              <a:rPr lang="zh-CN" altLang="en-US" dirty="0"/>
              <a:t>支持向量机</a:t>
            </a:r>
            <a:r>
              <a:rPr lang="en-US" altLang="zh-CN" dirty="0"/>
              <a:t>SVM</a:t>
            </a:r>
          </a:p>
          <a:p>
            <a:r>
              <a:rPr lang="en-US" altLang="zh-CN" dirty="0" err="1"/>
              <a:t>svm</a:t>
            </a:r>
            <a:r>
              <a:rPr lang="en-US" altLang="zh-CN" dirty="0"/>
              <a:t> = SVC()</a:t>
            </a:r>
          </a:p>
          <a:p>
            <a:r>
              <a:rPr lang="en-US" altLang="zh-CN" dirty="0" err="1"/>
              <a:t>svm.fit</a:t>
            </a:r>
            <a:r>
              <a:rPr lang="en-US" altLang="zh-CN" dirty="0"/>
              <a:t>(</a:t>
            </a:r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y_train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print("SVM</a:t>
            </a:r>
            <a:r>
              <a:rPr lang="zh-CN" altLang="en-US" dirty="0"/>
              <a:t>准确率</a:t>
            </a:r>
            <a:r>
              <a:rPr lang="en-US" altLang="zh-CN" dirty="0"/>
              <a:t>", </a:t>
            </a:r>
            <a:r>
              <a:rPr lang="en-US" altLang="zh-CN" dirty="0" err="1"/>
              <a:t>accuracy_score</a:t>
            </a:r>
            <a:r>
              <a:rPr lang="en-US" altLang="zh-CN" dirty="0"/>
              <a:t>(</a:t>
            </a:r>
            <a:r>
              <a:rPr lang="en-US" altLang="zh-CN" dirty="0" err="1"/>
              <a:t>y_test</a:t>
            </a:r>
            <a:r>
              <a:rPr lang="en-US" altLang="zh-CN" dirty="0"/>
              <a:t>, </a:t>
            </a:r>
            <a:r>
              <a:rPr lang="en-US" altLang="zh-CN" dirty="0" err="1"/>
              <a:t>svm.predict</a:t>
            </a:r>
            <a:r>
              <a:rPr lang="en-US" altLang="zh-CN" dirty="0"/>
              <a:t>(</a:t>
            </a:r>
            <a:r>
              <a:rPr lang="en-US" altLang="zh-CN" dirty="0" err="1"/>
              <a:t>X_test</a:t>
            </a:r>
            <a:r>
              <a:rPr lang="en-US" altLang="zh-CN" dirty="0"/>
              <a:t>)))</a:t>
            </a:r>
          </a:p>
          <a:p>
            <a:endParaRPr lang="en-US" altLang="zh-CN" dirty="0"/>
          </a:p>
          <a:p>
            <a:r>
              <a:rPr lang="en-US" altLang="zh-CN" dirty="0"/>
              <a:t># 6.</a:t>
            </a:r>
            <a:r>
              <a:rPr lang="zh-CN" altLang="en-US" dirty="0"/>
              <a:t>线性模型（逻辑回归）</a:t>
            </a:r>
          </a:p>
          <a:p>
            <a:r>
              <a:rPr lang="en-US" altLang="zh-CN" dirty="0" err="1"/>
              <a:t>lr</a:t>
            </a:r>
            <a:r>
              <a:rPr lang="en-US" altLang="zh-CN" dirty="0"/>
              <a:t> = </a:t>
            </a:r>
            <a:r>
              <a:rPr lang="en-US" altLang="zh-CN" dirty="0" err="1"/>
              <a:t>LogisticRegression</a:t>
            </a:r>
            <a:r>
              <a:rPr lang="en-US" altLang="zh-CN" dirty="0"/>
              <a:t>(</a:t>
            </a:r>
            <a:r>
              <a:rPr lang="en-US" altLang="zh-CN" dirty="0" err="1"/>
              <a:t>max_iter</a:t>
            </a:r>
            <a:r>
              <a:rPr lang="en-US" altLang="zh-CN" dirty="0"/>
              <a:t>=200)</a:t>
            </a:r>
          </a:p>
          <a:p>
            <a:r>
              <a:rPr lang="en-US" altLang="zh-CN" dirty="0" err="1"/>
              <a:t>lr.fit</a:t>
            </a:r>
            <a:r>
              <a:rPr lang="en-US" altLang="zh-CN" dirty="0"/>
              <a:t>(</a:t>
            </a:r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y_train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print("</a:t>
            </a:r>
            <a:r>
              <a:rPr lang="zh-CN" altLang="en-US" dirty="0"/>
              <a:t>逻辑回归准确率</a:t>
            </a:r>
            <a:r>
              <a:rPr lang="en-US" altLang="zh-CN" dirty="0"/>
              <a:t>", </a:t>
            </a:r>
            <a:r>
              <a:rPr lang="en-US" altLang="zh-CN" dirty="0" err="1"/>
              <a:t>accuracy_score</a:t>
            </a:r>
            <a:r>
              <a:rPr lang="en-US" altLang="zh-CN" dirty="0"/>
              <a:t>(</a:t>
            </a:r>
            <a:r>
              <a:rPr lang="en-US" altLang="zh-CN" dirty="0" err="1"/>
              <a:t>y_test</a:t>
            </a:r>
            <a:r>
              <a:rPr lang="en-US" altLang="zh-CN" dirty="0"/>
              <a:t>, </a:t>
            </a:r>
            <a:r>
              <a:rPr lang="en-US" altLang="zh-CN" dirty="0" err="1"/>
              <a:t>lr.predict</a:t>
            </a:r>
            <a:r>
              <a:rPr lang="en-US" altLang="zh-CN" dirty="0"/>
              <a:t>(</a:t>
            </a:r>
            <a:r>
              <a:rPr lang="en-US" altLang="zh-CN" dirty="0" err="1"/>
              <a:t>X_test</a:t>
            </a:r>
            <a:r>
              <a:rPr lang="en-US" altLang="zh-CN" dirty="0"/>
              <a:t>)))</a:t>
            </a:r>
          </a:p>
          <a:p>
            <a:endParaRPr lang="en-US" altLang="zh-CN" dirty="0"/>
          </a:p>
          <a:p>
            <a:r>
              <a:rPr lang="en-US" altLang="zh-CN" dirty="0"/>
              <a:t># 7.K-Means</a:t>
            </a:r>
            <a:r>
              <a:rPr lang="zh-CN" altLang="en-US" dirty="0"/>
              <a:t>聚类（无标签）</a:t>
            </a:r>
          </a:p>
          <a:p>
            <a:r>
              <a:rPr lang="en-US" altLang="zh-CN" dirty="0"/>
              <a:t>km = </a:t>
            </a:r>
            <a:r>
              <a:rPr lang="en-US" altLang="zh-CN" dirty="0" err="1"/>
              <a:t>KMeans</a:t>
            </a:r>
            <a:r>
              <a:rPr lang="en-US" altLang="zh-CN" dirty="0"/>
              <a:t>(</a:t>
            </a:r>
            <a:r>
              <a:rPr lang="en-US" altLang="zh-CN" dirty="0" err="1"/>
              <a:t>n_clusters</a:t>
            </a:r>
            <a:r>
              <a:rPr lang="en-US" altLang="zh-CN" dirty="0"/>
              <a:t>=3)</a:t>
            </a:r>
          </a:p>
          <a:p>
            <a:r>
              <a:rPr lang="en-US" altLang="zh-CN" dirty="0" err="1"/>
              <a:t>km.fit</a:t>
            </a:r>
            <a:r>
              <a:rPr lang="en-US" altLang="zh-CN" dirty="0"/>
              <a:t>(X)</a:t>
            </a:r>
          </a:p>
          <a:p>
            <a:r>
              <a:rPr lang="en-US" altLang="zh-CN" dirty="0"/>
              <a:t>print("K-Means</a:t>
            </a:r>
            <a:r>
              <a:rPr lang="zh-CN" altLang="en-US" dirty="0"/>
              <a:t>聚类完成</a:t>
            </a:r>
            <a:r>
              <a:rPr lang="en-US" altLang="zh-CN" dirty="0"/>
              <a:t>")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99972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ADA3F7B-B242-6302-F445-5155160384DD}"/>
              </a:ext>
            </a:extLst>
          </p:cNvPr>
          <p:cNvSpPr txBox="1"/>
          <p:nvPr/>
        </p:nvSpPr>
        <p:spPr>
          <a:xfrm>
            <a:off x="559041" y="34668"/>
            <a:ext cx="7965247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 1.</a:t>
            </a:r>
            <a:r>
              <a:rPr lang="zh-CN" altLang="en-US" dirty="0"/>
              <a:t>导入工具库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sklearn.datasets</a:t>
            </a:r>
            <a:r>
              <a:rPr lang="en-US" altLang="zh-CN" dirty="0"/>
              <a:t> import </a:t>
            </a:r>
            <a:r>
              <a:rPr lang="en-US" altLang="zh-CN" dirty="0" err="1"/>
              <a:t>load_diabetes</a:t>
            </a:r>
            <a:r>
              <a:rPr lang="en-US" altLang="zh-CN" dirty="0"/>
              <a:t>  # </a:t>
            </a:r>
            <a:r>
              <a:rPr lang="zh-CN" altLang="en-US" dirty="0"/>
              <a:t>糖尿病数据集（回归）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sklearn.model_selection</a:t>
            </a:r>
            <a:r>
              <a:rPr lang="en-US" altLang="zh-CN" dirty="0"/>
              <a:t> import </a:t>
            </a:r>
            <a:r>
              <a:rPr lang="en-US" altLang="zh-CN" dirty="0" err="1"/>
              <a:t>train_test_split</a:t>
            </a:r>
            <a:endParaRPr lang="en-US" altLang="zh-CN" dirty="0"/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sklearn.linear_model</a:t>
            </a:r>
            <a:r>
              <a:rPr lang="en-US" altLang="zh-CN" dirty="0"/>
              <a:t> import Lasso, Ridge  # </a:t>
            </a:r>
            <a:r>
              <a:rPr lang="zh-CN" altLang="en-US" dirty="0"/>
              <a:t>套索、岭回归</a:t>
            </a:r>
          </a:p>
          <a:p>
            <a:r>
              <a:rPr lang="en-US" altLang="zh-CN" dirty="0"/>
              <a:t>from </a:t>
            </a:r>
            <a:r>
              <a:rPr lang="en-US" altLang="zh-CN" dirty="0" err="1"/>
              <a:t>sklearn.metrics</a:t>
            </a:r>
            <a:r>
              <a:rPr lang="en-US" altLang="zh-CN" dirty="0"/>
              <a:t> import r2_score  # </a:t>
            </a:r>
            <a:r>
              <a:rPr lang="zh-CN" altLang="en-US" dirty="0"/>
              <a:t>回归评估指标</a:t>
            </a:r>
          </a:p>
          <a:p>
            <a:r>
              <a:rPr lang="en-US" altLang="zh-CN" dirty="0"/>
              <a:t># 2.</a:t>
            </a:r>
            <a:r>
              <a:rPr lang="zh-CN" altLang="en-US" dirty="0"/>
              <a:t>数据划分</a:t>
            </a:r>
          </a:p>
          <a:p>
            <a:r>
              <a:rPr lang="en-US" altLang="zh-CN" dirty="0"/>
              <a:t>data = </a:t>
            </a:r>
            <a:r>
              <a:rPr lang="en-US" altLang="zh-CN" dirty="0" err="1"/>
              <a:t>load_diabetes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X, y = </a:t>
            </a:r>
            <a:r>
              <a:rPr lang="en-US" altLang="zh-CN" dirty="0" err="1"/>
              <a:t>data.data</a:t>
            </a:r>
            <a:r>
              <a:rPr lang="en-US" altLang="zh-CN" dirty="0"/>
              <a:t>, </a:t>
            </a:r>
            <a:r>
              <a:rPr lang="en-US" altLang="zh-CN" dirty="0" err="1"/>
              <a:t>data.target</a:t>
            </a:r>
            <a:endParaRPr lang="en-US" altLang="zh-CN" dirty="0"/>
          </a:p>
          <a:p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X_test</a:t>
            </a:r>
            <a:r>
              <a:rPr lang="en-US" altLang="zh-CN" dirty="0"/>
              <a:t>, </a:t>
            </a:r>
            <a:r>
              <a:rPr lang="en-US" altLang="zh-CN" dirty="0" err="1"/>
              <a:t>y_train</a:t>
            </a:r>
            <a:r>
              <a:rPr lang="en-US" altLang="zh-CN" dirty="0"/>
              <a:t>, </a:t>
            </a:r>
            <a:r>
              <a:rPr lang="en-US" altLang="zh-CN" dirty="0" err="1"/>
              <a:t>y_test</a:t>
            </a:r>
            <a:r>
              <a:rPr lang="en-US" altLang="zh-CN" dirty="0"/>
              <a:t> = </a:t>
            </a:r>
            <a:r>
              <a:rPr lang="en-US" altLang="zh-CN" dirty="0" err="1"/>
              <a:t>train_test_split</a:t>
            </a:r>
            <a:r>
              <a:rPr lang="en-US" altLang="zh-CN" dirty="0"/>
              <a:t>(X, y, </a:t>
            </a:r>
            <a:r>
              <a:rPr lang="en-US" altLang="zh-CN" dirty="0" err="1"/>
              <a:t>test_size</a:t>
            </a:r>
            <a:r>
              <a:rPr lang="en-US" altLang="zh-CN" dirty="0"/>
              <a:t>=0.8)</a:t>
            </a:r>
          </a:p>
          <a:p>
            <a:endParaRPr lang="en-US" altLang="zh-CN" dirty="0"/>
          </a:p>
          <a:p>
            <a:r>
              <a:rPr lang="en-US" altLang="zh-CN" dirty="0"/>
              <a:t># 3.</a:t>
            </a:r>
            <a:r>
              <a:rPr lang="zh-CN" altLang="en-US" dirty="0"/>
              <a:t>套索回归 </a:t>
            </a:r>
            <a:r>
              <a:rPr lang="en-US" altLang="zh-CN" dirty="0"/>
              <a:t>Lasso</a:t>
            </a:r>
            <a:r>
              <a:rPr lang="zh-CN" altLang="en-US" dirty="0"/>
              <a:t>（</a:t>
            </a:r>
            <a:r>
              <a:rPr lang="en-US" altLang="zh-CN" dirty="0"/>
              <a:t>L1</a:t>
            </a:r>
            <a:r>
              <a:rPr lang="zh-CN" altLang="en-US" dirty="0"/>
              <a:t>正则）</a:t>
            </a:r>
            <a:r>
              <a:rPr lang="el-GR" altLang="zh-CN" dirty="0"/>
              <a:t>α=0.3</a:t>
            </a:r>
          </a:p>
          <a:p>
            <a:r>
              <a:rPr lang="en-US" altLang="zh-CN" dirty="0"/>
              <a:t>la = Lasso(alpha=0.3)</a:t>
            </a:r>
          </a:p>
          <a:p>
            <a:r>
              <a:rPr lang="en-US" altLang="zh-CN" dirty="0" err="1"/>
              <a:t>la.fit</a:t>
            </a:r>
            <a:r>
              <a:rPr lang="en-US" altLang="zh-CN" dirty="0"/>
              <a:t>(</a:t>
            </a:r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y_train</a:t>
            </a:r>
            <a:r>
              <a:rPr lang="en-US" altLang="zh-CN" dirty="0"/>
              <a:t>)  # </a:t>
            </a:r>
            <a:r>
              <a:rPr lang="zh-CN" altLang="en-US" dirty="0"/>
              <a:t>训练</a:t>
            </a:r>
          </a:p>
          <a:p>
            <a:r>
              <a:rPr lang="en-US" altLang="zh-CN" dirty="0"/>
              <a:t>print("Lasso-R²", r2_score(</a:t>
            </a:r>
            <a:r>
              <a:rPr lang="en-US" altLang="zh-CN" dirty="0" err="1"/>
              <a:t>y_test</a:t>
            </a:r>
            <a:r>
              <a:rPr lang="en-US" altLang="zh-CN" dirty="0"/>
              <a:t>, </a:t>
            </a:r>
            <a:r>
              <a:rPr lang="en-US" altLang="zh-CN" dirty="0" err="1"/>
              <a:t>la.predict</a:t>
            </a:r>
            <a:r>
              <a:rPr lang="en-US" altLang="zh-CN" dirty="0"/>
              <a:t>(</a:t>
            </a:r>
            <a:r>
              <a:rPr lang="en-US" altLang="zh-CN" dirty="0" err="1"/>
              <a:t>X_test</a:t>
            </a:r>
            <a:r>
              <a:rPr lang="en-US" altLang="zh-CN" dirty="0"/>
              <a:t>)))</a:t>
            </a:r>
          </a:p>
          <a:p>
            <a:endParaRPr lang="en-US" altLang="zh-CN" dirty="0"/>
          </a:p>
          <a:p>
            <a:r>
              <a:rPr lang="en-US" altLang="zh-CN" dirty="0"/>
              <a:t># 4.</a:t>
            </a:r>
            <a:r>
              <a:rPr lang="zh-CN" altLang="en-US" dirty="0"/>
              <a:t>岭回归 </a:t>
            </a:r>
            <a:r>
              <a:rPr lang="en-US" altLang="zh-CN" dirty="0"/>
              <a:t>Ridge</a:t>
            </a:r>
            <a:r>
              <a:rPr lang="zh-CN" altLang="en-US" dirty="0"/>
              <a:t>（</a:t>
            </a:r>
            <a:r>
              <a:rPr lang="en-US" altLang="zh-CN" dirty="0"/>
              <a:t>L2</a:t>
            </a:r>
            <a:r>
              <a:rPr lang="zh-CN" altLang="en-US" dirty="0"/>
              <a:t>正则）</a:t>
            </a:r>
            <a:r>
              <a:rPr lang="el-GR" altLang="zh-CN" dirty="0"/>
              <a:t>α=0.5</a:t>
            </a:r>
          </a:p>
          <a:p>
            <a:r>
              <a:rPr lang="en-US" altLang="zh-CN" dirty="0"/>
              <a:t>ri1 = Ridge(alpha=0.5)</a:t>
            </a:r>
          </a:p>
          <a:p>
            <a:r>
              <a:rPr lang="en-US" altLang="zh-CN" dirty="0"/>
              <a:t>ri1.fit(</a:t>
            </a:r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y_train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print("Ridge0.5-R²", r2_score(</a:t>
            </a:r>
            <a:r>
              <a:rPr lang="en-US" altLang="zh-CN" dirty="0" err="1"/>
              <a:t>y_test</a:t>
            </a:r>
            <a:r>
              <a:rPr lang="en-US" altLang="zh-CN" dirty="0"/>
              <a:t>, ri1.predict(</a:t>
            </a:r>
            <a:r>
              <a:rPr lang="en-US" altLang="zh-CN" dirty="0" err="1"/>
              <a:t>X_test</a:t>
            </a:r>
            <a:r>
              <a:rPr lang="en-US" altLang="zh-CN" dirty="0"/>
              <a:t>)))</a:t>
            </a:r>
          </a:p>
          <a:p>
            <a:endParaRPr lang="en-US" altLang="zh-CN" dirty="0"/>
          </a:p>
          <a:p>
            <a:r>
              <a:rPr lang="en-US" altLang="zh-CN" dirty="0"/>
              <a:t># 5.</a:t>
            </a:r>
            <a:r>
              <a:rPr lang="zh-CN" altLang="en-US" dirty="0"/>
              <a:t>岭回归 </a:t>
            </a:r>
            <a:r>
              <a:rPr lang="en-US" altLang="zh-CN" dirty="0"/>
              <a:t>Ridge </a:t>
            </a:r>
            <a:r>
              <a:rPr lang="el-GR" altLang="zh-CN" dirty="0"/>
              <a:t>α=6</a:t>
            </a:r>
          </a:p>
          <a:p>
            <a:r>
              <a:rPr lang="en-US" altLang="zh-CN" dirty="0"/>
              <a:t>ri2 = Ridge(alpha=6)</a:t>
            </a:r>
          </a:p>
          <a:p>
            <a:r>
              <a:rPr lang="en-US" altLang="zh-CN" dirty="0"/>
              <a:t>ri2.fit(</a:t>
            </a:r>
            <a:r>
              <a:rPr lang="en-US" altLang="zh-CN" dirty="0" err="1"/>
              <a:t>X_train</a:t>
            </a:r>
            <a:r>
              <a:rPr lang="en-US" altLang="zh-CN" dirty="0"/>
              <a:t>, </a:t>
            </a:r>
            <a:r>
              <a:rPr lang="en-US" altLang="zh-CN" dirty="0" err="1"/>
              <a:t>y_train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print("Ridge6-R²", r2_score(</a:t>
            </a:r>
            <a:r>
              <a:rPr lang="en-US" altLang="zh-CN" dirty="0" err="1"/>
              <a:t>y_test</a:t>
            </a:r>
            <a:r>
              <a:rPr lang="en-US" altLang="zh-CN" dirty="0"/>
              <a:t>, ri2.predict(</a:t>
            </a:r>
            <a:r>
              <a:rPr lang="en-US" altLang="zh-CN" dirty="0" err="1"/>
              <a:t>X_test</a:t>
            </a:r>
            <a:r>
              <a:rPr lang="en-US" altLang="zh-CN" dirty="0"/>
              <a:t>)))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F668EC-DCE1-57A6-BF03-BC8765D50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01" t="1" b="47083"/>
          <a:stretch/>
        </p:blipFill>
        <p:spPr>
          <a:xfrm>
            <a:off x="8632628" y="0"/>
            <a:ext cx="3559371" cy="32292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A2372DC-0CCE-0CDE-C1D0-EC1EFE172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0" t="10847" r="6181" b="40432"/>
          <a:stretch/>
        </p:blipFill>
        <p:spPr>
          <a:xfrm>
            <a:off x="7683558" y="3333263"/>
            <a:ext cx="4506995" cy="334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23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4501</Words>
  <Application>Microsoft Office PowerPoint</Application>
  <PresentationFormat>宽屏</PresentationFormat>
  <Paragraphs>584</Paragraphs>
  <Slides>37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等线</vt:lpstr>
      <vt:lpstr>等线 Light</vt:lpstr>
      <vt:lpstr>黑体</vt:lpstr>
      <vt:lpstr>华文宋体</vt:lpstr>
      <vt:lpstr>宋体</vt:lpstr>
      <vt:lpstr>微软雅黑</vt:lpstr>
      <vt:lpstr>Arial</vt:lpstr>
      <vt:lpstr>Calibri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动手练一练---淘宝购物网站文本相似性</vt:lpstr>
      <vt:lpstr>动手练一练</vt:lpstr>
      <vt:lpstr>PowerPoint 演示文稿</vt:lpstr>
      <vt:lpstr>例题：某钢铁厂需通过 ID3 算法构建决策树（钢铁质量分类），基于 “碳含量（C）”、“硅含量（Si）”、“锰含量（Mn）”3 个离散化特征，将钢坯分为 “优质钢（满足高端制造标准）” 和 “普通钢（仅满足基础工业标准）”。现有 16 条钢坯样本数据，特征取值均为低、中、高，下面求解该决策树？当碳含量高，硅含量中，锰含量低，预测类型？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第二部分：实战演练</vt:lpstr>
      <vt:lpstr>PowerPoint 演示文稿</vt:lpstr>
      <vt:lpstr>第二部分：实战演练</vt:lpstr>
      <vt:lpstr>PowerPoint 演示文稿</vt:lpstr>
      <vt:lpstr>PowerPoint 演示文稿</vt:lpstr>
      <vt:lpstr>PowerPoint 演示文稿</vt:lpstr>
      <vt:lpstr>第二部分  实战演练</vt:lpstr>
      <vt:lpstr>PowerPoint 演示文稿</vt:lpstr>
      <vt:lpstr>PowerPoint 演示文稿</vt:lpstr>
      <vt:lpstr>PowerPoint 演示文稿</vt:lpstr>
      <vt:lpstr>PowerPoint 演示文稿</vt:lpstr>
      <vt:lpstr>第二部分：实战演练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孔明 诸葛</dc:creator>
  <cp:lastModifiedBy>孔明 诸葛</cp:lastModifiedBy>
  <cp:revision>9</cp:revision>
  <dcterms:created xsi:type="dcterms:W3CDTF">2026-05-06T06:41:50Z</dcterms:created>
  <dcterms:modified xsi:type="dcterms:W3CDTF">2026-05-06T07:32:09Z</dcterms:modified>
</cp:coreProperties>
</file>