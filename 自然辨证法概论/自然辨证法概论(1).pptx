
<file path=[Content_Types].xml><?xml version="1.0" encoding="utf-8"?>
<Types xmlns="http://schemas.openxmlformats.org/package/2006/content-types">
  <Default Extension="wav" ContentType="audio/wav"/>
  <Default Extension="gif" ContentType="image/gif"/>
  <Default Extension="png" ContentType="image/png"/>
  <Default Extension="jpeg" ContentType="image/jpeg"/>
  <Default Extension="xml" ContentType="application/xml"/>
  <Default Extension="rels" ContentType="application/vnd.openxmlformats-package.relationships+xml"/>
  <Override PartName="/ppt/media/image117.jpeg" ContentType="image/jpeg"/>
  <Override PartName="/ppt/tags/tag25.xml" ContentType="application/vnd.openxmlformats-officedocument.presentationml.tags+xml"/>
  <Override PartName="/ppt/tags/tag18.xml" ContentType="application/vnd.openxmlformats-officedocument.presentationml.tags+xml"/>
  <Override PartName="/ppt/tags/tag16.xml" ContentType="application/vnd.openxmlformats-officedocument.presentationml.tags+xml"/>
  <Override PartName="/ppt/media/image110.jpeg" ContentType="image/jpeg"/>
  <Override PartName="/ppt/media/image111.jpeg" ContentType="image/jpeg"/>
  <Override PartName="/ppt/media/image108.jpeg" ContentType="image/jpeg"/>
  <Override PartName="/ppt/tags/tag13.xml" ContentType="application/vnd.openxmlformats-officedocument.presentationml.tags+xml"/>
  <Override PartName="/ppt/tags/tag9.xml" ContentType="application/vnd.openxmlformats-officedocument.presentationml.tags+xml"/>
  <Override PartName="/ppt/media/image107.jpeg" ContentType="image/jpeg"/>
  <Override PartName="/ppt/notesSlides/notesSlide21.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media/image105.jpeg" ContentType="image/jpeg"/>
  <Override PartName="/ppt/media/image103.jpeg" ContentType="image/jpeg"/>
  <Override PartName="/ppt/notesSlides/notesSlide13.xml" ContentType="application/vnd.openxmlformats-officedocument.presentationml.notesSlide+xml"/>
  <Override PartName="/ppt/media/image15.jpeg" ContentType="image/jpeg"/>
  <Override PartName="/ppt/media/image16.jpeg" ContentType="image/jpeg"/>
  <Override PartName="/ppt/media/image90.jpeg" ContentType="image/jpeg"/>
  <Override PartName="/ppt/media/image91.jpeg" ContentType="image/jpeg"/>
  <Override PartName="/ppt/notesSlides/notesSlide7.xml" ContentType="application/vnd.openxmlformats-officedocument.presentationml.notesSlide+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Override PartName="/ppt/media/image100.jpeg" ContentType="image/jpeg"/>
  <Override PartName="/ppt/media/image39.jpeg" ContentType="image/jpeg"/>
  <Override PartName="/ppt/media/image114.jpeg" ContentType="image/jpeg"/>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media/image49.png" ContentType="image/png"/>
  <Override PartName="/ppt/media/image51.png" ContentType="image/png"/>
  <Override PartName="/ppt/media/image97.png" ContentType="image/png"/>
  <Override PartName="/ppt/media/image61.jpeg" ContentType="image/jpeg"/>
  <Override PartName="/ppt/media/image62.png" ContentType="image/png"/>
  <Override PartName="/ppt/tags/tag5.xml" ContentType="application/vnd.openxmlformats-officedocument.presentationml.tags+xml"/>
  <Override PartName="/ppt/notesSlides/notesSlide20.xml" ContentType="application/vnd.openxmlformats-officedocument.presentationml.notesSlide+xml"/>
  <Override PartName="/ppt/media/image92.jpeg" ContentType="image/jpeg"/>
  <Override PartName="/ppt/media/image86.jpeg" ContentType="image/jpeg"/>
  <Override PartName="/ppt/media/image87.jpeg" ContentType="image/jpeg"/>
  <Override PartName="/ppt/tags/tag11.xml" ContentType="application/vnd.openxmlformats-officedocument.presentationml.tags+xml"/>
  <Override PartName="/ppt/media/image83.jpeg" ContentType="image/jpeg"/>
  <Override PartName="/ppt/media/image82.jpeg" ContentType="image/jpeg"/>
  <Override PartName="/ppt/media/image81.jpeg" ContentType="image/jpeg"/>
  <Override PartName="/ppt/media/image72.jpeg" ContentType="image/jpeg"/>
  <Override PartName="/ppt/slideLayouts/slideLayout8.xml" ContentType="application/vnd.openxmlformats-officedocument.presentationml.slideLayout+xml"/>
  <Override PartName="/ppt/tags/tag19.xml" ContentType="application/vnd.openxmlformats-officedocument.presentationml.tags+xml"/>
  <Override PartName="/ppt/slides/slide168.xml" ContentType="application/vnd.openxmlformats-officedocument.presentationml.slide+xml"/>
  <Override PartName="/ppt/media/image29.jpeg" ContentType="image/jpeg"/>
  <Override PartName="/ppt/media/image67.GIF" ContentType="image/gif"/>
  <Override PartName="/ppt/media/image93.jpeg" ContentType="image/jpeg"/>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66.jpeg" ContentType="image/jpeg"/>
  <Override PartName="/ppt/media/image84.jpeg" ContentType="image/jpeg"/>
  <Override PartName="/ppt/media/image68.jpeg" ContentType="image/jpeg"/>
  <Override PartName="/ppt/media/image95.jpeg" ContentType="image/jpeg"/>
  <Override PartName="/ppt/media/image1.jpeg" ContentType="image/jpeg"/>
  <Override PartName="/ppt/slides/slide160.xml" ContentType="application/vnd.openxmlformats-officedocument.presentationml.slide+xml"/>
  <Override PartName="/ppt/media/image98.jpeg" ContentType="image/jpeg"/>
  <Override PartName="/ppt/slides/slide125.xml" ContentType="application/vnd.openxmlformats-officedocument.presentationml.slide+xml"/>
  <Override PartName="/ppt/media/image43.jpeg" ContentType="image/jpeg"/>
  <Override PartName="/ppt/notesSlides/notesSlide5.xml" ContentType="application/vnd.openxmlformats-officedocument.presentationml.notesSlide+xml"/>
  <Override PartName="/ppt/slides/slide40.xml" ContentType="application/vnd.openxmlformats-officedocument.presentationml.slide+xml"/>
  <Override PartName="/ppt/media/image115.jpeg" ContentType="image/jpeg"/>
  <Override PartName="/ppt/notesSlides/notesSlide18.xml" ContentType="application/vnd.openxmlformats-officedocument.presentationml.notesSlide+xml"/>
  <Override PartName="/ppt/media/image77.jpeg" ContentType="image/jpeg"/>
  <Override PartName="/ppt/slideLayouts/slideLayout15.xml" ContentType="application/vnd.openxmlformats-officedocument.presentationml.slideLayout+xml"/>
  <Override PartName="/ppt/media/image55.jpeg" ContentType="image/jpeg"/>
  <Override PartName="/ppt/slides/slide180.xml" ContentType="application/vnd.openxmlformats-officedocument.presentationml.slide+xml"/>
  <Override PartName="/ppt/media/image56.jpeg" ContentType="image/jpeg"/>
  <Override PartName="/ppt/media/image48.jpeg" ContentType="image/jpeg"/>
  <Override PartName="/ppt/media/image47.png" ContentType="image/png"/>
  <Override PartName="/ppt/media/image34.jpeg" ContentType="image/jpeg"/>
  <Override PartName="/ppt/media/image63.jpeg" ContentType="image/jpeg"/>
  <Override PartName="/ppt/slides/slide39.xml" ContentType="application/vnd.openxmlformats-officedocument.presentationml.slide+xml"/>
  <Override PartName="/ppt/slideLayouts/slideLayout22.xml" ContentType="application/vnd.openxmlformats-officedocument.presentationml.slideLayout+xml"/>
  <Override PartName="/ppt/media/image35.jpeg" ContentType="image/jpeg"/>
  <Override PartName="/ppt/slideLayouts/slideLayout13.xml" ContentType="application/vnd.openxmlformats-officedocument.presentationml.slideLayout+xml"/>
  <Override PartName="/ppt/slides/slide227.xml" ContentType="application/vnd.openxmlformats-officedocument.presentationml.slide+xml"/>
  <Override PartName="/ppt/slides/slide252.xml" ContentType="application/vnd.openxmlformats-officedocument.presentationml.slide+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audio1.wav" ContentType="audio/wav"/>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s/slide164.xml" ContentType="application/vnd.openxmlformats-officedocument.presentationml.slide+xml"/>
  <Override PartName="/ppt/media/image11.jpeg" ContentType="image/jpeg"/>
  <Override PartName="/ppt/media/image102.jpeg" ContentType="image/jpeg"/>
  <Override PartName="/ppt/media/image37.png" ContentType="image/png"/>
  <Override PartName="/ppt/media/image58.jpeg" ContentType="image/jpeg"/>
  <Override PartName="/ppt/media/image33.jpeg" ContentType="image/jpeg"/>
  <Override PartName="/ppt/media/image59.jpeg" ContentType="image/jpeg"/>
  <Override PartName="/ppt/slides/slide184.xml" ContentType="application/vnd.openxmlformats-officedocument.presentationml.slide+xml"/>
  <Override PartName="/ppt/slideLayouts/slideLayout18.xml" ContentType="application/vnd.openxmlformats-officedocument.presentationml.slideLayout+xml"/>
  <Override PartName="/ppt/slides/slide108.xml" ContentType="application/vnd.openxmlformats-officedocument.presentationml.slide+xml"/>
  <Override PartName="/ppt/media/image10.jpeg" ContentType="image/jpeg"/>
  <Override PartName="/ppt/media/image22.jpeg" ContentType="image/jpeg"/>
  <Override PartName="/ppt/notesSlides/notesSlide4.xml" ContentType="application/vnd.openxmlformats-officedocument.presentationml.notesSlide+xml"/>
  <Override PartName="/ppt/media/image109.jpeg" ContentType="image/jpeg"/>
  <Override PartName="/ppt/media/image12.jpeg" ContentType="image/jpeg"/>
  <Override PartName="/ppt/media/image46.jpeg" ContentType="image/jpeg"/>
  <Override PartName="/ppt/media/image9.jpeg" ContentType="image/jpeg"/>
  <Override PartName="/ppt/media/image6.jpeg" ContentType="image/jpeg"/>
  <Override PartName="/ppt/notesSlides/notesSlide8.xml" ContentType="application/vnd.openxmlformats-officedocument.presentationml.notesSlide+xml"/>
  <Override PartName="/ppt/slides/slide6.xml" ContentType="application/vnd.openxmlformats-officedocument.presentationml.slide+xml"/>
  <Override PartName="/ppt/theme/theme3.xml" ContentType="application/vnd.openxmlformats-officedocument.theme+xml"/>
  <Override PartName="/ppt/media/image79.jpeg" ContentType="image/jpeg"/>
  <Override PartName="/ppt/tags/tag17.xml" ContentType="application/vnd.openxmlformats-officedocument.presentationml.tags+xml"/>
  <Override PartName="/ppt/media/image38.jpeg" ContentType="image/jpeg"/>
  <Override PartName="/ppt/media/image80.jpeg" ContentType="image/jpeg"/>
  <Override PartName="/ppt/tags/tag28.xml" ContentType="application/vnd.openxmlformats-officedocument.presentationml.tags+xml"/>
  <Override PartName="/ppt/slides/slide38.xml" ContentType="application/vnd.openxmlformats-officedocument.presentationml.slide+xml"/>
  <Override PartName="/ppt/media/image25.jpeg" ContentType="image/jpeg"/>
  <Override PartName="/ppt/media/image14.jpeg" ContentType="image/jpeg"/>
  <Override PartName="/ppt/media/image113.jpeg" ContentType="image/jpeg"/>
  <Override PartName="/ppt/tags/tag21.xml" ContentType="application/vnd.openxmlformats-officedocument.presentationml.tags+xml"/>
  <Override PartName="/ppt/media/image75.png" ContentType="image/png"/>
  <Override PartName="/ppt/media/image73.jpeg" ContentType="image/jpeg"/>
  <Override PartName="/ppt/theme/theme4.xml" ContentType="application/vnd.openxmlformats-officedocument.theme+xml"/>
  <Override PartName="/ppt/media/image74.jpeg" ContentType="image/jpeg"/>
  <Override PartName="/ppt/media/image30.jpeg" ContentType="image/jpeg"/>
  <Override PartName="/ppt/media/image18.jpeg" ContentType="image/jpeg"/>
  <Override PartName="/ppt/tags/tag15.xml" ContentType="application/vnd.openxmlformats-officedocument.presentationml.tags+xml"/>
  <Override PartName="/ppt/tags/tag6.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s/slide242.xml" ContentType="application/vnd.openxmlformats-officedocument.presentationml.slide+xml"/>
  <Override PartName="/ppt/slides/slide100.xml" ContentType="application/vnd.openxmlformats-officedocument.presentationml.slide+xml"/>
  <Override PartName="/ppt/media/image41.jpeg" ContentType="image/jpeg"/>
  <Override PartName="/ppt/slides/slide68.xml" ContentType="application/vnd.openxmlformats-officedocument.presentationml.slide+xml"/>
  <Override PartName="/ppt/tags/tag24.xml" ContentType="application/vnd.openxmlformats-officedocument.presentationml.tags+xml"/>
  <Override PartName="/ppt/slides/slide237.xml" ContentType="application/vnd.openxmlformats-officedocument.presentationml.slide+xml"/>
  <Override PartName="/ppt/slides/slide213.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slides/slide233.xml" ContentType="application/vnd.openxmlformats-officedocument.presentationml.slide+xml"/>
  <Override PartName="/ppt/slides/slide11.xml" ContentType="application/vnd.openxmlformats-officedocument.presentationml.slide+xml"/>
  <Override PartName="/ppt/slides/slide33.xml" ContentType="application/vnd.openxmlformats-officedocument.presentationml.slide+xml"/>
  <Override PartName="/ppt/slides/slide221.xml" ContentType="application/vnd.openxmlformats-officedocument.presentationml.slide+xml"/>
  <Override PartName="/ppt/media/image96.jpeg" ContentType="image/jpeg"/>
  <Override PartName="/ppt/slides/slide193.xml" ContentType="application/vnd.openxmlformats-officedocument.presentationml.slide+xml"/>
  <Override PartName="/ppt/slides/slide22.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62.xml" ContentType="application/vnd.openxmlformats-officedocument.presentationml.slide+xml"/>
  <Override PartName="/ppt/slides/slide75.xml" ContentType="application/vnd.openxmlformats-officedocument.presentationml.slide+xml"/>
  <Override PartName="/ppt/slides/slide9.xml" ContentType="application/vnd.openxmlformats-officedocument.presentationml.slide+xml"/>
  <Override PartName="/ppt/slides/slide144.xml" ContentType="application/vnd.openxmlformats-officedocument.presentationml.slide+xml"/>
  <Override PartName="/ppt/theme/theme1.xml" ContentType="application/vnd.openxmlformats-officedocument.theme+xml"/>
  <Override PartName="/ppt/media/image24.jpeg" ContentType="image/jpeg"/>
  <Override PartName="/ppt/slides/slide171.xml" ContentType="application/vnd.openxmlformats-officedocument.presentationml.slide+xml"/>
  <Override PartName="/ppt/media/image32.jpeg" ContentType="image/jpeg"/>
  <Override PartName="/ppt/slides/slide211.xml" ContentType="application/vnd.openxmlformats-officedocument.presentationml.slide+xml"/>
  <Override PartName="/ppt/media/image7.jpeg" ContentType="image/jpeg"/>
  <Override PartName="/ppt/slides/slide3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0.xml" ContentType="application/vnd.openxmlformats-officedocument.presentationml.slide+xml"/>
  <Override PartName="/ppt/slides/slide225.xml" ContentType="application/vnd.openxmlformats-officedocument.presentationml.slide+xml"/>
  <Override PartName="/ppt/tags/tag26.xml" ContentType="application/vnd.openxmlformats-officedocument.presentationml.tags+xml"/>
  <Override PartName="/ppt/slides/slide232.xml" ContentType="application/vnd.openxmlformats-officedocument.presentationml.slide+xml"/>
  <Override PartName="/ppt/slides/slide41.xml" ContentType="application/vnd.openxmlformats-officedocument.presentationml.slide+xml"/>
  <Override PartName="/ppt/media/image52.png" ContentType="image/png"/>
  <Override PartName="/ppt/slides/slide126.xml" ContentType="application/vnd.openxmlformats-officedocument.presentationml.slide+xml"/>
  <Override PartName="/ppt/slides/slide3.xml" ContentType="application/vnd.openxmlformats-officedocument.presentationml.slide+xml"/>
  <Override PartName="/ppt/slides/slide146.xml" ContentType="application/vnd.openxmlformats-officedocument.presentationml.slide+xml"/>
  <Override PartName="/ppt/slides/slide99.xml" ContentType="application/vnd.openxmlformats-officedocument.presentationml.slide+xml"/>
  <Override PartName="/ppt/slides/slide167.xml" ContentType="application/vnd.openxmlformats-officedocument.presentationml.slide+xml"/>
  <Override PartName="/ppt/media/image106.jpeg" ContentType="image/jpeg"/>
  <Override PartName="/ppt/slides/slide14.xml" ContentType="application/vnd.openxmlformats-officedocument.presentationml.slide+xml"/>
  <Override PartName="/ppt/slides/slide95.xml" ContentType="application/vnd.openxmlformats-officedocument.presentationml.slide+xml"/>
  <Override PartName="/ppt/media/image40.jpeg" ContentType="image/jpeg"/>
  <Override PartName="/ppt/slides/slide209.xml" ContentType="application/vnd.openxmlformats-officedocument.presentationml.slide+xml"/>
  <Override PartName="/ppt/slides/slide17.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212.xml" ContentType="application/vnd.openxmlformats-officedocument.presentationml.slide+xml"/>
  <Override PartName="/ppt/slides/slide18.xml" ContentType="application/vnd.openxmlformats-officedocument.presentationml.slide+xml"/>
  <Override PartName="/ppt/slides/slide52.xml" ContentType="application/vnd.openxmlformats-officedocument.presentationml.slide+xml"/>
  <Override PartName="/ppt/slides/slide65.xml" ContentType="application/vnd.openxmlformats-officedocument.presentationml.slide+xml"/>
  <Override PartName="/ppt/slides/slide20.xml" ContentType="application/vnd.openxmlformats-officedocument.presentationml.slide+xml"/>
  <Override PartName="/ppt/slides/slide88.xml" ContentType="application/vnd.openxmlformats-officedocument.presentationml.slide+xml"/>
  <Override PartName="/ppt/slides/slide27.xml" ContentType="application/vnd.openxmlformats-officedocument.presentationml.slide+xml"/>
  <Override PartName="/ppt/slides/slide23.xml" ContentType="application/vnd.openxmlformats-officedocument.presentationml.slide+xml"/>
  <Override PartName="/ppt/media/image99.png" ContentType="image/png"/>
  <Override PartName="/ppt/slides/slide234.xml" ContentType="application/vnd.openxmlformats-officedocument.presentationml.slide+xml"/>
  <Override PartName="/ppt/media/image104.jpeg" ContentType="image/jpeg"/>
  <Override PartName="/ppt/slides/slide139.xml" ContentType="application/vnd.openxmlformats-officedocument.presentationml.slide+xml"/>
  <Override PartName="/ppt/slides/slide29.xml" ContentType="application/vnd.openxmlformats-officedocument.presentationml.slide+xml"/>
  <Override PartName="/ppt/slides/slide45.xml" ContentType="application/vnd.openxmlformats-officedocument.presentationml.slide+xml"/>
  <Override PartName="/ppt/slides/slide30.xml" ContentType="application/vnd.openxmlformats-officedocument.presentationml.slide+xml"/>
  <Override PartName="/ppt/slides/slide79.xml" ContentType="application/vnd.openxmlformats-officedocument.presentationml.slide+xml"/>
  <Override PartName="/ppt/slides/slide110.xml" ContentType="application/vnd.openxmlformats-officedocument.presentationml.slide+xml"/>
  <Override PartName="/ppt/slides/slide76.xml" ContentType="application/vnd.openxmlformats-officedocument.presentationml.slide+xml"/>
  <Override PartName="/ppt/slides/slide86.xml" ContentType="application/vnd.openxmlformats-officedocument.presentationml.slide+xml"/>
  <Override PartName="/ppt/slides/slide215.xml" ContentType="application/vnd.openxmlformats-officedocument.presentationml.slide+xml"/>
  <Override PartName="/ppt/slides/slide163.xml" ContentType="application/vnd.openxmlformats-officedocument.presentationml.slide+xml"/>
  <Override PartName="/ppt/slides/slide5.xml" ContentType="application/vnd.openxmlformats-officedocument.presentationml.slide+xml"/>
  <Override PartName="/ppt/media/image44.jpeg" ContentType="image/jpeg"/>
  <Override PartName="/ppt/slides/slide179.xml" ContentType="application/vnd.openxmlformats-officedocument.presentationml.slide+xml"/>
  <Override PartName="/ppt/tableStyles.xml" ContentType="application/vnd.openxmlformats-officedocument.presentationml.tableStyles+xml"/>
  <Override PartName="/ppt/slides/slide97.xml" ContentType="application/vnd.openxmlformats-officedocument.presentationml.slide+xml"/>
  <Override PartName="/ppt/slides/slide133.xml" ContentType="application/vnd.openxmlformats-officedocument.presentationml.slide+xml"/>
  <Override PartName="/ppt/slides/slide178.xml" ContentType="application/vnd.openxmlformats-officedocument.presentationml.slide+xml"/>
  <Override PartName="/ppt/slides/slide94.xml" ContentType="application/vnd.openxmlformats-officedocument.presentationml.slide+xml"/>
  <Override PartName="/ppt/slides/slide43.xml" ContentType="application/vnd.openxmlformats-officedocument.presentationml.slide+xml"/>
  <Override PartName="/ppt/slideLayouts/slideLayout17.xml" ContentType="application/vnd.openxmlformats-officedocument.presentationml.slideLayout+xml"/>
  <Override PartName="/ppt/slides/slide69.xml" ContentType="application/vnd.openxmlformats-officedocument.presentationml.slide+xml"/>
  <Override PartName="/ppt/slides/slide54.xml" ContentType="application/vnd.openxmlformats-officedocument.presentationml.slide+xml"/>
  <Override PartName="/ppt/slides/slide59.xml" ContentType="application/vnd.openxmlformats-officedocument.presentationml.slide+xml"/>
  <Override PartName="/ppt/slides/slide261.xml" ContentType="application/vnd.openxmlformats-officedocument.presentationml.slide+xml"/>
  <Override PartName="/ppt/slides/slide93.xml" ContentType="application/vnd.openxmlformats-officedocument.presentationml.slide+xml"/>
  <Override PartName="/ppt/slides/slide131.xml" ContentType="application/vnd.openxmlformats-officedocument.presentationml.slide+xml"/>
  <Override PartName="/ppt/tags/tag2.xml" ContentType="application/vnd.openxmlformats-officedocument.presentationml.tags+xml"/>
  <Override PartName="/ppt/slides/slide182.xml" ContentType="application/vnd.openxmlformats-officedocument.presentationml.slide+xml"/>
  <Override PartName="/ppt/slides/slide96.xml" ContentType="application/vnd.openxmlformats-officedocument.presentationml.slide+xml"/>
  <Override PartName="/ppt/slides/slide74.xml" ContentType="application/vnd.openxmlformats-officedocument.presentationml.slide+xml"/>
  <Override PartName="/ppt/slides/slide243.xml" ContentType="application/vnd.openxmlformats-officedocument.presentationml.slide+xml"/>
  <Override PartName="/ppt/slides/slide117.xml" ContentType="application/vnd.openxmlformats-officedocument.presentationml.slide+xml"/>
  <Override PartName="/ppt/slides/slide51.xml" ContentType="application/vnd.openxmlformats-officedocument.presentationml.slide+xml"/>
  <Override PartName="/ppt/slides/slide42.xml" ContentType="application/vnd.openxmlformats-officedocument.presentationml.slide+xml"/>
  <Override PartName="/ppt/slides/slide170.xml" ContentType="application/vnd.openxmlformats-officedocument.presentationml.slide+xml"/>
  <Override PartName="/ppt/slides/slide8.xml" ContentType="application/vnd.openxmlformats-officedocument.presentationml.slide+xml"/>
  <Override PartName="/ppt/slides/slide56.xml" ContentType="application/vnd.openxmlformats-officedocument.presentationml.slide+xml"/>
  <Override PartName="/ppt/slides/slide87.xml" ContentType="application/vnd.openxmlformats-officedocument.presentationml.slide+xml"/>
  <Override PartName="/ppt/slides/slide206.xml" ContentType="application/vnd.openxmlformats-officedocument.presentationml.slide+xml"/>
  <Override PartName="/ppt/slides/slide138.xml" ContentType="application/vnd.openxmlformats-officedocument.presentationml.slide+xml"/>
  <Override PartName="/ppt/media/image42.jpeg" ContentType="image/jpeg"/>
  <Override PartName="/ppt/slides/slide47.xml" ContentType="application/vnd.openxmlformats-officedocument.presentationml.slide+xml"/>
  <Override PartName="/ppt/slides/slide152.xml" ContentType="application/vnd.openxmlformats-officedocument.presentationml.slide+xml"/>
  <Override PartName="/ppt/media/image5.jpeg" ContentType="image/jpeg"/>
  <Override PartName="/ppt/slides/slide248.xml" ContentType="application/vnd.openxmlformats-officedocument.presentationml.slide+xml"/>
  <Override PartName="/ppt/slides/slide7.xml" ContentType="application/vnd.openxmlformats-officedocument.presentationml.slide+xml"/>
  <Override PartName="/ppt/slides/slide64.xml" ContentType="application/vnd.openxmlformats-officedocument.presentationml.slide+xml"/>
  <Override PartName="/ppt/slides/slide119.xml" ContentType="application/vnd.openxmlformats-officedocument.presentationml.slide+xml"/>
  <Override PartName="/ppt/media/image57.jpeg" ContentType="image/jpeg"/>
  <Override PartName="/ppt/slideMasters/slideMaster1.xml" ContentType="application/vnd.openxmlformats-officedocument.presentationml.slideMaster+xml"/>
  <Override PartName="/ppt/slides/slide58.xml" ContentType="application/vnd.openxmlformats-officedocument.presentationml.slide+xml"/>
  <Override PartName="/ppt/tags/tag22.xml" ContentType="application/vnd.openxmlformats-officedocument.presentationml.tags+xml"/>
  <Override PartName="/ppt/media/image31.png" ContentType="image/png"/>
  <Override PartName="/ppt/notesSlides/notesSlide14.xml" ContentType="application/vnd.openxmlformats-officedocument.presentationml.notesSlide+xml"/>
  <Override PartName="/ppt/slides/slide67.xml" ContentType="application/vnd.openxmlformats-officedocument.presentationml.slide+xml"/>
  <Override PartName="/ppt/slides/slide13.xml" ContentType="application/vnd.openxmlformats-officedocument.presentationml.slide+xml"/>
  <Override PartName="/ppt/media/image36.jpeg" ContentType="image/jpeg"/>
  <Override PartName="/ppt/media/image20.jpeg" ContentType="image/jpeg"/>
  <Override PartName="/ppt/tags/tag23.xml" ContentType="application/vnd.openxmlformats-officedocument.presentationml.tags+xml"/>
  <Override PartName="/ppt/media/image53.jpeg" ContentType="image/jpeg"/>
  <Override PartName="/ppt/viewProps.xml" ContentType="application/vnd.openxmlformats-officedocument.presentationml.viewProps+xml"/>
  <Override PartName="/ppt/media/image21.png" ContentType="image/png"/>
  <Override PartName="/ppt/slides/slide118.xml" ContentType="application/vnd.openxmlformats-officedocument.presentationml.slide+xml"/>
  <Override PartName="/ppt/media/image50.png" ContentType="image/png"/>
  <Override PartName="/ppt/slides/slide82.xml" ContentType="application/vnd.openxmlformats-officedocument.presentationml.slide+xml"/>
  <Override PartName="/ppt/slides/slide66.xml" ContentType="application/vnd.openxmlformats-officedocument.presentationml.slide+xml"/>
  <Override PartName="/ppt/slides/slide71.xml" ContentType="application/vnd.openxmlformats-officedocument.presentationml.slide+xml"/>
  <Override PartName="/ppt/slides/slide16.xml" ContentType="application/vnd.openxmlformats-officedocument.presentationml.slide+xml"/>
  <Override PartName="/ppt/handoutMasters/handoutMaster1.xml" ContentType="application/vnd.openxmlformats-officedocument.presentationml.handoutMaster+xml"/>
  <Override PartName="/ppt/slides/slide109.xml" ContentType="application/vnd.openxmlformats-officedocument.presentationml.slide+xml"/>
  <Override PartName="/ppt/tags/tag27.xml" ContentType="application/vnd.openxmlformats-officedocument.presentationml.tags+xml"/>
  <Override PartName="/ppt/slides/slide186.xml" ContentType="application/vnd.openxmlformats-officedocument.presentationml.slide+xml"/>
  <Override PartName="/ppt/slides/slide1.xml" ContentType="application/vnd.openxmlformats-officedocument.presentationml.slide+xml"/>
  <Override PartName="/ppt/slides/slide104.xml" ContentType="application/vnd.openxmlformats-officedocument.presentationml.slide+xml"/>
  <Override PartName="/ppt/media/image23.jpeg" ContentType="image/jpeg"/>
  <Override PartName="/ppt/slides/slide73.xml" ContentType="application/vnd.openxmlformats-officedocument.presentationml.slide+xml"/>
  <Override PartName="/ppt/slides/slide241.xml" ContentType="application/vnd.openxmlformats-officedocument.presentationml.slide+xml"/>
  <Override PartName="/ppt/slides/slide218.xml" ContentType="application/vnd.openxmlformats-officedocument.presentationml.slide+xml"/>
  <Override PartName="/ppt/slides/slide128.xml" ContentType="application/vnd.openxmlformats-officedocument.presentationml.slide+xml"/>
  <Override PartName="/ppt/slides/slide198.xml" ContentType="application/vnd.openxmlformats-officedocument.presentationml.slide+xml"/>
  <Override PartName="/ppt/slides/slide176.xml" ContentType="application/vnd.openxmlformats-officedocument.presentationml.slide+xml"/>
  <Override PartName="/ppt/slides/slide92.xml" ContentType="application/vnd.openxmlformats-officedocument.presentationml.slide+xml"/>
  <Override PartName="/ppt/media/image17.jpeg" ContentType="image/jpeg"/>
  <Override PartName="/ppt/slides/slide34.xml" ContentType="application/vnd.openxmlformats-officedocument.presentationml.slide+xml"/>
  <Override PartName="/ppt/media/image118.GIF" ContentType="image/gif"/>
  <Override PartName="/ppt/slides/slide169.xml" ContentType="application/vnd.openxmlformats-officedocument.presentationml.slide+xml"/>
  <Override PartName="/ppt/presProps.xml" ContentType="application/vnd.openxmlformats-officedocument.presentationml.presProps+xml"/>
  <Override PartName="/ppt/slides/slide149.xml" ContentType="application/vnd.openxmlformats-officedocument.presentationml.slide+xml"/>
  <Override PartName="/ppt/slides/slide107.xml" ContentType="application/vnd.openxmlformats-officedocument.presentationml.slide+xml"/>
  <Override PartName="/ppt/media/image26.jpeg" ContentType="image/jpeg"/>
  <Override PartName="/ppt/slideLayouts/slideLayout19.xml" ContentType="application/vnd.openxmlformats-officedocument.presentationml.slideLayout+xml"/>
  <Override PartName="/ppt/slides/slide89.xml" ContentType="application/vnd.openxmlformats-officedocument.presentationml.slide+xml"/>
  <Override PartName="/ppt/slides/slide91.xml" ContentType="application/vnd.openxmlformats-officedocument.presentationml.slide+xml"/>
  <Override PartName="/ppt/slides/slide25.xml" ContentType="application/vnd.openxmlformats-officedocument.presentationml.slide+xml"/>
  <Override PartName="/ppt/slides/slide134.xml" ContentType="application/vnd.openxmlformats-officedocument.presentationml.slide+xml"/>
  <Override PartName="/ppt/slides/slide166.xml" ContentType="application/vnd.openxmlformats-officedocument.presentationml.slide+xml"/>
  <Override PartName="/ppt/media/image94.jpeg" ContentType="image/jpeg"/>
  <Override PartName="/ppt/slides/slide101.xml" ContentType="application/vnd.openxmlformats-officedocument.presentationml.slide+xml"/>
  <Override PartName="/ppt/slides/slide236.xml" ContentType="application/vnd.openxmlformats-officedocument.presentationml.slide+xml"/>
  <Override PartName="/ppt/slides/slide103.xml" ContentType="application/vnd.openxmlformats-officedocument.presentationml.slide+xml"/>
  <Override PartName="/ppt/media/image76.jpeg" ContentType="image/jpeg"/>
  <Override PartName="/ppt/slides/slide61.xml" ContentType="application/vnd.openxmlformats-officedocument.presentationml.slide+xml"/>
  <Override PartName="/ppt/slides/slide111.xml" ContentType="application/vnd.openxmlformats-officedocument.presentationml.slide+xml"/>
  <Override PartName="/ppt/slides/slide4.xml" ContentType="application/vnd.openxmlformats-officedocument.presentationml.slide+xml"/>
  <Override PartName="/ppt/slides/slide197.xml" ContentType="application/vnd.openxmlformats-officedocument.presentationml.slide+xml"/>
  <Override PartName="/ppt/slides/slide70.xml" ContentType="application/vnd.openxmlformats-officedocument.presentationml.slide+xml"/>
  <Override PartName="/ppt/slides/slide145.xml" ContentType="application/vnd.openxmlformats-officedocument.presentationml.slide+xml"/>
  <Override PartName="/ppt/slides/slide124.xml" ContentType="application/vnd.openxmlformats-officedocument.presentationml.slide+xml"/>
  <Override PartName="/docProps/custom.xml" ContentType="application/vnd.openxmlformats-officedocument.custom-properties+xml"/>
  <Override PartName="/ppt/slides/slide257.xml" ContentType="application/vnd.openxmlformats-officedocument.presentationml.slide+xml"/>
  <Override PartName="/ppt/slideLayouts/slideLayout6.xml" ContentType="application/vnd.openxmlformats-officedocument.presentationml.slideLayout+xml"/>
  <Override PartName="/ppt/slides/slide136.xml" ContentType="application/vnd.openxmlformats-officedocument.presentationml.slide+xml"/>
  <Override PartName="/ppt/slides/slide26.xml" ContentType="application/vnd.openxmlformats-officedocument.presentationml.slide+xml"/>
  <Override PartName="/ppt/slides/slide205.xml" ContentType="application/vnd.openxmlformats-officedocument.presentationml.slide+xml"/>
  <Override PartName="/ppt/slides/slide28.xml" ContentType="application/vnd.openxmlformats-officedocument.presentationml.slide+xml"/>
  <Override PartName="/ppt/slides/slide175.xml" ContentType="application/vnd.openxmlformats-officedocument.presentationml.slide+xml"/>
  <Override PartName="/ppt/slides/slide78.xml" ContentType="application/vnd.openxmlformats-officedocument.presentationml.slide+xml"/>
  <Override PartName="/ppt/slideLayouts/slideLayout1.xml" ContentType="application/vnd.openxmlformats-officedocument.presentationml.slideLayout+xml"/>
  <Override PartName="/ppt/slides/slide181.xml" ContentType="application/vnd.openxmlformats-officedocument.presentationml.slide+xml"/>
  <Override PartName="/ppt/media/image45.png" ContentType="image/png"/>
  <Override PartName="/ppt/slides/slide127.xml" ContentType="application/vnd.openxmlformats-officedocument.presentationml.slide+xml"/>
  <Override PartName="/ppt/media/image54.jpeg" ContentType="image/jpeg"/>
  <Override PartName="/ppt/slides/slide154.xml" ContentType="application/vnd.openxmlformats-officedocument.presentationml.slide+xml"/>
  <Override PartName="/ppt/slideLayouts/slideLayout12.xml" ContentType="application/vnd.openxmlformats-officedocument.presentationml.slideLayout+xml"/>
  <Override PartName="/ppt/slides/slide53.xml" ContentType="application/vnd.openxmlformats-officedocument.presentationml.slide+xml"/>
  <Override PartName="/ppt/slides/slide244.xml" ContentType="application/vnd.openxmlformats-officedocument.presentationml.slide+xml"/>
  <Override PartName="/ppt/slides/slide80.xml" ContentType="application/vnd.openxmlformats-officedocument.presentationml.slide+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slides/slide113.xml" ContentType="application/vnd.openxmlformats-officedocument.presentationml.slide+xml"/>
  <Override PartName="/ppt/slides/slide105.xml" ContentType="application/vnd.openxmlformats-officedocument.presentationml.slide+xml"/>
  <Override PartName="/ppt/slides/slide219.xml" ContentType="application/vnd.openxmlformats-officedocument.presentationml.slide+xml"/>
  <Override PartName="/ppt/slides/slide155.xml" ContentType="application/vnd.openxmlformats-officedocument.presentationml.slide+xml"/>
  <Override PartName="/ppt/notesSlides/notesSlide16.xml" ContentType="application/vnd.openxmlformats-officedocument.presentationml.notesSlide+xml"/>
  <Override PartName="/ppt/tags/tag7.xml" ContentType="application/vnd.openxmlformats-officedocument.presentationml.tags+xml"/>
  <Override PartName="/ppt/slides/slide55.xml" ContentType="application/vnd.openxmlformats-officedocument.presentationml.slide+xml"/>
  <Override PartName="/ppt/slides/slide165.xml" ContentType="application/vnd.openxmlformats-officedocument.presentationml.slide+xml"/>
  <Override PartName="/ppt/slides/slide172.xml" ContentType="application/vnd.openxmlformats-officedocument.presentationml.slide+xml"/>
  <Override PartName="/ppt/slides/slide57.xml" ContentType="application/vnd.openxmlformats-officedocument.presentationml.slide+xml"/>
  <Override PartName="/ppt/slides/slide159.xml" ContentType="application/vnd.openxmlformats-officedocument.presentationml.slide+xml"/>
  <Override PartName="/ppt/media/image71.jpeg" ContentType="image/jpeg"/>
  <Override PartName="/ppt/slides/slide140.xml" ContentType="application/vnd.openxmlformats-officedocument.presentationml.slide+xml"/>
  <Override PartName="/ppt/slides/slide114.xml" ContentType="application/vnd.openxmlformats-officedocument.presentationml.slide+xml"/>
  <Override PartName="/ppt/slides/slide116.xml" ContentType="application/vnd.openxmlformats-officedocument.presentationml.slide+xml"/>
  <Override PartName="/ppt/media/image4.jpeg" ContentType="image/jpeg"/>
  <Override PartName="/ppt/slides/slide223.xml" ContentType="application/vnd.openxmlformats-officedocument.presentationml.slide+xml"/>
  <Override PartName="/ppt/slides/slide50.xml" ContentType="application/vnd.openxmlformats-officedocument.presentationml.slide+xml"/>
  <Override PartName="/ppt/slides/slide36.xml" ContentType="application/vnd.openxmlformats-officedocument.presentationml.slide+xml"/>
  <Override PartName="/ppt/media/image116.jpeg" ContentType="image/jpeg"/>
  <Override PartName="/ppt/slides/slide129.xml" ContentType="application/vnd.openxmlformats-officedocument.presentationml.slide+xml"/>
  <Override PartName="/ppt/slides/slide130.xml" ContentType="application/vnd.openxmlformats-officedocument.presentationml.slide+xml"/>
  <Override PartName="/ppt/slideMasters/slideMaster2.xml" ContentType="application/vnd.openxmlformats-officedocument.presentationml.slideMaster+xml"/>
  <Override PartName="/ppt/slides/slide231.xml" ContentType="application/vnd.openxmlformats-officedocument.presentationml.slide+xml"/>
  <Override PartName="/ppt/slides/slide49.xml" ContentType="application/vnd.openxmlformats-officedocument.presentationml.slide+xml"/>
  <Override PartName="/ppt/slides/slide85.xml" ContentType="application/vnd.openxmlformats-officedocument.presentationml.slide+xml"/>
  <Override PartName="/ppt/slides/slide148.xml" ContentType="application/vnd.openxmlformats-officedocument.presentationml.slide+xml"/>
  <Override PartName="/ppt/slides/slide35.xml" ContentType="application/vnd.openxmlformats-officedocument.presentationml.slide+xml"/>
  <Override PartName="/ppt/slides/slide208.xml" ContentType="application/vnd.openxmlformats-officedocument.presentationml.slide+xml"/>
  <Override PartName="/ppt/slides/slide240.xml" ContentType="application/vnd.openxmlformats-officedocument.presentationml.slide+xml"/>
  <Override PartName="/ppt/slides/slide204.xml" ContentType="application/vnd.openxmlformats-officedocument.presentationml.slide+xml"/>
  <Override PartName="/ppt/slides/slide142.xml" ContentType="application/vnd.openxmlformats-officedocument.presentationml.slide+xml"/>
  <Override PartName="/ppt/media/image13.jpeg" ContentType="image/jpeg"/>
  <Override PartName="/ppt/tags/tag29.xml" ContentType="application/vnd.openxmlformats-officedocument.presentationml.tags+xml"/>
  <Override PartName="/ppt/slides/slide143.xml" ContentType="application/vnd.openxmlformats-officedocument.presentationml.slide+xml"/>
  <Override PartName="/ppt/slides/slide153.xml" ContentType="application/vnd.openxmlformats-officedocument.presentationml.slide+xml"/>
  <Override PartName="/ppt/slides/slide156.xml" ContentType="application/vnd.openxmlformats-officedocument.presentationml.slide+xml"/>
  <Override PartName="/ppt/notesSlides/notesSlide2.xml" ContentType="application/vnd.openxmlformats-officedocument.presentationml.notesSlide+xml"/>
  <Override PartName="/ppt/slides/slide83.xml" ContentType="application/vnd.openxmlformats-officedocument.presentationml.slide+xml"/>
  <Override PartName="/ppt/slides/slide245.xml" ContentType="application/vnd.openxmlformats-officedocument.presentationml.slide+xml"/>
  <Override PartName="/ppt/tags/tag14.xml" ContentType="application/vnd.openxmlformats-officedocument.presentationml.tags+xml"/>
  <Override PartName="/ppt/notesSlides/notesSlide19.xml" ContentType="application/vnd.openxmlformats-officedocument.presentationml.notesSlide+xml"/>
  <Override PartName="/ppt/slides/slide157.xml" ContentType="application/vnd.openxmlformats-officedocument.presentationml.slide+xml"/>
  <Override PartName="/ppt/slides/slide185.xml" ContentType="application/vnd.openxmlformats-officedocument.presentationml.slide+xml"/>
  <Override PartName="/ppt/slideLayouts/slideLayout2.xml" ContentType="application/vnd.openxmlformats-officedocument.presentationml.slideLayout+xml"/>
  <Override PartName="/ppt/slides/slide123.xml" ContentType="application/vnd.openxmlformats-officedocument.presentationml.slide+xml"/>
  <Override PartName="/ppt/slides/slide31.xml" ContentType="application/vnd.openxmlformats-officedocument.presentationml.slide+xml"/>
  <Override PartName="/ppt/media/image70.jpeg" ContentType="image/jpeg"/>
  <Override PartName="/ppt/slides/slide195.xml" ContentType="application/vnd.openxmlformats-officedocument.presentationml.slide+xml"/>
  <Override PartName="/ppt/slides/slide44.xml" ContentType="application/vnd.openxmlformats-officedocument.presentationml.slide+xml"/>
  <Override PartName="/ppt/slides/slide2.xml" ContentType="application/vnd.openxmlformats-officedocument.presentationml.slide+xml"/>
  <Override PartName="/ppt/slides/slide210.xml" ContentType="application/vnd.openxmlformats-officedocument.presentationml.slide+xml"/>
  <Override PartName="/ppt/tags/tag20.xml" ContentType="application/vnd.openxmlformats-officedocument.presentationml.tags+xml"/>
  <Override PartName="/ppt/slides/slide21.xml" ContentType="application/vnd.openxmlformats-officedocument.presentationml.slide+xml"/>
  <Override PartName="/ppt/slides/slide162.xml" ContentType="application/vnd.openxmlformats-officedocument.presentationml.slide+xml"/>
  <Override PartName="/ppt/slides/slide161.xml" ContentType="application/vnd.openxmlformats-officedocument.presentationml.slide+xml"/>
  <Override PartName="/ppt/slides/slide173.xml" ContentType="application/vnd.openxmlformats-officedocument.presentationml.slide+xml"/>
  <Override PartName="/ppt/slides/slide24.xml" ContentType="application/vnd.openxmlformats-officedocument.presentationml.slide+xml"/>
  <Override PartName="/ppt/slides/slide106.xml" ContentType="application/vnd.openxmlformats-officedocument.presentationml.slide+xml"/>
  <Override PartName="/ppt/slides/slide19.xml" ContentType="application/vnd.openxmlformats-officedocument.presentationml.slide+xml"/>
  <Override PartName="/ppt/tags/tag1.xml" ContentType="application/vnd.openxmlformats-officedocument.presentationml.tags+xml"/>
  <Override PartName="/ppt/slides/slide251.xml" ContentType="application/vnd.openxmlformats-officedocument.presentationml.slide+xml"/>
  <Override PartName="/ppt/slides/slide177.xml" ContentType="application/vnd.openxmlformats-officedocument.presentationml.slide+xml"/>
  <Override PartName="/ppt/slides/slide256.xml" ContentType="application/vnd.openxmlformats-officedocument.presentationml.slide+xml"/>
  <Override PartName="/ppt/media/image28.jpeg" ContentType="image/jpeg"/>
  <Override PartName="/ppt/tags/tag4.xml" ContentType="application/vnd.openxmlformats-officedocument.presentationml.tags+xml"/>
  <Override PartName="/ppt/media/image89.jpeg" ContentType="image/jpeg"/>
  <Override PartName="/ppt/slideLayouts/slideLayout7.xml" ContentType="application/vnd.openxmlformats-officedocument.presentationml.slideLayout+xml"/>
  <Override PartName="/ppt/slides/slide183.xml" ContentType="application/vnd.openxmlformats-officedocument.presentationml.slide+xml"/>
  <Override PartName="/ppt/slides/slide32.xml" ContentType="application/vnd.openxmlformats-officedocument.presentationml.slide+xml"/>
  <Override PartName="/ppt/slides/slide121.xml" ContentType="application/vnd.openxmlformats-officedocument.presentationml.slide+xml"/>
  <Override PartName="/ppt/media/image19.jpeg" ContentType="image/jpeg"/>
  <Override PartName="/ppt/slides/slide77.xml" ContentType="application/vnd.openxmlformats-officedocument.presentationml.slide+xml"/>
  <Override PartName="/ppt/media/image78.png" ContentType="image/png"/>
  <Override PartName="/ppt/slides/slide48.xml" ContentType="application/vnd.openxmlformats-officedocument.presentationml.slide+xml"/>
  <Override PartName="/ppt/slides/slide254.xml" ContentType="application/vnd.openxmlformats-officedocument.presentationml.slide+xml"/>
  <Override PartName="/ppt/slideLayouts/slideLayout20.xml" ContentType="application/vnd.openxmlformats-officedocument.presentationml.slideLayout+xml"/>
  <Override PartName="/ppt/slides/slide228.xml" ContentType="application/vnd.openxmlformats-officedocument.presentationml.slide+xml"/>
  <Override PartName="/ppt/slides/slide141.xml" ContentType="application/vnd.openxmlformats-officedocument.presentationml.slide+xml"/>
  <Override PartName="/ppt/slides/slide174.xml" ContentType="application/vnd.openxmlformats-officedocument.presentationml.slide+xml"/>
  <Override PartName="/ppt/media/image85.jpeg" ContentType="image/jpeg"/>
  <Override PartName="/ppt/slides/slide250.xml" ContentType="application/vnd.openxmlformats-officedocument.presentationml.slide+xml"/>
  <Override PartName="/ppt/slides/slide137.xml" ContentType="application/vnd.openxmlformats-officedocument.presentationml.slide+xml"/>
  <Override PartName="/ppt/slides/slide200.xml" ContentType="application/vnd.openxmlformats-officedocument.presentationml.slide+xml"/>
  <Override PartName="/ppt/media/image112.jpeg" ContentType="image/jpeg"/>
  <Override PartName="/ppt/slides/slide187.xml" ContentType="application/vnd.openxmlformats-officedocument.presentationml.slide+xml"/>
  <Override PartName="/ppt/slides/slide63.xml" ContentType="application/vnd.openxmlformats-officedocument.presentationml.slide+xml"/>
  <Override PartName="/ppt/slides/slide12.xml" ContentType="application/vnd.openxmlformats-officedocument.presentationml.slide+xml"/>
  <Override PartName="/ppt/slides/slide98.xml" ContentType="application/vnd.openxmlformats-officedocument.presentationml.slide+xml"/>
  <Override PartName="/ppt/slides/slide81.xml" ContentType="application/vnd.openxmlformats-officedocument.presentationml.slide+xml"/>
  <Override PartName="/ppt/media/image27.jpeg" ContentType="image/jpeg"/>
  <Override PartName="/ppt/slides/slide192.xml" ContentType="application/vnd.openxmlformats-officedocument.presentationml.slide+xml"/>
  <Override PartName="/ppt/slides/slide147.xml" ContentType="application/vnd.openxmlformats-officedocument.presentationml.slide+xml"/>
  <Override PartName="/ppt/slides/slide199.xml" ContentType="application/vnd.openxmlformats-officedocument.presentationml.slide+xml"/>
  <Override PartName="/ppt/media/image60.jpeg" ContentType="image/jpeg"/>
  <Override PartName="/ppt/tags/tag10.xml" ContentType="application/vnd.openxmlformats-officedocument.presentationml.tags+xml"/>
  <Override PartName="/ppt/slides/slide258.xml" ContentType="application/vnd.openxmlformats-officedocument.presentationml.slide+xml"/>
  <Override PartName="/ppt/slides/slide202.xml" ContentType="application/vnd.openxmlformats-officedocument.presentationml.slide+xml"/>
  <Override PartName="/ppt/slides/slide207.xml" ContentType="application/vnd.openxmlformats-officedocument.presentationml.slide+xml"/>
  <Override PartName="/ppt/slides/slide230.xml" ContentType="application/vnd.openxmlformats-officedocument.presentationml.slide+xml"/>
  <Override PartName="/ppt/slides/slide214.xml" ContentType="application/vnd.openxmlformats-officedocument.presentationml.slide+xml"/>
  <Override PartName="/ppt/slides/slide224.xml" ContentType="application/vnd.openxmlformats-officedocument.presentationml.slide+xml"/>
  <Override PartName="/ppt/slides/slide259.xml" ContentType="application/vnd.openxmlformats-officedocument.presentationml.slide+xml"/>
  <Override PartName="/ppt/slides/slide194.xml" ContentType="application/vnd.openxmlformats-officedocument.presentationml.slide+xml"/>
  <Override PartName="/ppt/slides/slide196.xml" ContentType="application/vnd.openxmlformats-officedocument.presentationml.slide+xml"/>
  <Override PartName="/ppt/slides/slide247.xml" ContentType="application/vnd.openxmlformats-officedocument.presentationml.slide+xml"/>
  <Override PartName="/ppt/slides/slide217.xml" ContentType="application/vnd.openxmlformats-officedocument.presentationml.slide+xml"/>
  <Override PartName="/ppt/slides/slide60.xml" ContentType="application/vnd.openxmlformats-officedocument.presentationml.slide+xml"/>
  <Override PartName="/ppt/slides/slide238.xml" ContentType="application/vnd.openxmlformats-officedocument.presentationml.slide+xml"/>
  <Override PartName="/ppt/slides/slide201.xml" ContentType="application/vnd.openxmlformats-officedocument.presentationml.slide+xml"/>
  <Override PartName="/ppt/media/image101.jpeg" ContentType="image/jpeg"/>
  <Override PartName="/ppt/media/image2.jpeg" ContentType="image/jpeg"/>
  <Override PartName="/ppt/media/image88.jpeg" ContentType="image/jpeg"/>
  <Override PartName="/ppt/slides/slide72.xml" ContentType="application/vnd.openxmlformats-officedocument.presentationml.slide+xml"/>
  <Override PartName="/ppt/slides/slide203.xml" ContentType="application/vnd.openxmlformats-officedocument.presentationml.slide+xml"/>
  <Override PartName="/ppt/slides/slide220.xml" ContentType="application/vnd.openxmlformats-officedocument.presentationml.slide+xml"/>
  <Override PartName="/ppt/slides/slide246.xml" ContentType="application/vnd.openxmlformats-officedocument.presentationml.slide+xml"/>
  <Override PartName="/ppt/notesSlides/notesSlide6.xml" ContentType="application/vnd.openxmlformats-officedocument.presentationml.notesSlide+xml"/>
  <Override PartName="/ppt/slides/slide191.xml" ContentType="application/vnd.openxmlformats-officedocument.presentationml.slide+xml"/>
  <Override PartName="/ppt/slides/slide46.xml" ContentType="application/vnd.openxmlformats-officedocument.presentationml.slide+xml"/>
  <Override PartName="/ppt/slides/slide255.xml" ContentType="application/vnd.openxmlformats-officedocument.presentationml.slide+xml"/>
  <Override PartName="/ppt/slides/slide122.xml" ContentType="application/vnd.openxmlformats-officedocument.presentationml.slide+xml"/>
  <Override PartName="/ppt/slides/slide229.xml" ContentType="application/vnd.openxmlformats-officedocument.presentationml.slide+xml"/>
  <Override PartName="/ppt/media/image69.jpeg" ContentType="image/jpeg"/>
  <Override PartName="/ppt/slides/slide90.xml" ContentType="application/vnd.openxmlformats-officedocument.presentationml.slide+xml"/>
  <Override PartName="/ppt/slides/slide190.xml" ContentType="application/vnd.openxmlformats-officedocument.presentationml.slide+xml"/>
  <Override PartName="/ppt/slides/slide226.xml" ContentType="application/vnd.openxmlformats-officedocument.presentationml.slide+xml"/>
  <Override PartName="/ppt/slides/slide115.xml" ContentType="application/vnd.openxmlformats-officedocument.presentationml.slide+xml"/>
  <Override PartName="/ppt/media/image64.jpeg" ContentType="image/jpeg"/>
  <Override PartName="/ppt/slides/slide15.xml" ContentType="application/vnd.openxmlformats-officedocument.presentationml.slide+xml"/>
  <Override PartName="/ppt/slides/slide222.xml" ContentType="application/vnd.openxmlformats-officedocument.presentationml.slide+xml"/>
  <Override PartName="/ppt/media/image65.jpeg" ContentType="image/jpeg"/>
  <Override PartName="/ppt/slides/slide235.xml" ContentType="application/vnd.openxmlformats-officedocument.presentationml.slide+xml"/>
  <Override PartName="/ppt/slides/slide216.xml" ContentType="application/vnd.openxmlformats-officedocument.presentationml.slide+xml"/>
  <Override PartName="/ppt/tags/tag12.xml" ContentType="application/vnd.openxmlformats-officedocument.presentationml.tags+xml"/>
  <Override PartName="/ppt/tags/tag8.xml" ContentType="application/vnd.openxmlformats-officedocument.presentationml.tags+xml"/>
  <Override PartName="/ppt/slides/slide239.xml" ContentType="application/vnd.openxmlformats-officedocument.presentationml.slide+xml"/>
  <Override PartName="/ppt/slides/slide158.xml" ContentType="application/vnd.openxmlformats-officedocument.presentationml.slide+xml"/>
  <Override PartName="/ppt/slides/slide84.xml" ContentType="application/vnd.openxmlformats-officedocument.presentationml.slide+xml"/>
  <Override PartName="/ppt/media/image8.jpeg" ContentType="image/jpeg"/>
  <Override PartName="/ppt/slides/slide132.xml" ContentType="application/vnd.openxmlformats-officedocument.presentationml.slide+xml"/>
  <Override PartName="/ppt/slides/slide249.xml" ContentType="application/vnd.openxmlformats-officedocument.presentationml.slide+xml"/>
  <Override PartName="/ppt/notesSlides/notesSlide11.xml" ContentType="application/vnd.openxmlformats-officedocument.presentationml.notesSlide+xml"/>
  <Override PartName="/ppt/slides/slide135.xml" ContentType="application/vnd.openxmlformats-officedocument.presentationml.slide+xml"/>
  <Override PartName="/ppt/slides/slide253.xml" ContentType="application/vnd.openxmlformats-officedocument.presentationml.slide+xml"/>
  <Override PartName="/ppt/slides/slide260.xml" ContentType="application/vnd.openxmlformats-officedocument.presentationml.slide+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1" Type="http://schemas.openxmlformats.org/package/2006/relationships/metadata/core-properties" Target="docProps/core.xml" /><Relationship Id="rId2" Type="http://schemas.openxmlformats.org/officeDocument/2006/relationships/extended-properties" Target="docProps/app.xml" /><Relationship Id="rId0" Type="http://schemas.openxmlformats.org/officeDocument/2006/relationships/officeDocument" Target="ppt/presentation.xml" /></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3"/>
    <p:sldMasterId id="2147483660" r:id="rId1"/>
  </p:sldMasterIdLst>
  <p:handoutMasterIdLst>
    <p:handoutMasterId r:id="rId267"/>
  </p:handoutMasterIdLst>
  <p:notesMasterIdLst>
    <p:notesMasterId r:id="rId5"/>
  </p:notesMasterIdLst>
  <p:sldIdLst>
    <p:sldId id="317" r:id="rId4"/>
    <p:sldId id="479" r:id="rId6"/>
    <p:sldId id="268" r:id="rId7"/>
    <p:sldId id="314" r:id="rId8"/>
    <p:sldId id="315" r:id="rId9"/>
    <p:sldId id="318" r:id="rId10"/>
    <p:sldId id="324" r:id="rId11"/>
    <p:sldId id="275" r:id="rId12"/>
    <p:sldId id="332" r:id="rId13"/>
    <p:sldId id="330" r:id="rId14"/>
    <p:sldId id="331" r:id="rId15"/>
    <p:sldId id="316" r:id="rId16"/>
    <p:sldId id="334" r:id="rId17"/>
    <p:sldId id="335" r:id="rId18"/>
    <p:sldId id="336" r:id="rId19"/>
    <p:sldId id="337" r:id="rId20"/>
    <p:sldId id="338" r:id="rId21"/>
    <p:sldId id="339" r:id="rId22"/>
    <p:sldId id="340" r:id="rId23"/>
    <p:sldId id="341" r:id="rId24"/>
    <p:sldId id="342" r:id="rId25"/>
    <p:sldId id="343" r:id="rId26"/>
    <p:sldId id="276" r:id="rId27"/>
    <p:sldId id="277" r:id="rId28"/>
    <p:sldId id="278" r:id="rId29"/>
    <p:sldId id="297" r:id="rId30"/>
    <p:sldId id="319" r:id="rId31"/>
    <p:sldId id="320" r:id="rId32"/>
    <p:sldId id="622" r:id="rId33"/>
    <p:sldId id="321" r:id="rId34"/>
    <p:sldId id="325" r:id="rId35"/>
    <p:sldId id="326" r:id="rId36"/>
    <p:sldId id="327" r:id="rId37"/>
    <p:sldId id="328" r:id="rId38"/>
    <p:sldId id="329" r:id="rId39"/>
    <p:sldId id="344" r:id="rId40"/>
    <p:sldId id="350" r:id="rId41"/>
    <p:sldId id="351" r:id="rId42"/>
    <p:sldId id="352" r:id="rId43"/>
    <p:sldId id="353" r:id="rId44"/>
    <p:sldId id="354" r:id="rId45"/>
    <p:sldId id="355" r:id="rId46"/>
    <p:sldId id="356" r:id="rId47"/>
    <p:sldId id="357" r:id="rId48"/>
    <p:sldId id="358" r:id="rId49"/>
    <p:sldId id="618" r:id="rId50"/>
    <p:sldId id="359" r:id="rId51"/>
    <p:sldId id="619" r:id="rId52"/>
    <p:sldId id="620" r:id="rId53"/>
    <p:sldId id="360" r:id="rId54"/>
    <p:sldId id="621" r:id="rId55"/>
    <p:sldId id="361" r:id="rId56"/>
    <p:sldId id="362" r:id="rId57"/>
    <p:sldId id="363" r:id="rId58"/>
    <p:sldId id="364" r:id="rId59"/>
    <p:sldId id="371" r:id="rId60"/>
    <p:sldId id="365" r:id="rId61"/>
    <p:sldId id="366" r:id="rId62"/>
    <p:sldId id="367" r:id="rId63"/>
    <p:sldId id="368" r:id="rId64"/>
    <p:sldId id="376" r:id="rId65"/>
    <p:sldId id="369" r:id="rId66"/>
    <p:sldId id="370" r:id="rId67"/>
    <p:sldId id="485" r:id="rId68"/>
    <p:sldId id="486" r:id="rId69"/>
    <p:sldId id="623" r:id="rId70"/>
    <p:sldId id="624" r:id="rId71"/>
    <p:sldId id="487" r:id="rId72"/>
    <p:sldId id="372" r:id="rId73"/>
    <p:sldId id="628" r:id="rId74"/>
    <p:sldId id="373" r:id="rId75"/>
    <p:sldId id="374" r:id="rId76"/>
    <p:sldId id="377" r:id="rId77"/>
    <p:sldId id="627" r:id="rId78"/>
    <p:sldId id="375" r:id="rId79"/>
    <p:sldId id="378" r:id="rId80"/>
    <p:sldId id="625" r:id="rId81"/>
    <p:sldId id="421" r:id="rId82"/>
    <p:sldId id="422" r:id="rId83"/>
    <p:sldId id="423" r:id="rId84"/>
    <p:sldId id="626" r:id="rId85"/>
    <p:sldId id="379" r:id="rId86"/>
    <p:sldId id="380" r:id="rId87"/>
    <p:sldId id="381" r:id="rId88"/>
    <p:sldId id="382" r:id="rId89"/>
    <p:sldId id="383" r:id="rId90"/>
    <p:sldId id="385" r:id="rId91"/>
    <p:sldId id="507" r:id="rId92"/>
    <p:sldId id="488" r:id="rId93"/>
    <p:sldId id="386" r:id="rId94"/>
    <p:sldId id="489" r:id="rId95"/>
    <p:sldId id="490" r:id="rId96"/>
    <p:sldId id="388" r:id="rId97"/>
    <p:sldId id="483" r:id="rId98"/>
    <p:sldId id="484" r:id="rId99"/>
    <p:sldId id="389" r:id="rId100"/>
    <p:sldId id="390" r:id="rId101"/>
    <p:sldId id="391" r:id="rId102"/>
    <p:sldId id="392" r:id="rId103"/>
    <p:sldId id="393" r:id="rId104"/>
    <p:sldId id="403" r:id="rId105"/>
    <p:sldId id="404" r:id="rId106"/>
    <p:sldId id="405" r:id="rId107"/>
    <p:sldId id="408" r:id="rId108"/>
    <p:sldId id="406" r:id="rId109"/>
    <p:sldId id="407" r:id="rId110"/>
    <p:sldId id="409" r:id="rId111"/>
    <p:sldId id="410" r:id="rId112"/>
    <p:sldId id="411" r:id="rId113"/>
    <p:sldId id="412" r:id="rId114"/>
    <p:sldId id="413" r:id="rId115"/>
    <p:sldId id="497" r:id="rId116"/>
    <p:sldId id="498" r:id="rId117"/>
    <p:sldId id="499" r:id="rId118"/>
    <p:sldId id="504" r:id="rId119"/>
    <p:sldId id="505" r:id="rId120"/>
    <p:sldId id="506" r:id="rId121"/>
    <p:sldId id="414" r:id="rId122"/>
    <p:sldId id="416" r:id="rId123"/>
    <p:sldId id="508" r:id="rId124"/>
    <p:sldId id="417" r:id="rId125"/>
    <p:sldId id="418" r:id="rId126"/>
    <p:sldId id="509" r:id="rId127"/>
    <p:sldId id="480" r:id="rId128"/>
    <p:sldId id="419" r:id="rId129"/>
    <p:sldId id="420" r:id="rId130"/>
    <p:sldId id="491" r:id="rId131"/>
    <p:sldId id="513" r:id="rId132"/>
    <p:sldId id="512" r:id="rId133"/>
    <p:sldId id="511" r:id="rId134"/>
    <p:sldId id="424" r:id="rId135"/>
    <p:sldId id="492" r:id="rId136"/>
    <p:sldId id="425" r:id="rId137"/>
    <p:sldId id="493" r:id="rId138"/>
    <p:sldId id="426" r:id="rId139"/>
    <p:sldId id="494" r:id="rId140"/>
    <p:sldId id="427" r:id="rId141"/>
    <p:sldId id="495" r:id="rId142"/>
    <p:sldId id="428" r:id="rId143"/>
    <p:sldId id="496" r:id="rId144"/>
    <p:sldId id="429" r:id="rId145"/>
    <p:sldId id="510" r:id="rId146"/>
    <p:sldId id="430" r:id="rId147"/>
    <p:sldId id="431" r:id="rId148"/>
    <p:sldId id="432" r:id="rId149"/>
    <p:sldId id="433" r:id="rId150"/>
    <p:sldId id="434" r:id="rId151"/>
    <p:sldId id="435" r:id="rId152"/>
    <p:sldId id="436" r:id="rId153"/>
    <p:sldId id="437" r:id="rId154"/>
    <p:sldId id="503" r:id="rId155"/>
    <p:sldId id="438" r:id="rId156"/>
    <p:sldId id="501" r:id="rId157"/>
    <p:sldId id="502" r:id="rId158"/>
    <p:sldId id="500" r:id="rId159"/>
    <p:sldId id="439" r:id="rId160"/>
    <p:sldId id="440" r:id="rId161"/>
    <p:sldId id="441" r:id="rId162"/>
    <p:sldId id="442" r:id="rId163"/>
    <p:sldId id="443" r:id="rId164"/>
    <p:sldId id="444" r:id="rId165"/>
    <p:sldId id="445" r:id="rId166"/>
    <p:sldId id="446" r:id="rId167"/>
    <p:sldId id="447" r:id="rId168"/>
    <p:sldId id="448" r:id="rId169"/>
    <p:sldId id="449" r:id="rId170"/>
    <p:sldId id="450" r:id="rId171"/>
    <p:sldId id="451" r:id="rId172"/>
    <p:sldId id="452" r:id="rId173"/>
    <p:sldId id="453" r:id="rId174"/>
    <p:sldId id="454" r:id="rId175"/>
    <p:sldId id="455" r:id="rId176"/>
    <p:sldId id="456" r:id="rId177"/>
    <p:sldId id="457" r:id="rId178"/>
    <p:sldId id="458" r:id="rId179"/>
    <p:sldId id="459" r:id="rId180"/>
    <p:sldId id="460" r:id="rId181"/>
    <p:sldId id="461" r:id="rId182"/>
    <p:sldId id="462" r:id="rId183"/>
    <p:sldId id="475" r:id="rId184"/>
    <p:sldId id="476" r:id="rId185"/>
    <p:sldId id="477" r:id="rId186"/>
    <p:sldId id="514" r:id="rId187"/>
    <p:sldId id="515" r:id="rId188"/>
    <p:sldId id="478" r:id="rId189"/>
    <p:sldId id="516" r:id="rId190"/>
    <p:sldId id="517" r:id="rId191"/>
    <p:sldId id="518" r:id="rId192"/>
    <p:sldId id="519" r:id="rId193"/>
    <p:sldId id="520" r:id="rId194"/>
    <p:sldId id="521" r:id="rId195"/>
    <p:sldId id="522" r:id="rId196"/>
    <p:sldId id="523" r:id="rId197"/>
    <p:sldId id="524" r:id="rId198"/>
    <p:sldId id="525" r:id="rId199"/>
    <p:sldId id="526" r:id="rId200"/>
    <p:sldId id="527" r:id="rId201"/>
    <p:sldId id="528" r:id="rId202"/>
    <p:sldId id="529" r:id="rId203"/>
    <p:sldId id="346" r:id="rId204"/>
    <p:sldId id="473" r:id="rId205"/>
    <p:sldId id="474" r:id="rId206"/>
    <p:sldId id="472" r:id="rId207"/>
    <p:sldId id="464" r:id="rId208"/>
    <p:sldId id="465" r:id="rId209"/>
    <p:sldId id="466" r:id="rId210"/>
    <p:sldId id="467" r:id="rId211"/>
    <p:sldId id="468" r:id="rId212"/>
    <p:sldId id="469" r:id="rId213"/>
    <p:sldId id="470" r:id="rId214"/>
    <p:sldId id="471" r:id="rId215"/>
    <p:sldId id="347" r:id="rId216"/>
    <p:sldId id="463" r:id="rId217"/>
    <p:sldId id="279" r:id="rId218"/>
    <p:sldId id="280" r:id="rId219"/>
    <p:sldId id="281" r:id="rId220"/>
    <p:sldId id="306" r:id="rId221"/>
    <p:sldId id="313" r:id="rId222"/>
    <p:sldId id="322" r:id="rId223"/>
    <p:sldId id="323" r:id="rId224"/>
    <p:sldId id="387" r:id="rId225"/>
    <p:sldId id="397" r:id="rId226"/>
    <p:sldId id="398" r:id="rId227"/>
    <p:sldId id="399" r:id="rId228"/>
    <p:sldId id="400" r:id="rId229"/>
    <p:sldId id="401" r:id="rId230"/>
    <p:sldId id="402" r:id="rId231"/>
    <p:sldId id="531" r:id="rId232"/>
    <p:sldId id="530" r:id="rId233"/>
    <p:sldId id="532" r:id="rId234"/>
    <p:sldId id="533" r:id="rId235"/>
    <p:sldId id="534" r:id="rId236"/>
    <p:sldId id="536" r:id="rId237"/>
    <p:sldId id="537" r:id="rId238"/>
    <p:sldId id="538" r:id="rId239"/>
    <p:sldId id="539" r:id="rId240"/>
    <p:sldId id="540" r:id="rId241"/>
    <p:sldId id="541" r:id="rId242"/>
    <p:sldId id="542" r:id="rId243"/>
    <p:sldId id="284" r:id="rId244"/>
    <p:sldId id="282" r:id="rId245"/>
    <p:sldId id="394" r:id="rId246"/>
    <p:sldId id="395" r:id="rId247"/>
    <p:sldId id="396" r:id="rId248"/>
    <p:sldId id="285" r:id="rId249"/>
    <p:sldId id="304" r:id="rId250"/>
    <p:sldId id="308" r:id="rId251"/>
    <p:sldId id="288" r:id="rId252"/>
    <p:sldId id="544" r:id="rId253"/>
    <p:sldId id="545" r:id="rId254"/>
    <p:sldId id="546" r:id="rId255"/>
    <p:sldId id="547" r:id="rId256"/>
    <p:sldId id="548" r:id="rId257"/>
    <p:sldId id="549" r:id="rId258"/>
    <p:sldId id="550" r:id="rId259"/>
    <p:sldId id="551" r:id="rId260"/>
    <p:sldId id="552" r:id="rId261"/>
    <p:sldId id="554" r:id="rId262"/>
    <p:sldId id="555" r:id="rId263"/>
    <p:sldId id="553" r:id="rId264"/>
    <p:sldId id="274" r:id="rId265"/>
  </p:sldIdLst>
  <p:sldSz cx="9144000" cy="6858000" type="screen4x3"/>
  <p:notesSz cx="6858000" cy="9144000"/>
  <p:custDataLst>
    <p:tags r:id="rId271"/>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0000"/>
    <a:srgbClr val="0000FF"/>
    <a:srgbClr val="CC0066"/>
    <a:srgbClr val="FF3300"/>
    <a:srgbClr val="9900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03"/>
    <p:restoredTop sz="92914"/>
  </p:normalViewPr>
  <p:slideViewPr>
    <p:cSldViewPr snapToGrid="0" snapToObjects="1" showGuides="1">
      <p:cViewPr varScale="1">
        <p:scale>
          <a:sx n="62" d="100"/>
          <a:sy n="62" d="100"/>
        </p:scale>
        <p:origin x="1416" y="48"/>
      </p:cViewPr>
      <p:guideLst>
        <p:guide orient="horz" pos="2123"/>
        <p:guide pos="2880"/>
      </p:guideLst>
    </p:cSldViewPr>
  </p:slideViewPr>
  <p:notesTextViewPr>
    <p:cViewPr>
      <p:scale>
        <a:sx n="100" d="100"/>
        <a:sy n="100" d="100"/>
      </p:scale>
      <p:origin x="0" y="0"/>
    </p:cViewPr>
  </p:notesTextViewPr>
  <p:gridSpacing cx="71999" cy="71999"/>
</p:viewPr>
</file>

<file path=ppt/_rels/presentation.xml.rels><?xml version="1.0" encoding="UTF-8" standalone="yes"?><Relationships xmlns="http://schemas.openxmlformats.org/package/2006/relationships"><Relationship Id="rId271" Type="http://schemas.openxmlformats.org/officeDocument/2006/relationships/tags" Target="tags/tag29.xml" /><Relationship Id="rId267" Type="http://schemas.openxmlformats.org/officeDocument/2006/relationships/handoutMaster" Target="handoutMasters/handoutMaster1.xml" /><Relationship Id="rId264" Type="http://schemas.openxmlformats.org/officeDocument/2006/relationships/slide" Target="slides/slide260.xml" /><Relationship Id="rId262" Type="http://schemas.openxmlformats.org/officeDocument/2006/relationships/slide" Target="slides/slide258.xml" /><Relationship Id="rId259" Type="http://schemas.openxmlformats.org/officeDocument/2006/relationships/slide" Target="slides/slide255.xml" /><Relationship Id="rId258" Type="http://schemas.openxmlformats.org/officeDocument/2006/relationships/slide" Target="slides/slide254.xml" /><Relationship Id="rId257" Type="http://schemas.openxmlformats.org/officeDocument/2006/relationships/slide" Target="slides/slide253.xml" /><Relationship Id="rId255" Type="http://schemas.openxmlformats.org/officeDocument/2006/relationships/slide" Target="slides/slide251.xml" /><Relationship Id="rId254" Type="http://schemas.openxmlformats.org/officeDocument/2006/relationships/slide" Target="slides/slide250.xml" /><Relationship Id="rId253" Type="http://schemas.openxmlformats.org/officeDocument/2006/relationships/slide" Target="slides/slide249.xml" /><Relationship Id="rId252" Type="http://schemas.openxmlformats.org/officeDocument/2006/relationships/slide" Target="slides/slide248.xml" /><Relationship Id="rId250" Type="http://schemas.openxmlformats.org/officeDocument/2006/relationships/slide" Target="slides/slide246.xml" /><Relationship Id="rId249" Type="http://schemas.openxmlformats.org/officeDocument/2006/relationships/slide" Target="slides/slide245.xml" /><Relationship Id="rId247" Type="http://schemas.openxmlformats.org/officeDocument/2006/relationships/slide" Target="slides/slide243.xml" /><Relationship Id="rId244" Type="http://schemas.openxmlformats.org/officeDocument/2006/relationships/slide" Target="slides/slide240.xml" /><Relationship Id="rId243" Type="http://schemas.openxmlformats.org/officeDocument/2006/relationships/slide" Target="slides/slide239.xml" /><Relationship Id="rId242" Type="http://schemas.openxmlformats.org/officeDocument/2006/relationships/slide" Target="slides/slide238.xml" /><Relationship Id="rId237" Type="http://schemas.openxmlformats.org/officeDocument/2006/relationships/slide" Target="slides/slide233.xml" /><Relationship Id="rId234" Type="http://schemas.openxmlformats.org/officeDocument/2006/relationships/slide" Target="slides/slide230.xml" /><Relationship Id="rId230" Type="http://schemas.openxmlformats.org/officeDocument/2006/relationships/slide" Target="slides/slide226.xml" /><Relationship Id="rId228" Type="http://schemas.openxmlformats.org/officeDocument/2006/relationships/slide" Target="slides/slide224.xml" /><Relationship Id="rId227" Type="http://schemas.openxmlformats.org/officeDocument/2006/relationships/slide" Target="slides/slide223.xml" /><Relationship Id="rId226" Type="http://schemas.openxmlformats.org/officeDocument/2006/relationships/slide" Target="slides/slide222.xml" /><Relationship Id="rId224" Type="http://schemas.openxmlformats.org/officeDocument/2006/relationships/slide" Target="slides/slide220.xml" /><Relationship Id="rId223" Type="http://schemas.openxmlformats.org/officeDocument/2006/relationships/slide" Target="slides/slide219.xml" /><Relationship Id="rId222" Type="http://schemas.openxmlformats.org/officeDocument/2006/relationships/slide" Target="slides/slide218.xml" /><Relationship Id="rId221" Type="http://schemas.openxmlformats.org/officeDocument/2006/relationships/slide" Target="slides/slide217.xml" /><Relationship Id="rId219" Type="http://schemas.openxmlformats.org/officeDocument/2006/relationships/slide" Target="slides/slide215.xml" /><Relationship Id="rId218" Type="http://schemas.openxmlformats.org/officeDocument/2006/relationships/slide" Target="slides/slide214.xml" /><Relationship Id="rId263" Type="http://schemas.openxmlformats.org/officeDocument/2006/relationships/slide" Target="slides/slide259.xml" /><Relationship Id="rId211" Type="http://schemas.openxmlformats.org/officeDocument/2006/relationships/slide" Target="slides/slide207.xml" /><Relationship Id="rId248" Type="http://schemas.openxmlformats.org/officeDocument/2006/relationships/slide" Target="slides/slide244.xml" /><Relationship Id="rId207" Type="http://schemas.openxmlformats.org/officeDocument/2006/relationships/slide" Target="slides/slide203.xml" /><Relationship Id="rId246" Type="http://schemas.openxmlformats.org/officeDocument/2006/relationships/slide" Target="slides/slide242.xml" /><Relationship Id="rId206" Type="http://schemas.openxmlformats.org/officeDocument/2006/relationships/slide" Target="slides/slide202.xml" /><Relationship Id="rId205" Type="http://schemas.openxmlformats.org/officeDocument/2006/relationships/slide" Target="slides/slide201.xml" /><Relationship Id="rId204" Type="http://schemas.openxmlformats.org/officeDocument/2006/relationships/slide" Target="slides/slide200.xml" /><Relationship Id="rId203" Type="http://schemas.openxmlformats.org/officeDocument/2006/relationships/slide" Target="slides/slide199.xml" /><Relationship Id="rId202" Type="http://schemas.openxmlformats.org/officeDocument/2006/relationships/slide" Target="slides/slide198.xml" /><Relationship Id="rId239" Type="http://schemas.openxmlformats.org/officeDocument/2006/relationships/slide" Target="slides/slide235.xml" /><Relationship Id="rId201" Type="http://schemas.openxmlformats.org/officeDocument/2006/relationships/slide" Target="slides/slide197.xml" /><Relationship Id="rId200" Type="http://schemas.openxmlformats.org/officeDocument/2006/relationships/slide" Target="slides/slide196.xml" /><Relationship Id="rId85" Type="http://schemas.openxmlformats.org/officeDocument/2006/relationships/slide" Target="slides/slide81.xml" /><Relationship Id="rId195" Type="http://schemas.openxmlformats.org/officeDocument/2006/relationships/slide" Target="slides/slide191.xml" /><Relationship Id="rId127" Type="http://schemas.openxmlformats.org/officeDocument/2006/relationships/slide" Target="slides/slide123.xml" /><Relationship Id="rId185" Type="http://schemas.openxmlformats.org/officeDocument/2006/relationships/slide" Target="slides/slide181.xml" /><Relationship Id="rId194" Type="http://schemas.openxmlformats.org/officeDocument/2006/relationships/slide" Target="slides/slide190.xml" /><Relationship Id="rId191" Type="http://schemas.openxmlformats.org/officeDocument/2006/relationships/slide" Target="slides/slide187.xml" /><Relationship Id="rId260" Type="http://schemas.openxmlformats.org/officeDocument/2006/relationships/slide" Target="slides/slide256.xml" /><Relationship Id="rId64" Type="http://schemas.openxmlformats.org/officeDocument/2006/relationships/slide" Target="slides/slide60.xml" /><Relationship Id="rId189" Type="http://schemas.openxmlformats.org/officeDocument/2006/relationships/slide" Target="slides/slide185.xml" /><Relationship Id="rId188" Type="http://schemas.openxmlformats.org/officeDocument/2006/relationships/slide" Target="slides/slide184.xml" /><Relationship Id="rId151" Type="http://schemas.openxmlformats.org/officeDocument/2006/relationships/slide" Target="slides/slide147.xml" /><Relationship Id="rId186" Type="http://schemas.openxmlformats.org/officeDocument/2006/relationships/slide" Target="slides/slide182.xml" /><Relationship Id="rId184" Type="http://schemas.openxmlformats.org/officeDocument/2006/relationships/slide" Target="slides/slide180.xml" /><Relationship Id="rId35" Type="http://schemas.openxmlformats.org/officeDocument/2006/relationships/slide" Target="slides/slide31.xml" /><Relationship Id="rId183" Type="http://schemas.openxmlformats.org/officeDocument/2006/relationships/slide" Target="slides/slide179.xml" /><Relationship Id="rId231" Type="http://schemas.openxmlformats.org/officeDocument/2006/relationships/slide" Target="slides/slide227.xml" /><Relationship Id="rId182" Type="http://schemas.openxmlformats.org/officeDocument/2006/relationships/slide" Target="slides/slide178.xml" /><Relationship Id="rId181" Type="http://schemas.openxmlformats.org/officeDocument/2006/relationships/slide" Target="slides/slide177.xml" /><Relationship Id="rId177" Type="http://schemas.openxmlformats.org/officeDocument/2006/relationships/slide" Target="slides/slide173.xml" /><Relationship Id="rId176" Type="http://schemas.openxmlformats.org/officeDocument/2006/relationships/slide" Target="slides/slide172.xml" /><Relationship Id="rId168" Type="http://schemas.openxmlformats.org/officeDocument/2006/relationships/slide" Target="slides/slide164.xml" /><Relationship Id="rId40" Type="http://schemas.openxmlformats.org/officeDocument/2006/relationships/slide" Target="slides/slide36.xml" /><Relationship Id="rId61" Type="http://schemas.openxmlformats.org/officeDocument/2006/relationships/slide" Target="slides/slide57.xml" /><Relationship Id="rId166" Type="http://schemas.openxmlformats.org/officeDocument/2006/relationships/slide" Target="slides/slide162.xml" /><Relationship Id="rId103" Type="http://schemas.openxmlformats.org/officeDocument/2006/relationships/slide" Target="slides/slide99.xml" /><Relationship Id="rId180" Type="http://schemas.openxmlformats.org/officeDocument/2006/relationships/slide" Target="slides/slide176.xml" /><Relationship Id="rId179" Type="http://schemas.openxmlformats.org/officeDocument/2006/relationships/slide" Target="slides/slide175.xml" /><Relationship Id="rId164" Type="http://schemas.openxmlformats.org/officeDocument/2006/relationships/slide" Target="slides/slide160.xml" /><Relationship Id="rId163" Type="http://schemas.openxmlformats.org/officeDocument/2006/relationships/slide" Target="slides/slide159.xml" /><Relationship Id="rId251" Type="http://schemas.openxmlformats.org/officeDocument/2006/relationships/slide" Target="slides/slide247.xml" /><Relationship Id="rId50" Type="http://schemas.openxmlformats.org/officeDocument/2006/relationships/slide" Target="slides/slide46.xml" /><Relationship Id="rId162" Type="http://schemas.openxmlformats.org/officeDocument/2006/relationships/slide" Target="slides/slide158.xml" /><Relationship Id="rId161" Type="http://schemas.openxmlformats.org/officeDocument/2006/relationships/slide" Target="slides/slide157.xml" /><Relationship Id="rId97" Type="http://schemas.openxmlformats.org/officeDocument/2006/relationships/slide" Target="slides/slide93.xml" /><Relationship Id="rId160" Type="http://schemas.openxmlformats.org/officeDocument/2006/relationships/slide" Target="slides/slide156.xml" /><Relationship Id="rId157" Type="http://schemas.openxmlformats.org/officeDocument/2006/relationships/slide" Target="slides/slide153.xml" /><Relationship Id="rId147" Type="http://schemas.openxmlformats.org/officeDocument/2006/relationships/slide" Target="slides/slide143.xml" /><Relationship Id="rId95" Type="http://schemas.openxmlformats.org/officeDocument/2006/relationships/slide" Target="slides/slide91.xml" /><Relationship Id="rId146" Type="http://schemas.openxmlformats.org/officeDocument/2006/relationships/slide" Target="slides/slide142.xml" /><Relationship Id="rId144" Type="http://schemas.openxmlformats.org/officeDocument/2006/relationships/slide" Target="slides/slide140.xml" /><Relationship Id="rId196" Type="http://schemas.openxmlformats.org/officeDocument/2006/relationships/slide" Target="slides/slide192.xml" /><Relationship Id="rId142" Type="http://schemas.openxmlformats.org/officeDocument/2006/relationships/slide" Target="slides/slide138.xml" /><Relationship Id="rId139" Type="http://schemas.openxmlformats.org/officeDocument/2006/relationships/slide" Target="slides/slide135.xml" /><Relationship Id="rId136" Type="http://schemas.openxmlformats.org/officeDocument/2006/relationships/slide" Target="slides/slide132.xml" /><Relationship Id="rId135" Type="http://schemas.openxmlformats.org/officeDocument/2006/relationships/slide" Target="slides/slide131.xml" /><Relationship Id="rId235" Type="http://schemas.openxmlformats.org/officeDocument/2006/relationships/slide" Target="slides/slide231.xml" /><Relationship Id="rId165" Type="http://schemas.openxmlformats.org/officeDocument/2006/relationships/slide" Target="slides/slide161.xml" /><Relationship Id="rId87" Type="http://schemas.openxmlformats.org/officeDocument/2006/relationships/slide" Target="slides/slide83.xml" /><Relationship Id="rId134" Type="http://schemas.openxmlformats.org/officeDocument/2006/relationships/slide" Target="slides/slide130.xml" /><Relationship Id="rId133" Type="http://schemas.openxmlformats.org/officeDocument/2006/relationships/slide" Target="slides/slide129.xml" /><Relationship Id="rId129" Type="http://schemas.openxmlformats.org/officeDocument/2006/relationships/slide" Target="slides/slide125.xml" /><Relationship Id="rId125" Type="http://schemas.openxmlformats.org/officeDocument/2006/relationships/slide" Target="slides/slide121.xml" /><Relationship Id="rId152" Type="http://schemas.openxmlformats.org/officeDocument/2006/relationships/slide" Target="slides/slide148.xml" /><Relationship Id="rId120" Type="http://schemas.openxmlformats.org/officeDocument/2006/relationships/slide" Target="slides/slide116.xml" /><Relationship Id="rId118" Type="http://schemas.openxmlformats.org/officeDocument/2006/relationships/slide" Target="slides/slide114.xml" /><Relationship Id="rId119" Type="http://schemas.openxmlformats.org/officeDocument/2006/relationships/slide" Target="slides/slide115.xml" /><Relationship Id="rId109" Type="http://schemas.openxmlformats.org/officeDocument/2006/relationships/slide" Target="slides/slide105.xml" /><Relationship Id="rId117" Type="http://schemas.openxmlformats.org/officeDocument/2006/relationships/slide" Target="slides/slide113.xml" /><Relationship Id="rId113" Type="http://schemas.openxmlformats.org/officeDocument/2006/relationships/slide" Target="slides/slide109.xml" /><Relationship Id="rId256" Type="http://schemas.openxmlformats.org/officeDocument/2006/relationships/slide" Target="slides/slide252.xml" /><Relationship Id="rId209" Type="http://schemas.openxmlformats.org/officeDocument/2006/relationships/slide" Target="slides/slide205.xml" /><Relationship Id="rId110" Type="http://schemas.openxmlformats.org/officeDocument/2006/relationships/slide" Target="slides/slide106.xml" /><Relationship Id="rId140" Type="http://schemas.openxmlformats.org/officeDocument/2006/relationships/slide" Target="slides/slide136.xml" /><Relationship Id="rId128" Type="http://schemas.openxmlformats.org/officeDocument/2006/relationships/slide" Target="slides/slide124.xml" /><Relationship Id="rId74" Type="http://schemas.openxmlformats.org/officeDocument/2006/relationships/slide" Target="slides/slide70.xml" /><Relationship Id="rId108" Type="http://schemas.openxmlformats.org/officeDocument/2006/relationships/slide" Target="slides/slide104.xml" /><Relationship Id="rId107" Type="http://schemas.openxmlformats.org/officeDocument/2006/relationships/slide" Target="slides/slide103.xml" /><Relationship Id="rId240" Type="http://schemas.openxmlformats.org/officeDocument/2006/relationships/slide" Target="slides/slide236.xml" /><Relationship Id="rId98" Type="http://schemas.openxmlformats.org/officeDocument/2006/relationships/slide" Target="slides/slide94.xml" /><Relationship Id="rId105" Type="http://schemas.openxmlformats.org/officeDocument/2006/relationships/slide" Target="slides/slide101.xml" /><Relationship Id="rId104" Type="http://schemas.openxmlformats.org/officeDocument/2006/relationships/slide" Target="slides/slide100.xml" /><Relationship Id="rId54" Type="http://schemas.openxmlformats.org/officeDocument/2006/relationships/slide" Target="slides/slide50.xml" /><Relationship Id="rId170" Type="http://schemas.openxmlformats.org/officeDocument/2006/relationships/slide" Target="slides/slide166.xml" /><Relationship Id="rId73" Type="http://schemas.openxmlformats.org/officeDocument/2006/relationships/slide" Target="slides/slide69.xml" /><Relationship Id="rId28" Type="http://schemas.openxmlformats.org/officeDocument/2006/relationships/slide" Target="slides/slide24.xml" /><Relationship Id="rId93" Type="http://schemas.openxmlformats.org/officeDocument/2006/relationships/slide" Target="slides/slide89.xml" /><Relationship Id="rId90" Type="http://schemas.openxmlformats.org/officeDocument/2006/relationships/slide" Target="slides/slide86.xml" /><Relationship Id="rId88" Type="http://schemas.openxmlformats.org/officeDocument/2006/relationships/slide" Target="slides/slide84.xml" /><Relationship Id="rId89" Type="http://schemas.openxmlformats.org/officeDocument/2006/relationships/slide" Target="slides/slide85.xml" /><Relationship Id="rId153" Type="http://schemas.openxmlformats.org/officeDocument/2006/relationships/slide" Target="slides/slide149.xml" /><Relationship Id="rId51" Type="http://schemas.openxmlformats.org/officeDocument/2006/relationships/slide" Target="slides/slide47.xml" /><Relationship Id="rId96" Type="http://schemas.openxmlformats.org/officeDocument/2006/relationships/slide" Target="slides/slide92.xml" /><Relationship Id="rId158" Type="http://schemas.openxmlformats.org/officeDocument/2006/relationships/slide" Target="slides/slide154.xml" /><Relationship Id="rId59" Type="http://schemas.openxmlformats.org/officeDocument/2006/relationships/slide" Target="slides/slide55.xml" /><Relationship Id="rId86" Type="http://schemas.openxmlformats.org/officeDocument/2006/relationships/slide" Target="slides/slide82.xml" /><Relationship Id="rId173" Type="http://schemas.openxmlformats.org/officeDocument/2006/relationships/slide" Target="slides/slide169.xml" /><Relationship Id="rId233" Type="http://schemas.openxmlformats.org/officeDocument/2006/relationships/slide" Target="slides/slide229.xml" /><Relationship Id="rId67" Type="http://schemas.openxmlformats.org/officeDocument/2006/relationships/slide" Target="slides/slide63.xml" /><Relationship Id="rId130" Type="http://schemas.openxmlformats.org/officeDocument/2006/relationships/slide" Target="slides/slide126.xml" /><Relationship Id="rId4" Type="http://schemas.openxmlformats.org/officeDocument/2006/relationships/slide" Target="slides/slide1.xml" /><Relationship Id="rId265" Type="http://schemas.openxmlformats.org/officeDocument/2006/relationships/slide" Target="slides/slide261.xml" /><Relationship Id="rId1" Type="http://schemas.openxmlformats.org/officeDocument/2006/relationships/slideMaster" Target="slideMasters/slideMaster1.xml" /><Relationship Id="rId84" Type="http://schemas.openxmlformats.org/officeDocument/2006/relationships/slide" Target="slides/slide80.xml" /><Relationship Id="rId12" Type="http://schemas.openxmlformats.org/officeDocument/2006/relationships/slide" Target="slides/slide8.xml" /><Relationship Id="rId82" Type="http://schemas.openxmlformats.org/officeDocument/2006/relationships/slide" Target="slides/slide78.xml" /><Relationship Id="rId159" Type="http://schemas.openxmlformats.org/officeDocument/2006/relationships/slide" Target="slides/slide155.xml" /><Relationship Id="rId141" Type="http://schemas.openxmlformats.org/officeDocument/2006/relationships/slide" Target="slides/slide137.xml" /><Relationship Id="rId81" Type="http://schemas.openxmlformats.org/officeDocument/2006/relationships/slide" Target="slides/slide77.xml" /><Relationship Id="rId78" Type="http://schemas.openxmlformats.org/officeDocument/2006/relationships/slide" Target="slides/slide74.xml" /><Relationship Id="rId77" Type="http://schemas.openxmlformats.org/officeDocument/2006/relationships/slide" Target="slides/slide73.xml" /><Relationship Id="rId27" Type="http://schemas.openxmlformats.org/officeDocument/2006/relationships/slide" Target="slides/slide23.xml" /><Relationship Id="rId23" Type="http://schemas.openxmlformats.org/officeDocument/2006/relationships/slide" Target="slides/slide19.xml" /><Relationship Id="rId56" Type="http://schemas.openxmlformats.org/officeDocument/2006/relationships/slide" Target="slides/slide52.xml" /><Relationship Id="rId214" Type="http://schemas.openxmlformats.org/officeDocument/2006/relationships/slide" Target="slides/slide210.xml" /><Relationship Id="rId75" Type="http://schemas.openxmlformats.org/officeDocument/2006/relationships/slide" Target="slides/slide71.xml" /><Relationship Id="rId122" Type="http://schemas.openxmlformats.org/officeDocument/2006/relationships/slide" Target="slides/slide118.xml" /><Relationship Id="rId269" Type="http://schemas.openxmlformats.org/officeDocument/2006/relationships/viewProps" Target="viewProps.xml" /><Relationship Id="rId71" Type="http://schemas.openxmlformats.org/officeDocument/2006/relationships/slide" Target="slides/slide67.xml" /><Relationship Id="rId70" Type="http://schemas.openxmlformats.org/officeDocument/2006/relationships/slide" Target="slides/slide66.xml" /><Relationship Id="rId94" Type="http://schemas.openxmlformats.org/officeDocument/2006/relationships/slide" Target="slides/slide90.xml" /><Relationship Id="rId53" Type="http://schemas.openxmlformats.org/officeDocument/2006/relationships/slide" Target="slides/slide49.xml" /><Relationship Id="rId126" Type="http://schemas.openxmlformats.org/officeDocument/2006/relationships/slide" Target="slides/slide122.xml" /><Relationship Id="rId124" Type="http://schemas.openxmlformats.org/officeDocument/2006/relationships/slide" Target="slides/slide120.xml" /><Relationship Id="rId62" Type="http://schemas.openxmlformats.org/officeDocument/2006/relationships/slide" Target="slides/slide58.xml" /><Relationship Id="rId17" Type="http://schemas.openxmlformats.org/officeDocument/2006/relationships/slide" Target="slides/slide13.xml" /><Relationship Id="rId11" Type="http://schemas.openxmlformats.org/officeDocument/2006/relationships/slide" Target="slides/slide7.xml" /><Relationship Id="rId156" Type="http://schemas.openxmlformats.org/officeDocument/2006/relationships/slide" Target="slides/slide152.xml" /><Relationship Id="rId111" Type="http://schemas.openxmlformats.org/officeDocument/2006/relationships/slide" Target="slides/slide107.xml" /><Relationship Id="rId60" Type="http://schemas.openxmlformats.org/officeDocument/2006/relationships/slide" Target="slides/slide56.xml" /><Relationship Id="rId174" Type="http://schemas.openxmlformats.org/officeDocument/2006/relationships/slide" Target="slides/slide170.xml" /><Relationship Id="rId68" Type="http://schemas.openxmlformats.org/officeDocument/2006/relationships/slide" Target="slides/slide64.xml" /><Relationship Id="rId46" Type="http://schemas.openxmlformats.org/officeDocument/2006/relationships/slide" Target="slides/slide42.xml" /><Relationship Id="rId57" Type="http://schemas.openxmlformats.org/officeDocument/2006/relationships/slide" Target="slides/slide53.xml" /><Relationship Id="rId36" Type="http://schemas.openxmlformats.org/officeDocument/2006/relationships/slide" Target="slides/slide32.xml" /><Relationship Id="rId48" Type="http://schemas.openxmlformats.org/officeDocument/2006/relationships/slide" Target="slides/slide44.xml" /><Relationship Id="rId55" Type="http://schemas.openxmlformats.org/officeDocument/2006/relationships/slide" Target="slides/slide51.xml" /><Relationship Id="rId66" Type="http://schemas.openxmlformats.org/officeDocument/2006/relationships/slide" Target="slides/slide62.xml" /><Relationship Id="rId52" Type="http://schemas.openxmlformats.org/officeDocument/2006/relationships/slide" Target="slides/slide48.xml" /><Relationship Id="rId121" Type="http://schemas.openxmlformats.org/officeDocument/2006/relationships/slide" Target="slides/slide117.xml" /><Relationship Id="rId131" Type="http://schemas.openxmlformats.org/officeDocument/2006/relationships/slide" Target="slides/slide127.xml" /><Relationship Id="rId63" Type="http://schemas.openxmlformats.org/officeDocument/2006/relationships/slide" Target="slides/slide59.xml" /><Relationship Id="rId100" Type="http://schemas.openxmlformats.org/officeDocument/2006/relationships/slide" Target="slides/slide96.xml" /><Relationship Id="rId220" Type="http://schemas.openxmlformats.org/officeDocument/2006/relationships/slide" Target="slides/slide216.xml" /><Relationship Id="rId49" Type="http://schemas.openxmlformats.org/officeDocument/2006/relationships/slide" Target="slides/slide45.xml" /><Relationship Id="rId6" Type="http://schemas.openxmlformats.org/officeDocument/2006/relationships/slide" Target="slides/slide2.xml" /><Relationship Id="rId261" Type="http://schemas.openxmlformats.org/officeDocument/2006/relationships/slide" Target="slides/slide257.xml" /><Relationship Id="rId210" Type="http://schemas.openxmlformats.org/officeDocument/2006/relationships/slide" Target="slides/slide206.xml" /><Relationship Id="rId190" Type="http://schemas.openxmlformats.org/officeDocument/2006/relationships/slide" Target="slides/slide186.xml" /><Relationship Id="rId30" Type="http://schemas.openxmlformats.org/officeDocument/2006/relationships/slide" Target="slides/slide26.xml" /><Relationship Id="rId58" Type="http://schemas.openxmlformats.org/officeDocument/2006/relationships/slide" Target="slides/slide54.xml" /><Relationship Id="rId47" Type="http://schemas.openxmlformats.org/officeDocument/2006/relationships/slide" Target="slides/slide43.xml" /><Relationship Id="rId123" Type="http://schemas.openxmlformats.org/officeDocument/2006/relationships/slide" Target="slides/slide119.xml" /><Relationship Id="rId116" Type="http://schemas.openxmlformats.org/officeDocument/2006/relationships/slide" Target="slides/slide112.xml" /><Relationship Id="rId29" Type="http://schemas.openxmlformats.org/officeDocument/2006/relationships/slide" Target="slides/slide25.xml" /><Relationship Id="rId270" Type="http://schemas.openxmlformats.org/officeDocument/2006/relationships/tableStyles" Target="tableStyles.xml" /><Relationship Id="rId138" Type="http://schemas.openxmlformats.org/officeDocument/2006/relationships/slide" Target="slides/slide134.xml" /><Relationship Id="rId167" Type="http://schemas.openxmlformats.org/officeDocument/2006/relationships/slide" Target="slides/slide163.xml" /><Relationship Id="rId43" Type="http://schemas.openxmlformats.org/officeDocument/2006/relationships/slide" Target="slides/slide39.xml" /><Relationship Id="rId65" Type="http://schemas.openxmlformats.org/officeDocument/2006/relationships/slide" Target="slides/slide61.xml" /><Relationship Id="rId26" Type="http://schemas.openxmlformats.org/officeDocument/2006/relationships/slide" Target="slides/slide22.xml" /><Relationship Id="rId42" Type="http://schemas.openxmlformats.org/officeDocument/2006/relationships/slide" Target="slides/slide38.xml" /><Relationship Id="rId132" Type="http://schemas.openxmlformats.org/officeDocument/2006/relationships/slide" Target="slides/slide128.xml" /><Relationship Id="rId80" Type="http://schemas.openxmlformats.org/officeDocument/2006/relationships/slide" Target="slides/slide76.xml" /><Relationship Id="rId208" Type="http://schemas.openxmlformats.org/officeDocument/2006/relationships/slide" Target="slides/slide204.xml" /><Relationship Id="rId115" Type="http://schemas.openxmlformats.org/officeDocument/2006/relationships/slide" Target="slides/slide111.xml" /><Relationship Id="rId76" Type="http://schemas.openxmlformats.org/officeDocument/2006/relationships/slide" Target="slides/slide72.xml" /><Relationship Id="rId114" Type="http://schemas.openxmlformats.org/officeDocument/2006/relationships/slide" Target="slides/slide110.xml" /><Relationship Id="rId34" Type="http://schemas.openxmlformats.org/officeDocument/2006/relationships/slide" Target="slides/slide30.xml" /><Relationship Id="rId33" Type="http://schemas.openxmlformats.org/officeDocument/2006/relationships/slide" Target="slides/slide29.xml" /><Relationship Id="rId143" Type="http://schemas.openxmlformats.org/officeDocument/2006/relationships/slide" Target="slides/slide139.xml" /><Relationship Id="rId238" Type="http://schemas.openxmlformats.org/officeDocument/2006/relationships/slide" Target="slides/slide234.xml" /><Relationship Id="rId101" Type="http://schemas.openxmlformats.org/officeDocument/2006/relationships/slide" Target="slides/slide97.xml" /><Relationship Id="rId83" Type="http://schemas.openxmlformats.org/officeDocument/2006/relationships/slide" Target="slides/slide79.xml" /><Relationship Id="rId25" Type="http://schemas.openxmlformats.org/officeDocument/2006/relationships/slide" Target="slides/slide21.xml" /><Relationship Id="rId31" Type="http://schemas.openxmlformats.org/officeDocument/2006/relationships/slide" Target="slides/slide27.xml" /><Relationship Id="rId92" Type="http://schemas.openxmlformats.org/officeDocument/2006/relationships/slide" Target="slides/slide88.xml" /><Relationship Id="rId245" Type="http://schemas.openxmlformats.org/officeDocument/2006/relationships/slide" Target="slides/slide241.xml" /><Relationship Id="rId24" Type="http://schemas.openxmlformats.org/officeDocument/2006/relationships/slide" Target="slides/slide20.xml" /><Relationship Id="rId3" Type="http://schemas.openxmlformats.org/officeDocument/2006/relationships/slideMaster" Target="slideMasters/slideMaster2.xml" /><Relationship Id="rId198" Type="http://schemas.openxmlformats.org/officeDocument/2006/relationships/slide" Target="slides/slide194.xml" /><Relationship Id="rId69" Type="http://schemas.openxmlformats.org/officeDocument/2006/relationships/slide" Target="slides/slide65.xml" /><Relationship Id="rId22" Type="http://schemas.openxmlformats.org/officeDocument/2006/relationships/slide" Target="slides/slide18.xml" /><Relationship Id="rId91" Type="http://schemas.openxmlformats.org/officeDocument/2006/relationships/slide" Target="slides/slide87.xml" /><Relationship Id="rId32" Type="http://schemas.openxmlformats.org/officeDocument/2006/relationships/slide" Target="slides/slide28.xml" /><Relationship Id="rId178" Type="http://schemas.openxmlformats.org/officeDocument/2006/relationships/slide" Target="slides/slide174.xml" /><Relationship Id="rId9" Type="http://schemas.openxmlformats.org/officeDocument/2006/relationships/slide" Target="slides/slide5.xml" /><Relationship Id="rId145" Type="http://schemas.openxmlformats.org/officeDocument/2006/relationships/slide" Target="slides/slide141.xml" /><Relationship Id="rId106" Type="http://schemas.openxmlformats.org/officeDocument/2006/relationships/slide" Target="slides/slide102.xml" /><Relationship Id="rId21" Type="http://schemas.openxmlformats.org/officeDocument/2006/relationships/slide" Target="slides/slide17.xml" /><Relationship Id="rId213" Type="http://schemas.openxmlformats.org/officeDocument/2006/relationships/slide" Target="slides/slide209.xml" /><Relationship Id="rId18" Type="http://schemas.openxmlformats.org/officeDocument/2006/relationships/slide" Target="slides/slide14.xml" /><Relationship Id="rId171" Type="http://schemas.openxmlformats.org/officeDocument/2006/relationships/slide" Target="slides/slide167.xml" /><Relationship Id="rId99" Type="http://schemas.openxmlformats.org/officeDocument/2006/relationships/slide" Target="slides/slide95.xml" /><Relationship Id="rId150" Type="http://schemas.openxmlformats.org/officeDocument/2006/relationships/slide" Target="slides/slide146.xml" /><Relationship Id="rId212" Type="http://schemas.openxmlformats.org/officeDocument/2006/relationships/slide" Target="slides/slide208.xml" /><Relationship Id="rId44" Type="http://schemas.openxmlformats.org/officeDocument/2006/relationships/slide" Target="slides/slide40.xml" /><Relationship Id="rId7" Type="http://schemas.openxmlformats.org/officeDocument/2006/relationships/slide" Target="slides/slide3.xml" /><Relationship Id="rId8" Type="http://schemas.openxmlformats.org/officeDocument/2006/relationships/slide" Target="slides/slide4.xml" /><Relationship Id="rId216" Type="http://schemas.openxmlformats.org/officeDocument/2006/relationships/slide" Target="slides/slide212.xml" /><Relationship Id="rId45" Type="http://schemas.openxmlformats.org/officeDocument/2006/relationships/slide" Target="slides/slide41.xml" /><Relationship Id="rId236" Type="http://schemas.openxmlformats.org/officeDocument/2006/relationships/slide" Target="slides/slide232.xml" /><Relationship Id="rId229" Type="http://schemas.openxmlformats.org/officeDocument/2006/relationships/slide" Target="slides/slide225.xml" /><Relationship Id="rId199" Type="http://schemas.openxmlformats.org/officeDocument/2006/relationships/slide" Target="slides/slide195.xml" /><Relationship Id="rId137" Type="http://schemas.openxmlformats.org/officeDocument/2006/relationships/slide" Target="slides/slide133.xml" /><Relationship Id="rId102" Type="http://schemas.openxmlformats.org/officeDocument/2006/relationships/slide" Target="slides/slide98.xml" /><Relationship Id="rId14" Type="http://schemas.openxmlformats.org/officeDocument/2006/relationships/slide" Target="slides/slide10.xml" /><Relationship Id="rId193" Type="http://schemas.openxmlformats.org/officeDocument/2006/relationships/slide" Target="slides/slide189.xml" /><Relationship Id="rId232" Type="http://schemas.openxmlformats.org/officeDocument/2006/relationships/slide" Target="slides/slide228.xml" /><Relationship Id="rId192" Type="http://schemas.openxmlformats.org/officeDocument/2006/relationships/slide" Target="slides/slide188.xml" /><Relationship Id="rId169" Type="http://schemas.openxmlformats.org/officeDocument/2006/relationships/slide" Target="slides/slide165.xml" /><Relationship Id="rId19" Type="http://schemas.openxmlformats.org/officeDocument/2006/relationships/slide" Target="slides/slide15.xml" /><Relationship Id="rId215" Type="http://schemas.openxmlformats.org/officeDocument/2006/relationships/slide" Target="slides/slide211.xml" /><Relationship Id="rId149" Type="http://schemas.openxmlformats.org/officeDocument/2006/relationships/slide" Target="slides/slide145.xml" /><Relationship Id="rId241" Type="http://schemas.openxmlformats.org/officeDocument/2006/relationships/slide" Target="slides/slide237.xml" /><Relationship Id="rId16" Type="http://schemas.openxmlformats.org/officeDocument/2006/relationships/slide" Target="slides/slide12.xml" /><Relationship Id="rId268" Type="http://schemas.openxmlformats.org/officeDocument/2006/relationships/presProps" Target="presProps.xml" /><Relationship Id="rId175" Type="http://schemas.openxmlformats.org/officeDocument/2006/relationships/slide" Target="slides/slide171.xml" /><Relationship Id="rId39" Type="http://schemas.openxmlformats.org/officeDocument/2006/relationships/slide" Target="slides/slide35.xml" /><Relationship Id="rId2" Type="http://schemas.openxmlformats.org/officeDocument/2006/relationships/theme" Target="theme/theme1.xml" /><Relationship Id="rId148" Type="http://schemas.openxmlformats.org/officeDocument/2006/relationships/slide" Target="slides/slide144.xml" /><Relationship Id="rId13" Type="http://schemas.openxmlformats.org/officeDocument/2006/relationships/slide" Target="slides/slide9.xml" /><Relationship Id="rId79" Type="http://schemas.openxmlformats.org/officeDocument/2006/relationships/slide" Target="slides/slide75.xml" /><Relationship Id="rId172" Type="http://schemas.openxmlformats.org/officeDocument/2006/relationships/slide" Target="slides/slide168.xml" /><Relationship Id="rId155" Type="http://schemas.openxmlformats.org/officeDocument/2006/relationships/slide" Target="slides/slide151.xml" /><Relationship Id="rId38" Type="http://schemas.openxmlformats.org/officeDocument/2006/relationships/slide" Target="slides/slide34.xml" /><Relationship Id="rId154" Type="http://schemas.openxmlformats.org/officeDocument/2006/relationships/slide" Target="slides/slide150.xml" /><Relationship Id="rId15" Type="http://schemas.openxmlformats.org/officeDocument/2006/relationships/slide" Target="slides/slide11.xml" /><Relationship Id="rId197" Type="http://schemas.openxmlformats.org/officeDocument/2006/relationships/slide" Target="slides/slide193.xml" /><Relationship Id="rId20" Type="http://schemas.openxmlformats.org/officeDocument/2006/relationships/slide" Target="slides/slide16.xml" /><Relationship Id="rId225" Type="http://schemas.openxmlformats.org/officeDocument/2006/relationships/slide" Target="slides/slide221.xml" /><Relationship Id="rId37" Type="http://schemas.openxmlformats.org/officeDocument/2006/relationships/slide" Target="slides/slide33.xml" /><Relationship Id="rId5" Type="http://schemas.openxmlformats.org/officeDocument/2006/relationships/notesMaster" Target="notesMasters/notesMaster1.xml" /><Relationship Id="rId217" Type="http://schemas.openxmlformats.org/officeDocument/2006/relationships/slide" Target="slides/slide213.xml" /><Relationship Id="rId187" Type="http://schemas.openxmlformats.org/officeDocument/2006/relationships/slide" Target="slides/slide183.xml" /><Relationship Id="rId72" Type="http://schemas.openxmlformats.org/officeDocument/2006/relationships/slide" Target="slides/slide68.xml" /><Relationship Id="rId41" Type="http://schemas.openxmlformats.org/officeDocument/2006/relationships/slide" Target="slides/slide37.xml" /><Relationship Id="rId112" Type="http://schemas.openxmlformats.org/officeDocument/2006/relationships/slide" Target="slides/slide108.xml" /><Relationship Id="rId10" Type="http://schemas.openxmlformats.org/officeDocument/2006/relationships/slide" Target="slides/slide6.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2E4A91-6B8D-45F0-8389-2648663756E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Relationships xmlns="http://schemas.openxmlformats.org/package/2006/relationships"><Relationship Id="rId7" Type="http://schemas.openxmlformats.org/officeDocument/2006/relationships/slide" Target="../slides/slide4.xml" /><Relationship Id="rId2"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50" Type="http://schemas.openxmlformats.org/officeDocument/2006/relationships/slide" Target="../slides/slide47.xml" /><Relationship Id="rId2"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54" Type="http://schemas.openxmlformats.org/officeDocument/2006/relationships/slide" Target="../slides/slide51.xml" /><Relationship Id="rId2"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55" Type="http://schemas.openxmlformats.org/officeDocument/2006/relationships/slide" Target="../slides/slide52.xml" /><Relationship Id="rId2"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80" Type="http://schemas.openxmlformats.org/officeDocument/2006/relationships/slide" Target="../slides/slide77.xml" /><Relationship Id="rId2"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88" Type="http://schemas.openxmlformats.org/officeDocument/2006/relationships/slide" Target="../slides/slide85.xml" /><Relationship Id="rId2" Type="http://schemas.openxmlformats.org/officeDocument/2006/relationships/notesMaster" Target="../notesMasters/notesMaster1.xml" /></Relationships>
</file>

<file path=ppt/notesSlides/_rels/notesSlide8.xml.rels><?xml version="1.0" encoding="UTF-8" standalone="yes"?><Relationships xmlns="http://schemas.openxmlformats.org/package/2006/relationships"><Relationship Id="rId104" Type="http://schemas.openxmlformats.org/officeDocument/2006/relationships/slide" Target="../slides/slide101.xml" /><Relationship Id="rId2"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118" Type="http://schemas.openxmlformats.org/officeDocument/2006/relationships/slide" Target="../slides/slide115.xml" /><Relationship Id="rId2" Type="http://schemas.openxmlformats.org/officeDocument/2006/relationships/notesMaster" Target="../notesMasters/notesMaster1.xml" /></Relationships>
</file>

<file path=ppt/notesSlides/_rels/notesSlide10.xml.rels><?xml version="1.0" encoding="UTF-8" standalone="yes"?><Relationships xmlns="http://schemas.openxmlformats.org/package/2006/relationships"><Relationship Id="rId119" Type="http://schemas.openxmlformats.org/officeDocument/2006/relationships/slide" Target="../slides/slide116.xml" /><Relationship Id="rId2"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120" Type="http://schemas.openxmlformats.org/officeDocument/2006/relationships/slide" Target="../slides/slide117.xml" /><Relationship Id="rId2"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121" Type="http://schemas.openxmlformats.org/officeDocument/2006/relationships/slide" Target="../slides/slide118.xml" /><Relationship Id="rId2"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166" Type="http://schemas.openxmlformats.org/officeDocument/2006/relationships/slide" Target="../slides/slide163.xml" /><Relationship Id="rId2"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196" Type="http://schemas.openxmlformats.org/officeDocument/2006/relationships/slide" Target="../slides/slide193.xml" /><Relationship Id="rId2"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197" Type="http://schemas.openxmlformats.org/officeDocument/2006/relationships/slide" Target="../slides/slide194.xml" /><Relationship Id="rId2"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198" Type="http://schemas.openxmlformats.org/officeDocument/2006/relationships/slide" Target="../slides/slide195.xml" /><Relationship Id="rId2" Type="http://schemas.openxmlformats.org/officeDocument/2006/relationships/notesMaster" Target="../notesMasters/notesMaster1.xml" /></Relationships>
</file>

<file path=ppt/notesSlides/_rels/notesSlide17.xml.rels><?xml version="1.0" encoding="UTF-8" standalone="yes"?><Relationships xmlns="http://schemas.openxmlformats.org/package/2006/relationships"><Relationship Id="rId199" Type="http://schemas.openxmlformats.org/officeDocument/2006/relationships/slide" Target="../slides/slide196.xml" /><Relationship Id="rId2" Type="http://schemas.openxmlformats.org/officeDocument/2006/relationships/notesMaster" Target="../notesMasters/notesMaster1.xml" /></Relationships>
</file>

<file path=ppt/notesSlides/_rels/notesSlide18.xml.rels><?xml version="1.0" encoding="UTF-8" standalone="yes"?><Relationships xmlns="http://schemas.openxmlformats.org/package/2006/relationships"><Relationship Id="rId200" Type="http://schemas.openxmlformats.org/officeDocument/2006/relationships/slide" Target="../slides/slide197.xml" /><Relationship Id="rId2"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201" Type="http://schemas.openxmlformats.org/officeDocument/2006/relationships/slide" Target="../slides/slide198.xml" /><Relationship Id="rId2" Type="http://schemas.openxmlformats.org/officeDocument/2006/relationships/notesMaster" Target="../notesMasters/notesMaster1.xml" /></Relationships>
</file>

<file path=ppt/notesSlides/_rels/notesSlide20.xml.rels><?xml version="1.0" encoding="UTF-8" standalone="yes"?><Relationships xmlns="http://schemas.openxmlformats.org/package/2006/relationships"><Relationship Id="rId202" Type="http://schemas.openxmlformats.org/officeDocument/2006/relationships/slide" Target="../slides/slide199.xml" /><Relationship Id="rId2"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203" Type="http://schemas.openxmlformats.org/officeDocument/2006/relationships/slide" Target="../slides/slide200.xml" /><Relationship Id="rId2" Type="http://schemas.openxmlformats.org/officeDocument/2006/relationships/notesMaster" Target="../notesMasters/notesMaster1.xml" /></Relationships>
</file>

<file path=ppt/notesSlides/notesSlide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0242" name="幻灯片图像占位符 1"/>
          <p:cNvSpPr/>
          <p:nvPr>
            <p:ph type="sldImg"/>
          </p:nvPr>
        </p:nvSpPr>
        <p:spPr/>
      </p:sp>
      <p:sp>
        <p:nvSpPr>
          <p:cNvPr id="10243" name="备注占位符 2"/>
          <p:cNvSpPr/>
          <p:nvPr>
            <p:ph type="body" idx="1"/>
          </p:nvPr>
        </p:nvSpPr>
        <p:spPr/>
        <p:txBody>
          <a:bodyPr wrap="square" lIns="91440" tIns="45720" rIns="91440" bIns="45720" anchor="ctr" anchorCtr="0"/>
          <a:p>
            <a:pPr lvl="0"/>
            <a:endParaRPr altLang="en-US" dirty="0" lang="zh-CN"/>
          </a:p>
        </p:txBody>
      </p:sp>
      <p:sp>
        <p:nvSpPr>
          <p:cNvPr id="10244"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altLang="en-US" dirty="0" lang="zh-CN">
                <a:latin typeface="Arial" panose="020B0604020202020204" pitchFamily="34" charset="0"/>
              </a:rPr>
              <a:t/>
            </a:fld>
            <a:endParaRPr altLang="en-US" dirty="0" lang="zh-CN">
              <a:latin typeface="Arial" panose="020B0604020202020204" pitchFamily="34" charset="0"/>
            </a:endParaRPr>
          </a:p>
        </p:txBody>
      </p:sp>
    </p:spTree>
  </p:cSld>
</p:notes>
</file>

<file path=ppt/notesSlides/notesSlide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55298" name="幻灯片图像占位符 1"/>
          <p:cNvSpPr/>
          <p:nvPr>
            <p:ph type="sldImg"/>
          </p:nvPr>
        </p:nvSpPr>
        <p:spPr/>
      </p:sp>
      <p:sp>
        <p:nvSpPr>
          <p:cNvPr id="55299" name="备注占位符 2"/>
          <p:cNvSpPr/>
          <p:nvPr>
            <p:ph type="body" idx="1"/>
          </p:nvPr>
        </p:nvSpPr>
        <p:spPr/>
        <p:txBody>
          <a:bodyPr wrap="square" lIns="91440" tIns="45720" rIns="91440" bIns="45720" anchor="ctr" anchorCtr="0"/>
          <a:p>
            <a:pPr lvl="0"/>
            <a:endParaRPr altLang="en-US" dirty="0" lang="zh-CN"/>
          </a:p>
        </p:txBody>
      </p:sp>
      <p:sp>
        <p:nvSpPr>
          <p:cNvPr id="55300"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60418" name="幻灯片图像占位符 1"/>
          <p:cNvSpPr/>
          <p:nvPr>
            <p:ph type="sldImg"/>
          </p:nvPr>
        </p:nvSpPr>
        <p:spPr/>
      </p:sp>
      <p:sp>
        <p:nvSpPr>
          <p:cNvPr id="60419" name="备注占位符 2"/>
          <p:cNvSpPr/>
          <p:nvPr>
            <p:ph type="body" idx="1"/>
          </p:nvPr>
        </p:nvSpPr>
        <p:spPr/>
        <p:txBody>
          <a:bodyPr wrap="square" lIns="91440" tIns="45720" rIns="91440" bIns="45720" anchor="ctr" anchorCtr="0"/>
          <a:p>
            <a:pPr lvl="0"/>
            <a:endParaRPr altLang="en-US" dirty="0" lang="zh-CN"/>
          </a:p>
        </p:txBody>
      </p:sp>
      <p:sp>
        <p:nvSpPr>
          <p:cNvPr id="60420"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62466" name="幻灯片图像占位符 1"/>
          <p:cNvSpPr/>
          <p:nvPr>
            <p:ph type="sldImg"/>
          </p:nvPr>
        </p:nvSpPr>
        <p:spPr/>
      </p:sp>
      <p:sp>
        <p:nvSpPr>
          <p:cNvPr id="62467" name="备注占位符 2"/>
          <p:cNvSpPr/>
          <p:nvPr>
            <p:ph type="body" idx="1"/>
          </p:nvPr>
        </p:nvSpPr>
        <p:spPr/>
        <p:txBody>
          <a:bodyPr wrap="square" lIns="91440" tIns="45720" rIns="91440" bIns="45720" anchor="ctr" anchorCtr="0"/>
          <a:p>
            <a:pPr lvl="0"/>
            <a:endParaRPr altLang="en-US" dirty="0" lang="zh-CN"/>
          </a:p>
        </p:txBody>
      </p:sp>
      <p:sp>
        <p:nvSpPr>
          <p:cNvPr id="62468"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89090" name="幻灯片图像占位符 1"/>
          <p:cNvSpPr/>
          <p:nvPr>
            <p:ph type="sldImg"/>
          </p:nvPr>
        </p:nvSpPr>
        <p:spPr/>
      </p:sp>
      <p:sp>
        <p:nvSpPr>
          <p:cNvPr id="89091" name="备注占位符 2"/>
          <p:cNvSpPr/>
          <p:nvPr>
            <p:ph type="body" idx="1"/>
          </p:nvPr>
        </p:nvSpPr>
        <p:spPr/>
        <p:txBody>
          <a:bodyPr wrap="square" lIns="91440" tIns="45720" rIns="91440" bIns="45720" anchor="ctr" anchorCtr="0"/>
          <a:p>
            <a:pPr lvl="0"/>
            <a:endParaRPr altLang="en-US" dirty="0" lang="zh-CN"/>
          </a:p>
        </p:txBody>
      </p:sp>
      <p:sp>
        <p:nvSpPr>
          <p:cNvPr id="89092"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98306" name="幻灯片图像占位符 1"/>
          <p:cNvSpPr/>
          <p:nvPr>
            <p:ph type="sldImg"/>
          </p:nvPr>
        </p:nvSpPr>
        <p:spPr/>
      </p:sp>
      <p:sp>
        <p:nvSpPr>
          <p:cNvPr id="98307" name="备注占位符 2"/>
          <p:cNvSpPr/>
          <p:nvPr>
            <p:ph type="body" idx="1"/>
          </p:nvPr>
        </p:nvSpPr>
        <p:spPr/>
        <p:txBody>
          <a:bodyPr wrap="square" lIns="91440" tIns="45720" rIns="91440" bIns="45720" anchor="ctr" anchorCtr="0"/>
          <a:p>
            <a:pPr lvl="0"/>
            <a:endParaRPr altLang="en-US" dirty="0" lang="zh-CN"/>
          </a:p>
        </p:txBody>
      </p:sp>
      <p:sp>
        <p:nvSpPr>
          <p:cNvPr id="98308"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15714" name="幻灯片图像占位符 1"/>
          <p:cNvSpPr/>
          <p:nvPr>
            <p:ph type="sldImg"/>
          </p:nvPr>
        </p:nvSpPr>
        <p:spPr/>
      </p:sp>
      <p:sp>
        <p:nvSpPr>
          <p:cNvPr id="115715" name="备注占位符 2"/>
          <p:cNvSpPr/>
          <p:nvPr>
            <p:ph type="body" idx="1"/>
          </p:nvPr>
        </p:nvSpPr>
        <p:spPr/>
        <p:txBody>
          <a:bodyPr wrap="square" lIns="91440" tIns="45720" rIns="91440" bIns="45720" anchor="ctr" anchorCtr="0"/>
          <a:p>
            <a:pPr lvl="0"/>
            <a:endParaRPr altLang="en-US" dirty="0" lang="zh-CN"/>
          </a:p>
        </p:txBody>
      </p:sp>
      <p:sp>
        <p:nvSpPr>
          <p:cNvPr id="115716"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31074" name="幻灯片图像占位符 1"/>
          <p:cNvSpPr/>
          <p:nvPr>
            <p:ph type="sldImg"/>
          </p:nvPr>
        </p:nvSpPr>
        <p:spPr/>
      </p:sp>
      <p:sp>
        <p:nvSpPr>
          <p:cNvPr id="131075" name="备注占位符 2"/>
          <p:cNvSpPr/>
          <p:nvPr>
            <p:ph type="body" idx="1"/>
          </p:nvPr>
        </p:nvSpPr>
        <p:spPr/>
        <p:txBody>
          <a:bodyPr wrap="square" lIns="91440" tIns="45720" rIns="91440" bIns="45720" anchor="ctr" anchorCtr="0"/>
          <a:p>
            <a:pPr lvl="0"/>
            <a:endParaRPr altLang="en-US" dirty="0" lang="zh-CN"/>
          </a:p>
        </p:txBody>
      </p:sp>
      <p:sp>
        <p:nvSpPr>
          <p:cNvPr id="131076"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33122" name="幻灯片图像占位符 1"/>
          <p:cNvSpPr/>
          <p:nvPr>
            <p:ph type="sldImg"/>
          </p:nvPr>
        </p:nvSpPr>
        <p:spPr/>
      </p:sp>
      <p:sp>
        <p:nvSpPr>
          <p:cNvPr id="133123" name="备注占位符 2"/>
          <p:cNvSpPr/>
          <p:nvPr>
            <p:ph type="body" idx="1"/>
          </p:nvPr>
        </p:nvSpPr>
        <p:spPr/>
        <p:txBody>
          <a:bodyPr wrap="square" lIns="91440" tIns="45720" rIns="91440" bIns="45720" anchor="ctr" anchorCtr="0"/>
          <a:p>
            <a:pPr lvl="0"/>
            <a:endParaRPr altLang="en-US" dirty="0" lang="zh-CN"/>
          </a:p>
        </p:txBody>
      </p:sp>
      <p:sp>
        <p:nvSpPr>
          <p:cNvPr id="133124"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35170" name="幻灯片图像占位符 1"/>
          <p:cNvSpPr/>
          <p:nvPr>
            <p:ph type="sldImg"/>
          </p:nvPr>
        </p:nvSpPr>
        <p:spPr/>
      </p:sp>
      <p:sp>
        <p:nvSpPr>
          <p:cNvPr id="135171" name="备注占位符 2"/>
          <p:cNvSpPr/>
          <p:nvPr>
            <p:ph type="body" idx="1"/>
          </p:nvPr>
        </p:nvSpPr>
        <p:spPr/>
        <p:txBody>
          <a:bodyPr wrap="square" lIns="91440" tIns="45720" rIns="91440" bIns="45720" anchor="ctr" anchorCtr="0"/>
          <a:p>
            <a:pPr lvl="0"/>
            <a:endParaRPr altLang="en-US" dirty="0" lang="zh-CN"/>
          </a:p>
        </p:txBody>
      </p:sp>
      <p:sp>
        <p:nvSpPr>
          <p:cNvPr id="135172"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2.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37218" name="幻灯片图像占位符 1"/>
          <p:cNvSpPr/>
          <p:nvPr>
            <p:ph type="sldImg"/>
          </p:nvPr>
        </p:nvSpPr>
        <p:spPr/>
      </p:sp>
      <p:sp>
        <p:nvSpPr>
          <p:cNvPr id="137219" name="备注占位符 2"/>
          <p:cNvSpPr/>
          <p:nvPr>
            <p:ph type="body" idx="1"/>
          </p:nvPr>
        </p:nvSpPr>
        <p:spPr/>
        <p:txBody>
          <a:bodyPr wrap="square" lIns="91440" tIns="45720" rIns="91440" bIns="45720" anchor="ctr" anchorCtr="0"/>
          <a:p>
            <a:pPr lvl="0"/>
            <a:endParaRPr altLang="en-US" dirty="0" lang="zh-CN"/>
          </a:p>
        </p:txBody>
      </p:sp>
      <p:sp>
        <p:nvSpPr>
          <p:cNvPr id="137220"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3.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184322" name="幻灯片图像占位符 1"/>
          <p:cNvSpPr/>
          <p:nvPr>
            <p:ph type="sldImg"/>
          </p:nvPr>
        </p:nvSpPr>
        <p:spPr/>
      </p:sp>
      <p:sp>
        <p:nvSpPr>
          <p:cNvPr id="184323" name="备注占位符 2"/>
          <p:cNvSpPr/>
          <p:nvPr>
            <p:ph type="body" idx="1"/>
          </p:nvPr>
        </p:nvSpPr>
        <p:spPr/>
        <p:txBody>
          <a:bodyPr wrap="square" lIns="91440" tIns="45720" rIns="91440" bIns="45720" anchor="ctr" anchorCtr="0"/>
          <a:p>
            <a:pPr lvl="0"/>
            <a:endParaRPr altLang="en-US" dirty="0" lang="zh-CN"/>
          </a:p>
        </p:txBody>
      </p:sp>
      <p:sp>
        <p:nvSpPr>
          <p:cNvPr id="184324"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4.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16066" name="幻灯片图像占位符 1"/>
          <p:cNvSpPr/>
          <p:nvPr>
            <p:ph type="sldImg"/>
          </p:nvPr>
        </p:nvSpPr>
        <p:spPr/>
      </p:sp>
      <p:sp>
        <p:nvSpPr>
          <p:cNvPr id="216067" name="备注占位符 2"/>
          <p:cNvSpPr/>
          <p:nvPr>
            <p:ph type="body" idx="1"/>
          </p:nvPr>
        </p:nvSpPr>
        <p:spPr/>
        <p:txBody>
          <a:bodyPr wrap="square" lIns="91440" tIns="45720" rIns="91440" bIns="45720" anchor="ctr" anchorCtr="0"/>
          <a:p>
            <a:pPr lvl="0"/>
            <a:endParaRPr altLang="en-US" dirty="0" lang="zh-CN"/>
          </a:p>
        </p:txBody>
      </p:sp>
      <p:sp>
        <p:nvSpPr>
          <p:cNvPr id="216068"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5.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18114" name="幻灯片图像占位符 1"/>
          <p:cNvSpPr/>
          <p:nvPr>
            <p:ph type="sldImg"/>
          </p:nvPr>
        </p:nvSpPr>
        <p:spPr/>
      </p:sp>
      <p:sp>
        <p:nvSpPr>
          <p:cNvPr id="218115" name="备注占位符 2"/>
          <p:cNvSpPr/>
          <p:nvPr>
            <p:ph type="body" idx="1"/>
          </p:nvPr>
        </p:nvSpPr>
        <p:spPr/>
        <p:txBody>
          <a:bodyPr wrap="square" lIns="91440" tIns="45720" rIns="91440" bIns="45720" anchor="ctr" anchorCtr="0"/>
          <a:p>
            <a:pPr lvl="0"/>
            <a:endParaRPr altLang="en-US" dirty="0" lang="zh-CN"/>
          </a:p>
        </p:txBody>
      </p:sp>
      <p:sp>
        <p:nvSpPr>
          <p:cNvPr id="218116"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6.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20162" name="幻灯片图像占位符 1"/>
          <p:cNvSpPr/>
          <p:nvPr>
            <p:ph type="sldImg"/>
          </p:nvPr>
        </p:nvSpPr>
        <p:spPr/>
      </p:sp>
      <p:sp>
        <p:nvSpPr>
          <p:cNvPr id="220163" name="备注占位符 2"/>
          <p:cNvSpPr/>
          <p:nvPr>
            <p:ph type="body" idx="1"/>
          </p:nvPr>
        </p:nvSpPr>
        <p:spPr/>
        <p:txBody>
          <a:bodyPr wrap="square" lIns="91440" tIns="45720" rIns="91440" bIns="45720" anchor="ctr" anchorCtr="0"/>
          <a:p>
            <a:pPr lvl="0"/>
            <a:endParaRPr altLang="en-US" dirty="0" lang="zh-CN"/>
          </a:p>
        </p:txBody>
      </p:sp>
      <p:sp>
        <p:nvSpPr>
          <p:cNvPr id="220164"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7.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22210" name="幻灯片图像占位符 1"/>
          <p:cNvSpPr/>
          <p:nvPr>
            <p:ph type="sldImg"/>
          </p:nvPr>
        </p:nvSpPr>
        <p:spPr/>
      </p:sp>
      <p:sp>
        <p:nvSpPr>
          <p:cNvPr id="222211" name="备注占位符 2"/>
          <p:cNvSpPr/>
          <p:nvPr>
            <p:ph type="body" idx="1"/>
          </p:nvPr>
        </p:nvSpPr>
        <p:spPr/>
        <p:txBody>
          <a:bodyPr wrap="square" lIns="91440" tIns="45720" rIns="91440" bIns="45720" anchor="ctr" anchorCtr="0"/>
          <a:p>
            <a:pPr lvl="0"/>
            <a:endParaRPr altLang="en-US" dirty="0" lang="zh-CN"/>
          </a:p>
        </p:txBody>
      </p:sp>
      <p:sp>
        <p:nvSpPr>
          <p:cNvPr id="222212"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8.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24258" name="幻灯片图像占位符 1"/>
          <p:cNvSpPr/>
          <p:nvPr>
            <p:ph type="sldImg"/>
          </p:nvPr>
        </p:nvSpPr>
        <p:spPr/>
      </p:sp>
      <p:sp>
        <p:nvSpPr>
          <p:cNvPr id="224259" name="备注占位符 2"/>
          <p:cNvSpPr/>
          <p:nvPr>
            <p:ph type="body" idx="1"/>
          </p:nvPr>
        </p:nvSpPr>
        <p:spPr/>
        <p:txBody>
          <a:bodyPr wrap="square" lIns="91440" tIns="45720" rIns="91440" bIns="45720" anchor="ctr" anchorCtr="0"/>
          <a:p>
            <a:pPr lvl="0"/>
            <a:endParaRPr altLang="en-US" dirty="0" lang="zh-CN"/>
          </a:p>
        </p:txBody>
      </p:sp>
      <p:sp>
        <p:nvSpPr>
          <p:cNvPr id="224260"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19.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26306" name="幻灯片图像占位符 1"/>
          <p:cNvSpPr/>
          <p:nvPr>
            <p:ph type="sldImg"/>
          </p:nvPr>
        </p:nvSpPr>
        <p:spPr/>
      </p:sp>
      <p:sp>
        <p:nvSpPr>
          <p:cNvPr id="226307" name="备注占位符 2"/>
          <p:cNvSpPr/>
          <p:nvPr>
            <p:ph type="body" idx="1"/>
          </p:nvPr>
        </p:nvSpPr>
        <p:spPr/>
        <p:txBody>
          <a:bodyPr wrap="square" lIns="91440" tIns="45720" rIns="91440" bIns="45720" anchor="ctr" anchorCtr="0"/>
          <a:p>
            <a:pPr lvl="0"/>
            <a:endParaRPr altLang="en-US" dirty="0" lang="zh-CN"/>
          </a:p>
        </p:txBody>
      </p:sp>
      <p:sp>
        <p:nvSpPr>
          <p:cNvPr id="226308"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20.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28354" name="幻灯片图像占位符 1"/>
          <p:cNvSpPr/>
          <p:nvPr>
            <p:ph type="sldImg"/>
          </p:nvPr>
        </p:nvSpPr>
        <p:spPr/>
      </p:sp>
      <p:sp>
        <p:nvSpPr>
          <p:cNvPr id="228355" name="备注占位符 2"/>
          <p:cNvSpPr/>
          <p:nvPr>
            <p:ph type="body" idx="1"/>
          </p:nvPr>
        </p:nvSpPr>
        <p:spPr/>
        <p:txBody>
          <a:bodyPr wrap="square" lIns="91440" tIns="45720" rIns="91440" bIns="45720" anchor="ctr" anchorCtr="0"/>
          <a:p>
            <a:pPr lvl="0"/>
            <a:endParaRPr altLang="en-US" dirty="0" lang="zh-CN"/>
          </a:p>
        </p:txBody>
      </p:sp>
      <p:sp>
        <p:nvSpPr>
          <p:cNvPr id="228356"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notesSlides/notesSlide21.xml><?xml version="1.0" encoding="utf-8"?>
<p:notes xmlns:p="http://schemas.openxmlformats.org/presentationml/2006/main" xmlns:r="http://schemas.openxmlformats.org/officeDocument/2006/relationships" xmlns:a="http://schemas.openxmlformats.org/drawingml/2006/main">
  <p:cSld>
    <p:spTree>
      <p:nvGrpSpPr>
        <p:cNvPr id="1" name=""/>
        <p:cNvGrpSpPr/>
        <p:nvPr/>
      </p:nvGrpSpPr>
      <p:grpSpPr/>
      <p:sp>
        <p:nvSpPr>
          <p:cNvPr id="230402" name="幻灯片图像占位符 1"/>
          <p:cNvSpPr/>
          <p:nvPr>
            <p:ph type="sldImg"/>
          </p:nvPr>
        </p:nvSpPr>
        <p:spPr/>
      </p:sp>
      <p:sp>
        <p:nvSpPr>
          <p:cNvPr id="230403" name="备注占位符 2"/>
          <p:cNvSpPr/>
          <p:nvPr>
            <p:ph type="body" idx="1"/>
          </p:nvPr>
        </p:nvSpPr>
        <p:spPr/>
        <p:txBody>
          <a:bodyPr wrap="square" lIns="91440" tIns="45720" rIns="91440" bIns="45720" anchor="ctr" anchorCtr="0"/>
          <a:p>
            <a:pPr lvl="0"/>
            <a:endParaRPr altLang="en-US" dirty="0" lang="zh-CN"/>
          </a:p>
        </p:txBody>
      </p:sp>
      <p:sp>
        <p:nvSpPr>
          <p:cNvPr id="230404" name="灯片编号占位符 3"/>
          <p:cNvSpPr/>
          <p:nvPr>
            <p:ph type="sldNum"/>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altLang="en-US" dirty="0" lang="zh-CN" sz="1200"/>
              <a:t/>
            </a:fld>
            <a:endParaRPr altLang="en-US" dirty="0" lang="zh-CN" sz="1200"/>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686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686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118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60118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686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686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50000"/>
              <a:buFont typeface="Wingdings 2" panose="05020102010507070707" pitchFamily="18"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118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60118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Relationships xmlns="http://schemas.openxmlformats.org/package/2006/relationships"><Relationship Id="rId13" Type="http://schemas.openxmlformats.org/officeDocument/2006/relationships/theme" Target="../theme/theme1.xml" /><Relationship Id="rId11" Type="http://schemas.openxmlformats.org/officeDocument/2006/relationships/slideLayout" Target="../slideLayouts/slideLayout11.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7" Type="http://schemas.openxmlformats.org/officeDocument/2006/relationships/slideLayout" Target="../slideLayouts/slideLayout7.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1" Type="http://schemas.openxmlformats.org/officeDocument/2006/relationships/slideLayout" Target="../slideLayouts/slideLayout1.xml" /><Relationship Id="rId4" Type="http://schemas.openxmlformats.org/officeDocument/2006/relationships/slideLayout" Target="../slideLayouts/slideLayout4.xml" /><Relationship Id="rId3" Type="http://schemas.openxmlformats.org/officeDocument/2006/relationships/slideLayout" Target="../slideLayouts/slideLayout3.xml" /><Relationship Id="rId12" Type="http://schemas.openxmlformats.org/officeDocument/2006/relationships/image" Target="../media/image1.jpeg" /><Relationship Id="rId2" Type="http://schemas.openxmlformats.org/officeDocument/2006/relationships/slideLayout" Target="../slideLayouts/slideLayout2.xml" /></Relationships>
</file>

<file path=ppt/slideMasters/_rels/slideMaster2.xml.rels><?xml version="1.0" encoding="UTF-8" standalone="yes"?><Relationships xmlns="http://schemas.openxmlformats.org/package/2006/relationships"><Relationship Id="rId12" Type="http://schemas.openxmlformats.org/officeDocument/2006/relationships/image" Target="../media/image2.jpeg" /><Relationship Id="rId11" Type="http://schemas.openxmlformats.org/officeDocument/2006/relationships/slideLayout" Target="../slideLayouts/slideLayout22.xml" /><Relationship Id="rId9" Type="http://schemas.openxmlformats.org/officeDocument/2006/relationships/slideLayout" Target="../slideLayouts/slideLayout20.xml" /><Relationship Id="rId10" Type="http://schemas.openxmlformats.org/officeDocument/2006/relationships/slideLayout" Target="../slideLayouts/slideLayout21.xml" /><Relationship Id="rId8" Type="http://schemas.openxmlformats.org/officeDocument/2006/relationships/slideLayout" Target="../slideLayouts/slideLayout19.xml" /><Relationship Id="rId7" Type="http://schemas.openxmlformats.org/officeDocument/2006/relationships/slideLayout" Target="../slideLayouts/slideLayout18.xml" /><Relationship Id="rId6" Type="http://schemas.openxmlformats.org/officeDocument/2006/relationships/slideLayout" Target="../slideLayouts/slideLayout17.xml" /><Relationship Id="rId4" Type="http://schemas.openxmlformats.org/officeDocument/2006/relationships/slideLayout" Target="../slideLayouts/slideLayout15.xml" /><Relationship Id="rId13" Type="http://schemas.openxmlformats.org/officeDocument/2006/relationships/theme" Target="../theme/theme2.xml" /><Relationship Id="rId5" Type="http://schemas.openxmlformats.org/officeDocument/2006/relationships/slideLayout" Target="../slideLayouts/slideLayout16.xml" /><Relationship Id="rId1" Type="http://schemas.openxmlformats.org/officeDocument/2006/relationships/slideLayout" Target="../slideLayouts/slideLayout12.xml" /><Relationship Id="rId3" Type="http://schemas.openxmlformats.org/officeDocument/2006/relationships/slideLayout" Target="../slideLayouts/slideLayout14.xml" /><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矩形 6"/>
          <p:cNvSpPr>
            <a:spLocks noChangeArrowheads="1"/>
          </p:cNvSpPr>
          <p:nvPr/>
        </p:nvSpPr>
        <p:spPr bwMode="auto">
          <a:xfrm>
            <a:off x="0" y="6678612"/>
            <a:ext cx="9144000" cy="179388"/>
          </a:xfrm>
          <a:prstGeom prst="rect">
            <a:avLst/>
          </a:prstGeom>
          <a:gradFill rotWithShape="0">
            <a:gsLst>
              <a:gs pos="0">
                <a:srgbClr val="918415">
                  <a:alpha val="50000"/>
                </a:srgbClr>
              </a:gs>
              <a:gs pos="50000">
                <a:srgbClr val="EEEDE7">
                  <a:alpha val="45000"/>
                </a:srgbClr>
              </a:gs>
              <a:gs pos="100000">
                <a:srgbClr val="918415">
                  <a:alpha val="39999"/>
                </a:srgbClr>
              </a:gs>
            </a:gsLst>
            <a:lin ang="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endParaRPr>
          </a:p>
        </p:txBody>
      </p:sp>
      <p:sp>
        <p:nvSpPr>
          <p:cNvPr id="1027" name="矩形 7"/>
          <p:cNvSpPr>
            <a:spLocks noChangeArrowheads="1"/>
          </p:cNvSpPr>
          <p:nvPr/>
        </p:nvSpPr>
        <p:spPr bwMode="auto">
          <a:xfrm>
            <a:off x="0" y="0"/>
            <a:ext cx="9144000" cy="107950"/>
          </a:xfrm>
          <a:prstGeom prst="rect">
            <a:avLst/>
          </a:prstGeom>
          <a:gradFill rotWithShape="0">
            <a:gsLst>
              <a:gs pos="0">
                <a:srgbClr val="918415">
                  <a:alpha val="50000"/>
                </a:srgbClr>
              </a:gs>
              <a:gs pos="50000">
                <a:srgbClr val="EEEDE7">
                  <a:alpha val="45000"/>
                </a:srgbClr>
              </a:gs>
              <a:gs pos="100000">
                <a:srgbClr val="918415">
                  <a:alpha val="39999"/>
                </a:srgbClr>
              </a:gs>
            </a:gsLst>
            <a:lin ang="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endParaRPr>
          </a:p>
        </p:txBody>
      </p:sp>
      <p:sp>
        <p:nvSpPr>
          <p:cNvPr id="1028" name="矩形 8"/>
          <p:cNvSpPr>
            <a:spLocks noChangeArrowheads="1"/>
          </p:cNvSpPr>
          <p:nvPr/>
        </p:nvSpPr>
        <p:spPr bwMode="auto">
          <a:xfrm>
            <a:off x="457200" y="1411288"/>
            <a:ext cx="8229600" cy="17462"/>
          </a:xfrm>
          <a:prstGeom prst="rect">
            <a:avLst/>
          </a:prstGeom>
          <a:gradFill rotWithShape="0">
            <a:gsLst>
              <a:gs pos="0">
                <a:srgbClr val="DCD9CC">
                  <a:alpha val="20000"/>
                </a:srgbClr>
              </a:gs>
              <a:gs pos="50000">
                <a:srgbClr val="918415">
                  <a:alpha val="35000"/>
                </a:srgbClr>
              </a:gs>
              <a:gs pos="100000">
                <a:srgbClr val="DCD9CC">
                  <a:alpha val="50000"/>
                </a:srgbClr>
              </a:gs>
            </a:gsLst>
            <a:lin ang="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endParaRPr>
          </a:p>
        </p:txBody>
      </p:sp>
      <p:sp>
        <p:nvSpPr>
          <p:cNvPr id="1035"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36" name="文本占位符 2"/>
          <p:cNvSpPr>
            <a:spLocks noGrp="1"/>
          </p:cNvSpPr>
          <p:nvPr>
            <p:ph type="body" idx="1"/>
          </p:nvPr>
        </p:nvSpPr>
        <p:spPr>
          <a:xfrm>
            <a:off x="457200" y="1600200"/>
            <a:ext cx="8229600" cy="46863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1" name="日期占位符 3"/>
          <p:cNvSpPr>
            <a:spLocks noGrp="1" noChangeArrowheads="1"/>
          </p:cNvSpPr>
          <p:nvPr>
            <p:ph type="dt" sz="half" idx="2"/>
          </p:nvPr>
        </p:nvSpPr>
        <p:spPr bwMode="auto">
          <a:xfrm>
            <a:off x="73025" y="6400800"/>
            <a:ext cx="3200400" cy="284163"/>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100">
                <a:solidFill>
                  <a:srgbClr val="636363"/>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6ADACC-1EA4-403C-AC24-69463E4625AC}"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1032" name="页脚占位符 4"/>
          <p:cNvSpPr>
            <a:spLocks noGrp="1" noChangeArrowheads="1"/>
          </p:cNvSpPr>
          <p:nvPr>
            <p:ph type="ftr" sz="quarter" idx="3"/>
          </p:nvPr>
        </p:nvSpPr>
        <p:spPr bwMode="auto">
          <a:xfrm>
            <a:off x="5330825" y="6400800"/>
            <a:ext cx="3733800" cy="284163"/>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None/>
              <a:defRPr sz="1100">
                <a:solidFill>
                  <a:srgbClr val="636363"/>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1033" name="灯片编号占位符 5"/>
          <p:cNvSpPr>
            <a:spLocks noGrp="1" noChangeArrowheads="1"/>
          </p:cNvSpPr>
          <p:nvPr>
            <p:ph type="sldNum" sz="quarter" idx="4"/>
          </p:nvPr>
        </p:nvSpPr>
        <p:spPr bwMode="auto">
          <a:xfrm>
            <a:off x="4114800" y="6400800"/>
            <a:ext cx="914400" cy="284163"/>
          </a:xfrm>
          <a:prstGeom prst="rect">
            <a:avLst/>
          </a:prstGeom>
          <a:noFill/>
          <a:ln w="9525">
            <a:noFill/>
            <a:miter lim="800000"/>
          </a:ln>
        </p:spPr>
        <p:txBody>
          <a:bodyPr vert="horz" wrap="square" lIns="45720" tIns="45720" rIns="45720" bIns="45720" numCol="1" anchor="ctr" anchorCtr="0" compatLnSpc="1"/>
          <a:lstStyle>
            <a:lvl1pPr algn="ctr">
              <a:defRPr sz="1100">
                <a:solidFill>
                  <a:srgbClr val="636363"/>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marL="4572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6pPr>
      <a:lvl7pPr marL="9144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7pPr>
      <a:lvl8pPr marL="13716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8pPr>
      <a:lvl9pPr marL="18288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2050" name="矩形 6"/>
          <p:cNvSpPr>
            <a:spLocks noChangeArrowheads="1"/>
          </p:cNvSpPr>
          <p:nvPr/>
        </p:nvSpPr>
        <p:spPr bwMode="auto">
          <a:xfrm>
            <a:off x="0" y="6678612"/>
            <a:ext cx="9144000" cy="179388"/>
          </a:xfrm>
          <a:prstGeom prst="rect">
            <a:avLst/>
          </a:prstGeom>
          <a:gradFill rotWithShape="0">
            <a:gsLst>
              <a:gs pos="0">
                <a:srgbClr val="918415">
                  <a:alpha val="50000"/>
                </a:srgbClr>
              </a:gs>
              <a:gs pos="50000">
                <a:srgbClr val="EEEDE7">
                  <a:alpha val="45000"/>
                </a:srgbClr>
              </a:gs>
              <a:gs pos="100000">
                <a:srgbClr val="918415">
                  <a:alpha val="39999"/>
                </a:srgbClr>
              </a:gs>
            </a:gsLst>
            <a:lin ang="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endParaRPr>
          </a:p>
        </p:txBody>
      </p:sp>
      <p:sp>
        <p:nvSpPr>
          <p:cNvPr id="2051" name="矩形 7"/>
          <p:cNvSpPr>
            <a:spLocks noChangeArrowheads="1"/>
          </p:cNvSpPr>
          <p:nvPr/>
        </p:nvSpPr>
        <p:spPr bwMode="auto">
          <a:xfrm>
            <a:off x="0" y="0"/>
            <a:ext cx="9144000" cy="107950"/>
          </a:xfrm>
          <a:prstGeom prst="rect">
            <a:avLst/>
          </a:prstGeom>
          <a:gradFill rotWithShape="0">
            <a:gsLst>
              <a:gs pos="0">
                <a:srgbClr val="918415">
                  <a:alpha val="50000"/>
                </a:srgbClr>
              </a:gs>
              <a:gs pos="50000">
                <a:srgbClr val="EEEDE7">
                  <a:alpha val="45000"/>
                </a:srgbClr>
              </a:gs>
              <a:gs pos="100000">
                <a:srgbClr val="918415">
                  <a:alpha val="39999"/>
                </a:srgbClr>
              </a:gs>
            </a:gsLst>
            <a:lin ang="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endParaRPr>
          </a:p>
        </p:txBody>
      </p:sp>
      <p:sp>
        <p:nvSpPr>
          <p:cNvPr id="2056" name="标题占位符 1"/>
          <p:cNvSpPr>
            <a:spLocks noGrp="1"/>
          </p:cNvSpPr>
          <p:nvPr>
            <p:ph type="title"/>
          </p:nvPr>
        </p:nvSpPr>
        <p:spPr>
          <a:xfrm>
            <a:off x="457200" y="274638"/>
            <a:ext cx="8229600" cy="1143000"/>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2057" name="文本占位符 2"/>
          <p:cNvSpPr>
            <a:spLocks noGrp="1"/>
          </p:cNvSpPr>
          <p:nvPr>
            <p:ph type="body" idx="1"/>
          </p:nvPr>
        </p:nvSpPr>
        <p:spPr>
          <a:xfrm>
            <a:off x="457200" y="1600200"/>
            <a:ext cx="8229600" cy="46863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054" name="日期占位符 1"/>
          <p:cNvSpPr>
            <a:spLocks noGrp="1" noChangeArrowheads="1"/>
          </p:cNvSpPr>
          <p:nvPr>
            <p:ph type="dt" sz="half" idx="2"/>
          </p:nvPr>
        </p:nvSpPr>
        <p:spPr bwMode="auto">
          <a:xfrm>
            <a:off x="76200" y="6400800"/>
            <a:ext cx="3200400" cy="284163"/>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100">
                <a:solidFill>
                  <a:srgbClr val="636363"/>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EEB965-75CF-44F1-8C17-507397B0F7A5}" type="datetime1">
              <a:rPr kumimoji="0" lang="zh-CN" alt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rPr>
            </a:fld>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2055" name="页脚占位符 2"/>
          <p:cNvSpPr>
            <a:spLocks noGrp="1" noChangeArrowheads="1"/>
          </p:cNvSpPr>
          <p:nvPr>
            <p:ph type="ftr" sz="quarter" idx="3"/>
          </p:nvPr>
        </p:nvSpPr>
        <p:spPr bwMode="auto">
          <a:xfrm>
            <a:off x="5334000" y="6400800"/>
            <a:ext cx="3733800" cy="284163"/>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None/>
              <a:defRPr sz="1100">
                <a:solidFill>
                  <a:srgbClr val="636363"/>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100" b="0" i="0" u="none" strike="noStrike" kern="1200" cap="none" spc="0" normalizeH="0" baseline="0" noProof="0">
              <a:ln>
                <a:noFill/>
              </a:ln>
              <a:solidFill>
                <a:srgbClr val="636363"/>
              </a:solidFill>
              <a:effectLst/>
              <a:uLnTx/>
              <a:uFillTx/>
              <a:latin typeface="Arial" panose="020B0604020202020204" pitchFamily="34" charset="0"/>
              <a:ea typeface="宋体" panose="02010600030101010101" pitchFamily="2" charset="-122"/>
              <a:cs typeface="+mn-cs"/>
            </a:endParaRPr>
          </a:p>
        </p:txBody>
      </p:sp>
      <p:sp>
        <p:nvSpPr>
          <p:cNvPr id="2" name="灯片编号占位符 3"/>
          <p:cNvSpPr>
            <a:spLocks noGrp="1" noChangeArrowheads="1"/>
          </p:cNvSpPr>
          <p:nvPr>
            <p:ph type="sldNum" sz="quarter" idx="4"/>
          </p:nvPr>
        </p:nvSpPr>
        <p:spPr bwMode="auto">
          <a:xfrm>
            <a:off x="4114800" y="6400800"/>
            <a:ext cx="914400" cy="284163"/>
          </a:xfrm>
          <a:prstGeom prst="rect">
            <a:avLst/>
          </a:prstGeom>
          <a:noFill/>
          <a:ln w="9525">
            <a:noFill/>
            <a:miter lim="800000"/>
          </a:ln>
        </p:spPr>
        <p:txBody>
          <a:bodyPr vert="horz" wrap="square" lIns="45720" tIns="45720" rIns="45720" bIns="45720" numCol="1" anchor="ctr" anchorCtr="0" compatLnSpc="1"/>
          <a:lstStyle>
            <a:lvl1pPr algn="ctr">
              <a:defRPr sz="1100">
                <a:solidFill>
                  <a:srgbClr val="636363"/>
                </a:solidFill>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2pPr>
      <a:lvl3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3pPr>
      <a:lvl4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4pPr>
      <a:lvl5pPr algn="ctr" rtl="0" eaLnBrk="0" fontAlgn="base" hangingPunct="0">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5pPr>
      <a:lvl6pPr marL="4572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6pPr>
      <a:lvl7pPr marL="9144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7pPr>
      <a:lvl8pPr marL="13716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8pPr>
      <a:lvl9pPr marL="1828800" algn="ctr" rtl="0" fontAlgn="base">
        <a:spcBef>
          <a:spcPct val="0"/>
        </a:spcBef>
        <a:spcAft>
          <a:spcPct val="0"/>
        </a:spcAft>
        <a:defRPr sz="4400">
          <a:solidFill>
            <a:schemeClr val="tx2"/>
          </a:solidFill>
          <a:latin typeface="Franklin Gothic Medium" panose="020B06030201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4.jpeg" /><Relationship Id="rId1" Type="http://schemas.openxmlformats.org/officeDocument/2006/relationships/image" Target="../media/image5.jpeg" /></Relationships>
</file>

<file path=ppt/slides/_rels/slide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3.xml.rels><?xml version="1.0" encoding="UTF-8" standalone="yes"?><Relationships xmlns="http://schemas.openxmlformats.org/package/2006/relationships"><Relationship Id="rId3" Type="http://schemas.openxmlformats.org/officeDocument/2006/relationships/slideLayout" Target="../slideLayouts/slideLayout7.xml" /><Relationship Id="rId5" Type="http://schemas.openxmlformats.org/officeDocument/2006/relationships/notesSlide" Target="../notesSlides/notesSlide2.xml" /><Relationship Id="rId2" Type="http://schemas.openxmlformats.org/officeDocument/2006/relationships/image" Target="../media/image4.jpeg" /><Relationship Id="rId1" Type="http://schemas.openxmlformats.org/officeDocument/2006/relationships/image" Target="../media/image6.jpeg" /></Relationships>
</file>

<file path=ppt/slides/_rels/slide4.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4.jpeg" /><Relationship Id="rId2" Type="http://schemas.openxmlformats.org/officeDocument/2006/relationships/image" Target="../media/image8.jpeg" /><Relationship Id="rId1" Type="http://schemas.openxmlformats.org/officeDocument/2006/relationships/image" Target="../media/image7.jpeg" /></Relationships>
</file>

<file path=ppt/slides/_rels/slide5.xml.rels><?xml version="1.0" encoding="UTF-8" standalone="yes"?><Relationships xmlns="http://schemas.openxmlformats.org/package/2006/relationships"><Relationship Id="rId2" Type="http://schemas.openxmlformats.org/officeDocument/2006/relationships/image" Target="../media/image4.jpeg" /><Relationship Id="rId3" Type="http://schemas.openxmlformats.org/officeDocument/2006/relationships/slideLayout" Target="../slideLayouts/slideLayout7.xml" /><Relationship Id="rId1" Type="http://schemas.openxmlformats.org/officeDocument/2006/relationships/image" Target="../media/image9.jpeg" /></Relationships>
</file>

<file path=ppt/slides/_rels/slide6.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4.jpeg" /><Relationship Id="rId1" Type="http://schemas.openxmlformats.org/officeDocument/2006/relationships/image" Target="../media/image10.jpeg" /></Relationships>
</file>

<file path=ppt/slides/_rels/slide7.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4.jpeg" /><Relationship Id="rId1" Type="http://schemas.openxmlformats.org/officeDocument/2006/relationships/image" Target="../media/image11.jpeg" /></Relationships>
</file>

<file path=ppt/slides/_rels/slide8.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4.jpeg" /><Relationship Id="rId3" Type="http://schemas.openxmlformats.org/officeDocument/2006/relationships/tags" Target="../tags/tag1.xml" /><Relationship Id="rId1" Type="http://schemas.openxmlformats.org/officeDocument/2006/relationships/image" Target="../media/image12.jpeg" /></Relationships>
</file>

<file path=ppt/slides/_rels/slide9.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4.jpeg" /><Relationship Id="rId2" Type="http://schemas.openxmlformats.org/officeDocument/2006/relationships/image" Target="../media/image14.jpeg" /><Relationship Id="rId1" Type="http://schemas.openxmlformats.org/officeDocument/2006/relationships/image" Target="../media/image13.jpeg" /></Relationships>
</file>

<file path=ppt/slides/_rels/slide10.xml.rels><?xml version="1.0" encoding="UTF-8" standalone="yes"?><Relationships xmlns="http://schemas.openxmlformats.org/package/2006/relationships"><Relationship Id="rId5" Type="http://schemas.openxmlformats.org/officeDocument/2006/relationships/tags" Target="../tags/tag2.xml" /><Relationship Id="rId4" Type="http://schemas.openxmlformats.org/officeDocument/2006/relationships/image" Target="../media/image4.jpeg" /><Relationship Id="rId3" Type="http://schemas.openxmlformats.org/officeDocument/2006/relationships/image" Target="../media/image17.jpeg" /><Relationship Id="rId2" Type="http://schemas.openxmlformats.org/officeDocument/2006/relationships/image" Target="../media/image16.jpeg" /><Relationship Id="rId6" Type="http://schemas.openxmlformats.org/officeDocument/2006/relationships/slideLayout" Target="../slideLayouts/slideLayout7.xml" /><Relationship Id="rId1" Type="http://schemas.openxmlformats.org/officeDocument/2006/relationships/image" Target="../media/image15.jpeg" /></Relationships>
</file>

<file path=ppt/slides/_rels/slide11.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3.xml" /><Relationship Id="rId1" Type="http://schemas.openxmlformats.org/officeDocument/2006/relationships/image" Target="../media/image4.jpeg" /></Relationships>
</file>

<file path=ppt/slides/_rels/slide1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1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14.xml.rels><?xml version="1.0" encoding="UTF-8" standalone="yes"?><Relationships xmlns="http://schemas.openxmlformats.org/package/2006/relationships"><Relationship Id="rId7" Type="http://schemas.openxmlformats.org/officeDocument/2006/relationships/slideLayout" Target="../slideLayouts/slideLayout7.xml" /><Relationship Id="rId5" Type="http://schemas.openxmlformats.org/officeDocument/2006/relationships/image" Target="../media/image22.jpeg" /><Relationship Id="rId4" Type="http://schemas.openxmlformats.org/officeDocument/2006/relationships/image" Target="../media/image21.png" /><Relationship Id="rId6" Type="http://schemas.openxmlformats.org/officeDocument/2006/relationships/image" Target="../media/image4.jpeg" /><Relationship Id="rId3" Type="http://schemas.openxmlformats.org/officeDocument/2006/relationships/image" Target="../media/image20.jpeg" /><Relationship Id="rId2" Type="http://schemas.openxmlformats.org/officeDocument/2006/relationships/image" Target="../media/image19.jpeg" /><Relationship Id="rId1" Type="http://schemas.openxmlformats.org/officeDocument/2006/relationships/image" Target="../media/image18.jpeg" /></Relationships>
</file>

<file path=ppt/slides/_rels/slide1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1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1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1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19.xml.rels><?xml version="1.0" encoding="UTF-8" standalone="yes"?><Relationships xmlns="http://schemas.openxmlformats.org/package/2006/relationships"><Relationship Id="rId1" Type="http://schemas.openxmlformats.org/officeDocument/2006/relationships/image" Target="../media/image23.jpeg" /><Relationship Id="rId3" Type="http://schemas.openxmlformats.org/officeDocument/2006/relationships/image" Target="../media/image25.jpeg" /><Relationship Id="rId6" Type="http://schemas.openxmlformats.org/officeDocument/2006/relationships/slideLayout" Target="../slideLayouts/slideLayout7.xml" /><Relationship Id="rId5" Type="http://schemas.openxmlformats.org/officeDocument/2006/relationships/image" Target="../media/image4.jpeg" /><Relationship Id="rId2" Type="http://schemas.openxmlformats.org/officeDocument/2006/relationships/image" Target="../media/image24.jpeg" /><Relationship Id="rId4" Type="http://schemas.openxmlformats.org/officeDocument/2006/relationships/image" Target="../media/image26.jpeg" /></Relationships>
</file>

<file path=ppt/slides/_rels/slide2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21.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29.jpeg" /><Relationship Id="rId2" Type="http://schemas.openxmlformats.org/officeDocument/2006/relationships/image" Target="../media/image28.jpeg" /><Relationship Id="rId4" Type="http://schemas.openxmlformats.org/officeDocument/2006/relationships/image" Target="../media/image4.jpeg" /><Relationship Id="rId1" Type="http://schemas.openxmlformats.org/officeDocument/2006/relationships/image" Target="../media/image27.jpeg" /></Relationships>
</file>

<file path=ppt/slides/_rels/slide2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23.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4.xml" /><Relationship Id="rId1" Type="http://schemas.openxmlformats.org/officeDocument/2006/relationships/image" Target="../media/image4.jpeg" /></Relationships>
</file>

<file path=ppt/slides/_rels/slide24.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5.xml" /><Relationship Id="rId1" Type="http://schemas.openxmlformats.org/officeDocument/2006/relationships/image" Target="../media/image4.jpeg" /></Relationships>
</file>

<file path=ppt/slides/_rels/slide25.xml.rels><?xml version="1.0" encoding="UTF-8" standalone="yes"?><Relationships xmlns="http://schemas.openxmlformats.org/package/2006/relationships"><Relationship Id="rId5" Type="http://schemas.openxmlformats.org/officeDocument/2006/relationships/slideLayout" Target="../slideLayouts/slideLayout7.xml" /><Relationship Id="rId4" Type="http://schemas.openxmlformats.org/officeDocument/2006/relationships/tags" Target="../tags/tag6.xml" /><Relationship Id="rId3" Type="http://schemas.openxmlformats.org/officeDocument/2006/relationships/image" Target="../media/image4.jpeg" /><Relationship Id="rId2" Type="http://schemas.openxmlformats.org/officeDocument/2006/relationships/image" Target="../media/image31.png" /><Relationship Id="rId1" Type="http://schemas.openxmlformats.org/officeDocument/2006/relationships/image" Target="../media/image30.jpeg" /></Relationships>
</file>

<file path=ppt/slides/_rels/slide2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27.xml.rels><?xml version="1.0" encoding="UTF-8" standalone="yes"?><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33.jpeg" /><Relationship Id="rId4" Type="http://schemas.openxmlformats.org/officeDocument/2006/relationships/slideLayout" Target="../slideLayouts/slideLayout7.xml" /><Relationship Id="rId1" Type="http://schemas.openxmlformats.org/officeDocument/2006/relationships/image" Target="../media/image32.jpeg" /></Relationships>
</file>

<file path=ppt/slides/_rels/slide28.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36.jpeg" /><Relationship Id="rId4" Type="http://schemas.openxmlformats.org/officeDocument/2006/relationships/image" Target="../media/image4.jpeg" /><Relationship Id="rId2" Type="http://schemas.openxmlformats.org/officeDocument/2006/relationships/image" Target="../media/image35.jpeg" /><Relationship Id="rId1" Type="http://schemas.openxmlformats.org/officeDocument/2006/relationships/image" Target="../media/image34.jpeg" /></Relationships>
</file>

<file path=ppt/slides/_rels/slide29.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4.jpeg" /><Relationship Id="rId1" Type="http://schemas.openxmlformats.org/officeDocument/2006/relationships/image" Target="../media/image37.png" /></Relationships>
</file>

<file path=ppt/slides/_rels/slide30.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4.jpeg" /><Relationship Id="rId2" Type="http://schemas.openxmlformats.org/officeDocument/2006/relationships/image" Target="../media/image39.jpeg" /><Relationship Id="rId1" Type="http://schemas.openxmlformats.org/officeDocument/2006/relationships/image" Target="../media/image38.jpeg" /></Relationships>
</file>

<file path=ppt/slides/_rels/slide31.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4.jpeg" /><Relationship Id="rId1" Type="http://schemas.openxmlformats.org/officeDocument/2006/relationships/image" Target="../media/image40.jpeg" /></Relationships>
</file>

<file path=ppt/slides/_rels/slide3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3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3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3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3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3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jpeg" /></Relationships>
</file>

<file path=ppt/slides/_rels/slide3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jpeg" /></Relationships>
</file>

<file path=ppt/slides/_rels/slide3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4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4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4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4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44.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43.jpeg" /><Relationship Id="rId2" Type="http://schemas.openxmlformats.org/officeDocument/2006/relationships/image" Target="../media/image42.jpeg" /><Relationship Id="rId1" Type="http://schemas.openxmlformats.org/officeDocument/2006/relationships/image" Target="../media/image41.jpeg" /></Relationships>
</file>

<file path=ppt/slides/_rels/slide45.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44.jpeg" /><Relationship Id="rId1" Type="http://schemas.openxmlformats.org/officeDocument/2006/relationships/image" Target="../media/image41.jpeg" /></Relationships>
</file>

<file path=ppt/slides/_rels/slide46.xml.rels><?xml version="1.0" encoding="UTF-8" standalone="yes"?><Relationships xmlns="http://schemas.openxmlformats.org/package/2006/relationships"><Relationship Id="rId6" Type="http://schemas.openxmlformats.org/officeDocument/2006/relationships/notesSlide" Target="../notesSlides/notesSlide3.xml" /><Relationship Id="rId5" Type="http://schemas.openxmlformats.org/officeDocument/2006/relationships/slideLayout" Target="../slideLayouts/slideLayout7.xml" /><Relationship Id="rId2" Type="http://schemas.openxmlformats.org/officeDocument/2006/relationships/image" Target="../media/image45.png" /><Relationship Id="rId1" Type="http://schemas.openxmlformats.org/officeDocument/2006/relationships/image" Target="../media/image41.jpeg" /></Relationships>
</file>

<file path=ppt/slides/_rels/slide47.xml.rels><?xml version="1.0" encoding="UTF-8" standalone="yes"?><Relationships xmlns="http://schemas.openxmlformats.org/package/2006/relationships"><Relationship Id="rId6" Type="http://schemas.openxmlformats.org/officeDocument/2006/relationships/slideLayout" Target="../slideLayouts/slideLayout7.xml" /><Relationship Id="rId3" Type="http://schemas.openxmlformats.org/officeDocument/2006/relationships/image" Target="../media/image47.png" /><Relationship Id="rId2" Type="http://schemas.openxmlformats.org/officeDocument/2006/relationships/image" Target="../media/image46.jpeg" /><Relationship Id="rId4" Type="http://schemas.openxmlformats.org/officeDocument/2006/relationships/image" Target="../media/image48.jpeg" /><Relationship Id="rId1" Type="http://schemas.openxmlformats.org/officeDocument/2006/relationships/image" Target="../media/image41.jpeg" /></Relationships>
</file>

<file path=ppt/slides/_rels/slide48.xml.rels><?xml version="1.0" encoding="UTF-8" standalone="yes"?><Relationships xmlns="http://schemas.openxmlformats.org/package/2006/relationships"><Relationship Id="rId4" Type="http://schemas.openxmlformats.org/officeDocument/2006/relationships/image" Target="../media/image51.png" /><Relationship Id="rId2" Type="http://schemas.openxmlformats.org/officeDocument/2006/relationships/image" Target="../media/image49.png" /><Relationship Id="rId5" Type="http://schemas.openxmlformats.org/officeDocument/2006/relationships/slideLayout" Target="../slideLayouts/slideLayout7.xml" /><Relationship Id="rId3" Type="http://schemas.openxmlformats.org/officeDocument/2006/relationships/image" Target="../media/image50.png" /><Relationship Id="rId1" Type="http://schemas.openxmlformats.org/officeDocument/2006/relationships/image" Target="../media/image41.jpeg" /></Relationships>
</file>

<file path=ppt/slides/_rels/slide49.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52.png" /><Relationship Id="rId1" Type="http://schemas.openxmlformats.org/officeDocument/2006/relationships/image" Target="../media/image41.jpeg" /></Relationships>
</file>

<file path=ppt/slides/_rels/slide50.xml.rels><?xml version="1.0" encoding="UTF-8" standalone="yes"?><Relationships xmlns="http://schemas.openxmlformats.org/package/2006/relationships"><Relationship Id="rId6" Type="http://schemas.openxmlformats.org/officeDocument/2006/relationships/notesSlide" Target="../notesSlides/notesSlide4.xml" /><Relationship Id="rId4" Type="http://schemas.openxmlformats.org/officeDocument/2006/relationships/slideLayout" Target="../slideLayouts/slideLayout7.xml" /><Relationship Id="rId3" Type="http://schemas.openxmlformats.org/officeDocument/2006/relationships/image" Target="../media/image54.jpeg" /><Relationship Id="rId2" Type="http://schemas.openxmlformats.org/officeDocument/2006/relationships/image" Target="../media/image53.jpeg" /><Relationship Id="rId1" Type="http://schemas.openxmlformats.org/officeDocument/2006/relationships/image" Target="../media/image41.jpeg" /></Relationships>
</file>

<file path=ppt/slides/_rels/slide51.xml.rels><?xml version="1.0" encoding="UTF-8" standalone="yes"?><Relationships xmlns="http://schemas.openxmlformats.org/package/2006/relationships"><Relationship Id="rId5" Type="http://schemas.openxmlformats.org/officeDocument/2006/relationships/notesSlide" Target="../notesSlides/notesSlide5.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52.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5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54.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56.jpeg" /><Relationship Id="rId2" Type="http://schemas.openxmlformats.org/officeDocument/2006/relationships/image" Target="../media/image55.jpeg" /><Relationship Id="rId1" Type="http://schemas.openxmlformats.org/officeDocument/2006/relationships/image" Target="../media/image41.jpeg" /></Relationships>
</file>

<file path=ppt/slides/_rels/slide55.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58.jpeg" /><Relationship Id="rId2" Type="http://schemas.openxmlformats.org/officeDocument/2006/relationships/image" Target="../media/image57.jpeg" /><Relationship Id="rId1" Type="http://schemas.openxmlformats.org/officeDocument/2006/relationships/image" Target="../media/image41.jpeg" /></Relationships>
</file>

<file path=ppt/slides/_rels/slide56.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60.jpeg" /><Relationship Id="rId2" Type="http://schemas.openxmlformats.org/officeDocument/2006/relationships/image" Target="../media/image59.jpeg" /><Relationship Id="rId1" Type="http://schemas.openxmlformats.org/officeDocument/2006/relationships/image" Target="../media/image41.jpeg" /></Relationships>
</file>

<file path=ppt/slides/_rels/slide5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58.xml.rels><?xml version="1.0" encoding="UTF-8" standalone="yes"?><Relationships xmlns="http://schemas.openxmlformats.org/package/2006/relationships"><Relationship Id="rId3" Type="http://schemas.openxmlformats.org/officeDocument/2006/relationships/image" Target="../media/image62.png" /><Relationship Id="rId2" Type="http://schemas.openxmlformats.org/officeDocument/2006/relationships/image" Target="../media/image61.jpeg"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5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60.xml.rels><?xml version="1.0" encoding="UTF-8" standalone="yes"?><Relationships xmlns="http://schemas.openxmlformats.org/package/2006/relationships"><Relationship Id="rId2" Type="http://schemas.openxmlformats.org/officeDocument/2006/relationships/image" Target="../media/image63.jpeg"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61.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65.jpeg" /><Relationship Id="rId4" Type="http://schemas.openxmlformats.org/officeDocument/2006/relationships/image" Target="../media/image66.jpeg" /><Relationship Id="rId2" Type="http://schemas.openxmlformats.org/officeDocument/2006/relationships/image" Target="../media/image64.jpeg" /><Relationship Id="rId1" Type="http://schemas.openxmlformats.org/officeDocument/2006/relationships/image" Target="../media/image41.jpeg" /></Relationships>
</file>

<file path=ppt/slides/_rels/slide6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63.xml.rels><?xml version="1.0" encoding="UTF-8" standalone="yes"?><Relationships xmlns="http://schemas.openxmlformats.org/package/2006/relationships"><Relationship Id="rId2" Type="http://schemas.openxmlformats.org/officeDocument/2006/relationships/image" Target="../media/image67.GIF"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6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65.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68.jpeg" /><Relationship Id="rId1" Type="http://schemas.openxmlformats.org/officeDocument/2006/relationships/image" Target="../media/image41.jpeg" /></Relationships>
</file>

<file path=ppt/slides/_rels/slide66.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69.jpeg" /><Relationship Id="rId1" Type="http://schemas.openxmlformats.org/officeDocument/2006/relationships/image" Target="../media/image41.jpeg" /></Relationships>
</file>

<file path=ppt/slides/_rels/slide67.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70.jpeg" /><Relationship Id="rId1" Type="http://schemas.openxmlformats.org/officeDocument/2006/relationships/image" Target="../media/image41.jpeg" /></Relationships>
</file>

<file path=ppt/slides/_rels/slide68.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71.jpeg" /><Relationship Id="rId1" Type="http://schemas.openxmlformats.org/officeDocument/2006/relationships/image" Target="../media/image41.jpeg" /></Relationships>
</file>

<file path=ppt/slides/_rels/slide6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70.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72.jpeg" /><Relationship Id="rId1" Type="http://schemas.openxmlformats.org/officeDocument/2006/relationships/image" Target="../media/image41.jpeg" /></Relationships>
</file>

<file path=ppt/slides/_rels/slide7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72.xml.rels><?xml version="1.0" encoding="UTF-8" standalone="yes"?><Relationships xmlns="http://schemas.openxmlformats.org/package/2006/relationships"><Relationship Id="rId3" Type="http://schemas.openxmlformats.org/officeDocument/2006/relationships/image" Target="../media/image74.jpeg" /><Relationship Id="rId2" Type="http://schemas.openxmlformats.org/officeDocument/2006/relationships/image" Target="../media/image73.jpeg" /><Relationship Id="rId5" Type="http://schemas.openxmlformats.org/officeDocument/2006/relationships/slideLayout" Target="../slideLayouts/slideLayout7.xml" /><Relationship Id="rId4" Type="http://schemas.openxmlformats.org/officeDocument/2006/relationships/image" Target="../media/image75.png" /><Relationship Id="rId1" Type="http://schemas.openxmlformats.org/officeDocument/2006/relationships/image" Target="../media/image41.jpeg" /></Relationships>
</file>

<file path=ppt/slides/_rels/slide73.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77.jpeg" /><Relationship Id="rId2" Type="http://schemas.openxmlformats.org/officeDocument/2006/relationships/image" Target="../media/image76.jpeg" /><Relationship Id="rId1" Type="http://schemas.openxmlformats.org/officeDocument/2006/relationships/image" Target="../media/image41.jpeg" /></Relationships>
</file>

<file path=ppt/slides/_rels/slide74.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79.jpeg" /><Relationship Id="rId2" Type="http://schemas.openxmlformats.org/officeDocument/2006/relationships/image" Target="../media/image78.png" /><Relationship Id="rId1" Type="http://schemas.openxmlformats.org/officeDocument/2006/relationships/image" Target="../media/image41.jpeg" /></Relationships>
</file>

<file path=ppt/slides/_rels/slide7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76.xml.rels><?xml version="1.0" encoding="UTF-8" standalone="yes"?><Relationships xmlns="http://schemas.openxmlformats.org/package/2006/relationships"><Relationship Id="rId5" Type="http://schemas.openxmlformats.org/officeDocument/2006/relationships/notesSlide" Target="../notesSlides/notesSlide6.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77.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image" Target="../media/image81.jpeg" /><Relationship Id="rId4" Type="http://schemas.openxmlformats.org/officeDocument/2006/relationships/image" Target="../media/image82.jpeg" /><Relationship Id="rId2" Type="http://schemas.openxmlformats.org/officeDocument/2006/relationships/image" Target="../media/image80.jpeg" /><Relationship Id="rId1" Type="http://schemas.openxmlformats.org/officeDocument/2006/relationships/image" Target="../media/image41.jpeg" /></Relationships>
</file>

<file path=ppt/slides/_rels/slide7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79.xml.rels><?xml version="1.0" encoding="UTF-8" standalone="yes"?><Relationships xmlns="http://schemas.openxmlformats.org/package/2006/relationships"><Relationship Id="rId2" Type="http://schemas.openxmlformats.org/officeDocument/2006/relationships/image" Target="../media/image83.jpeg"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8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81.xml.rels><?xml version="1.0" encoding="UTF-8" standalone="yes"?><Relationships xmlns="http://schemas.openxmlformats.org/package/2006/relationships"><Relationship Id="rId6" Type="http://schemas.openxmlformats.org/officeDocument/2006/relationships/slideLayout" Target="../slideLayouts/slideLayout7.xml" /><Relationship Id="rId5" Type="http://schemas.openxmlformats.org/officeDocument/2006/relationships/image" Target="../media/image87.jpeg" /><Relationship Id="rId4" Type="http://schemas.openxmlformats.org/officeDocument/2006/relationships/image" Target="../media/image86.jpeg" /><Relationship Id="rId2" Type="http://schemas.openxmlformats.org/officeDocument/2006/relationships/image" Target="../media/image84.jpeg" /><Relationship Id="rId3" Type="http://schemas.openxmlformats.org/officeDocument/2006/relationships/image" Target="../media/image85.jpeg" /><Relationship Id="rId1" Type="http://schemas.openxmlformats.org/officeDocument/2006/relationships/image" Target="../media/image41.jpeg" /></Relationships>
</file>

<file path=ppt/slides/_rels/slide8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83.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88.jpeg" /><Relationship Id="rId1" Type="http://schemas.openxmlformats.org/officeDocument/2006/relationships/image" Target="../media/image41.jpeg" /></Relationships>
</file>

<file path=ppt/slides/_rels/slide84.xml.rels><?xml version="1.0" encoding="UTF-8" standalone="yes"?><Relationships xmlns="http://schemas.openxmlformats.org/package/2006/relationships"><Relationship Id="rId7" Type="http://schemas.openxmlformats.org/officeDocument/2006/relationships/notesSlide" Target="../notesSlides/notesSlide7.xml" /><Relationship Id="rId5" Type="http://schemas.openxmlformats.org/officeDocument/2006/relationships/slideLayout" Target="../slideLayouts/slideLayout7.xml" /><Relationship Id="rId4" Type="http://schemas.openxmlformats.org/officeDocument/2006/relationships/image" Target="../media/image91.jpeg" /><Relationship Id="rId3" Type="http://schemas.openxmlformats.org/officeDocument/2006/relationships/image" Target="../media/image90.jpeg" /><Relationship Id="rId2" Type="http://schemas.openxmlformats.org/officeDocument/2006/relationships/image" Target="../media/image89.jpeg" /><Relationship Id="rId1" Type="http://schemas.openxmlformats.org/officeDocument/2006/relationships/image" Target="../media/image41.jpeg" /></Relationships>
</file>

<file path=ppt/slides/_rels/slide8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86.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92.jpeg" /><Relationship Id="rId1" Type="http://schemas.openxmlformats.org/officeDocument/2006/relationships/image" Target="../media/image41.jpeg" /></Relationships>
</file>

<file path=ppt/slides/_rels/slide8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8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8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9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9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92.xml.rels><?xml version="1.0" encoding="UTF-8" standalone="yes"?><Relationships xmlns="http://schemas.openxmlformats.org/package/2006/relationships"><Relationship Id="rId3" Type="http://schemas.openxmlformats.org/officeDocument/2006/relationships/image" Target="../media/image94.jpeg" /><Relationship Id="rId4" Type="http://schemas.openxmlformats.org/officeDocument/2006/relationships/slideLayout" Target="../slideLayouts/slideLayout7.xml" /><Relationship Id="rId2" Type="http://schemas.openxmlformats.org/officeDocument/2006/relationships/image" Target="../media/image93.jpeg" /><Relationship Id="rId1" Type="http://schemas.openxmlformats.org/officeDocument/2006/relationships/image" Target="../media/image41.jpeg" /></Relationships>
</file>

<file path=ppt/slides/_rels/slide93.xml.rels><?xml version="1.0" encoding="UTF-8" standalone="yes"?><Relationships xmlns="http://schemas.openxmlformats.org/package/2006/relationships"><Relationship Id="rId2" Type="http://schemas.openxmlformats.org/officeDocument/2006/relationships/image" Target="../media/image95.jpeg"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94.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96.jpeg" /><Relationship Id="rId1" Type="http://schemas.openxmlformats.org/officeDocument/2006/relationships/image" Target="../media/image41.jpeg" /></Relationships>
</file>

<file path=ppt/slides/_rels/slide95.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97.png" /><Relationship Id="rId1" Type="http://schemas.openxmlformats.org/officeDocument/2006/relationships/image" Target="../media/image41.jpeg" /></Relationships>
</file>

<file path=ppt/slides/_rels/slide9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9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9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9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00.xml.rels><?xml version="1.0" encoding="UTF-8" standalone="yes"?><Relationships xmlns="http://schemas.openxmlformats.org/package/2006/relationships"><Relationship Id="rId4" Type="http://schemas.openxmlformats.org/officeDocument/2006/relationships/notesSlide" Target="../notesSlides/notesSlide8.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0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0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0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0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0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0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0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0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0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1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1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1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13.xml.rels><?xml version="1.0" encoding="UTF-8" standalone="yes"?><Relationships xmlns="http://schemas.openxmlformats.org/package/2006/relationships"><Relationship Id="rId2" Type="http://schemas.openxmlformats.org/officeDocument/2006/relationships/image" Target="../media/image98.jpeg"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14.xml.rels><?xml version="1.0" encoding="UTF-8" standalone="yes"?><Relationships xmlns="http://schemas.openxmlformats.org/package/2006/relationships"><Relationship Id="rId4" Type="http://schemas.openxmlformats.org/officeDocument/2006/relationships/notesSlide" Target="../notesSlides/notesSlide9.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15.xml.rels><?xml version="1.0" encoding="UTF-8" standalone="yes"?><Relationships xmlns="http://schemas.openxmlformats.org/package/2006/relationships"><Relationship Id="rId5" Type="http://schemas.openxmlformats.org/officeDocument/2006/relationships/notesSlide" Target="../notesSlides/notesSlide10.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116.xml.rels><?xml version="1.0" encoding="UTF-8" standalone="yes"?><Relationships xmlns="http://schemas.openxmlformats.org/package/2006/relationships"><Relationship Id="rId5" Type="http://schemas.openxmlformats.org/officeDocument/2006/relationships/notesSlide" Target="../notesSlides/notesSlide11.xml" /><Relationship Id="rId2" Type="http://schemas.openxmlformats.org/officeDocument/2006/relationships/image" Target="../media/image99.png" /><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17.xml.rels><?xml version="1.0" encoding="UTF-8" standalone="yes"?><Relationships xmlns="http://schemas.openxmlformats.org/package/2006/relationships"><Relationship Id="rId4" Type="http://schemas.openxmlformats.org/officeDocument/2006/relationships/notesSlide" Target="../notesSlides/notesSlide12.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1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1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2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2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22.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2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24.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2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2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27.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image" Target="../media/image100.jpeg" /><Relationship Id="rId1" Type="http://schemas.openxmlformats.org/officeDocument/2006/relationships/image" Target="../media/image41.jpeg" /></Relationships>
</file>

<file path=ppt/slides/_rels/slide12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2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3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3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3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3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3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3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3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3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3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3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4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4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4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4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4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4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46.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image" Target="../media/image102.jpeg" /><Relationship Id="rId2" Type="http://schemas.openxmlformats.org/officeDocument/2006/relationships/image" Target="../media/image101.jpeg" /><Relationship Id="rId1" Type="http://schemas.openxmlformats.org/officeDocument/2006/relationships/image" Target="../media/image41.jpeg" /></Relationships>
</file>

<file path=ppt/slides/_rels/slide14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4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4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5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5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52.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5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54.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5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5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5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5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5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6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6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62.xml.rels><?xml version="1.0" encoding="UTF-8" standalone="yes"?><Relationships xmlns="http://schemas.openxmlformats.org/package/2006/relationships"><Relationship Id="rId5" Type="http://schemas.openxmlformats.org/officeDocument/2006/relationships/notesSlide" Target="../notesSlides/notesSlide13.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16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64.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6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6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6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6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6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7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71.xml.rels><?xml version="1.0" encoding="UTF-8" standalone="yes"?><Relationships xmlns="http://schemas.openxmlformats.org/package/2006/relationships"><Relationship Id="rId3" Type="http://schemas.openxmlformats.org/officeDocument/2006/relationships/image" Target="../media/image104.jpeg" /><Relationship Id="rId4" Type="http://schemas.openxmlformats.org/officeDocument/2006/relationships/slideLayout" Target="../slideLayouts/slideLayout7.xml" /><Relationship Id="rId2" Type="http://schemas.openxmlformats.org/officeDocument/2006/relationships/image" Target="../media/image103.jpeg" /><Relationship Id="rId1" Type="http://schemas.openxmlformats.org/officeDocument/2006/relationships/image" Target="../media/image41.jpeg" /></Relationships>
</file>

<file path=ppt/slides/_rels/slide17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7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7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7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7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7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7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7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8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8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8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8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8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8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8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87.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image" Target="../media/image105.jpeg" /><Relationship Id="rId1" Type="http://schemas.openxmlformats.org/officeDocument/2006/relationships/image" Target="../media/image41.jpeg" /></Relationships>
</file>

<file path=ppt/slides/_rels/slide18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8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9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9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192.xml.rels><?xml version="1.0" encoding="UTF-8" standalone="yes"?><Relationships xmlns="http://schemas.openxmlformats.org/package/2006/relationships"><Relationship Id="rId6" Type="http://schemas.openxmlformats.org/officeDocument/2006/relationships/notesSlide" Target="../notesSlides/notesSlide14.xml" /><Relationship Id="rId5" Type="http://schemas.openxmlformats.org/officeDocument/2006/relationships/slideLayout" Target="../slideLayouts/slideLayout7.xml" /><Relationship Id="rId2" Type="http://schemas.openxmlformats.org/officeDocument/2006/relationships/image" Target="../media/image106.jpeg" /><Relationship Id="rId1" Type="http://schemas.openxmlformats.org/officeDocument/2006/relationships/image" Target="../media/image41.jpeg" /></Relationships>
</file>

<file path=ppt/slides/_rels/slide193.xml.rels><?xml version="1.0" encoding="UTF-8" standalone="yes"?><Relationships xmlns="http://schemas.openxmlformats.org/package/2006/relationships"><Relationship Id="rId4" Type="http://schemas.openxmlformats.org/officeDocument/2006/relationships/notesSlide" Target="../notesSlides/notesSlide15.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94.xml.rels><?xml version="1.0" encoding="UTF-8" standalone="yes"?><Relationships xmlns="http://schemas.openxmlformats.org/package/2006/relationships"><Relationship Id="rId4" Type="http://schemas.openxmlformats.org/officeDocument/2006/relationships/slideLayout" Target="../slideLayouts/slideLayout7.xml" /><Relationship Id="rId5" Type="http://schemas.openxmlformats.org/officeDocument/2006/relationships/notesSlide" Target="../notesSlides/notesSlide16.xml" /><Relationship Id="rId1" Type="http://schemas.openxmlformats.org/officeDocument/2006/relationships/image" Target="../media/image41.jpeg" /></Relationships>
</file>

<file path=ppt/slides/_rels/slide195.xml.rels><?xml version="1.0" encoding="UTF-8" standalone="yes"?><Relationships xmlns="http://schemas.openxmlformats.org/package/2006/relationships"><Relationship Id="rId5" Type="http://schemas.openxmlformats.org/officeDocument/2006/relationships/notesSlide" Target="../notesSlides/notesSlide17.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96.xml.rels><?xml version="1.0" encoding="UTF-8" standalone="yes"?><Relationships xmlns="http://schemas.openxmlformats.org/package/2006/relationships"><Relationship Id="rId5" Type="http://schemas.openxmlformats.org/officeDocument/2006/relationships/notesSlide" Target="../notesSlides/notesSlide18.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197.xml.rels><?xml version="1.0" encoding="UTF-8" standalone="yes"?><Relationships xmlns="http://schemas.openxmlformats.org/package/2006/relationships"><Relationship Id="rId5" Type="http://schemas.openxmlformats.org/officeDocument/2006/relationships/notesSlide" Target="../notesSlides/notesSlide19.xml" /><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198.xml.rels><?xml version="1.0" encoding="UTF-8" standalone="yes"?><Relationships xmlns="http://schemas.openxmlformats.org/package/2006/relationships"><Relationship Id="rId5" Type="http://schemas.openxmlformats.org/officeDocument/2006/relationships/notesSlide" Target="../notesSlides/notesSlide20.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199.xml.rels><?xml version="1.0" encoding="UTF-8" standalone="yes"?><Relationships xmlns="http://schemas.openxmlformats.org/package/2006/relationships"><Relationship Id="rId5" Type="http://schemas.openxmlformats.org/officeDocument/2006/relationships/notesSlide" Target="../notesSlides/notesSlide21.xml" /><Relationship Id="rId3" Type="http://schemas.openxmlformats.org/officeDocument/2006/relationships/slideLayout" Target="../slideLayouts/slideLayout7.xml" /><Relationship Id="rId2" Type="http://schemas.openxmlformats.org/officeDocument/2006/relationships/image" Target="../media/image107.jpeg" /><Relationship Id="rId1" Type="http://schemas.openxmlformats.org/officeDocument/2006/relationships/image" Target="../media/image41.jpeg" /></Relationships>
</file>

<file path=ppt/slides/_rels/slide20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0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0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0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04.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05.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0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0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08.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09.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10.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11.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12.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13.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14.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7.xml" /><Relationship Id="rId1" Type="http://schemas.openxmlformats.org/officeDocument/2006/relationships/image" Target="../media/image41.jpeg" /></Relationships>
</file>

<file path=ppt/slides/_rels/slide215.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8.xml" /><Relationship Id="rId1" Type="http://schemas.openxmlformats.org/officeDocument/2006/relationships/image" Target="../media/image41.jpeg" /></Relationships>
</file>

<file path=ppt/slides/_rels/slide216.xml.rels><?xml version="1.0" encoding="UTF-8" standalone="yes"?><Relationships xmlns="http://schemas.openxmlformats.org/package/2006/relationships"><Relationship Id="rId2" Type="http://schemas.openxmlformats.org/officeDocument/2006/relationships/tags" Target="../tags/tag9.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21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1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1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2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2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22.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2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24.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2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2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2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2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2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30.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31.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32.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33.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34.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35.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36.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37.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38.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39.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40.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10.xml" /><Relationship Id="rId1" Type="http://schemas.openxmlformats.org/officeDocument/2006/relationships/image" Target="../media/image41.jpeg" /></Relationships>
</file>

<file path=ppt/slides/_rels/slide241.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11.xml" /><Relationship Id="rId1" Type="http://schemas.openxmlformats.org/officeDocument/2006/relationships/image" Target="../media/image41.jpeg" /></Relationships>
</file>

<file path=ppt/slides/_rels/slide242.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12.xml" /><Relationship Id="rId1" Type="http://schemas.openxmlformats.org/officeDocument/2006/relationships/image" Target="../media/image41.jpeg" /></Relationships>
</file>

<file path=ppt/slides/_rels/slide243.xml.rels><?xml version="1.0" encoding="UTF-8" standalone="yes"?><Relationships xmlns="http://schemas.openxmlformats.org/package/2006/relationships"><Relationship Id="rId4" Type="http://schemas.openxmlformats.org/officeDocument/2006/relationships/slideLayout" Target="../slideLayouts/slideLayout7.xml" /><Relationship Id="rId3" Type="http://schemas.openxmlformats.org/officeDocument/2006/relationships/tags" Target="../tags/tag13.xml" /><Relationship Id="rId2" Type="http://schemas.openxmlformats.org/officeDocument/2006/relationships/image" Target="../media/image108.jpeg" /><Relationship Id="rId1" Type="http://schemas.openxmlformats.org/officeDocument/2006/relationships/image" Target="../media/image41.jpeg" /></Relationships>
</file>

<file path=ppt/slides/_rels/slide244.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tags" Target="../tags/tag14.xml" /><Relationship Id="rId2" Type="http://schemas.openxmlformats.org/officeDocument/2006/relationships/image" Target="../media/image109.jpeg" /><Relationship Id="rId1" Type="http://schemas.openxmlformats.org/officeDocument/2006/relationships/image" Target="../media/image41.jpeg" /></Relationships>
</file>

<file path=ppt/slides/_rels/slide245.xml.rels><?xml version="1.0" encoding="UTF-8" standalone="yes"?><Relationships xmlns="http://schemas.openxmlformats.org/package/2006/relationships"><Relationship Id="rId6" Type="http://schemas.openxmlformats.org/officeDocument/2006/relationships/slideLayout" Target="../slideLayouts/slideLayout7.xml" /><Relationship Id="rId3" Type="http://schemas.openxmlformats.org/officeDocument/2006/relationships/image" Target="../media/image111.jpeg" /><Relationship Id="rId4" Type="http://schemas.openxmlformats.org/officeDocument/2006/relationships/tags" Target="../tags/tag15.xml" /><Relationship Id="rId2" Type="http://schemas.openxmlformats.org/officeDocument/2006/relationships/image" Target="../media/image110.jpeg" /><Relationship Id="rId1" Type="http://schemas.openxmlformats.org/officeDocument/2006/relationships/image" Target="../media/image41.jpeg" /></Relationships>
</file>

<file path=ppt/slides/_rels/slide246.xml.rels><?xml version="1.0" encoding="UTF-8" standalone="yes"?><Relationships xmlns="http://schemas.openxmlformats.org/package/2006/relationships"><Relationship Id="rId2" Type="http://schemas.openxmlformats.org/officeDocument/2006/relationships/slideLayout" Target="../slideLayouts/slideLayout7.xml" /><Relationship Id="rId1" Type="http://schemas.openxmlformats.org/officeDocument/2006/relationships/image" Target="../media/image41.jpeg" /></Relationships>
</file>

<file path=ppt/slides/_rels/slide247.xml.rels><?xml version="1.0" encoding="UTF-8" standalone="yes"?><Relationships xmlns="http://schemas.openxmlformats.org/package/2006/relationships"><Relationship Id="rId3" Type="http://schemas.openxmlformats.org/officeDocument/2006/relationships/slideLayout" Target="../slideLayouts/slideLayout7.xml" /><Relationship Id="rId1" Type="http://schemas.openxmlformats.org/officeDocument/2006/relationships/image" Target="../media/image41.jpeg" /></Relationships>
</file>

<file path=ppt/slides/_rels/slide248.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16.xml" /><Relationship Id="rId1" Type="http://schemas.openxmlformats.org/officeDocument/2006/relationships/image" Target="../media/image41.jpeg" /></Relationships>
</file>

<file path=ppt/slides/_rels/slide249.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17.xml" /><Relationship Id="rId1" Type="http://schemas.openxmlformats.org/officeDocument/2006/relationships/image" Target="../media/image41.jpeg" /></Relationships>
</file>

<file path=ppt/slides/_rels/slide250.xml.rels><?xml version="1.0" encoding="UTF-8" standalone="yes"?><Relationships xmlns="http://schemas.openxmlformats.org/package/2006/relationships"><Relationship Id="rId2" Type="http://schemas.openxmlformats.org/officeDocument/2006/relationships/tags" Target="../tags/tag18.xml" /><Relationship Id="rId4" Type="http://schemas.openxmlformats.org/officeDocument/2006/relationships/slideLayout" Target="../slideLayouts/slideLayout7.xml" /><Relationship Id="rId1" Type="http://schemas.openxmlformats.org/officeDocument/2006/relationships/image" Target="../media/image41.jpeg" /></Relationships>
</file>

<file path=ppt/slides/_rels/slide251.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19.xml" /><Relationship Id="rId1" Type="http://schemas.openxmlformats.org/officeDocument/2006/relationships/image" Target="../media/image41.jpeg" /></Relationships>
</file>

<file path=ppt/slides/_rels/slide252.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20.xml" /><Relationship Id="rId1" Type="http://schemas.openxmlformats.org/officeDocument/2006/relationships/image" Target="../media/image41.jpeg" /></Relationships>
</file>

<file path=ppt/slides/_rels/slide253.xml.rels><?xml version="1.0" encoding="UTF-8" standalone="yes"?><Relationships xmlns="http://schemas.openxmlformats.org/package/2006/relationships"><Relationship Id="rId4" Type="http://schemas.openxmlformats.org/officeDocument/2006/relationships/tags" Target="../tags/tag21.xml" /><Relationship Id="rId3" Type="http://schemas.openxmlformats.org/officeDocument/2006/relationships/image" Target="../media/image113.jpeg" /><Relationship Id="rId2" Type="http://schemas.openxmlformats.org/officeDocument/2006/relationships/image" Target="../media/image112.jpeg" /><Relationship Id="rId5" Type="http://schemas.openxmlformats.org/officeDocument/2006/relationships/slideLayout" Target="../slideLayouts/slideLayout7.xml" /><Relationship Id="rId1" Type="http://schemas.openxmlformats.org/officeDocument/2006/relationships/image" Target="../media/image41.jpeg" /></Relationships>
</file>

<file path=ppt/slides/_rels/slide254.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22.xml" /><Relationship Id="rId1" Type="http://schemas.openxmlformats.org/officeDocument/2006/relationships/image" Target="../media/image41.jpeg" /></Relationships>
</file>

<file path=ppt/slides/_rels/slide255.xml.rels><?xml version="1.0" encoding="UTF-8" standalone="yes"?><Relationships xmlns="http://schemas.openxmlformats.org/package/2006/relationships"><Relationship Id="rId4" Type="http://schemas.openxmlformats.org/officeDocument/2006/relationships/slideLayout" Target="../slideLayouts/slideLayout7.xml" /><Relationship Id="rId2" Type="http://schemas.openxmlformats.org/officeDocument/2006/relationships/tags" Target="../tags/tag23.xml" /><Relationship Id="rId1" Type="http://schemas.openxmlformats.org/officeDocument/2006/relationships/image" Target="../media/image41.jpeg" /></Relationships>
</file>

<file path=ppt/slides/_rels/slide256.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24.xml" /><Relationship Id="rId1" Type="http://schemas.openxmlformats.org/officeDocument/2006/relationships/image" Target="../media/image41.jpeg" /></Relationships>
</file>

<file path=ppt/slides/_rels/slide257.xml.rels><?xml version="1.0" encoding="UTF-8" standalone="yes"?><Relationships xmlns="http://schemas.openxmlformats.org/package/2006/relationships"><Relationship Id="rId2" Type="http://schemas.openxmlformats.org/officeDocument/2006/relationships/image" Target="../media/image114.jpeg" /><Relationship Id="rId4" Type="http://schemas.openxmlformats.org/officeDocument/2006/relationships/slideLayout" Target="../slideLayouts/slideLayout7.xml" /><Relationship Id="rId3" Type="http://schemas.openxmlformats.org/officeDocument/2006/relationships/tags" Target="../tags/tag25.xml" /><Relationship Id="rId1" Type="http://schemas.openxmlformats.org/officeDocument/2006/relationships/image" Target="../media/image41.jpeg" /></Relationships>
</file>

<file path=ppt/slides/_rels/slide258.xml.rels><?xml version="1.0" encoding="UTF-8" standalone="yes"?><Relationships xmlns="http://schemas.openxmlformats.org/package/2006/relationships"><Relationship Id="rId5" Type="http://schemas.openxmlformats.org/officeDocument/2006/relationships/slideLayout" Target="../slideLayouts/slideLayout7.xml" /><Relationship Id="rId3" Type="http://schemas.openxmlformats.org/officeDocument/2006/relationships/tags" Target="../tags/tag26.xml" /><Relationship Id="rId2" Type="http://schemas.openxmlformats.org/officeDocument/2006/relationships/image" Target="../media/image115.jpeg" /><Relationship Id="rId1" Type="http://schemas.openxmlformats.org/officeDocument/2006/relationships/image" Target="../media/image41.jpeg" /></Relationships>
</file>

<file path=ppt/slides/_rels/slide259.xml.rels><?xml version="1.0" encoding="UTF-8" standalone="yes"?><Relationships xmlns="http://schemas.openxmlformats.org/package/2006/relationships"><Relationship Id="rId4" Type="http://schemas.openxmlformats.org/officeDocument/2006/relationships/tags" Target="../tags/tag27.xml" /><Relationship Id="rId3" Type="http://schemas.openxmlformats.org/officeDocument/2006/relationships/image" Target="../media/image117.jpeg" /><Relationship Id="rId2" Type="http://schemas.openxmlformats.org/officeDocument/2006/relationships/image" Target="../media/image116.jpeg" /><Relationship Id="rId6" Type="http://schemas.openxmlformats.org/officeDocument/2006/relationships/slideLayout" Target="../slideLayouts/slideLayout7.xml" /><Relationship Id="rId1" Type="http://schemas.openxmlformats.org/officeDocument/2006/relationships/image" Target="../media/image41.jpeg" /></Relationships>
</file>

<file path=ppt/slides/_rels/slide260.xml.rels><?xml version="1.0" encoding="UTF-8" standalone="yes"?><Relationships xmlns="http://schemas.openxmlformats.org/package/2006/relationships"><Relationship Id="rId3" Type="http://schemas.openxmlformats.org/officeDocument/2006/relationships/slideLayout" Target="../slideLayouts/slideLayout7.xml" /><Relationship Id="rId2" Type="http://schemas.openxmlformats.org/officeDocument/2006/relationships/tags" Target="../tags/tag28.xml" /><Relationship Id="rId1" Type="http://schemas.openxmlformats.org/officeDocument/2006/relationships/image" Target="../media/image41.jpeg" /></Relationships>
</file>

<file path=ppt/slides/_rels/slide261.xml.rels><?xml version="1.0" encoding="UTF-8" standalone="yes"?><Relationships xmlns="http://schemas.openxmlformats.org/package/2006/relationships"><Relationship Id="rId5" Type="http://schemas.openxmlformats.org/officeDocument/2006/relationships/audio" Target="../media/audio1.wav" /><Relationship Id="rId4" Type="http://schemas.openxmlformats.org/officeDocument/2006/relationships/slideLayout" Target="../slideLayouts/slideLayout7.xml" /><Relationship Id="rId2" Type="http://schemas.openxmlformats.org/officeDocument/2006/relationships/image" Target="../media/image118.GIF" /><Relationship Id="rId1" Type="http://schemas.openxmlformats.org/officeDocument/2006/relationships/image" Target="../media/image41.jpeg" /></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843088"/>
            <a:ext cx="5116513" cy="4598988"/>
          </a:xfrm>
          <a:prstGeom prst="rect">
            <a:avLst/>
          </a:prstGeom>
          <a:noFill/>
          <a:ln w="9525">
            <a:noFill/>
            <a:miter lim="800000"/>
          </a:ln>
        </p:spPr>
        <p:txBody>
          <a:bodyPr/>
          <a:lstStyle/>
          <a:p>
            <a:pPr marR="0" algn="ctr" defTabSz="914400" eaLnBrk="1" hangingPunct="1">
              <a:lnSpc>
                <a:spcPct val="150000"/>
              </a:lnSpc>
              <a:spcBef>
                <a:spcPct val="20000"/>
              </a:spcBef>
              <a:buNone/>
              <a:defRPr/>
            </a:pPr>
            <a:r>
              <a:rPr altLang="en-US" dirty="0" kern="0" kumimoji="0" lang="zh-CN" normalizeH="0" b="1" cap="none" noProof="0" spc="0" sz="2800">
                <a:solidFill>
                  <a:srgbClr val="FF0000"/>
                </a:solidFill>
                <a:cs typeface="+mn-cs"/>
                <a:ea typeface="微软雅黑" panose="020B0503020204020204" pitchFamily="34" charset="-122"/>
                <a:latin typeface="微软雅黑" panose="020B0503020204020204" pitchFamily="34" charset="-122"/>
              </a:rPr>
              <a:t>培养独立思考的教育</a:t>
            </a:r>
            <a:endParaRPr altLang="zh-CN" dirty="0" kern="0" kumimoji="0" lang="en-US" normalizeH="0" b="1" cap="none" noProof="0" spc="0" sz="2800">
              <a:solidFill>
                <a:srgbClr val="FF0000"/>
              </a:solidFill>
              <a:cs typeface="+mn-cs"/>
              <a:ea typeface="微软雅黑" panose="020B0503020204020204" pitchFamily="34" charset="-122"/>
              <a:latin typeface="微软雅黑" panose="020B0503020204020204" pitchFamily="34" charset="-122"/>
            </a:endParaRPr>
          </a:p>
          <a:p>
            <a:pPr marR="0" algn="just" defTabSz="914400" eaLnBrk="1" hangingPunct="1">
              <a:spcBef>
                <a:spcPct val="20000"/>
              </a:spcBef>
              <a:buNone/>
              <a:defRPr/>
            </a:pPr>
            <a:r>
              <a:rPr altLang="en-US" dirty="0" kern="0" kumimoji="0" lang="zh-CN" normalizeH="0" b="1" cap="none" noProof="0" spc="0" sz="2400">
                <a:cs typeface="+mn-cs"/>
                <a:ea typeface="微软雅黑" panose="020B0503020204020204" pitchFamily="34" charset="-122"/>
                <a:latin typeface="微软雅黑" panose="020B0503020204020204" pitchFamily="34" charset="-122"/>
              </a:rPr>
              <a:t>  伟大的科学家爱因斯坦说，“用专业知识教育人是不够的。通过专业教育，他可以成为一种有用的机器，但是不能成为一个和谐发展的人。要使学生对价值有所理解并且产生热烈的感情，那是最基本的。他必须获得对美和道德上的善有鲜明的辨别力。否则，他</a:t>
            </a:r>
            <a:r>
              <a:rPr altLang="zh-CN" dirty="0" kern="0" kumimoji="0" lang="en-US" normalizeH="0" b="1" cap="none" noProof="0" spc="0" sz="2400">
                <a:cs typeface="+mn-cs"/>
                <a:ea typeface="微软雅黑" panose="020B0503020204020204" pitchFamily="34" charset="-122"/>
                <a:latin typeface="微软雅黑" panose="020B0503020204020204" pitchFamily="34" charset="-122"/>
              </a:rPr>
              <a:t>——</a:t>
            </a:r>
            <a:r>
              <a:rPr altLang="en-US" dirty="0" kern="0" kumimoji="0" lang="zh-CN" normalizeH="0" b="1" cap="none" noProof="0" spc="0" sz="2400">
                <a:cs typeface="+mn-cs"/>
                <a:ea typeface="微软雅黑" panose="020B0503020204020204" pitchFamily="34" charset="-122"/>
                <a:latin typeface="微软雅黑" panose="020B0503020204020204" pitchFamily="34" charset="-122"/>
              </a:rPr>
              <a:t>连同他的专业知识</a:t>
            </a:r>
            <a:r>
              <a:rPr altLang="zh-CN" dirty="0" kern="0" kumimoji="0" lang="en-US" normalizeH="0" b="1" cap="none" noProof="0" spc="0" sz="2400">
                <a:cs typeface="+mn-cs"/>
                <a:ea typeface="微软雅黑" panose="020B0503020204020204" pitchFamily="34" charset="-122"/>
                <a:latin typeface="微软雅黑" panose="020B0503020204020204" pitchFamily="34" charset="-122"/>
              </a:rPr>
              <a:t>——</a:t>
            </a:r>
            <a:r>
              <a:rPr altLang="en-US" dirty="0" kern="0" kumimoji="0" lang="zh-CN" normalizeH="0" b="1" cap="none" noProof="0" spc="0" sz="2400">
                <a:cs typeface="+mn-cs"/>
                <a:ea typeface="微软雅黑" panose="020B0503020204020204" pitchFamily="34" charset="-122"/>
                <a:latin typeface="微软雅黑" panose="020B0503020204020204" pitchFamily="34" charset="-122"/>
              </a:rPr>
              <a:t>就更像一只受过训练的狗，而不像一个和谐发展的人”。</a:t>
            </a:r>
            <a:endParaRPr altLang="zh-CN" dirty="0" kern="0" kumimoji="0" lang="en-US" normalizeH="0" b="1" cap="none" noProof="0" spc="0" sz="2400">
              <a:cs typeface="+mn-cs"/>
              <a:ea typeface="微软雅黑" panose="020B0503020204020204" pitchFamily="34" charset="-122"/>
              <a:latin typeface="微软雅黑" panose="020B0503020204020204" pitchFamily="34" charset="-122"/>
            </a:endParaRPr>
          </a:p>
          <a:p>
            <a:pPr marR="0" defTabSz="914400" eaLnBrk="1" hangingPunct="1">
              <a:lnSpc>
                <a:spcPct val="150000"/>
              </a:lnSpc>
              <a:spcBef>
                <a:spcPct val="20000"/>
              </a:spcBef>
              <a:buNone/>
              <a:defRPr/>
            </a:pPr>
            <a:endParaRPr altLang="zh-CN" dirty="0" kern="0" kumimoji="0" lang="en-US" normalizeH="0" cap="none" noProof="0" spc="0" sz="2800">
              <a:cs typeface="+mn-cs"/>
              <a:ea/>
              <a:latin typeface="Franklin Gothic Book"/>
            </a:endParaRPr>
          </a:p>
          <a:p>
            <a:pPr marR="0" defTabSz="914400" eaLnBrk="1" hangingPunct="1">
              <a:lnSpc>
                <a:spcPct val="150000"/>
              </a:lnSpc>
              <a:spcBef>
                <a:spcPct val="20000"/>
              </a:spcBef>
              <a:buNone/>
              <a:defRPr/>
            </a:pPr>
            <a:endParaRPr altLang="zh-CN" dirty="0" kern="0" kumimoji="0" lang="zh-CN" normalizeH="0" cap="none" noProof="0" spc="0" sz="2800">
              <a:cs typeface="+mn-cs"/>
              <a:ea/>
              <a:latin typeface="Franklin Gothic Book"/>
            </a:endParaRPr>
          </a:p>
        </p:txBody>
      </p:sp>
      <p:pic>
        <p:nvPicPr>
          <p:cNvPr id="7172" name="图片 3"/>
          <p:cNvPicPr/>
          <p:nvPr/>
        </p:nvPicPr>
        <p:blipFill>
          <a:blip r:embed="rId1"/>
          <a:stretch>
            <a:fillRect/>
          </a:stretch>
        </p:blipFill>
        <p:spPr>
          <a:xfrm>
            <a:off x="5249863" y="2157413"/>
            <a:ext cx="3740150" cy="4397375"/>
          </a:xfrm>
          <a:prstGeom prst="rect">
            <a:avLst/>
          </a:prstGeom>
          <a:noFill/>
          <a:ln w="9525">
            <a:noFill/>
          </a:ln>
        </p:spPr>
      </p:pic>
      <p:pic>
        <p:nvPicPr>
          <p:cNvPr id="2" name="图片 1"/>
          <p:cNvPicPr/>
          <p:nvPr/>
        </p:nvPicPr>
        <p:blipFill>
          <a:blip r:embed="rId2"/>
          <a:stretch>
            <a:fillRect/>
          </a:stretch>
        </p:blipFill>
        <p:spPr>
          <a:xfrm>
            <a:off x="-1270" y="0"/>
            <a:ext cx="9171305" cy="1757680"/>
          </a:xfrm>
          <a:prstGeom prst="rect">
            <a:avLst/>
          </a:prstGeom>
        </p:spPr>
      </p:pic>
    </p:spTree>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879600"/>
            <a:ext cx="9144000" cy="5014913"/>
          </a:xfrm>
          <a:prstGeom prst="rect">
            <a:avLst/>
          </a:prstGeom>
          <a:noFill/>
          <a:ln w="9525">
            <a:noFill/>
            <a:miter lim="800000"/>
          </a:ln>
        </p:spPr>
        <p:txBody>
          <a:bodyPr/>
          <a:lstStyle/>
          <a:p>
            <a:pPr marR="0" defTabSz="914400" eaLnBrk="1" hangingPunct="1">
              <a:lnSpc>
                <a:spcPct val="150000"/>
              </a:lnSpc>
              <a:spcBef>
                <a:spcPct val="20000"/>
              </a:spcBef>
              <a:buNone/>
              <a:defRPr/>
            </a:pPr>
            <a:endParaRPr altLang="zh-CN" dirty="0" kern="0" kumimoji="0" lang="en-US" normalizeH="0" cap="none" noProof="0" spc="0" sz="2800">
              <a:cs typeface="+mn-cs"/>
              <a:ea/>
              <a:latin typeface="Franklin Gothic Book"/>
            </a:endParaRPr>
          </a:p>
          <a:p>
            <a:pPr marR="0" defTabSz="914400" eaLnBrk="1" hangingPunct="1">
              <a:lnSpc>
                <a:spcPct val="150000"/>
              </a:lnSpc>
              <a:spcBef>
                <a:spcPct val="20000"/>
              </a:spcBef>
              <a:buNone/>
              <a:defRPr/>
            </a:pPr>
            <a:r>
              <a:rPr altLang="en-US" dirty="0" kern="0" kumimoji="0" lang="zh-CN" normalizeH="0" cap="none" noProof="0" spc="0" sz="2800">
                <a:cs typeface="+mn-cs"/>
                <a:ea/>
                <a:latin typeface="Franklin Gothic Book"/>
              </a:rPr>
              <a:t>    </a:t>
            </a:r>
            <a:r>
              <a:rPr altLang="en-US" dirty="0" kern="0" kumimoji="0" lang="zh-CN" normalizeH="0" cap="none" noProof="0" spc="0" sz="3200">
                <a:solidFill>
                  <a:srgbClr val="FF0000"/>
                </a:solidFill>
                <a:cs typeface="+mn-cs"/>
                <a:ea/>
                <a:latin typeface="Franklin Gothic Book"/>
              </a:rPr>
              <a:t>只要有生活经历，就有被称作科学和科学方法的经验。了解科学和科学方法的运行过程，对解决人和事物的经验、技巧进行总结，就能够成为能量很强的人，有作为的人。</a:t>
            </a:r>
            <a:endParaRPr altLang="en-US" dirty="0" kern="0" kumimoji="0" lang="zh-CN" normalizeH="0" cap="none" noProof="0" spc="0" sz="3200">
              <a:solidFill>
                <a:srgbClr val="FF0000"/>
              </a:solidFill>
              <a:cs typeface="+mn-cs"/>
              <a:ea/>
              <a:latin typeface="Franklin Gothic Book"/>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9218" name="内容占位符 2"/>
          <p:cNvSpPr/>
          <p:nvPr>
            <p:ph type="body" idx="1"/>
          </p:nvPr>
        </p:nvSpPr>
        <p:spPr>
          <a:xfrm>
            <a:off x="133350" y="2338388"/>
            <a:ext cx="5353050" cy="4329112"/>
          </a:xfrm>
        </p:spPr>
        <p:txBody>
          <a:bodyPr vert="horz" wrap="square" lIns="91440" tIns="45720" rIns="91440" bIns="45720" anchor="t" anchorCtr="0"/>
          <a:p>
            <a:pPr marL="0" indent="0" eaLnBrk="1" hangingPunct="1">
              <a:lnSpc>
                <a:spcPct val="150000"/>
              </a:lnSpc>
              <a:buNone/>
            </a:pPr>
            <a:r>
              <a:rPr altLang="en-US" dirty="0" lang="zh-CN" b="1" sz="2800">
                <a:ea typeface="宋体" panose="02010600030101010101" pitchFamily="2" charset="-122"/>
                <a:latin typeface="宋体" panose="02010600030101010101" pitchFamily="2" charset="-122"/>
              </a:rPr>
              <a:t>绪论 什么是自然辩证法？</a:t>
            </a:r>
            <a:endParaRPr altLang="zh-CN" dirty="0" lang="en-US" b="1" sz="28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400">
                <a:ea typeface="宋体" panose="02010600030101010101" pitchFamily="2" charset="-122"/>
                <a:latin typeface="宋体" panose="02010600030101010101" pitchFamily="2" charset="-122"/>
              </a:rPr>
              <a:t>一、关于学科名称</a:t>
            </a:r>
            <a:endParaRPr altLang="zh-CN" dirty="0" lang="en-US" sz="24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400">
                <a:ea typeface="宋体" panose="02010600030101010101" pitchFamily="2" charset="-122"/>
                <a:latin typeface="宋体" panose="02010600030101010101" pitchFamily="2" charset="-122"/>
              </a:rPr>
              <a:t>二、自然辩证法的学科性质</a:t>
            </a:r>
            <a:endParaRPr altLang="zh-CN" dirty="0" lang="en-US" sz="24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400">
                <a:ea typeface="宋体" panose="02010600030101010101" pitchFamily="2" charset="-122"/>
                <a:latin typeface="宋体" panose="02010600030101010101" pitchFamily="2" charset="-122"/>
              </a:rPr>
              <a:t>三、自然辩证法的研究内容</a:t>
            </a:r>
            <a:endParaRPr altLang="zh-CN" dirty="0" lang="en-US" sz="24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400">
                <a:ea typeface="宋体" panose="02010600030101010101" pitchFamily="2" charset="-122"/>
                <a:latin typeface="宋体" panose="02010600030101010101" pitchFamily="2" charset="-122"/>
              </a:rPr>
              <a:t>四、自然辩证法的历史发展</a:t>
            </a:r>
            <a:endParaRPr altLang="zh-CN" dirty="0" lang="en-US" sz="24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400">
                <a:ea typeface="宋体" panose="02010600030101010101" pitchFamily="2" charset="-122"/>
                <a:latin typeface="宋体" panose="02010600030101010101" pitchFamily="2" charset="-122"/>
              </a:rPr>
              <a:t>五、学习和研究自然辩证法的意义</a:t>
            </a:r>
            <a:endParaRPr altLang="zh-CN" dirty="0" lang="en-US" sz="2400">
              <a:ea typeface="宋体" panose="02010600030101010101" pitchFamily="2" charset="-122"/>
              <a:latin typeface="宋体" panose="02010600030101010101" pitchFamily="2" charset="-122"/>
            </a:endParaRPr>
          </a:p>
          <a:p>
            <a:pPr marL="0" indent="0" eaLnBrk="1" hangingPunct="1">
              <a:lnSpc>
                <a:spcPct val="150000"/>
              </a:lnSpc>
              <a:buNone/>
            </a:pPr>
            <a:endParaRPr altLang="zh-CN" dirty="0" lang="en-US" b="1" sz="2800">
              <a:ea typeface="宋体" panose="02010600030101010101" pitchFamily="2" charset="-122"/>
              <a:latin typeface="宋体" panose="02010600030101010101" pitchFamily="2" charset="-122"/>
            </a:endParaRPr>
          </a:p>
          <a:p>
            <a:pPr marL="0" indent="0" eaLnBrk="1" hangingPunct="1">
              <a:lnSpc>
                <a:spcPct val="150000"/>
              </a:lnSpc>
              <a:buNone/>
            </a:pPr>
            <a:endParaRPr altLang="zh-CN" dirty="0" lang="en-US" b="1" sz="2800">
              <a:ea typeface="宋体" panose="02010600030101010101" pitchFamily="2" charset="-122"/>
              <a:latin typeface="宋体" panose="02010600030101010101" pitchFamily="2" charset="-122"/>
            </a:endParaRPr>
          </a:p>
          <a:p>
            <a:pPr marL="0" indent="0" eaLnBrk="1" hangingPunct="1">
              <a:lnSpc>
                <a:spcPct val="150000"/>
              </a:lnSpc>
              <a:buNone/>
            </a:pPr>
            <a:endParaRPr altLang="zh-CN" dirty="0" lang="en-US" sz="3600"/>
          </a:p>
          <a:p>
            <a:pPr marL="0" indent="0" eaLnBrk="1" hangingPunct="1">
              <a:lnSpc>
                <a:spcPct val="150000"/>
              </a:lnSpc>
              <a:buNone/>
            </a:pPr>
            <a:endParaRPr altLang="zh-CN" dirty="0" lang="en-US" sz="3600"/>
          </a:p>
          <a:p>
            <a:pPr marL="0" indent="0" eaLnBrk="1" hangingPunct="1">
              <a:lnSpc>
                <a:spcPct val="150000"/>
              </a:lnSpc>
              <a:buNone/>
            </a:pPr>
            <a:endParaRPr altLang="zh-CN" dirty="0" lang="en-US" sz="3600"/>
          </a:p>
          <a:p>
            <a:pPr marL="0" indent="0" eaLnBrk="1" hangingPunct="1">
              <a:lnSpc>
                <a:spcPct val="150000"/>
              </a:lnSpc>
              <a:buNone/>
            </a:pPr>
            <a:endParaRPr altLang="en-US" dirty="0" lang="zh-CN" sz="3600"/>
          </a:p>
        </p:txBody>
      </p:sp>
      <p:sp>
        <p:nvSpPr>
          <p:cNvPr id="9219" name="TextBox 5"/>
          <p:cNvSpPr/>
          <p:nvPr/>
        </p:nvSpPr>
        <p:spPr>
          <a:xfrm>
            <a:off x="0" y="1692275"/>
            <a:ext cx="91440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spcBef>
                <a:spcPct val="0"/>
              </a:spcBef>
              <a:buNone/>
            </a:pPr>
            <a:r>
              <a:rPr altLang="en-US" dirty="0" lang="zh-CN" b="1" sz="3600">
                <a:solidFill>
                  <a:srgbClr val="FF0000"/>
                </a:solidFill>
                <a:ea typeface="宋体" panose="02010600030101010101" pitchFamily="2" charset="-122"/>
                <a:latin typeface="Arial" panose="020B0604020202020204" pitchFamily="34" charset="0"/>
              </a:rPr>
              <a:t>课程主要内容</a:t>
            </a:r>
            <a:endParaRPr altLang="en-US" dirty="0" lang="zh-CN" b="1" sz="3600">
              <a:solidFill>
                <a:srgbClr val="FF0000"/>
              </a:solidFill>
              <a:ea typeface="宋体" panose="02010600030101010101" pitchFamily="2" charset="-122"/>
              <a:latin typeface="Arial" panose="020B0604020202020204" pitchFamily="34" charset="0"/>
            </a:endParaRPr>
          </a:p>
        </p:txBody>
      </p:sp>
      <p:pic>
        <p:nvPicPr>
          <p:cNvPr id="9221" name="图片 2"/>
          <p:cNvPicPr/>
          <p:nvPr/>
        </p:nvPicPr>
        <p:blipFill>
          <a:blip r:embed="rId1"/>
          <a:stretch>
            <a:fillRect/>
          </a:stretch>
        </p:blipFill>
        <p:spPr>
          <a:xfrm>
            <a:off x="5260975" y="2505075"/>
            <a:ext cx="3276600" cy="3973513"/>
          </a:xfrm>
          <a:prstGeom prst="rect">
            <a:avLst/>
          </a:prstGeom>
          <a:noFill/>
          <a:ln w="9525">
            <a:noFill/>
          </a:ln>
        </p:spPr>
      </p:pic>
      <p:pic>
        <p:nvPicPr>
          <p:cNvPr id="3" name="图片 2"/>
          <p:cNvPicPr/>
          <p:nvPr/>
        </p:nvPicPr>
        <p:blipFill>
          <a:blip r:embed="rId2"/>
          <a:stretch>
            <a:fillRect/>
          </a:stretch>
        </p:blipFill>
        <p:spPr>
          <a:xfrm>
            <a:off x="-1270" y="0"/>
            <a:ext cx="9171305" cy="1668145"/>
          </a:xfrm>
          <a:prstGeom prst="rect">
            <a:avLst/>
          </a:prstGeom>
        </p:spPr>
      </p:pic>
    </p:spTree>
  </p:cSld>
  <p:clrMapOvr>
    <a:masterClrMapping/>
  </p:clrMapOvr>
  <p:transition advTm="24383">
    <p:blinds dir="vert"/>
  </p:transition>
</p:sld>
</file>

<file path=ppt/slides/slide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843088"/>
            <a:ext cx="5146675" cy="4587875"/>
          </a:xfrm>
          <a:prstGeom prst="rect">
            <a:avLst/>
          </a:prstGeom>
          <a:noFill/>
          <a:ln w="9525">
            <a:noFill/>
            <a:miter lim="800000"/>
          </a:ln>
        </p:spPr>
        <p:txBody>
          <a:bodyPr/>
          <a:lstStyle/>
          <a:p>
            <a:pPr marR="0" defTabSz="914400" eaLnBrk="1" hangingPunct="1">
              <a:lnSpc>
                <a:spcPct val="150000"/>
              </a:lnSpc>
              <a:spcBef>
                <a:spcPct val="20000"/>
              </a:spcBef>
              <a:buNone/>
              <a:defRPr/>
            </a:pPr>
            <a:r>
              <a:rPr altLang="en-US" dirty="0" kern="1200" kumimoji="0" lang="zh-CN" normalizeH="0" b="1" cap="none" noProof="0" spc="0" sz="2800">
                <a:cs typeface="+mn-cs"/>
                <a:ea typeface="宋体" panose="02010600030101010101" pitchFamily="2" charset="-122"/>
                <a:latin typeface="宋体" panose="02010600030101010101" pitchFamily="2" charset="-122"/>
              </a:rPr>
              <a:t>第一章 马克思主义的自然观</a:t>
            </a:r>
            <a:endParaRPr altLang="zh-CN" dirty="0" kern="1200" kumimoji="0" lang="en-US" normalizeH="0" b="1" cap="none" noProof="0" spc="0" sz="2800">
              <a:cs typeface="+mn-cs"/>
              <a:ea typeface="宋体" panose="02010600030101010101" pitchFamily="2" charset="-122"/>
              <a:latin typeface="宋体" panose="02010600030101010101" pitchFamily="2" charset="-122"/>
            </a:endParaRPr>
          </a:p>
          <a:p>
            <a:pPr marR="0" defTabSz="914400" eaLnBrk="1" hangingPunct="1">
              <a:lnSpc>
                <a:spcPct val="150000"/>
              </a:lnSpc>
              <a:spcBef>
                <a:spcPct val="20000"/>
              </a:spcBef>
              <a:buNone/>
              <a:defRPr/>
            </a:pPr>
            <a:r>
              <a:rPr altLang="en-US" dirty="0" kern="1200" kumimoji="0" lang="zh-CN" normalizeH="0" cap="none" noProof="0" spc="0" sz="2800">
                <a:cs typeface="+mn-cs"/>
                <a:ea typeface="宋体" panose="02010600030101010101" pitchFamily="2" charset="-122"/>
                <a:latin typeface="宋体" panose="02010600030101010101" pitchFamily="2" charset="-122"/>
              </a:rPr>
              <a:t>一、自然观</a:t>
            </a:r>
            <a:endParaRPr altLang="zh-CN" dirty="0" kern="1200" kumimoji="0" lang="en-US" normalizeH="0" cap="none" noProof="0" spc="0" sz="2800">
              <a:cs typeface="+mn-cs"/>
              <a:ea typeface="宋体" panose="02010600030101010101" pitchFamily="2" charset="-122"/>
              <a:latin typeface="宋体" panose="02010600030101010101" pitchFamily="2" charset="-122"/>
            </a:endParaRPr>
          </a:p>
          <a:p>
            <a:pPr marR="0" defTabSz="914400" eaLnBrk="1" hangingPunct="1">
              <a:lnSpc>
                <a:spcPct val="150000"/>
              </a:lnSpc>
              <a:spcBef>
                <a:spcPct val="20000"/>
              </a:spcBef>
              <a:buNone/>
              <a:defRPr/>
            </a:pPr>
            <a:r>
              <a:rPr altLang="en-US" dirty="0" kern="1200" kumimoji="0" lang="zh-CN" normalizeH="0" cap="none" noProof="0" spc="0" sz="2800">
                <a:cs typeface="+mn-cs"/>
                <a:ea typeface="宋体" panose="02010600030101010101" pitchFamily="2" charset="-122"/>
                <a:latin typeface="宋体" panose="02010600030101010101" pitchFamily="2" charset="-122"/>
              </a:rPr>
              <a:t>二、自然观的形成</a:t>
            </a:r>
            <a:endParaRPr altLang="zh-CN" dirty="0" kern="1200" kumimoji="0" lang="en-US" normalizeH="0" cap="none" noProof="0" spc="0" sz="2800">
              <a:cs typeface="+mn-cs"/>
              <a:ea typeface="宋体" panose="02010600030101010101" pitchFamily="2" charset="-122"/>
              <a:latin typeface="宋体" panose="02010600030101010101" pitchFamily="2" charset="-122"/>
            </a:endParaRPr>
          </a:p>
          <a:p>
            <a:pPr marR="0" defTabSz="914400" eaLnBrk="1" hangingPunct="1">
              <a:lnSpc>
                <a:spcPct val="150000"/>
              </a:lnSpc>
              <a:spcBef>
                <a:spcPct val="20000"/>
              </a:spcBef>
              <a:buNone/>
              <a:defRPr/>
            </a:pPr>
            <a:r>
              <a:rPr altLang="en-US" dirty="0" kern="1200" kumimoji="0" lang="zh-CN" normalizeH="0" cap="none" noProof="0" spc="0" sz="2800">
                <a:cs typeface="+mn-cs"/>
                <a:ea typeface="宋体" panose="02010600030101010101" pitchFamily="2" charset="-122"/>
                <a:latin typeface="宋体" panose="02010600030101010101" pitchFamily="2" charset="-122"/>
              </a:rPr>
              <a:t>三、自然观的发展</a:t>
            </a:r>
            <a:endParaRPr altLang="zh-CN" dirty="0" kern="0" kumimoji="0" lang="en-US" normalizeH="0" cap="none" noProof="0" spc="0" sz="2800">
              <a:cs typeface="+mn-cs"/>
              <a:ea typeface="宋体" panose="02010600030101010101" pitchFamily="2" charset="-122"/>
              <a:latin typeface="宋体" panose="02010600030101010101" pitchFamily="2" charset="-122"/>
            </a:endParaRPr>
          </a:p>
          <a:p>
            <a:pPr marR="0" defTabSz="914400" eaLnBrk="1" hangingPunct="1">
              <a:lnSpc>
                <a:spcPct val="150000"/>
              </a:lnSpc>
              <a:spcBef>
                <a:spcPct val="20000"/>
              </a:spcBef>
              <a:buNone/>
              <a:defRPr/>
            </a:pPr>
            <a:endParaRPr altLang="zh-CN" dirty="0" kern="0" kumimoji="0" lang="en-US" normalizeH="0" cap="none" noProof="0" spc="0" sz="2800">
              <a:cs typeface="+mn-cs"/>
              <a:ea/>
              <a:latin typeface="Franklin Gothic Book"/>
            </a:endParaRPr>
          </a:p>
          <a:p>
            <a:pPr marR="0" defTabSz="914400" eaLnBrk="1" hangingPunct="1">
              <a:lnSpc>
                <a:spcPct val="150000"/>
              </a:lnSpc>
              <a:spcBef>
                <a:spcPct val="20000"/>
              </a:spcBef>
              <a:buNone/>
              <a:defRPr/>
            </a:pPr>
            <a:endParaRPr altLang="zh-CN" dirty="0" kern="0" kumimoji="0" lang="en-US" normalizeH="0" cap="none" noProof="0" spc="0" sz="2800">
              <a:cs typeface="+mn-cs"/>
              <a:ea/>
              <a:latin typeface="Franklin Gothic Book"/>
            </a:endParaRPr>
          </a:p>
          <a:p>
            <a:pPr marR="0" defTabSz="914400" eaLnBrk="1" hangingPunct="1">
              <a:lnSpc>
                <a:spcPct val="150000"/>
              </a:lnSpc>
              <a:spcBef>
                <a:spcPct val="20000"/>
              </a:spcBef>
              <a:buNone/>
              <a:defRPr/>
            </a:pPr>
            <a:endParaRPr altLang="zh-CN" dirty="0" kern="0" kumimoji="0" lang="zh-CN" normalizeH="0" cap="none" noProof="0" spc="0" sz="2800">
              <a:cs typeface="+mn-cs"/>
              <a:ea/>
              <a:latin typeface="Franklin Gothic Book"/>
            </a:endParaRPr>
          </a:p>
        </p:txBody>
      </p:sp>
      <p:pic>
        <p:nvPicPr>
          <p:cNvPr id="11268" name="图片 3"/>
          <p:cNvPicPr/>
          <p:nvPr/>
        </p:nvPicPr>
        <p:blipFill>
          <a:blip r:embed="rId1"/>
          <a:stretch>
            <a:fillRect/>
          </a:stretch>
        </p:blipFill>
        <p:spPr>
          <a:xfrm>
            <a:off x="4924425" y="1843088"/>
            <a:ext cx="3946525" cy="2365375"/>
          </a:xfrm>
          <a:prstGeom prst="rect">
            <a:avLst/>
          </a:prstGeom>
          <a:noFill/>
          <a:ln w="9525">
            <a:noFill/>
          </a:ln>
        </p:spPr>
      </p:pic>
      <p:pic>
        <p:nvPicPr>
          <p:cNvPr id="11269" name="图片 5"/>
          <p:cNvPicPr/>
          <p:nvPr/>
        </p:nvPicPr>
        <p:blipFill>
          <a:blip r:embed="rId2"/>
          <a:stretch>
            <a:fillRect/>
          </a:stretch>
        </p:blipFill>
        <p:spPr>
          <a:xfrm>
            <a:off x="4924425" y="4308475"/>
            <a:ext cx="3946525" cy="2439988"/>
          </a:xfrm>
          <a:prstGeom prst="rect">
            <a:avLst/>
          </a:prstGeom>
          <a:noFill/>
          <a:ln w="9525">
            <a:noFill/>
          </a:ln>
        </p:spPr>
      </p:pic>
      <p:pic>
        <p:nvPicPr>
          <p:cNvPr id="2" name="图片 1"/>
          <p:cNvPicPr/>
          <p:nvPr/>
        </p:nvPicPr>
        <p:blipFill>
          <a:blip r:embed="rId3"/>
          <a:stretch>
            <a:fillRect/>
          </a:stretch>
        </p:blipFill>
        <p:spPr>
          <a:xfrm>
            <a:off x="-1270" y="0"/>
            <a:ext cx="9171305" cy="1560195"/>
          </a:xfrm>
          <a:prstGeom prst="rect">
            <a:avLst/>
          </a:prstGeom>
        </p:spPr>
      </p:pic>
    </p:spTree>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3586163" y="1571625"/>
            <a:ext cx="5434013" cy="5033963"/>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120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第二章 马克思主义的科学技术观</a:t>
            </a:r>
            <a:endParaRPr altLang="zh-CN" dirty="0" kern="120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一、科学技术的概念</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二、科学技术的本质与结构</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三、科学技术的发展模式与动力</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120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第三章 马克思主义的科学技术方法论 </a:t>
            </a:r>
            <a:endParaRPr altLang="zh-CN" dirty="0" kern="120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一、科学技术研究的辩证思维方法</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3600" u="none">
              <a:ln>
                <a:noFill/>
              </a:ln>
              <a:solidFill>
                <a:schemeClr val="tx1"/>
              </a:solidFill>
              <a:effectLst/>
              <a:uLnTx/>
              <a:uFillTx/>
              <a:cs typeface="+mn-cs"/>
              <a:ea/>
              <a:latin typeface="Franklin Gothic Book"/>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3600" u="none">
              <a:ln>
                <a:noFill/>
              </a:ln>
              <a:solidFill>
                <a:schemeClr val="tx1"/>
              </a:solidFill>
              <a:effectLst/>
              <a:uLnTx/>
              <a:uFillTx/>
              <a:cs typeface="+mn-cs"/>
              <a:ea/>
              <a:latin typeface="Franklin Gothic Book"/>
            </a:endParaRPr>
          </a:p>
          <a:p>
            <a:pPr marL="0" marR="0" indent="0" lvl="0" algn="l" defTabSz="914400" rtl="0" eaLnBrk="1" latinLnBrk="0" hangingPunct="1" fontAlgn="base">
              <a:lnSpc>
                <a:spcPct val="15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Franklin Gothic Book"/>
            </a:endParaRPr>
          </a:p>
        </p:txBody>
      </p:sp>
      <p:pic>
        <p:nvPicPr>
          <p:cNvPr id="12292" name="图片 3"/>
          <p:cNvPicPr/>
          <p:nvPr/>
        </p:nvPicPr>
        <p:blipFill>
          <a:blip r:embed="rId1"/>
          <a:stretch>
            <a:fillRect/>
          </a:stretch>
        </p:blipFill>
        <p:spPr>
          <a:xfrm>
            <a:off x="277813" y="1911350"/>
            <a:ext cx="3030537" cy="4211638"/>
          </a:xfrm>
          <a:prstGeom prst="rect">
            <a:avLst/>
          </a:prstGeom>
          <a:noFill/>
          <a:ln w="9525">
            <a:noFill/>
          </a:ln>
        </p:spPr>
      </p:pic>
      <p:pic>
        <p:nvPicPr>
          <p:cNvPr id="2" name="图片 1"/>
          <p:cNvPicPr/>
          <p:nvPr/>
        </p:nvPicPr>
        <p:blipFill>
          <a:blip r:embed="rId2"/>
          <a:stretch>
            <a:fillRect/>
          </a:stretch>
        </p:blipFill>
        <p:spPr>
          <a:xfrm>
            <a:off x="-1270" y="0"/>
            <a:ext cx="9171305" cy="1570355"/>
          </a:xfrm>
          <a:prstGeom prst="rect">
            <a:avLst/>
          </a:prstGeom>
        </p:spPr>
      </p:pic>
    </p:spTree>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133350" y="1719263"/>
            <a:ext cx="6134100" cy="4852988"/>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二、科学技术研究的常规方法</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三、科学技术研究的创新思维方法</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四、科研选题</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第四章 马克思主义的科学技术与社会</a:t>
            </a:r>
            <a:endPar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一、科学技术的社会建制</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二、科学技术的社会运行</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三、科学技术的社会功能</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3600" u="none">
              <a:ln>
                <a:noFill/>
              </a:ln>
              <a:solidFill>
                <a:schemeClr val="tx1"/>
              </a:solidFill>
              <a:effectLst/>
              <a:uLnTx/>
              <a:uFillTx/>
              <a:cs typeface="+mn-cs"/>
              <a:ea/>
              <a:latin typeface="Franklin Gothic Book"/>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3600" u="none">
              <a:ln>
                <a:noFill/>
              </a:ln>
              <a:solidFill>
                <a:schemeClr val="tx1"/>
              </a:solidFill>
              <a:effectLst/>
              <a:uLnTx/>
              <a:uFillTx/>
              <a:cs typeface="+mn-cs"/>
              <a:ea/>
              <a:latin typeface="Franklin Gothic Book"/>
            </a:endParaRPr>
          </a:p>
          <a:p>
            <a:pPr marL="0" marR="0" indent="0" lvl="0" algn="l" defTabSz="914400" rtl="0" eaLnBrk="1" latinLnBrk="0" hangingPunct="1" fontAlgn="base">
              <a:lnSpc>
                <a:spcPct val="15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Franklin Gothic Book"/>
            </a:endParaRPr>
          </a:p>
        </p:txBody>
      </p:sp>
      <p:pic>
        <p:nvPicPr>
          <p:cNvPr id="13316" name="图片 3"/>
          <p:cNvPicPr/>
          <p:nvPr/>
        </p:nvPicPr>
        <p:blipFill>
          <a:blip r:embed="rId1"/>
          <a:stretch>
            <a:fillRect/>
          </a:stretch>
        </p:blipFill>
        <p:spPr>
          <a:xfrm>
            <a:off x="6267450" y="2527300"/>
            <a:ext cx="2743200" cy="4044950"/>
          </a:xfrm>
          <a:prstGeom prst="rect">
            <a:avLst/>
          </a:prstGeom>
          <a:noFill/>
          <a:ln w="9525">
            <a:noFill/>
          </a:ln>
        </p:spPr>
      </p:pic>
      <p:pic>
        <p:nvPicPr>
          <p:cNvPr id="2" name="图片 1"/>
          <p:cNvPicPr/>
          <p:nvPr/>
        </p:nvPicPr>
        <p:blipFill>
          <a:blip r:embed="rId2"/>
          <a:stretch>
            <a:fillRect/>
          </a:stretch>
        </p:blipFill>
        <p:spPr>
          <a:xfrm>
            <a:off x="-1270" y="0"/>
            <a:ext cx="9171305" cy="1757680"/>
          </a:xfrm>
          <a:prstGeom prst="rect">
            <a:avLst/>
          </a:prstGeom>
        </p:spPr>
      </p:pic>
    </p:spTree>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133350" y="1719263"/>
            <a:ext cx="9010650" cy="4852988"/>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第五章 自然辩证法与创新型国家建设</a:t>
            </a:r>
            <a:endPar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一、马克思主义科技观的中国化成果</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二、创新型国家建设</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3600" u="none">
              <a:ln>
                <a:noFill/>
              </a:ln>
              <a:solidFill>
                <a:schemeClr val="tx1"/>
              </a:solidFill>
              <a:effectLst/>
              <a:uLnTx/>
              <a:uFillTx/>
              <a:cs typeface="+mn-cs"/>
              <a:ea/>
              <a:latin typeface="Franklin Gothic Book"/>
            </a:endParaRPr>
          </a:p>
          <a:p>
            <a:pPr marL="0" marR="0" indent="0" lvl="0" algn="l" defTabSz="914400" rtl="0" eaLnBrk="1" latinLnBrk="0" hangingPunct="1" fontAlgn="base">
              <a:lnSpc>
                <a:spcPct val="15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Franklin Gothic Book"/>
            </a:endParaRPr>
          </a:p>
        </p:txBody>
      </p:sp>
      <p:pic>
        <p:nvPicPr>
          <p:cNvPr id="14340" name="图片 3"/>
          <p:cNvPicPr/>
          <p:nvPr/>
        </p:nvPicPr>
        <p:blipFill>
          <a:blip r:embed="rId1"/>
          <a:stretch>
            <a:fillRect/>
          </a:stretch>
        </p:blipFill>
        <p:spPr>
          <a:xfrm>
            <a:off x="133350" y="3811588"/>
            <a:ext cx="8877300" cy="2847975"/>
          </a:xfrm>
          <a:prstGeom prst="rect">
            <a:avLst/>
          </a:prstGeom>
          <a:noFill/>
          <a:ln w="9525">
            <a:noFill/>
          </a:ln>
        </p:spPr>
      </p:pic>
      <p:pic>
        <p:nvPicPr>
          <p:cNvPr id="2" name="图片 1"/>
          <p:cNvPicPr/>
          <p:nvPr/>
        </p:nvPicPr>
        <p:blipFill>
          <a:blip r:embed="rId2"/>
          <a:stretch>
            <a:fillRect/>
          </a:stretch>
        </p:blipFill>
        <p:spPr>
          <a:xfrm>
            <a:off x="-1270" y="0"/>
            <a:ext cx="9171305" cy="1757680"/>
          </a:xfrm>
          <a:prstGeom prst="rect">
            <a:avLst/>
          </a:prstGeom>
        </p:spPr>
      </p:pic>
    </p:spTree>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15362" name="TextBox 4"/>
          <p:cNvSpPr/>
          <p:nvPr/>
        </p:nvSpPr>
        <p:spPr>
          <a:xfrm>
            <a:off x="82550" y="2520950"/>
            <a:ext cx="4868863" cy="3754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buNone/>
            </a:pPr>
            <a:r>
              <a:rPr altLang="en-US" dirty="0" lang="zh-CN" b="1" sz="2800">
                <a:solidFill>
                  <a:srgbClr val="FF0000"/>
                </a:solidFill>
                <a:latin typeface="宋体" panose="02010600030101010101" pitchFamily="2" charset="-122"/>
              </a:rPr>
              <a:t>一、关于学科名称</a:t>
            </a:r>
            <a:endParaRPr altLang="zh-CN" dirty="0" lang="en-US" b="1" sz="2800">
              <a:solidFill>
                <a:srgbClr val="FF0000"/>
              </a:solidFill>
              <a:latin typeface="宋体" panose="02010600030101010101" pitchFamily="2" charset="-122"/>
            </a:endParaRPr>
          </a:p>
          <a:p>
            <a:pPr marL="0" indent="0" lvl="0" algn="just" eaLnBrk="1" hangingPunct="1">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1</a:t>
            </a:r>
            <a:r>
              <a:rPr altLang="en-US" dirty="0" lang="zh-CN" b="1" sz="2800">
                <a:solidFill>
                  <a:srgbClr val="FF0000"/>
                </a:solidFill>
                <a:ea typeface="宋体" panose="02010600030101010101" pitchFamily="2" charset="-122"/>
                <a:latin typeface="宋体" panose="02010600030101010101" pitchFamily="2" charset="-122"/>
              </a:rPr>
              <a:t>、自然辩证法的概念</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“自然辩证法”源于恩格斯的一部著作</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自然辩证法</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1873-1886</a:t>
            </a:r>
            <a:r>
              <a:rPr altLang="en-US" dirty="0" lang="zh-CN" sz="2800">
                <a:ea typeface="宋体" panose="02010600030101010101" pitchFamily="2" charset="-122"/>
                <a:latin typeface="宋体" panose="02010600030101010101" pitchFamily="2" charset="-122"/>
              </a:rPr>
              <a:t>），它主要论述的是自然界的辨证法和自然科学的辨证法。</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b="1" sz="2800">
              <a:ea typeface="宋体" panose="02010600030101010101" pitchFamily="2" charset="-122"/>
              <a:latin typeface="Arial" panose="020B0604020202020204" pitchFamily="34" charset="0"/>
            </a:endParaRPr>
          </a:p>
        </p:txBody>
      </p:sp>
      <p:pic>
        <p:nvPicPr>
          <p:cNvPr id="15364" name="图片 2"/>
          <p:cNvPicPr/>
          <p:nvPr/>
        </p:nvPicPr>
        <p:blipFill>
          <a:blip r:embed="rId1"/>
          <a:stretch>
            <a:fillRect/>
          </a:stretch>
        </p:blipFill>
        <p:spPr>
          <a:xfrm>
            <a:off x="5630863" y="2892425"/>
            <a:ext cx="2938462" cy="3381375"/>
          </a:xfrm>
          <a:prstGeom prst="rect">
            <a:avLst/>
          </a:prstGeom>
          <a:noFill/>
          <a:ln w="9525">
            <a:noFill/>
          </a:ln>
        </p:spPr>
      </p:pic>
      <p:sp>
        <p:nvSpPr>
          <p:cNvPr id="15365" name="TextBox 7"/>
          <p:cNvSpPr/>
          <p:nvPr/>
        </p:nvSpPr>
        <p:spPr>
          <a:xfrm>
            <a:off x="2454275" y="1763713"/>
            <a:ext cx="4233863" cy="735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a:solidFill>
                  <a:srgbClr val="FF0000"/>
                </a:solidFill>
                <a:ea typeface="宋体" panose="02010600030101010101" pitchFamily="2" charset="-122"/>
                <a:latin typeface="宋体" panose="02010600030101010101" pitchFamily="2" charset="-122"/>
              </a:rPr>
              <a:t>绪 论</a:t>
            </a:r>
            <a:endParaRPr altLang="zh-CN" dirty="0" lang="en-US" b="1">
              <a:solidFill>
                <a:srgbClr val="FF0000"/>
              </a:solidFill>
              <a:ea typeface="宋体" panose="02010600030101010101" pitchFamily="2" charset="-122"/>
              <a:latin typeface="宋体" panose="02010600030101010101" pitchFamily="2" charset="-122"/>
            </a:endParaRPr>
          </a:p>
        </p:txBody>
      </p:sp>
      <p:pic>
        <p:nvPicPr>
          <p:cNvPr id="3" name="图片 2"/>
          <p:cNvPicPr/>
          <p:nvPr/>
        </p:nvPicPr>
        <p:blipFill>
          <a:blip r:embed="rId2"/>
          <a:stretch>
            <a:fillRect/>
          </a:stretch>
        </p:blipFill>
        <p:spPr>
          <a:xfrm>
            <a:off x="-1270" y="0"/>
            <a:ext cx="9171305" cy="1757680"/>
          </a:xfrm>
          <a:prstGeom prst="rect">
            <a:avLst/>
          </a:prstGeom>
        </p:spPr>
      </p:pic>
    </p:spTree>
    <p:custDataLst>
      <p:tags r:id="rId3"/>
    </p:custDataLst>
  </p:cSld>
  <p:clrMapOvr>
    <a:masterClrMapping/>
  </p:clrMapOvr>
  <p:transition advTm="40108">
    <p:zoom/>
  </p:transition>
</p:sld>
</file>

<file path=ppt/slides/slide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16387" name="TextBox 4"/>
          <p:cNvSpPr/>
          <p:nvPr/>
        </p:nvSpPr>
        <p:spPr>
          <a:xfrm>
            <a:off x="82550" y="1871663"/>
            <a:ext cx="9144000" cy="310769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在</a:t>
            </a:r>
            <a:r>
              <a:rPr altLang="zh-CN" dirty="0" lang="en-US" sz="2800">
                <a:ea typeface="宋体" panose="02010600030101010101" pitchFamily="2" charset="-122"/>
                <a:latin typeface="宋体" panose="02010600030101010101" pitchFamily="2" charset="-122"/>
              </a:rPr>
              <a:t>50</a:t>
            </a:r>
            <a:r>
              <a:rPr altLang="en-US" dirty="0" lang="zh-CN" sz="2800">
                <a:ea typeface="宋体" panose="02010600030101010101" pitchFamily="2" charset="-122"/>
                <a:latin typeface="宋体" panose="02010600030101010101" pitchFamily="2" charset="-122"/>
              </a:rPr>
              <a:t>年代，我国专家建议将其作为我国的一门学科名称。</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）自然界的辩证法，指自然界各种事物发展变化的一般规律。</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马克思主义自然辩证法与旧自然哲学不同，它以自然科学为中介研究自然界的发展变化。</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Arial" panose="020B0604020202020204" pitchFamily="34" charset="0"/>
            </a:endParaRPr>
          </a:p>
        </p:txBody>
      </p:sp>
      <p:pic>
        <p:nvPicPr>
          <p:cNvPr id="16388" name="图片 2"/>
          <p:cNvPicPr/>
          <p:nvPr/>
        </p:nvPicPr>
        <p:blipFill>
          <a:blip r:embed="rId1"/>
          <a:stretch>
            <a:fillRect/>
          </a:stretch>
        </p:blipFill>
        <p:spPr>
          <a:xfrm>
            <a:off x="1674813" y="4151313"/>
            <a:ext cx="3352800" cy="2481262"/>
          </a:xfrm>
          <a:prstGeom prst="rect">
            <a:avLst/>
          </a:prstGeom>
          <a:noFill/>
          <a:ln w="9525">
            <a:noFill/>
          </a:ln>
        </p:spPr>
      </p:pic>
      <p:pic>
        <p:nvPicPr>
          <p:cNvPr id="16389" name="图片 4"/>
          <p:cNvPicPr/>
          <p:nvPr/>
        </p:nvPicPr>
        <p:blipFill>
          <a:blip r:embed="rId2"/>
          <a:stretch>
            <a:fillRect/>
          </a:stretch>
        </p:blipFill>
        <p:spPr>
          <a:xfrm>
            <a:off x="5619750" y="3679825"/>
            <a:ext cx="3524250" cy="2952750"/>
          </a:xfrm>
          <a:prstGeom prst="rect">
            <a:avLst/>
          </a:prstGeom>
          <a:noFill/>
          <a:ln w="9525">
            <a:noFill/>
          </a:ln>
        </p:spPr>
      </p:pic>
      <p:pic>
        <p:nvPicPr>
          <p:cNvPr id="3" name="图片 2"/>
          <p:cNvPicPr/>
          <p:nvPr/>
        </p:nvPicPr>
        <p:blipFill>
          <a:blip r:embed="rId3"/>
          <a:stretch>
            <a:fillRect/>
          </a:stretch>
        </p:blipFill>
        <p:spPr>
          <a:xfrm>
            <a:off x="-1270" y="0"/>
            <a:ext cx="9171305" cy="1757680"/>
          </a:xfrm>
          <a:prstGeom prst="rect">
            <a:avLst/>
          </a:prstGeom>
        </p:spPr>
      </p:pic>
    </p:spTree>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17410" name="TextBox 4"/>
          <p:cNvSpPr/>
          <p:nvPr/>
        </p:nvSpPr>
        <p:spPr>
          <a:xfrm>
            <a:off x="82550" y="1871663"/>
            <a:ext cx="9144000" cy="4832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）自然辩证法是指自然科学与技术发展的一般规律。</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人类认识和变革自然的一般方法；</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当代西方科学技术哲学的研究主流。（物理学哲学、生物学哲学、化学哲学）</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）自然科学与技术在社会中的发展规律。</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科学技术自身的社会建制化；</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en-US" dirty="0" lang="zh-CN" sz="2800">
                <a:ea typeface="宋体" panose="02010600030101010101" pitchFamily="2" charset="-122"/>
                <a:latin typeface="宋体" panose="02010600030101010101" pitchFamily="2" charset="-122"/>
              </a:rPr>
              <a:t>科学技术与社会的互动。</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Arial" panose="020B0604020202020204" pitchFamily="34" charset="0"/>
            </a:endParaRPr>
          </a:p>
        </p:txBody>
      </p:sp>
      <p:pic>
        <p:nvPicPr>
          <p:cNvPr id="17412" name="图片 2"/>
          <p:cNvPicPr/>
          <p:nvPr/>
        </p:nvPicPr>
        <p:blipFill>
          <a:blip r:embed="rId1"/>
          <a:stretch>
            <a:fillRect/>
          </a:stretch>
        </p:blipFill>
        <p:spPr>
          <a:xfrm>
            <a:off x="1851025" y="4911725"/>
            <a:ext cx="2927350" cy="1792288"/>
          </a:xfrm>
          <a:prstGeom prst="rect">
            <a:avLst/>
          </a:prstGeom>
          <a:noFill/>
          <a:ln w="9525">
            <a:noFill/>
          </a:ln>
        </p:spPr>
      </p:pic>
      <p:pic>
        <p:nvPicPr>
          <p:cNvPr id="17413" name="图片 4"/>
          <p:cNvPicPr/>
          <p:nvPr/>
        </p:nvPicPr>
        <p:blipFill>
          <a:blip r:embed="rId2"/>
          <a:stretch>
            <a:fillRect/>
          </a:stretch>
        </p:blipFill>
        <p:spPr>
          <a:xfrm>
            <a:off x="4830763" y="4119563"/>
            <a:ext cx="1976437" cy="2584450"/>
          </a:xfrm>
          <a:prstGeom prst="rect">
            <a:avLst/>
          </a:prstGeom>
          <a:noFill/>
          <a:ln w="9525">
            <a:noFill/>
          </a:ln>
        </p:spPr>
      </p:pic>
      <p:pic>
        <p:nvPicPr>
          <p:cNvPr id="17414" name="图片 6"/>
          <p:cNvPicPr/>
          <p:nvPr/>
        </p:nvPicPr>
        <p:blipFill>
          <a:blip r:embed="rId3"/>
          <a:stretch>
            <a:fillRect/>
          </a:stretch>
        </p:blipFill>
        <p:spPr>
          <a:xfrm>
            <a:off x="6911975" y="3297238"/>
            <a:ext cx="2209800" cy="3406775"/>
          </a:xfrm>
          <a:prstGeom prst="rect">
            <a:avLst/>
          </a:prstGeom>
          <a:noFill/>
          <a:ln w="9525">
            <a:noFill/>
          </a:ln>
        </p:spPr>
      </p:pic>
      <p:pic>
        <p:nvPicPr>
          <p:cNvPr id="3" name="图片 2"/>
          <p:cNvPicPr/>
          <p:nvPr/>
        </p:nvPicPr>
        <p:blipFill>
          <a:blip r:embed="rId4"/>
          <a:stretch>
            <a:fillRect/>
          </a:stretch>
        </p:blipFill>
        <p:spPr>
          <a:xfrm>
            <a:off x="-1270" y="0"/>
            <a:ext cx="9171305" cy="1757680"/>
          </a:xfrm>
          <a:prstGeom prst="rect">
            <a:avLst/>
          </a:prstGeom>
        </p:spPr>
      </p:pic>
    </p:spTree>
    <p:custDataLst>
      <p:tags r:id="rId5"/>
    </p:custDataLst>
  </p:cSld>
  <p:clrMapOvr>
    <a:masterClrMapping/>
  </p:clrMapOvr>
  <p:transition advTm="40108">
    <p:zoom/>
  </p:transition>
</p:sld>
</file>

<file path=ppt/slides/slide1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18434" name="TextBox 4"/>
          <p:cNvSpPr/>
          <p:nvPr/>
        </p:nvSpPr>
        <p:spPr>
          <a:xfrm>
            <a:off x="82550" y="1871663"/>
            <a:ext cx="9144000" cy="4832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2</a:t>
            </a:r>
            <a:r>
              <a:rPr altLang="en-US" dirty="0" lang="zh-CN" b="1" sz="2800">
                <a:solidFill>
                  <a:srgbClr val="FF0000"/>
                </a:solidFill>
                <a:ea typeface="宋体" panose="02010600030101010101" pitchFamily="2" charset="-122"/>
                <a:latin typeface="宋体" panose="02010600030101010101" pitchFamily="2" charset="-122"/>
              </a:rPr>
              <a:t>、自然辩证法完整内涵</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自然辩证法是关于自然和科学技术发展的一般规律、人类认识和改造自然的一般方法以及科学技术与人类社会相互作用的理论体系，是对以科学技术为中介和手段的人与自然、社会的相互关系的概括、总结。自然辩证法是马克思主义理论的重要组成部分。</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sz="2800">
              <a:ea typeface="宋体" panose="02010600030101010101" pitchFamily="2" charset="-122"/>
              <a:latin typeface="Arial" panose="020B0604020202020204" pitchFamily="34" charset="0"/>
            </a:endParaRPr>
          </a:p>
        </p:txBody>
      </p:sp>
      <p:pic>
        <p:nvPicPr>
          <p:cNvPr id="3" name="图片 2"/>
          <p:cNvPicPr/>
          <p:nvPr/>
        </p:nvPicPr>
        <p:blipFill>
          <a:blip r:embed="rId1"/>
          <a:stretch>
            <a:fillRect/>
          </a:stretch>
        </p:blipFill>
        <p:spPr>
          <a:xfrm>
            <a:off x="-1270" y="0"/>
            <a:ext cx="9171305" cy="1757680"/>
          </a:xfrm>
          <a:prstGeom prst="rect">
            <a:avLst/>
          </a:prstGeom>
        </p:spPr>
      </p:pic>
    </p:spTree>
    <p:custDataLst>
      <p:tags r:id="rId2"/>
    </p:custDataLst>
  </p:cSld>
  <p:clrMapOvr>
    <a:masterClrMapping/>
  </p:clrMapOvr>
  <p:transition advTm="40108">
    <p:zoom/>
  </p:transition>
</p:sld>
</file>

<file path=ppt/slides/slide1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19459" name="TextBox 4"/>
          <p:cNvSpPr/>
          <p:nvPr/>
        </p:nvSpPr>
        <p:spPr>
          <a:xfrm>
            <a:off x="82550" y="1871663"/>
            <a:ext cx="9144000" cy="4702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lnSpc>
                <a:spcPct val="150000"/>
              </a:lnSpc>
              <a:buNone/>
            </a:pPr>
            <a:r>
              <a:rPr altLang="en-US" dirty="0" lang="zh-CN" b="1" sz="2800">
                <a:solidFill>
                  <a:srgbClr val="FF0000"/>
                </a:solidFill>
                <a:latin typeface="宋体" panose="02010600030101010101" pitchFamily="2" charset="-122"/>
              </a:rPr>
              <a:t>二、自然辩证法的学科性质</a:t>
            </a:r>
            <a:endParaRPr altLang="zh-CN" dirty="0" lang="en-US" b="1" sz="2800">
              <a:solidFill>
                <a:srgbClr val="FF0000"/>
              </a:solidFill>
              <a:latin typeface="宋体" panose="02010600030101010101" pitchFamily="2" charset="-122"/>
            </a:endParaRPr>
          </a:p>
          <a:p>
            <a:pPr marL="0" indent="0" lvl="0" eaLnBrk="1" hangingPunct="1">
              <a:buNone/>
            </a:pPr>
            <a:r>
              <a:rPr altLang="zh-CN" dirty="0" lang="en-US" sz="2800">
                <a:ea typeface="宋体" panose="02010600030101010101" pitchFamily="2" charset="-122"/>
                <a:latin typeface="Arial" panose="020B0604020202020204" pitchFamily="34" charset="0"/>
              </a:rPr>
              <a:t>1</a:t>
            </a:r>
            <a:r>
              <a:rPr altLang="en-US" dirty="0" lang="zh-CN" sz="2800">
                <a:ea typeface="宋体" panose="02010600030101010101" pitchFamily="2" charset="-122"/>
                <a:latin typeface="Arial" panose="020B0604020202020204" pitchFamily="34" charset="0"/>
              </a:rPr>
              <a:t>、自然辩证法是一门自然科学、社会科学与思维科学相交叉的哲学性质的马克思主义理论学科；</a:t>
            </a:r>
            <a:endParaRPr altLang="zh-CN" dirty="0" lang="en-US" sz="2800">
              <a:ea typeface="宋体" panose="02010600030101010101" pitchFamily="2" charset="-122"/>
              <a:latin typeface="Arial" panose="020B0604020202020204" pitchFamily="34" charset="0"/>
            </a:endParaRPr>
          </a:p>
          <a:p>
            <a:pPr marL="0" indent="0" lvl="0" algn="just" eaLnBrk="1" hangingPunct="1">
              <a:spcBef>
                <a:spcPct val="0"/>
              </a:spcBef>
              <a:buNone/>
            </a:pP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、自然辩证法具有综合性、交叉性和哲理性的学科；</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、与自然辩证法相邻的学科：自然哲学、科学哲学、技术哲学、科学技术史、科学学、科学社会学等；</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r>
              <a:rPr altLang="zh-CN" dirty="0" lang="en-US" sz="2800">
                <a:ea typeface="宋体" panose="02010600030101010101" pitchFamily="2" charset="-122"/>
                <a:latin typeface="宋体" panose="02010600030101010101" pitchFamily="2" charset="-122"/>
              </a:rPr>
              <a:t>4</a:t>
            </a:r>
            <a:r>
              <a:rPr altLang="en-US" dirty="0" lang="zh-CN" sz="2800">
                <a:ea typeface="宋体" panose="02010600030101010101" pitchFamily="2" charset="-122"/>
                <a:latin typeface="宋体" panose="02010600030101010101" pitchFamily="2" charset="-122"/>
              </a:rPr>
              <a:t>、当代自然辩证法的发展趋势是一门独立的科学、技术与社会的交叉学科（</a:t>
            </a:r>
            <a:r>
              <a:rPr altLang="zh-CN" dirty="0" lang="en-US" sz="2800">
                <a:ea typeface="宋体" panose="02010600030101010101" pitchFamily="2" charset="-122"/>
                <a:latin typeface="宋体" panose="02010600030101010101" pitchFamily="2" charset="-122"/>
              </a:rPr>
              <a:t>STS,science,technology and society</a:t>
            </a:r>
            <a:r>
              <a:rPr altLang="en-US" dirty="0" lang="zh-CN" sz="2800">
                <a:ea typeface="宋体" panose="02010600030101010101" pitchFamily="2" charset="-122"/>
                <a:latin typeface="宋体" panose="02010600030101010101" pitchFamily="2" charset="-122"/>
              </a:rPr>
              <a:t>）</a:t>
            </a:r>
            <a:endParaRPr altLang="zh-CN" dirty="0" lang="en-US" sz="2800">
              <a:ea typeface="宋体" panose="02010600030101010101" pitchFamily="2" charset="-122"/>
              <a:latin typeface="宋体" panose="02010600030101010101" pitchFamily="2" charset="-122"/>
            </a:endParaRPr>
          </a:p>
          <a:p>
            <a:pPr marL="0" indent="0" lvl="0" algn="just" eaLnBrk="1" hangingPunct="1">
              <a:spcBef>
                <a:spcPct val="0"/>
              </a:spcBef>
              <a:buNone/>
            </a:pPr>
            <a:endParaRPr altLang="zh-CN" dirty="0" lang="en-US" b="1" sz="28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743075"/>
            <a:ext cx="9144000" cy="5278438"/>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1" cap="none" i="0" noProof="0" spc="0" strike="noStrike" sz="3200" u="none">
                <a:ln>
                  <a:noFill/>
                </a:ln>
                <a:solidFill>
                  <a:srgbClr val="FF0000"/>
                </a:solidFill>
                <a:effectLst/>
                <a:uLnTx/>
                <a:uFillTx/>
                <a:cs typeface="+mn-cs"/>
                <a:ea/>
                <a:latin typeface="宋体" panose="02010600030101010101" pitchFamily="2" charset="-122"/>
              </a:rPr>
              <a:t>三、自然辩证法的研究内容</a:t>
            </a:r>
            <a:endParaRPr altLang="zh-CN" dirty="0" kern="0" kumimoji="0" lang="en-US" normalizeH="0" b="1" cap="none" i="0" noProof="0" spc="0" strike="noStrike" sz="3200" u="none">
              <a:ln>
                <a:noFill/>
              </a:ln>
              <a:solidFill>
                <a:srgbClr val="FF0000"/>
              </a:solidFill>
              <a:effectLst/>
              <a:uLnTx/>
              <a:uFillTx/>
              <a:cs typeface="+mn-cs"/>
              <a:ea/>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自然辩证法是完整的体系，主要内容包括：</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a:t>
            </a:r>
            <a:r>
              <a:rPr altLang="en-US" dirty="0" kern="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、马克思主义自然辩证法的理论基石</a:t>
            </a:r>
            <a:endPar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马克思主义自然观；</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马克思主义科学技术观；</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马克思主义科学技术方法论；</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马克思主义科学技术社会论。</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743075"/>
            <a:ext cx="9144000" cy="51149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2</a:t>
            </a:r>
            <a:r>
              <a:rPr altLang="en-US" dirty="0" kern="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、自然辩证法的中国化</a:t>
            </a:r>
            <a:endPar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中国马克思主义科学技术观</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毛泽东的科技观思想；</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邓小平的科技观思想；</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江泽民的科技观思想；</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胡锦涛的科技观思想；</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习近平的科技观思想。</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1508" name="图片 13"/>
          <p:cNvPicPr/>
          <p:nvPr/>
        </p:nvPicPr>
        <p:blipFill>
          <a:blip r:embed="rId1"/>
          <a:stretch>
            <a:fillRect/>
          </a:stretch>
        </p:blipFill>
        <p:spPr>
          <a:xfrm>
            <a:off x="4459288" y="3687763"/>
            <a:ext cx="1366837" cy="2517775"/>
          </a:xfrm>
          <a:prstGeom prst="rect">
            <a:avLst/>
          </a:prstGeom>
          <a:noFill/>
          <a:ln w="9525">
            <a:noFill/>
          </a:ln>
        </p:spPr>
      </p:pic>
      <p:pic>
        <p:nvPicPr>
          <p:cNvPr id="21509" name="图片 15"/>
          <p:cNvPicPr/>
          <p:nvPr/>
        </p:nvPicPr>
        <p:blipFill>
          <a:blip r:embed="rId2"/>
          <a:stretch>
            <a:fillRect/>
          </a:stretch>
        </p:blipFill>
        <p:spPr>
          <a:xfrm>
            <a:off x="5187950" y="1743075"/>
            <a:ext cx="3154363" cy="1944688"/>
          </a:xfrm>
          <a:prstGeom prst="rect">
            <a:avLst/>
          </a:prstGeom>
          <a:noFill/>
          <a:ln w="9525">
            <a:noFill/>
          </a:ln>
        </p:spPr>
      </p:pic>
      <p:pic>
        <p:nvPicPr>
          <p:cNvPr id="21510" name="图片 17"/>
          <p:cNvPicPr/>
          <p:nvPr/>
        </p:nvPicPr>
        <p:blipFill>
          <a:blip r:embed="rId3"/>
          <a:stretch>
            <a:fillRect/>
          </a:stretch>
        </p:blipFill>
        <p:spPr>
          <a:xfrm>
            <a:off x="2987675" y="3687763"/>
            <a:ext cx="1471613" cy="2517775"/>
          </a:xfrm>
          <a:prstGeom prst="rect">
            <a:avLst/>
          </a:prstGeom>
          <a:noFill/>
          <a:ln w="9525">
            <a:noFill/>
          </a:ln>
        </p:spPr>
      </p:pic>
      <p:pic>
        <p:nvPicPr>
          <p:cNvPr id="21511" name="图片 19"/>
          <p:cNvPicPr/>
          <p:nvPr/>
        </p:nvPicPr>
        <p:blipFill>
          <a:blip r:embed="rId4"/>
          <a:stretch>
            <a:fillRect/>
          </a:stretch>
        </p:blipFill>
        <p:spPr>
          <a:xfrm>
            <a:off x="7616825" y="3687763"/>
            <a:ext cx="1547813" cy="2517775"/>
          </a:xfrm>
          <a:prstGeom prst="rect">
            <a:avLst/>
          </a:prstGeom>
          <a:noFill/>
          <a:ln w="9525">
            <a:noFill/>
          </a:ln>
        </p:spPr>
      </p:pic>
      <p:pic>
        <p:nvPicPr>
          <p:cNvPr id="21512" name="图片 21"/>
          <p:cNvPicPr/>
          <p:nvPr/>
        </p:nvPicPr>
        <p:blipFill>
          <a:blip r:embed="rId5"/>
          <a:stretch>
            <a:fillRect/>
          </a:stretch>
        </p:blipFill>
        <p:spPr>
          <a:xfrm>
            <a:off x="5826125" y="3687763"/>
            <a:ext cx="1770063" cy="2517775"/>
          </a:xfrm>
          <a:prstGeom prst="rect">
            <a:avLst/>
          </a:prstGeom>
          <a:noFill/>
          <a:ln w="9525">
            <a:noFill/>
          </a:ln>
        </p:spPr>
      </p:pic>
      <p:pic>
        <p:nvPicPr>
          <p:cNvPr id="2" name="图片 1"/>
          <p:cNvPicPr/>
          <p:nvPr/>
        </p:nvPicPr>
        <p:blipFill>
          <a:blip r:embed="rId6"/>
          <a:stretch>
            <a:fillRect/>
          </a:stretch>
        </p:blipFill>
        <p:spPr>
          <a:xfrm>
            <a:off x="-1270" y="0"/>
            <a:ext cx="9171305" cy="1757680"/>
          </a:xfrm>
          <a:prstGeom prst="rect">
            <a:avLst/>
          </a:prstGeom>
        </p:spPr>
      </p:pic>
    </p:spTree>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743075"/>
            <a:ext cx="9144000" cy="46577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1" cap="none" i="0" noProof="0" spc="0" strike="noStrike" sz="3200" u="none">
                <a:ln>
                  <a:noFill/>
                </a:ln>
                <a:solidFill>
                  <a:srgbClr val="FF0000"/>
                </a:solidFill>
                <a:effectLst/>
                <a:uLnTx/>
                <a:uFillTx/>
                <a:cs typeface="+mn-cs"/>
                <a:ea/>
                <a:latin typeface="宋体" panose="02010600030101010101" pitchFamily="2" charset="-122"/>
              </a:rPr>
              <a:t>四、自然辩证法的历史发展</a:t>
            </a:r>
            <a:endParaRPr altLang="zh-CN" dirty="0" kern="0" kumimoji="0" lang="en-US" normalizeH="0" b="0" cap="none" i="0" noProof="0" spc="0" strike="noStrike" sz="3200" u="none">
              <a:ln>
                <a:noFill/>
              </a:ln>
              <a:solidFill>
                <a:srgbClr val="FF0000"/>
              </a:solidFill>
              <a:effectLst/>
              <a:uLnTx/>
              <a:uFillTx/>
              <a:cs typeface="+mn-cs"/>
              <a:ea/>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1</a:t>
            </a:r>
            <a:r>
              <a:rPr altLang="en-US" dirty="0" kern="0" kumimoji="0" lang="zh-CN"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、马克思与恩格斯的开创性工作</a:t>
            </a:r>
            <a:endPar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1873</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年，恩格斯就开始着手写</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，其中，他提出一套“关于自然科学的辨证思想”，形成了</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的首个提纲，开始了对自然辩证法的探索。</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1925</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年，</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以俄文的形式首次发表。</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663700"/>
            <a:ext cx="9144000" cy="4941888"/>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l"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2</a:t>
            </a:r>
            <a:r>
              <a:rPr altLang="en-US" dirty="0" kern="0" kumimoji="0" lang="zh-CN"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、马克思恩格斯的研究工作</a:t>
            </a:r>
            <a:endPar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1</a:t>
            </a: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）自然观的变革</a:t>
            </a:r>
            <a:endPar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马克思恩格斯克服了古代直观、思辨、猜测的自然观；批评了近代机械自然观；深刻揭示了自然界本身的辩证法。</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2</a:t>
            </a: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）科学认识论和方法论变革</a:t>
            </a:r>
            <a:endPar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马克思和恩格思克服了近代经验论和唯理论的片面倾向，</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将实践归到认识论的首要地位，唯物主义地改造了黑格尔</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663700"/>
            <a:ext cx="9144000" cy="46577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思维能动性，创立了辩证唯物主义的科学认识论和方法论。</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3</a:t>
            </a:r>
            <a:r>
              <a:rPr altLang="en-US" dirty="0" kern="0" kumimoji="0" lang="zh-CN"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）科学技术观的变革</a:t>
            </a:r>
            <a:endParaRPr altLang="zh-CN" dirty="0" kern="0" kumimoji="0" lang="en-US" normalizeH="0" b="0"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马克思恩格斯运用历史唯物主义观点，不仅揭示了科学技术自身发展的内在逻辑，而且揭示了科学技术的发展与社会之间的辩证关系。例如：自然科学是一般生产力；社会实践的需要，首先是经济、生产的需要是科学技术发展的基本动力。</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663700"/>
            <a:ext cx="9144000" cy="46577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3</a:t>
            </a:r>
            <a:r>
              <a:rPr altLang="en-US" dirty="0" kern="0" kumimoji="0" lang="zh-CN"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rPr>
              <a:t>、马克思主义自然辩证法的发展</a:t>
            </a:r>
            <a:endParaRPr altLang="zh-CN" dirty="0" kern="0" kumimoji="0" lang="en-US" normalizeH="0" b="1" cap="none" i="0" noProof="0" spc="0" strike="noStrike" sz="28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1</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）列宁</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唯物主义与经验批判主义</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，总结概括了自然科学的最新成果，推动自然辩证法的发展。</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2</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1931</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年，伦敦国际科学史大会，苏联物理学家盖森提交的论文</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牛顿力学的社会经济根源</a:t>
            </a:r>
            <a:r>
              <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，揭开了用马克思主义思想研究科学和科学史的新篇章。后来，经过贝尔纳、默顿等的发展，产生出了“科学社会学”。</a:t>
            </a:r>
            <a:endParaRPr altLang="zh-CN" dirty="0" kern="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530350"/>
            <a:ext cx="5683250" cy="537146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8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4</a:t>
            </a:r>
            <a:r>
              <a:rPr altLang="en-US" dirty="0" kern="0" kumimoji="0" lang="zh-CN" normalizeH="0" b="0" cap="none" i="0" noProof="0" spc="0" strike="noStrike" sz="28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、自然辩证法在中国的发展</a:t>
            </a:r>
            <a:endParaRPr altLang="zh-CN" dirty="0" kern="0" kumimoji="0" lang="en-US" normalizeH="0" b="0" cap="none" i="0" noProof="0" spc="0" strike="noStrike" sz="28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zh-CN" dirty="0" kern="0" kumimoji="0" lang="en-US"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a:t>
            </a:r>
            <a:r>
              <a:rPr altLang="en-US" dirty="0" kern="0" kumimoji="0" lang="zh-CN"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）建国初期</a:t>
            </a:r>
            <a:endParaRPr altLang="zh-CN" dirty="0" kern="0" kumimoji="0" lang="en-US"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1950</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年</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-1952</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年，当时的科学技术工作者必读</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自然辩证法</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社会发展史</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等。</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李四光、华罗庚等科学家学习了</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反杜林论</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哲学笔记</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唯物主义和经验批判主义</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，并发表了心得体会，引起重大影响。</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6628" name="图片 3"/>
          <p:cNvPicPr/>
          <p:nvPr/>
        </p:nvPicPr>
        <p:blipFill>
          <a:blip r:embed="rId1"/>
          <a:stretch>
            <a:fillRect/>
          </a:stretch>
        </p:blipFill>
        <p:spPr>
          <a:xfrm>
            <a:off x="5683250" y="1743075"/>
            <a:ext cx="1765300" cy="2481263"/>
          </a:xfrm>
          <a:prstGeom prst="rect">
            <a:avLst/>
          </a:prstGeom>
          <a:noFill/>
          <a:ln w="9525">
            <a:noFill/>
          </a:ln>
        </p:spPr>
      </p:pic>
      <p:pic>
        <p:nvPicPr>
          <p:cNvPr id="26629" name="图片 5"/>
          <p:cNvPicPr/>
          <p:nvPr/>
        </p:nvPicPr>
        <p:blipFill>
          <a:blip r:embed="rId2"/>
          <a:stretch>
            <a:fillRect/>
          </a:stretch>
        </p:blipFill>
        <p:spPr>
          <a:xfrm>
            <a:off x="5694363" y="4224338"/>
            <a:ext cx="1754187" cy="2419350"/>
          </a:xfrm>
          <a:prstGeom prst="rect">
            <a:avLst/>
          </a:prstGeom>
          <a:noFill/>
          <a:ln w="9525">
            <a:noFill/>
          </a:ln>
        </p:spPr>
      </p:pic>
      <p:pic>
        <p:nvPicPr>
          <p:cNvPr id="26630" name="图片 7"/>
          <p:cNvPicPr/>
          <p:nvPr/>
        </p:nvPicPr>
        <p:blipFill>
          <a:blip r:embed="rId3"/>
          <a:stretch>
            <a:fillRect/>
          </a:stretch>
        </p:blipFill>
        <p:spPr>
          <a:xfrm>
            <a:off x="7448550" y="1743075"/>
            <a:ext cx="1695450" cy="2481263"/>
          </a:xfrm>
          <a:prstGeom prst="rect">
            <a:avLst/>
          </a:prstGeom>
          <a:noFill/>
          <a:ln w="9525">
            <a:noFill/>
          </a:ln>
        </p:spPr>
      </p:pic>
      <p:pic>
        <p:nvPicPr>
          <p:cNvPr id="26631" name="图片 9"/>
          <p:cNvPicPr/>
          <p:nvPr/>
        </p:nvPicPr>
        <p:blipFill>
          <a:blip r:embed="rId4"/>
          <a:stretch>
            <a:fillRect/>
          </a:stretch>
        </p:blipFill>
        <p:spPr>
          <a:xfrm>
            <a:off x="7448550" y="4224338"/>
            <a:ext cx="1695450" cy="2419350"/>
          </a:xfrm>
          <a:prstGeom prst="rect">
            <a:avLst/>
          </a:prstGeom>
          <a:noFill/>
          <a:ln w="9525">
            <a:noFill/>
          </a:ln>
        </p:spPr>
      </p:pic>
      <p:pic>
        <p:nvPicPr>
          <p:cNvPr id="2" name="图片 1"/>
          <p:cNvPicPr/>
          <p:nvPr/>
        </p:nvPicPr>
        <p:blipFill>
          <a:blip r:embed="rId5"/>
          <a:stretch>
            <a:fillRect/>
          </a:stretch>
        </p:blipFill>
        <p:spPr>
          <a:xfrm>
            <a:off x="-1270" y="0"/>
            <a:ext cx="9171305" cy="1757680"/>
          </a:xfrm>
          <a:prstGeom prst="rect">
            <a:avLst/>
          </a:prstGeom>
        </p:spPr>
      </p:pic>
    </p:spTree>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743075"/>
            <a:ext cx="9144000" cy="4935538"/>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a:t>
            </a:r>
            <a:r>
              <a:rPr altLang="zh-CN" dirty="0" kern="0" kumimoji="0" lang="en-US"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2</a:t>
            </a:r>
            <a:r>
              <a:rPr altLang="en-US" dirty="0" kern="0" kumimoji="0" lang="zh-CN"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）工业化时期</a:t>
            </a:r>
            <a:endParaRPr altLang="zh-CN" dirty="0" kern="0" kumimoji="0" lang="en-US" normalizeH="0" b="0" cap="none" i="0" noProof="0" spc="0" strike="noStrike" sz="2400" u="none">
              <a:ln>
                <a:noFill/>
              </a:ln>
              <a:solidFill>
                <a:srgbClr val="FF0000"/>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介绍学习了苏联的自然辩证法的研究成果；</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制定自然辩证法发展的远景规划；</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1956</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年</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2</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月，哲学社会科学规划委员会制定了自然辩证法的</a:t>
            </a: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12</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年发展规划。</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自然辩证法推进国家建设；</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1960</a:t>
            </a:r>
            <a:r>
              <a:rPr altLang="en-US" dirty="0" kern="0" kumimoji="0" lang="zh-CN"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rPr>
              <a:t>年，许多省份逐渐成立了自然辩证法研究会。</a:t>
            </a:r>
            <a:endParaRPr altLang="zh-CN" dirty="0" kern="0" kumimoji="0" lang="en-US" normalizeH="0" b="0" cap="none" i="0" noProof="0" spc="0" strike="noStrike" sz="2400" u="none">
              <a:ln>
                <a:noFill/>
              </a:ln>
              <a:solidFill>
                <a:schemeClr val="tx1"/>
              </a:solidFill>
              <a:effectLst/>
              <a:uLnTx/>
              <a:uFillTx/>
              <a:cs typeface="微软雅黑" panose="020B0503020204020204" pitchFamily="34" charset="-122"/>
              <a:ea typeface="微软雅黑" panose="020B0503020204020204" pitchFamily="34" charset="-122"/>
              <a:latin typeface="微软雅黑" panose="020B0503020204020204" pitchFamily="34"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663700"/>
            <a:ext cx="4941888" cy="50133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1961</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年，高等院校开始招收研究生。</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3</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）改革开放以来的发展</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中国自然辩证法研究会成立；</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于光远、周培源、钱三强、李昌等发起组织。</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1978</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年</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1</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月</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6</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日，经邓小平批准，</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1981</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年</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10</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月成立。</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自然辩证法研究活动繁荣；</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自然辩证通讯</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自然辩证法研究</a:t>
            </a:r>
            <a:r>
              <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rPr>
              <a:t>等专门杂志建立。</a:t>
            </a:r>
            <a:endParaRPr altLang="zh-CN" dirty="0" kern="0" kumimoji="0" lang="en-US" normalizeH="0" b="0" cap="none" i="0" noProof="0" spc="0" strike="noStrike" sz="20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8676" name="图片 3"/>
          <p:cNvPicPr/>
          <p:nvPr/>
        </p:nvPicPr>
        <p:blipFill>
          <a:blip r:embed="rId1"/>
          <a:stretch>
            <a:fillRect/>
          </a:stretch>
        </p:blipFill>
        <p:spPr>
          <a:xfrm>
            <a:off x="4941888" y="1546225"/>
            <a:ext cx="4202112" cy="2290763"/>
          </a:xfrm>
          <a:prstGeom prst="rect">
            <a:avLst/>
          </a:prstGeom>
          <a:noFill/>
          <a:ln w="9525">
            <a:noFill/>
          </a:ln>
        </p:spPr>
      </p:pic>
      <p:pic>
        <p:nvPicPr>
          <p:cNvPr id="28677" name="图片 4"/>
          <p:cNvPicPr/>
          <p:nvPr/>
        </p:nvPicPr>
        <p:blipFill>
          <a:blip r:embed="rId2"/>
          <a:stretch>
            <a:fillRect/>
          </a:stretch>
        </p:blipFill>
        <p:spPr>
          <a:xfrm>
            <a:off x="4941888" y="3836988"/>
            <a:ext cx="2074862" cy="2690812"/>
          </a:xfrm>
          <a:prstGeom prst="rect">
            <a:avLst/>
          </a:prstGeom>
          <a:noFill/>
          <a:ln w="9525">
            <a:noFill/>
          </a:ln>
        </p:spPr>
      </p:pic>
      <p:pic>
        <p:nvPicPr>
          <p:cNvPr id="28678" name="图片 6"/>
          <p:cNvPicPr/>
          <p:nvPr/>
        </p:nvPicPr>
        <p:blipFill>
          <a:blip r:embed="rId3"/>
          <a:stretch>
            <a:fillRect/>
          </a:stretch>
        </p:blipFill>
        <p:spPr>
          <a:xfrm>
            <a:off x="7016750" y="3836988"/>
            <a:ext cx="2127250" cy="2690812"/>
          </a:xfrm>
          <a:prstGeom prst="rect">
            <a:avLst/>
          </a:prstGeom>
          <a:noFill/>
          <a:ln w="9525">
            <a:noFill/>
          </a:ln>
        </p:spPr>
      </p:pic>
      <p:pic>
        <p:nvPicPr>
          <p:cNvPr id="2" name="图片 1"/>
          <p:cNvPicPr/>
          <p:nvPr/>
        </p:nvPicPr>
        <p:blipFill>
          <a:blip r:embed="rId4"/>
          <a:stretch>
            <a:fillRect/>
          </a:stretch>
        </p:blipFill>
        <p:spPr>
          <a:xfrm>
            <a:off x="-1270" y="0"/>
            <a:ext cx="9171305" cy="1757680"/>
          </a:xfrm>
          <a:prstGeom prst="rect">
            <a:avLst/>
          </a:prstGeom>
        </p:spPr>
      </p:pic>
    </p:spTree>
  </p:cSld>
  <p:clrMapOvr>
    <a:masterClrMapping/>
  </p:clrMapOvr>
</p:sld>
</file>

<file path=ppt/slides/slide2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663700"/>
            <a:ext cx="9144000" cy="50133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自然辩证法课程在思想理论必修课中占有重要地位；</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在硕士与博士研究生招生，自然辩证法转型为科学技术哲学（哲学二级学科）；</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自然辩证法与当代中国创新型国家建设。</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2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0722" name="内容占位符 2"/>
          <p:cNvSpPr/>
          <p:nvPr>
            <p:ph type="body" idx="1"/>
          </p:nvPr>
        </p:nvSpPr>
        <p:spPr>
          <a:xfrm>
            <a:off x="0" y="1743075"/>
            <a:ext cx="9144000" cy="4657725"/>
          </a:xfrm>
        </p:spPr>
        <p:txBody>
          <a:bodyPr vert="horz" wrap="square" lIns="91440" tIns="45720" rIns="91440" bIns="45720" anchor="t" anchorCtr="0"/>
          <a:p>
            <a:pPr marL="0" indent="0" eaLnBrk="1" hangingPunct="1">
              <a:lnSpc>
                <a:spcPct val="150000"/>
              </a:lnSpc>
              <a:buNone/>
            </a:pPr>
            <a:r>
              <a:rPr altLang="en-US" dirty="0" lang="zh-CN" b="1">
                <a:solidFill>
                  <a:srgbClr val="FF0000"/>
                </a:solidFill>
                <a:latin typeface="宋体" panose="02010600030101010101" pitchFamily="2" charset="-122"/>
              </a:rPr>
              <a:t>五、学习和研究自然辩证法的意义</a:t>
            </a:r>
            <a:endParaRPr altLang="zh-CN" dirty="0" lang="en-US" b="1">
              <a:solidFill>
                <a:srgbClr val="FF0000"/>
              </a:solidFill>
              <a:latin typeface="宋体" panose="02010600030101010101" pitchFamily="2" charset="-122"/>
            </a:endParaRPr>
          </a:p>
          <a:p>
            <a:pPr marL="0" indent="0" algn="just" eaLnBrk="1" hangingPunct="1">
              <a:lnSpc>
                <a:spcPct val="150000"/>
              </a:lnSpc>
              <a:buNone/>
            </a:pPr>
            <a:r>
              <a:rPr altLang="zh-CN" dirty="0" lang="en-US" b="1" sz="2800">
                <a:ea typeface="宋体" panose="02010600030101010101" pitchFamily="2" charset="-122"/>
                <a:latin typeface="宋体" panose="02010600030101010101" pitchFamily="2" charset="-122"/>
              </a:rPr>
              <a:t>1</a:t>
            </a:r>
            <a:r>
              <a:rPr altLang="en-US" dirty="0" lang="zh-CN" b="1" sz="2800">
                <a:ea typeface="宋体" panose="02010600030101010101" pitchFamily="2" charset="-122"/>
                <a:latin typeface="宋体" panose="02010600030101010101" pitchFamily="2" charset="-122"/>
              </a:rPr>
              <a:t>、学习方法</a:t>
            </a:r>
            <a:endParaRPr altLang="zh-CN" dirty="0" lang="en-US" b="1" sz="28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）基本原理、基本观点与基本方法；</a:t>
            </a:r>
            <a:endParaRPr altLang="zh-CN" dirty="0" lang="en-US" sz="28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）理论联系实际；</a:t>
            </a:r>
            <a:endParaRPr altLang="zh-CN" dirty="0" lang="en-US" sz="2800">
              <a:ea typeface="宋体" panose="02010600030101010101" pitchFamily="2" charset="-122"/>
              <a:latin typeface="宋体" panose="02010600030101010101" pitchFamily="2" charset="-122"/>
            </a:endParaRPr>
          </a:p>
          <a:p>
            <a:pPr marL="0" indent="0" algn="just" eaLnBrk="1" hangingPunct="1">
              <a:lnSpc>
                <a:spcPct val="150000"/>
              </a:lnSpc>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）注重独立思考，鼓励学术交流与讨论。</a:t>
            </a:r>
            <a:endParaRPr altLang="zh-CN" dirty="0" lang="en-US" sz="28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ustDataLst>
      <p:tags r:id="rId2"/>
    </p:custDataLst>
  </p:cSld>
  <p:clrMapOvr>
    <a:masterClrMapping/>
  </p:clrMapOvr>
  <p:transition advTm="52135">
    <p:checker/>
  </p:transition>
</p:sld>
</file>

<file path=ppt/slides/slide2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 name="内容占位符 2"/>
          <p:cNvSpPr/>
          <p:nvPr/>
        </p:nvSpPr>
        <p:spPr>
          <a:xfrm>
            <a:off x="0" y="1743075"/>
            <a:ext cx="9144000" cy="46577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l" defTabSz="914400" rtl="0" eaLnBrk="1" latinLnBrk="0" hangingPunct="1" fontAlgn="base">
              <a:lnSpc>
                <a:spcPct val="150000"/>
              </a:lnSpc>
              <a:spcBef>
                <a:spcPct val="20000"/>
              </a:spcBef>
              <a:spcAft>
                <a:spcPct val="0"/>
              </a:spcAft>
              <a:buNone/>
              <a:defRPr/>
            </a:pPr>
            <a:r>
              <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2</a:t>
            </a:r>
            <a:r>
              <a:rPr altLang="en-US" dirty="0" kern="0" kumimoji="0" lang="zh-CN"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、学习自然辨证法的意义</a:t>
            </a:r>
            <a:endParaRPr altLang="zh-CN" dirty="0" kern="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）树立科学的自然观；</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2</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）准确理解科学技术及其发展规律，培养科学思维和科学素养；</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3</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）准确理解科学技术与社会的相互关系，积极推动科学技术在社会发展中发挥正面作用，避免负面作用；</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1270" y="0"/>
            <a:ext cx="9171305" cy="1757680"/>
          </a:xfrm>
          <a:prstGeom prst="rect">
            <a:avLst/>
          </a:prstGeom>
        </p:spPr>
      </p:pic>
    </p:spTree>
    <p:custDataLst>
      <p:tags r:id="rId2"/>
    </p:custDataLst>
  </p:cSld>
  <p:clrMapOvr>
    <a:masterClrMapping/>
  </p:clrMapOvr>
  <p:transition advTm="31590">
    <p:checker dir="vert"/>
  </p:transition>
</p:sld>
</file>

<file path=ppt/slides/slide2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2770" name="内容占位符 2"/>
          <p:cNvSpPr/>
          <p:nvPr>
            <p:ph type="body" idx="1"/>
          </p:nvPr>
        </p:nvSpPr>
        <p:spPr>
          <a:xfrm>
            <a:off x="0" y="1663700"/>
            <a:ext cx="9144000" cy="4849813"/>
          </a:xfrm>
        </p:spPr>
        <p:txBody>
          <a:bodyPr vert="horz" wrap="square" lIns="91440" tIns="45720" rIns="91440" bIns="45720" anchor="t" anchorCtr="0"/>
          <a:p>
            <a:pPr marL="0" indent="0" algn="just" eaLnBrk="1" hangingPunct="1">
              <a:lnSpc>
                <a:spcPct val="150000"/>
              </a:lnSpc>
              <a:buNone/>
            </a:pPr>
            <a:endParaRPr altLang="zh-CN" dirty="0" lang="en-US" b="1" sz="2800">
              <a:ea typeface="宋体" panose="02010600030101010101" pitchFamily="2" charset="-122"/>
              <a:latin typeface="宋体" panose="02010600030101010101" pitchFamily="2" charset="-122"/>
            </a:endParaRPr>
          </a:p>
          <a:p>
            <a:pPr marL="0" indent="0" algn="just" eaLnBrk="1" hangingPunct="1">
              <a:lnSpc>
                <a:spcPct val="150000"/>
              </a:lnSpc>
              <a:buNone/>
            </a:pPr>
            <a:endParaRPr altLang="zh-CN" dirty="0" lang="en-US" b="1" sz="2800">
              <a:ea typeface="宋体" panose="02010600030101010101" pitchFamily="2" charset="-122"/>
              <a:latin typeface="宋体" panose="02010600030101010101" pitchFamily="2" charset="-122"/>
            </a:endParaRPr>
          </a:p>
        </p:txBody>
      </p:sp>
      <p:sp>
        <p:nvSpPr>
          <p:cNvPr id="4" name="内容占位符 2"/>
          <p:cNvSpPr/>
          <p:nvPr/>
        </p:nvSpPr>
        <p:spPr>
          <a:xfrm>
            <a:off x="0" y="1663700"/>
            <a:ext cx="9144000" cy="4657725"/>
          </a:xfrm>
          <a:prstGeom prst="rect">
            <a:avLst/>
          </a:prstGeom>
          <a:noFill/>
          <a:ln w="12700">
            <a:noFill/>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l" defTabSz="914400" rtl="0" eaLnBrk="1" latinLnBrk="0" hangingPunct="1" fontAlgn="base">
              <a:lnSpc>
                <a:spcPct val="15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4</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）理解国家的科学技术方针政策，增强建设创新型国家的使命感，自觉推动创新型国家建设。</a:t>
            </a: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32773" name="图片 2"/>
          <p:cNvPicPr/>
          <p:nvPr/>
        </p:nvPicPr>
        <p:blipFill>
          <a:blip r:embed="rId1"/>
          <a:stretch>
            <a:fillRect/>
          </a:stretch>
        </p:blipFill>
        <p:spPr>
          <a:xfrm>
            <a:off x="195263" y="3001963"/>
            <a:ext cx="4078287" cy="3608387"/>
          </a:xfrm>
          <a:prstGeom prst="rect">
            <a:avLst/>
          </a:prstGeom>
          <a:noFill/>
          <a:ln w="9525">
            <a:noFill/>
          </a:ln>
        </p:spPr>
      </p:pic>
      <p:pic>
        <p:nvPicPr>
          <p:cNvPr id="32774" name="图片 5"/>
          <p:cNvPicPr/>
          <p:nvPr/>
        </p:nvPicPr>
        <p:blipFill>
          <a:blip r:embed="rId2"/>
          <a:stretch>
            <a:fillRect/>
          </a:stretch>
        </p:blipFill>
        <p:spPr>
          <a:xfrm>
            <a:off x="4787900" y="3001963"/>
            <a:ext cx="4078288" cy="3608387"/>
          </a:xfrm>
          <a:prstGeom prst="rect">
            <a:avLst/>
          </a:prstGeom>
          <a:noFill/>
          <a:ln w="9525">
            <a:noFill/>
          </a:ln>
        </p:spPr>
      </p:pic>
      <p:pic>
        <p:nvPicPr>
          <p:cNvPr id="3" name="图片 2"/>
          <p:cNvPicPr/>
          <p:nvPr/>
        </p:nvPicPr>
        <p:blipFill>
          <a:blip r:embed="rId3"/>
          <a:stretch>
            <a:fillRect/>
          </a:stretch>
        </p:blipFill>
        <p:spPr>
          <a:xfrm>
            <a:off x="-1270" y="0"/>
            <a:ext cx="9171305" cy="1693545"/>
          </a:xfrm>
          <a:prstGeom prst="rect">
            <a:avLst/>
          </a:prstGeom>
        </p:spPr>
      </p:pic>
    </p:spTree>
    <p:custDataLst>
      <p:tags r:id="rId4"/>
    </p:custDataLst>
  </p:cSld>
  <p:clrMapOvr>
    <a:masterClrMapping/>
  </p:clrMapOvr>
  <p:transition advTm="35053">
    <p:comb/>
  </p:transition>
</p:sld>
</file>

<file path=ppt/slides/slide2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3794" name="TextBox 2"/>
          <p:cNvSpPr/>
          <p:nvPr/>
        </p:nvSpPr>
        <p:spPr>
          <a:xfrm>
            <a:off x="0" y="1743075"/>
            <a:ext cx="9144000" cy="470789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a:solidFill>
                  <a:srgbClr val="FF0000"/>
                </a:solidFill>
                <a:ea typeface="宋体" panose="02010600030101010101" pitchFamily="2" charset="-122"/>
                <a:latin typeface="宋体" panose="02010600030101010101" pitchFamily="2" charset="-122"/>
              </a:rPr>
              <a:t>第一章 马克思主义的自然观</a:t>
            </a:r>
            <a:endParaRPr altLang="zh-CN" dirty="0" lang="en-US" b="1">
              <a:solidFill>
                <a:srgbClr val="FF0000"/>
              </a:solidFill>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第一节 自然观</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solidFill>
                  <a:srgbClr val="FF0000"/>
                </a:solidFill>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自然观：</a:t>
            </a:r>
            <a:r>
              <a:rPr altLang="en-US" dirty="0" lang="zh-CN" sz="2800">
                <a:ea typeface="宋体" panose="02010600030101010101" pitchFamily="2" charset="-122"/>
                <a:latin typeface="宋体" panose="02010600030101010101" pitchFamily="2" charset="-122"/>
              </a:rPr>
              <a:t>人们对自然界存在和演化的</a:t>
            </a:r>
            <a:r>
              <a:rPr altLang="en-US" dirty="0" lang="zh-CN" sz="2800">
                <a:solidFill>
                  <a:srgbClr val="FF0000"/>
                </a:solidFill>
                <a:ea typeface="宋体" panose="02010600030101010101" pitchFamily="2" charset="-122"/>
                <a:latin typeface="宋体" panose="02010600030101010101" pitchFamily="2" charset="-122"/>
              </a:rPr>
              <a:t>根本看法和观点</a:t>
            </a:r>
            <a:r>
              <a:rPr altLang="en-US" dirty="0" lang="zh-CN" sz="2800">
                <a:ea typeface="宋体" panose="02010600030101010101" pitchFamily="2" charset="-122"/>
                <a:latin typeface="宋体" panose="02010600030101010101" pitchFamily="2" charset="-122"/>
              </a:rPr>
              <a:t>。</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自然观是历史范畴，人类自然观在不断地演化。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自然观发展的三个发展阶段：</a:t>
            </a:r>
            <a:r>
              <a:rPr altLang="en-US" dirty="0" lang="zh-CN" sz="2800">
                <a:solidFill>
                  <a:srgbClr val="FF0000"/>
                </a:solidFill>
                <a:ea typeface="宋体" panose="02010600030101010101" pitchFamily="2" charset="-122"/>
                <a:latin typeface="宋体" panose="02010600030101010101" pitchFamily="2" charset="-122"/>
              </a:rPr>
              <a:t>朴素辩证法自然观、机械唯物主义自然观、辩证唯物主义自然观</a:t>
            </a:r>
            <a:r>
              <a:rPr altLang="en-US" dirty="0" lang="zh-CN" sz="2800">
                <a:ea typeface="宋体" panose="02010600030101010101" pitchFamily="2" charset="-122"/>
                <a:latin typeface="宋体" panose="02010600030101010101" pitchFamily="2" charset="-122"/>
              </a:rPr>
              <a:t>。</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马克思主义自然观是自然辩证法的</a:t>
            </a:r>
            <a:r>
              <a:rPr altLang="en-US" dirty="0" lang="zh-CN" sz="2800">
                <a:solidFill>
                  <a:srgbClr val="FF0000"/>
                </a:solidFill>
                <a:ea typeface="宋体" panose="02010600030101010101" pitchFamily="2" charset="-122"/>
                <a:latin typeface="宋体" panose="02010600030101010101" pitchFamily="2" charset="-122"/>
              </a:rPr>
              <a:t>理论基础</a:t>
            </a:r>
            <a:r>
              <a:rPr altLang="en-US" dirty="0" lang="zh-CN" sz="2800">
                <a:ea typeface="宋体" panose="02010600030101010101" pitchFamily="2" charset="-122"/>
                <a:latin typeface="宋体" panose="02010600030101010101" pitchFamily="2" charset="-122"/>
              </a:rPr>
              <a:t>。</a:t>
            </a:r>
            <a:endParaRPr altLang="zh-CN" dirty="0" lang="en-US" b="1" sz="2800">
              <a:ea typeface="宋体" panose="02010600030101010101" pitchFamily="2" charset="-122"/>
              <a:latin typeface="宋体" panose="02010600030101010101" pitchFamily="2" charset="-122"/>
            </a:endParaRPr>
          </a:p>
        </p:txBody>
      </p:sp>
      <p:pic>
        <p:nvPicPr>
          <p:cNvPr id="2" name="图片 1"/>
          <p:cNvPicPr/>
          <p:nvPr/>
        </p:nvPicPr>
        <p:blipFill>
          <a:blip r:embed="rId1"/>
          <a:stretch>
            <a:fillRect/>
          </a:stretch>
        </p:blipFill>
        <p:spPr>
          <a:xfrm>
            <a:off x="-635" y="0"/>
            <a:ext cx="9206230" cy="1743075"/>
          </a:xfrm>
          <a:prstGeom prst="rect">
            <a:avLst/>
          </a:prstGeom>
        </p:spPr>
      </p:pic>
    </p:spTree>
  </p:cSld>
  <p:clrMapOvr>
    <a:masterClrMapping/>
  </p:clrMapOvr>
</p:sld>
</file>

<file path=ppt/slides/slide2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4819" name="TextBox 2"/>
          <p:cNvSpPr/>
          <p:nvPr/>
        </p:nvSpPr>
        <p:spPr>
          <a:xfrm>
            <a:off x="0" y="1743075"/>
            <a:ext cx="5137150" cy="51695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第二节 自然观的形成</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1</a:t>
            </a:r>
            <a:r>
              <a:rPr altLang="en-US" dirty="0" lang="zh-CN" b="1" sz="2400">
                <a:solidFill>
                  <a:srgbClr val="FF0000"/>
                </a:solidFill>
                <a:ea typeface="宋体" panose="02010600030101010101" pitchFamily="2" charset="-122"/>
                <a:latin typeface="宋体" panose="02010600030101010101" pitchFamily="2" charset="-122"/>
              </a:rPr>
              <a:t>、古代朴素辩证法自然观      </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）渊源</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生产力发展要求走出神话思维；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朴素自然科学基础上形成自然哲学；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）观点</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自然界统一于具体物质形态；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自然界处于永恒变化发展中；</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4820" name="图片 4"/>
          <p:cNvPicPr/>
          <p:nvPr/>
        </p:nvPicPr>
        <p:blipFill>
          <a:blip r:embed="rId1"/>
          <a:stretch>
            <a:fillRect/>
          </a:stretch>
        </p:blipFill>
        <p:spPr>
          <a:xfrm>
            <a:off x="5137150" y="1743075"/>
            <a:ext cx="4006850" cy="2571750"/>
          </a:xfrm>
          <a:prstGeom prst="rect">
            <a:avLst/>
          </a:prstGeom>
          <a:noFill/>
          <a:ln w="9525">
            <a:noFill/>
          </a:ln>
        </p:spPr>
      </p:pic>
      <p:pic>
        <p:nvPicPr>
          <p:cNvPr id="34821" name="图片 8"/>
          <p:cNvPicPr/>
          <p:nvPr/>
        </p:nvPicPr>
        <p:blipFill>
          <a:blip r:embed="rId2"/>
          <a:stretch>
            <a:fillRect/>
          </a:stretch>
        </p:blipFill>
        <p:spPr>
          <a:xfrm>
            <a:off x="5137150" y="4110038"/>
            <a:ext cx="4006850" cy="2573337"/>
          </a:xfrm>
          <a:prstGeom prst="rect">
            <a:avLst/>
          </a:prstGeom>
          <a:noFill/>
          <a:ln w="9525">
            <a:noFill/>
          </a:ln>
        </p:spPr>
      </p:pic>
      <p:pic>
        <p:nvPicPr>
          <p:cNvPr id="3" name="图片 2"/>
          <p:cNvPicPr/>
          <p:nvPr/>
        </p:nvPicPr>
        <p:blipFill>
          <a:blip r:embed="rId3"/>
          <a:stretch>
            <a:fillRect/>
          </a:stretch>
        </p:blipFill>
        <p:spPr>
          <a:xfrm>
            <a:off x="-1270" y="0"/>
            <a:ext cx="9171305" cy="1757680"/>
          </a:xfrm>
          <a:prstGeom prst="rect">
            <a:avLst/>
          </a:prstGeom>
        </p:spPr>
      </p:pic>
    </p:spTree>
  </p:cSld>
  <p:clrMapOvr>
    <a:masterClrMapping/>
  </p:clrMapOvr>
</p:sld>
</file>

<file path=ppt/slides/slide2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5843" name="TextBox 2"/>
          <p:cNvSpPr/>
          <p:nvPr/>
        </p:nvSpPr>
        <p:spPr>
          <a:xfrm>
            <a:off x="0" y="1863725"/>
            <a:ext cx="922655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3</a:t>
            </a:r>
            <a:r>
              <a:rPr altLang="en-US" dirty="0" lang="zh-CN" sz="2400">
                <a:solidFill>
                  <a:srgbClr val="FF0000"/>
                </a:solidFill>
                <a:ea typeface="宋体" panose="02010600030101010101" pitchFamily="2" charset="-122"/>
                <a:latin typeface="宋体" panose="02010600030101010101" pitchFamily="2" charset="-122"/>
              </a:rPr>
              <a:t>）特点</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r>
              <a:rPr altLang="en-US" dirty="0" lang="zh-CN" b="1" sz="2400">
                <a:solidFill>
                  <a:srgbClr val="0000FF"/>
                </a:solidFill>
                <a:ea typeface="宋体" panose="02010600030101010101" pitchFamily="2" charset="-122"/>
                <a:latin typeface="宋体" panose="02010600030101010101" pitchFamily="2" charset="-122"/>
              </a:rPr>
              <a:t>直观性           猜测性           思辨性</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4</a:t>
            </a:r>
            <a:r>
              <a:rPr altLang="en-US" dirty="0" lang="zh-CN" sz="2400">
                <a:solidFill>
                  <a:srgbClr val="FF0000"/>
                </a:solidFill>
                <a:ea typeface="宋体" panose="02010600030101010101" pitchFamily="2" charset="-122"/>
                <a:latin typeface="宋体" panose="02010600030101010101" pitchFamily="2" charset="-122"/>
              </a:rPr>
              <a:t>）中西方朴素唯物主义自然观</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5844" name="图片 4"/>
          <p:cNvPicPr/>
          <p:nvPr/>
        </p:nvPicPr>
        <p:blipFill>
          <a:blip r:embed="rId1"/>
          <a:stretch>
            <a:fillRect/>
          </a:stretch>
        </p:blipFill>
        <p:spPr>
          <a:xfrm>
            <a:off x="203200" y="3005138"/>
            <a:ext cx="2498725" cy="1714500"/>
          </a:xfrm>
          <a:prstGeom prst="rect">
            <a:avLst/>
          </a:prstGeom>
          <a:noFill/>
          <a:ln w="9525">
            <a:noFill/>
          </a:ln>
        </p:spPr>
      </p:pic>
      <p:pic>
        <p:nvPicPr>
          <p:cNvPr id="35845" name="图片 6"/>
          <p:cNvPicPr/>
          <p:nvPr/>
        </p:nvPicPr>
        <p:blipFill>
          <a:blip r:embed="rId2"/>
          <a:stretch>
            <a:fillRect/>
          </a:stretch>
        </p:blipFill>
        <p:spPr>
          <a:xfrm>
            <a:off x="2905125" y="3005138"/>
            <a:ext cx="2498725" cy="1714500"/>
          </a:xfrm>
          <a:prstGeom prst="rect">
            <a:avLst/>
          </a:prstGeom>
          <a:noFill/>
          <a:ln w="9525">
            <a:noFill/>
          </a:ln>
        </p:spPr>
      </p:pic>
      <p:pic>
        <p:nvPicPr>
          <p:cNvPr id="35846" name="图片 8"/>
          <p:cNvPicPr/>
          <p:nvPr/>
        </p:nvPicPr>
        <p:blipFill>
          <a:blip r:embed="rId3"/>
          <a:stretch>
            <a:fillRect/>
          </a:stretch>
        </p:blipFill>
        <p:spPr>
          <a:xfrm>
            <a:off x="5607050" y="3005138"/>
            <a:ext cx="2498725" cy="1714500"/>
          </a:xfrm>
          <a:prstGeom prst="rect">
            <a:avLst/>
          </a:prstGeom>
          <a:noFill/>
          <a:ln w="9525">
            <a:noFill/>
          </a:ln>
        </p:spPr>
      </p:pic>
      <p:pic>
        <p:nvPicPr>
          <p:cNvPr id="3" name="图片 2"/>
          <p:cNvPicPr/>
          <p:nvPr/>
        </p:nvPicPr>
        <p:blipFill>
          <a:blip r:embed="rId4"/>
          <a:stretch>
            <a:fillRect/>
          </a:stretch>
        </p:blipFill>
        <p:spPr>
          <a:xfrm>
            <a:off x="-1270" y="0"/>
            <a:ext cx="9171305" cy="1757680"/>
          </a:xfrm>
          <a:prstGeom prst="rect">
            <a:avLst/>
          </a:prstGeom>
        </p:spPr>
      </p:pic>
    </p:spTree>
  </p:cSld>
  <p:clrMapOvr>
    <a:masterClrMapping/>
  </p:clrMapOvr>
</p:sld>
</file>

<file path=ppt/slides/slide2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6867" name="TextBox 2"/>
          <p:cNvSpPr/>
          <p:nvPr/>
        </p:nvSpPr>
        <p:spPr>
          <a:xfrm>
            <a:off x="174625" y="3630613"/>
            <a:ext cx="8804275" cy="230695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泰勒斯：</a:t>
            </a:r>
            <a:r>
              <a:rPr altLang="en-US" dirty="0" lang="zh-CN" sz="2400">
                <a:ea typeface="宋体" panose="02010600030101010101" pitchFamily="2" charset="-122"/>
                <a:latin typeface="宋体" panose="02010600030101010101" pitchFamily="2" charset="-122"/>
              </a:rPr>
              <a:t>世界的本原是水。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赫拉克利特：</a:t>
            </a:r>
            <a:r>
              <a:rPr altLang="en-US" dirty="0" lang="zh-CN" sz="2400">
                <a:ea typeface="宋体" panose="02010600030101010101" pitchFamily="2" charset="-122"/>
                <a:latin typeface="宋体" panose="02010600030101010101" pitchFamily="2" charset="-122"/>
              </a:rPr>
              <a:t>万物的本原是火。人不能两次踏入同一条河流。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德谟克利特：</a:t>
            </a:r>
            <a:r>
              <a:rPr altLang="en-US" dirty="0" lang="zh-CN" sz="2400">
                <a:ea typeface="宋体" panose="02010600030101010101" pitchFamily="2" charset="-122"/>
                <a:latin typeface="宋体" panose="02010600030101010101" pitchFamily="2" charset="-122"/>
              </a:rPr>
              <a:t>原子，这个最小的微粒，它不可分，不可变；它才是万物的始基。</a:t>
            </a:r>
            <a:endParaRPr altLang="zh-CN" dirty="0" lang="en-US" sz="2400">
              <a:ea typeface="宋体" panose="02010600030101010101" pitchFamily="2" charset="-122"/>
              <a:latin typeface="宋体" panose="02010600030101010101" pitchFamily="2" charset="-122"/>
            </a:endParaRPr>
          </a:p>
        </p:txBody>
      </p:sp>
      <p:pic>
        <p:nvPicPr>
          <p:cNvPr id="36868" name="图片 2"/>
          <p:cNvPicPr/>
          <p:nvPr/>
        </p:nvPicPr>
        <p:blipFill>
          <a:blip r:embed="rId1"/>
          <a:stretch>
            <a:fillRect/>
          </a:stretch>
        </p:blipFill>
        <p:spPr>
          <a:xfrm>
            <a:off x="1244600" y="1619250"/>
            <a:ext cx="6654800" cy="1809750"/>
          </a:xfrm>
          <a:prstGeom prst="rect">
            <a:avLst/>
          </a:prstGeom>
          <a:noFill/>
          <a:ln w="9525">
            <a:noFill/>
          </a:ln>
        </p:spPr>
      </p:pic>
      <p:pic>
        <p:nvPicPr>
          <p:cNvPr id="3" name="图片 2"/>
          <p:cNvPicPr/>
          <p:nvPr/>
        </p:nvPicPr>
        <p:blipFill>
          <a:blip r:embed="rId2"/>
          <a:stretch>
            <a:fillRect/>
          </a:stretch>
        </p:blipFill>
        <p:spPr>
          <a:xfrm>
            <a:off x="-1270" y="0"/>
            <a:ext cx="9171305" cy="1621790"/>
          </a:xfrm>
          <a:prstGeom prst="rect">
            <a:avLst/>
          </a:prstGeom>
        </p:spPr>
      </p:pic>
    </p:spTree>
  </p:cSld>
  <p:clrMapOvr>
    <a:masterClrMapping/>
  </p:clrMapOvr>
</p:sld>
</file>

<file path=ppt/slides/slide3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7891" name="TextBox 2"/>
          <p:cNvSpPr/>
          <p:nvPr/>
        </p:nvSpPr>
        <p:spPr>
          <a:xfrm>
            <a:off x="4654550" y="1743075"/>
            <a:ext cx="4386263"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中国朴素唯物主义自然观</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“五行学说”</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尚书</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洪范</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；老子、张载的“元气说”。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周易</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中的辩证法。“否极泰来”，“无往不复”。</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7892" name="图片 5"/>
          <p:cNvPicPr/>
          <p:nvPr/>
        </p:nvPicPr>
        <p:blipFill>
          <a:blip r:embed="rId1"/>
          <a:stretch>
            <a:fillRect/>
          </a:stretch>
        </p:blipFill>
        <p:spPr>
          <a:xfrm>
            <a:off x="0" y="1620838"/>
            <a:ext cx="4572000" cy="2233612"/>
          </a:xfrm>
          <a:prstGeom prst="rect">
            <a:avLst/>
          </a:prstGeom>
          <a:noFill/>
          <a:ln w="9525">
            <a:noFill/>
          </a:ln>
        </p:spPr>
      </p:pic>
      <p:pic>
        <p:nvPicPr>
          <p:cNvPr id="37893" name="图片 4"/>
          <p:cNvPicPr/>
          <p:nvPr/>
        </p:nvPicPr>
        <p:blipFill>
          <a:blip r:embed="rId2"/>
          <a:stretch>
            <a:fillRect/>
          </a:stretch>
        </p:blipFill>
        <p:spPr>
          <a:xfrm>
            <a:off x="0" y="4057650"/>
            <a:ext cx="4572000" cy="2233613"/>
          </a:xfrm>
          <a:prstGeom prst="rect">
            <a:avLst/>
          </a:prstGeom>
          <a:noFill/>
          <a:ln w="9525">
            <a:noFill/>
          </a:ln>
        </p:spPr>
      </p:pic>
      <p:pic>
        <p:nvPicPr>
          <p:cNvPr id="3" name="图片 2"/>
          <p:cNvPicPr/>
          <p:nvPr/>
        </p:nvPicPr>
        <p:blipFill>
          <a:blip r:embed="rId3"/>
          <a:stretch>
            <a:fillRect/>
          </a:stretch>
        </p:blipFill>
        <p:spPr>
          <a:xfrm>
            <a:off x="-1270" y="0"/>
            <a:ext cx="9171305" cy="1757680"/>
          </a:xfrm>
          <a:prstGeom prst="rect">
            <a:avLst/>
          </a:prstGeom>
        </p:spPr>
      </p:pic>
    </p:spTree>
  </p:cSld>
  <p:clrMapOvr>
    <a:masterClrMapping/>
  </p:clrMapOvr>
</p:sld>
</file>

<file path=ppt/slides/slide3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8915" name="TextBox 2"/>
          <p:cNvSpPr/>
          <p:nvPr/>
        </p:nvSpPr>
        <p:spPr>
          <a:xfrm>
            <a:off x="0" y="1743075"/>
            <a:ext cx="5321300" cy="47291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朴素唯物主义自然观的历史地位</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   马克思主义自然观的</a:t>
            </a:r>
            <a:r>
              <a:rPr altLang="en-US" dirty="0" lang="zh-CN" sz="2000">
                <a:solidFill>
                  <a:srgbClr val="FF0000"/>
                </a:solidFill>
                <a:ea typeface="宋体" panose="02010600030101010101" pitchFamily="2" charset="-122"/>
                <a:latin typeface="宋体" panose="02010600030101010101" pitchFamily="2" charset="-122"/>
              </a:rPr>
              <a:t>思想渊源</a:t>
            </a:r>
            <a:r>
              <a:rPr altLang="en-US" dirty="0" lang="zh-CN" sz="2000">
                <a:ea typeface="宋体" panose="02010600030101010101" pitchFamily="2" charset="-122"/>
                <a:latin typeface="宋体" panose="02010600030101010101" pitchFamily="2" charset="-122"/>
              </a:rPr>
              <a:t>；</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   科学上孕育了许多以后得到发展和证实的</a:t>
            </a:r>
            <a:r>
              <a:rPr altLang="en-US" dirty="0" lang="zh-CN" sz="2000">
                <a:solidFill>
                  <a:srgbClr val="FF0000"/>
                </a:solidFill>
                <a:ea typeface="宋体" panose="02010600030101010101" pitchFamily="2" charset="-122"/>
                <a:latin typeface="宋体" panose="02010600030101010101" pitchFamily="2" charset="-122"/>
              </a:rPr>
              <a:t>天才预想</a:t>
            </a:r>
            <a:r>
              <a:rPr altLang="en-US" dirty="0" lang="zh-CN" sz="2000">
                <a:ea typeface="宋体" panose="02010600030101010101" pitchFamily="2" charset="-122"/>
                <a:latin typeface="宋体" panose="02010600030101010101" pitchFamily="2" charset="-122"/>
              </a:rPr>
              <a:t>；</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   恩格斯说，“在希腊哲学的多种多样的形式中，差不多可以找到以后各种观点的胚胎、萌芽。因此，如果理论自然科学想要追溯自己今天的一般原理发生和发展的历史，它也不得不回到希腊人那里去”。（马克思恩格斯全集第</a:t>
            </a:r>
            <a:r>
              <a:rPr altLang="zh-CN" dirty="0" lang="en-US" sz="2000">
                <a:ea typeface="宋体" panose="02010600030101010101" pitchFamily="2" charset="-122"/>
                <a:latin typeface="宋体" panose="02010600030101010101" pitchFamily="2" charset="-122"/>
              </a:rPr>
              <a:t>20</a:t>
            </a:r>
            <a:r>
              <a:rPr altLang="en-US" dirty="0" lang="zh-CN" sz="2000">
                <a:ea typeface="宋体" panose="02010600030101010101" pitchFamily="2" charset="-122"/>
                <a:latin typeface="宋体" panose="02010600030101010101" pitchFamily="2" charset="-122"/>
              </a:rPr>
              <a:t>卷，人民出版社</a:t>
            </a:r>
            <a:r>
              <a:rPr altLang="zh-CN" dirty="0" lang="en-US" sz="2000">
                <a:ea typeface="宋体" panose="02010600030101010101" pitchFamily="2" charset="-122"/>
                <a:latin typeface="宋体" panose="02010600030101010101" pitchFamily="2" charset="-122"/>
              </a:rPr>
              <a:t>1971</a:t>
            </a:r>
            <a:r>
              <a:rPr altLang="en-US" dirty="0" lang="zh-CN" sz="2000">
                <a:ea typeface="宋体" panose="02010600030101010101" pitchFamily="2" charset="-122"/>
                <a:latin typeface="宋体" panose="02010600030101010101" pitchFamily="2" charset="-122"/>
              </a:rPr>
              <a:t>年版，第</a:t>
            </a:r>
            <a:r>
              <a:rPr altLang="zh-CN" dirty="0" lang="en-US" sz="2000">
                <a:ea typeface="宋体" panose="02010600030101010101" pitchFamily="2" charset="-122"/>
                <a:latin typeface="宋体" panose="02010600030101010101" pitchFamily="2" charset="-122"/>
              </a:rPr>
              <a:t>386</a:t>
            </a:r>
            <a:r>
              <a:rPr altLang="en-US" dirty="0" lang="zh-CN" sz="2000">
                <a:ea typeface="宋体" panose="02010600030101010101" pitchFamily="2" charset="-122"/>
                <a:latin typeface="宋体" panose="02010600030101010101" pitchFamily="2" charset="-122"/>
              </a:rPr>
              <a:t>页。）</a:t>
            </a:r>
            <a:endParaRPr altLang="zh-CN" dirty="0" lang="en-US" sz="2000">
              <a:ea typeface="宋体" panose="02010600030101010101" pitchFamily="2" charset="-122"/>
              <a:latin typeface="宋体" panose="02010600030101010101" pitchFamily="2" charset="-122"/>
            </a:endParaRPr>
          </a:p>
        </p:txBody>
      </p:sp>
      <p:pic>
        <p:nvPicPr>
          <p:cNvPr id="38916" name="图片 2"/>
          <p:cNvPicPr/>
          <p:nvPr/>
        </p:nvPicPr>
        <p:blipFill>
          <a:blip r:embed="rId1"/>
          <a:stretch>
            <a:fillRect/>
          </a:stretch>
        </p:blipFill>
        <p:spPr>
          <a:xfrm>
            <a:off x="5557838" y="1855788"/>
            <a:ext cx="3336925" cy="4616450"/>
          </a:xfrm>
          <a:prstGeom prst="rect">
            <a:avLst/>
          </a:prstGeom>
          <a:noFill/>
          <a:ln w="9525">
            <a:noFill/>
          </a:ln>
        </p:spPr>
      </p:pic>
      <p:pic>
        <p:nvPicPr>
          <p:cNvPr id="3" name="图片 2"/>
          <p:cNvPicPr/>
          <p:nvPr/>
        </p:nvPicPr>
        <p:blipFill>
          <a:blip r:embed="rId2"/>
          <a:stretch>
            <a:fillRect/>
          </a:stretch>
        </p:blipFill>
        <p:spPr>
          <a:xfrm>
            <a:off x="-1270" y="0"/>
            <a:ext cx="9171305" cy="1757680"/>
          </a:xfrm>
          <a:prstGeom prst="rect">
            <a:avLst/>
          </a:prstGeom>
        </p:spPr>
      </p:pic>
    </p:spTree>
  </p:cSld>
  <p:clrMapOvr>
    <a:masterClrMapping/>
  </p:clrMapOvr>
</p:sld>
</file>

<file path=ppt/slides/slide3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9939"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2</a:t>
            </a:r>
            <a:r>
              <a:rPr altLang="en-US" dirty="0" lang="zh-CN" b="1" sz="2400">
                <a:solidFill>
                  <a:srgbClr val="FF0000"/>
                </a:solidFill>
                <a:ea typeface="宋体" panose="02010600030101010101" pitchFamily="2" charset="-122"/>
                <a:latin typeface="宋体" panose="02010600030101010101" pitchFamily="2" charset="-122"/>
              </a:rPr>
              <a:t>、机械唯物主义自然观      </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）渊源</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德谟克利特原子论思想与古代机械世界观；</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近代伽利略和牛顿经典力学；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）观点</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世界统一于物质，物质的根本属性是广延；</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机械的自然图景，即自然界是一架精确运转的机器；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严格的机械决定论；宇宙本身是一条原因和结果的无穷锁链，一切现象都是必然的。</a:t>
            </a:r>
            <a:endParaRPr altLang="zh-CN" dirty="0" lang="en-US" sz="24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0963" name="TextBox 2"/>
          <p:cNvSpPr/>
          <p:nvPr/>
        </p:nvSpPr>
        <p:spPr>
          <a:xfrm>
            <a:off x="0" y="1760538"/>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）机械唯物主义自然观的进步性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机械唯物主义自然观摒弃了古代朴素自然观的</a:t>
            </a:r>
            <a:r>
              <a:rPr altLang="en-US" dirty="0" lang="zh-CN" sz="2400">
                <a:solidFill>
                  <a:srgbClr val="FF0000"/>
                </a:solidFill>
                <a:ea typeface="宋体" panose="02010600030101010101" pitchFamily="2" charset="-122"/>
                <a:latin typeface="宋体" panose="02010600030101010101" pitchFamily="2" charset="-122"/>
              </a:rPr>
              <a:t>直观性、思辨性和猜测性</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机械唯物主义自然观强调自然的</a:t>
            </a:r>
            <a:r>
              <a:rPr altLang="en-US" dirty="0" lang="zh-CN" sz="2400">
                <a:solidFill>
                  <a:srgbClr val="FF0000"/>
                </a:solidFill>
                <a:ea typeface="宋体" panose="02010600030101010101" pitchFamily="2" charset="-122"/>
                <a:latin typeface="宋体" panose="02010600030101010101" pitchFamily="2" charset="-122"/>
              </a:rPr>
              <a:t>外在独立性</a:t>
            </a:r>
            <a:r>
              <a:rPr altLang="en-US" dirty="0" lang="zh-CN" sz="2400">
                <a:ea typeface="宋体" panose="02010600030101010101" pitchFamily="2" charset="-122"/>
                <a:latin typeface="宋体" panose="02010600030101010101" pitchFamily="2" charset="-122"/>
              </a:rPr>
              <a:t>，是对</a:t>
            </a:r>
            <a:r>
              <a:rPr altLang="en-US" dirty="0" lang="zh-CN" sz="2400">
                <a:solidFill>
                  <a:srgbClr val="FF0000"/>
                </a:solidFill>
                <a:ea typeface="宋体" panose="02010600030101010101" pitchFamily="2" charset="-122"/>
                <a:latin typeface="宋体" panose="02010600030101010101" pitchFamily="2" charset="-122"/>
              </a:rPr>
              <a:t>上帝创世说的否定</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机械唯物主义</a:t>
            </a:r>
            <a:r>
              <a:rPr altLang="en-US" dirty="0" lang="zh-CN" sz="2400">
                <a:solidFill>
                  <a:srgbClr val="FF0000"/>
                </a:solidFill>
                <a:ea typeface="宋体" panose="02010600030101010101" pitchFamily="2" charset="-122"/>
                <a:latin typeface="宋体" panose="02010600030101010101" pitchFamily="2" charset="-122"/>
              </a:rPr>
              <a:t>反对抽象的思辨</a:t>
            </a:r>
            <a:r>
              <a:rPr altLang="en-US" dirty="0" lang="zh-CN" sz="2400">
                <a:ea typeface="宋体" panose="02010600030101010101" pitchFamily="2" charset="-122"/>
                <a:latin typeface="宋体" panose="02010600030101010101" pitchFamily="2" charset="-122"/>
              </a:rPr>
              <a:t>，强调</a:t>
            </a:r>
            <a:r>
              <a:rPr altLang="en-US" dirty="0" lang="zh-CN" sz="2400">
                <a:solidFill>
                  <a:srgbClr val="FF0000"/>
                </a:solidFill>
                <a:ea typeface="宋体" panose="02010600030101010101" pitchFamily="2" charset="-122"/>
                <a:latin typeface="宋体" panose="02010600030101010101" pitchFamily="2" charset="-122"/>
              </a:rPr>
              <a:t>经验和实证的</a:t>
            </a:r>
            <a:r>
              <a:rPr altLang="en-US" dirty="0" lang="zh-CN" sz="2400">
                <a:ea typeface="宋体" panose="02010600030101010101" pitchFamily="2" charset="-122"/>
                <a:latin typeface="宋体" panose="02010600030101010101" pitchFamily="2" charset="-122"/>
              </a:rPr>
              <a:t>方法，这种研究方法适应自然科学的发展。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1987" name="TextBox 2"/>
          <p:cNvSpPr/>
          <p:nvPr/>
        </p:nvSpPr>
        <p:spPr>
          <a:xfrm>
            <a:off x="0" y="1743075"/>
            <a:ext cx="9144000" cy="45231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）局限性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机械性：</a:t>
            </a:r>
            <a:r>
              <a:rPr altLang="en-US" dirty="0" lang="zh-CN" sz="2400">
                <a:ea typeface="宋体" panose="02010600030101010101" pitchFamily="2" charset="-122"/>
                <a:latin typeface="宋体" panose="02010600030101010101" pitchFamily="2" charset="-122"/>
              </a:rPr>
              <a:t>它用纯粹力学的观点考察和解释自然界一切现象，把自然界各种运动形式都归结为机械运动；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形而上学性：</a:t>
            </a:r>
            <a:r>
              <a:rPr altLang="en-US" dirty="0" lang="zh-CN" sz="2400">
                <a:ea typeface="宋体" panose="02010600030101010101" pitchFamily="2" charset="-122"/>
                <a:latin typeface="宋体" panose="02010600030101010101" pitchFamily="2" charset="-122"/>
              </a:rPr>
              <a:t>孤立地考察自然界，把自然界看作静止和永恒不变的；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不彻底性：</a:t>
            </a:r>
            <a:r>
              <a:rPr altLang="en-US" dirty="0" lang="zh-CN" sz="2400">
                <a:ea typeface="宋体" panose="02010600030101010101" pitchFamily="2" charset="-122"/>
                <a:latin typeface="宋体" panose="02010600030101010101" pitchFamily="2" charset="-122"/>
              </a:rPr>
              <a:t>割裂自然界与人类社会的关系，在历史观上最终陷入唯心主义和神学目的论。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3011" name="TextBox 2"/>
          <p:cNvSpPr/>
          <p:nvPr/>
        </p:nvSpPr>
        <p:spPr>
          <a:xfrm>
            <a:off x="0" y="1743075"/>
            <a:ext cx="9144000" cy="56311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ea typeface="宋体" panose="02010600030101010101" pitchFamily="2" charset="-122"/>
                <a:latin typeface="宋体" panose="02010600030101010101" pitchFamily="2" charset="-122"/>
              </a:rPr>
              <a:t>3</a:t>
            </a:r>
            <a:r>
              <a:rPr altLang="en-US" dirty="0" lang="zh-CN" b="1" sz="2400">
                <a:ea typeface="宋体" panose="02010600030101010101" pitchFamily="2" charset="-122"/>
                <a:latin typeface="宋体" panose="02010600030101010101" pitchFamily="2" charset="-122"/>
              </a:rPr>
              <a:t>、辩证唯物主义自然观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）思想渊源</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zh-CN" dirty="0" lang="en-US" sz="2400">
                <a:solidFill>
                  <a:srgbClr val="FF0000"/>
                </a:solidFill>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哲学渊源：</a:t>
            </a:r>
            <a:r>
              <a:rPr altLang="en-US" dirty="0" lang="zh-CN" sz="2400">
                <a:ea typeface="宋体" panose="02010600030101010101" pitchFamily="2" charset="-122"/>
                <a:latin typeface="宋体" panose="02010600030101010101" pitchFamily="2" charset="-122"/>
              </a:rPr>
              <a:t>德国古典哲学中的黑格尔辩证法、费尔巴哈的唯物主义思想；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科学渊源：</a:t>
            </a:r>
            <a:r>
              <a:rPr altLang="zh-CN" dirty="0" lang="en-US" sz="2400">
                <a:ea typeface="宋体" panose="02010600030101010101" pitchFamily="2" charset="-122"/>
                <a:latin typeface="宋体" panose="02010600030101010101" pitchFamily="2" charset="-122"/>
              </a:rPr>
              <a:t>18</a:t>
            </a:r>
            <a:r>
              <a:rPr altLang="en-US" dirty="0" lang="zh-CN" sz="2400">
                <a:ea typeface="宋体" panose="02010600030101010101" pitchFamily="2" charset="-122"/>
                <a:latin typeface="宋体" panose="02010600030101010101" pitchFamily="2" charset="-122"/>
              </a:rPr>
              <a:t>世纪末</a:t>
            </a:r>
            <a:r>
              <a:rPr altLang="zh-CN" dirty="0" lang="en-US" sz="2400">
                <a:ea typeface="宋体" panose="02010600030101010101" pitchFamily="2" charset="-122"/>
                <a:latin typeface="宋体" panose="02010600030101010101" pitchFamily="2" charset="-122"/>
              </a:rPr>
              <a:t>19</a:t>
            </a:r>
            <a:r>
              <a:rPr altLang="en-US" dirty="0" lang="zh-CN" sz="2400">
                <a:ea typeface="宋体" panose="02010600030101010101" pitchFamily="2" charset="-122"/>
                <a:latin typeface="宋体" panose="02010600030101010101" pitchFamily="2" charset="-122"/>
              </a:rPr>
              <a:t>世纪中叶自然科学的主要成就</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星云假说、赖尔的地质渐变论、能量守恒和转化定律、尿素的人工合成、细胞学说、生物进化论、电磁场理论、元素周期律；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4035"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）基本思想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自然界是物质的，</a:t>
            </a:r>
            <a:r>
              <a:rPr altLang="en-US" dirty="0" lang="zh-CN" sz="2400">
                <a:solidFill>
                  <a:srgbClr val="FF0000"/>
                </a:solidFill>
                <a:ea typeface="宋体" panose="02010600030101010101" pitchFamily="2" charset="-122"/>
                <a:latin typeface="宋体" panose="02010600030101010101" pitchFamily="2" charset="-122"/>
              </a:rPr>
              <a:t>物质和运动</a:t>
            </a:r>
            <a:r>
              <a:rPr altLang="en-US" dirty="0" lang="zh-CN" sz="2400">
                <a:ea typeface="宋体" panose="02010600030101010101" pitchFamily="2" charset="-122"/>
                <a:latin typeface="宋体" panose="02010600030101010101" pitchFamily="2" charset="-122"/>
              </a:rPr>
              <a:t>在质和量上都是不灭的；</a:t>
            </a:r>
            <a:r>
              <a:rPr altLang="en-US" dirty="0" lang="zh-CN" sz="2400">
                <a:solidFill>
                  <a:srgbClr val="FF0000"/>
                </a:solidFill>
                <a:ea typeface="宋体" panose="02010600030101010101" pitchFamily="2" charset="-122"/>
                <a:latin typeface="宋体" panose="02010600030101010101" pitchFamily="2" charset="-122"/>
              </a:rPr>
              <a:t>意识和思维</a:t>
            </a:r>
            <a:r>
              <a:rPr altLang="en-US" dirty="0" lang="zh-CN" sz="2400">
                <a:ea typeface="宋体" panose="02010600030101010101" pitchFamily="2" charset="-122"/>
                <a:latin typeface="宋体" panose="02010600030101010101" pitchFamily="2" charset="-122"/>
              </a:rPr>
              <a:t>是物质高度发展的产物；</a:t>
            </a:r>
            <a:r>
              <a:rPr altLang="en-US" dirty="0" lang="zh-CN" sz="2400">
                <a:solidFill>
                  <a:srgbClr val="FF0000"/>
                </a:solidFill>
                <a:ea typeface="宋体" panose="02010600030101010101" pitchFamily="2" charset="-122"/>
                <a:latin typeface="宋体" panose="02010600030101010101" pitchFamily="2" charset="-122"/>
              </a:rPr>
              <a:t>时间和空间</a:t>
            </a:r>
            <a:r>
              <a:rPr altLang="en-US" dirty="0" lang="zh-CN" sz="2400">
                <a:ea typeface="宋体" panose="02010600030101010101" pitchFamily="2" charset="-122"/>
                <a:latin typeface="宋体" panose="02010600030101010101" pitchFamily="2" charset="-122"/>
              </a:rPr>
              <a:t>是物质的固有属性和存在方式；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自然界是一个</a:t>
            </a:r>
            <a:r>
              <a:rPr altLang="en-US" dirty="0" lang="zh-CN" sz="2400">
                <a:solidFill>
                  <a:srgbClr val="FF0000"/>
                </a:solidFill>
                <a:ea typeface="宋体" panose="02010600030101010101" pitchFamily="2" charset="-122"/>
                <a:latin typeface="宋体" panose="02010600030101010101" pitchFamily="2" charset="-122"/>
              </a:rPr>
              <a:t>互相联系的体系</a:t>
            </a:r>
            <a:r>
              <a:rPr altLang="en-US" dirty="0" lang="zh-CN" sz="2400">
                <a:ea typeface="宋体" panose="02010600030101010101" pitchFamily="2" charset="-122"/>
                <a:latin typeface="宋体" panose="02010600030101010101" pitchFamily="2" charset="-122"/>
              </a:rPr>
              <a:t>，自然界不是事物的集合体而是过程的集合体。</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在自然界特定的发展阶段，产生了</a:t>
            </a:r>
            <a:r>
              <a:rPr altLang="en-US" dirty="0" lang="zh-CN" sz="2400">
                <a:solidFill>
                  <a:srgbClr val="FF0000"/>
                </a:solidFill>
                <a:ea typeface="宋体" panose="02010600030101010101" pitchFamily="2" charset="-122"/>
                <a:latin typeface="宋体" panose="02010600030101010101" pitchFamily="2" charset="-122"/>
              </a:rPr>
              <a:t>人类和人类社会</a:t>
            </a:r>
            <a:r>
              <a:rPr altLang="en-US" dirty="0" lang="zh-CN" sz="2400">
                <a:ea typeface="宋体" panose="02010600030101010101" pitchFamily="2" charset="-122"/>
                <a:latin typeface="宋体" panose="02010600030101010101" pitchFamily="2" charset="-122"/>
              </a:rPr>
              <a:t>，出现了具有新质的</a:t>
            </a:r>
            <a:r>
              <a:rPr altLang="en-US" dirty="0" lang="zh-CN" sz="2400">
                <a:solidFill>
                  <a:srgbClr val="FF0000"/>
                </a:solidFill>
                <a:ea typeface="宋体" panose="02010600030101010101" pitchFamily="2" charset="-122"/>
                <a:latin typeface="宋体" panose="02010600030101010101" pitchFamily="2" charset="-122"/>
              </a:rPr>
              <a:t>人化自然</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5059" name="TextBox 2"/>
          <p:cNvSpPr/>
          <p:nvPr/>
        </p:nvSpPr>
        <p:spPr>
          <a:xfrm>
            <a:off x="0" y="1743075"/>
            <a:ext cx="9144000" cy="350774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）特征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唯物论与辩证法的统一；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自然史与人类史的统一；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天然自然与人化自然的统一；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人与自然的关系是能动性和受动性的统一。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b="1" sz="2800">
              <a:ea typeface="宋体" panose="02010600030101010101" pitchFamily="2" charset="-122"/>
              <a:latin typeface="宋体" panose="02010600030101010101" pitchFamily="2"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6083" name="TextBox 2"/>
          <p:cNvSpPr/>
          <p:nvPr/>
        </p:nvSpPr>
        <p:spPr>
          <a:xfrm>
            <a:off x="0" y="1743075"/>
            <a:ext cx="9144000" cy="350774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solidFill>
                  <a:srgbClr val="FF0000"/>
                </a:solidFill>
                <a:cs typeface="微软雅黑" panose="020B0503020204020204" pitchFamily="34" charset="-122"/>
                <a:ea typeface="微软雅黑" panose="020B0503020204020204" pitchFamily="34" charset="-122"/>
                <a:latin typeface="微软雅黑" panose="020B0503020204020204" pitchFamily="34" charset="-122"/>
              </a:rPr>
              <a:t>（</a:t>
            </a:r>
            <a:r>
              <a:rPr altLang="zh-CN" dirty="0" lang="en-US" sz="2800">
                <a:solidFill>
                  <a:srgbClr val="FF0000"/>
                </a:solidFill>
                <a:cs typeface="微软雅黑" panose="020B0503020204020204" pitchFamily="34" charset="-122"/>
                <a:ea typeface="微软雅黑" panose="020B0503020204020204" pitchFamily="34" charset="-122"/>
                <a:latin typeface="微软雅黑" panose="020B0503020204020204" pitchFamily="34" charset="-122"/>
              </a:rPr>
              <a:t>4</a:t>
            </a:r>
            <a:r>
              <a:rPr altLang="en-US" dirty="0" lang="zh-CN" sz="2800">
                <a:solidFill>
                  <a:srgbClr val="FF0000"/>
                </a:solidFill>
                <a:cs typeface="微软雅黑" panose="020B0503020204020204" pitchFamily="34" charset="-122"/>
                <a:ea typeface="微软雅黑" panose="020B0503020204020204" pitchFamily="34" charset="-122"/>
                <a:latin typeface="微软雅黑" panose="020B0503020204020204" pitchFamily="34" charset="-122"/>
              </a:rPr>
              <a:t>）意义</a:t>
            </a:r>
            <a:endParaRPr altLang="zh-CN" dirty="0" lang="en-US" sz="2800">
              <a:solidFill>
                <a:srgbClr val="FF0000"/>
              </a:solidFill>
              <a:cs typeface="微软雅黑" panose="020B0503020204020204" pitchFamily="34" charset="-122"/>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sz="2400">
                <a:cs typeface="微软雅黑" panose="020B0503020204020204" pitchFamily="34" charset="-122"/>
                <a:ea typeface="微软雅黑" panose="020B0503020204020204" pitchFamily="34" charset="-122"/>
                <a:latin typeface="微软雅黑" panose="020B0503020204020204" pitchFamily="34" charset="-122"/>
              </a:rPr>
              <a:t>  </a:t>
            </a:r>
            <a:r>
              <a:rPr altLang="en-US" dirty="0" lang="zh-CN" sz="2400">
                <a:cs typeface="微软雅黑" panose="020B0503020204020204" pitchFamily="34" charset="-122"/>
                <a:ea typeface="微软雅黑" panose="020B0503020204020204" pitchFamily="34" charset="-122"/>
                <a:latin typeface="微软雅黑" panose="020B0503020204020204" pitchFamily="34" charset="-122"/>
              </a:rPr>
              <a:t>实现了自然观发展史上的革命性变革；</a:t>
            </a:r>
            <a:endParaRPr altLang="zh-CN" dirty="0" lang="en-US" sz="2400">
              <a:cs typeface="微软雅黑" panose="020B0503020204020204" pitchFamily="34" charset="-122"/>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sz="2400">
                <a:cs typeface="微软雅黑" panose="020B0503020204020204" pitchFamily="34" charset="-122"/>
                <a:ea typeface="微软雅黑" panose="020B0503020204020204" pitchFamily="34" charset="-122"/>
                <a:latin typeface="微软雅黑" panose="020B0503020204020204" pitchFamily="34" charset="-122"/>
              </a:rPr>
              <a:t>  </a:t>
            </a:r>
            <a:r>
              <a:rPr altLang="en-US" dirty="0" lang="zh-CN" sz="2400">
                <a:cs typeface="微软雅黑" panose="020B0503020204020204" pitchFamily="34" charset="-122"/>
                <a:ea typeface="微软雅黑" panose="020B0503020204020204" pitchFamily="34" charset="-122"/>
                <a:latin typeface="微软雅黑" panose="020B0503020204020204" pitchFamily="34" charset="-122"/>
              </a:rPr>
              <a:t>为科学技术的发展提供了世界观、认识论、方法论和价值论的理论指导；</a:t>
            </a:r>
            <a:endParaRPr altLang="zh-CN" dirty="0" lang="en-US" sz="2400">
              <a:cs typeface="微软雅黑" panose="020B0503020204020204" pitchFamily="34" charset="-122"/>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sz="2400">
                <a:cs typeface="微软雅黑" panose="020B0503020204020204" pitchFamily="34" charset="-122"/>
                <a:ea typeface="微软雅黑" panose="020B0503020204020204" pitchFamily="34" charset="-122"/>
                <a:latin typeface="微软雅黑" panose="020B0503020204020204" pitchFamily="34" charset="-122"/>
              </a:rPr>
              <a:t>  </a:t>
            </a:r>
            <a:r>
              <a:rPr altLang="en-US" dirty="0" lang="zh-CN" sz="2400">
                <a:cs typeface="微软雅黑" panose="020B0503020204020204" pitchFamily="34" charset="-122"/>
                <a:ea typeface="微软雅黑" panose="020B0503020204020204" pitchFamily="34" charset="-122"/>
                <a:latin typeface="微软雅黑" panose="020B0503020204020204" pitchFamily="34" charset="-122"/>
              </a:rPr>
              <a:t>为自然科学、社会科学与人文科学的融合奠定了理论基础。</a:t>
            </a:r>
            <a:endParaRPr altLang="zh-CN" dirty="0" lang="en-US" sz="2400">
              <a:cs typeface="微软雅黑" panose="020B0503020204020204" pitchFamily="34" charset="-122"/>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400">
              <a:cs typeface="微软雅黑" panose="020B0503020204020204" pitchFamily="34" charset="-122"/>
              <a:ea typeface="微软雅黑" panose="020B0503020204020204" pitchFamily="34" charset="-122"/>
              <a:latin typeface="微软雅黑" panose="020B0503020204020204" pitchFamily="34" charset="-122"/>
            </a:endParaRPr>
          </a:p>
        </p:txBody>
      </p:sp>
      <p:pic>
        <p:nvPicPr>
          <p:cNvPr id="3" name="图片 2"/>
          <p:cNvPicPr/>
          <p:nvPr/>
        </p:nvPicPr>
        <p:blipFill>
          <a:blip r:embed="rId1"/>
          <a:stretch>
            <a:fillRect/>
          </a:stretch>
        </p:blipFill>
        <p:spPr>
          <a:xfrm>
            <a:off x="-1270" y="0"/>
            <a:ext cx="9171305" cy="1757680"/>
          </a:xfrm>
          <a:prstGeom prst="rect">
            <a:avLst/>
          </a:prstGeom>
        </p:spPr>
      </p:pic>
    </p:spTree>
  </p:cSld>
  <p:clrMapOvr>
    <a:masterClrMapping/>
  </p:clrMapOvr>
</p:sld>
</file>

<file path=ppt/slides/slide3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47106" name="Picture 9"/>
          <p:cNvPicPr/>
          <p:nvPr/>
        </p:nvPicPr>
        <p:blipFill>
          <a:blip r:embed="rId1"/>
          <a:stretch>
            <a:fillRect/>
          </a:stretch>
        </p:blipFill>
        <p:spPr>
          <a:xfrm>
            <a:off x="0" y="0"/>
            <a:ext cx="9144000" cy="1743075"/>
          </a:xfrm>
          <a:prstGeom prst="rect">
            <a:avLst/>
          </a:prstGeom>
          <a:noFill/>
          <a:ln w="9525">
            <a:noFill/>
          </a:ln>
        </p:spPr>
      </p:pic>
      <p:sp>
        <p:nvSpPr>
          <p:cNvPr id="47107" name="TextBox 2"/>
          <p:cNvSpPr/>
          <p:nvPr/>
        </p:nvSpPr>
        <p:spPr>
          <a:xfrm>
            <a:off x="0" y="1743075"/>
            <a:ext cx="9144000" cy="572389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第三节 自然观的发展</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ea typeface="宋体" panose="02010600030101010101" pitchFamily="2" charset="-122"/>
                <a:latin typeface="宋体" panose="02010600030101010101" pitchFamily="2" charset="-122"/>
              </a:rPr>
              <a:t>1</a:t>
            </a:r>
            <a:r>
              <a:rPr altLang="en-US" dirty="0" lang="zh-CN" b="1" sz="2400">
                <a:ea typeface="宋体" panose="02010600030101010101" pitchFamily="2" charset="-122"/>
                <a:latin typeface="宋体" panose="02010600030101010101" pitchFamily="2" charset="-122"/>
              </a:rPr>
              <a:t>、系统自然观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）思想渊源</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赫拉克利特、莱布尼茨和黑格尔等系统观的自然哲学思想；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现代系统科学的发展，</a:t>
            </a:r>
            <a:r>
              <a:rPr altLang="en-US" dirty="0" lang="zh-CN" sz="2400">
                <a:solidFill>
                  <a:srgbClr val="FF0000"/>
                </a:solidFill>
                <a:ea typeface="宋体" panose="02010600030101010101" pitchFamily="2" charset="-122"/>
                <a:latin typeface="宋体" panose="02010600030101010101" pitchFamily="2" charset="-122"/>
              </a:rPr>
              <a:t>贝塔朗菲、维纳和普利高津</a:t>
            </a:r>
            <a:r>
              <a:rPr altLang="en-US" dirty="0" lang="zh-CN" sz="2400">
                <a:ea typeface="宋体" panose="02010600030101010101" pitchFamily="2" charset="-122"/>
                <a:latin typeface="宋体" panose="02010600030101010101" pitchFamily="2" charset="-122"/>
              </a:rPr>
              <a:t>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4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48130" name="Picture 9"/>
          <p:cNvPicPr/>
          <p:nvPr/>
        </p:nvPicPr>
        <p:blipFill>
          <a:blip r:embed="rId1"/>
          <a:stretch>
            <a:fillRect/>
          </a:stretch>
        </p:blipFill>
        <p:spPr>
          <a:xfrm>
            <a:off x="0" y="0"/>
            <a:ext cx="9144000" cy="1743075"/>
          </a:xfrm>
          <a:prstGeom prst="rect">
            <a:avLst/>
          </a:prstGeom>
          <a:noFill/>
          <a:ln w="9525">
            <a:noFill/>
          </a:ln>
        </p:spPr>
      </p:pic>
      <p:sp>
        <p:nvSpPr>
          <p:cNvPr id="48131"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）自然界的系统性</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系统是由若干</a:t>
            </a:r>
            <a:r>
              <a:rPr altLang="en-US" dirty="0" lang="zh-CN" sz="2400">
                <a:solidFill>
                  <a:srgbClr val="FF0000"/>
                </a:solidFill>
                <a:ea typeface="宋体" panose="02010600030101010101" pitchFamily="2" charset="-122"/>
                <a:latin typeface="宋体" panose="02010600030101010101" pitchFamily="2" charset="-122"/>
              </a:rPr>
              <a:t>相互联系、相互作用</a:t>
            </a:r>
            <a:r>
              <a:rPr altLang="en-US" dirty="0" lang="zh-CN" sz="2400">
                <a:ea typeface="宋体" panose="02010600030101010101" pitchFamily="2" charset="-122"/>
                <a:latin typeface="宋体" panose="02010600030101010101" pitchFamily="2" charset="-122"/>
              </a:rPr>
              <a:t>的要素，按一定关系组成的具有一定结构和功能的</a:t>
            </a:r>
            <a:r>
              <a:rPr altLang="en-US" dirty="0" lang="zh-CN" sz="2400">
                <a:solidFill>
                  <a:srgbClr val="FF0000"/>
                </a:solidFill>
                <a:ea typeface="宋体" panose="02010600030101010101" pitchFamily="2" charset="-122"/>
                <a:latin typeface="宋体" panose="02010600030101010101" pitchFamily="2" charset="-122"/>
              </a:rPr>
              <a:t>有机整体</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自然界的一切</a:t>
            </a:r>
            <a:r>
              <a:rPr altLang="en-US" dirty="0" lang="zh-CN" sz="2400">
                <a:solidFill>
                  <a:srgbClr val="FF0000"/>
                </a:solidFill>
                <a:ea typeface="宋体" panose="02010600030101010101" pitchFamily="2" charset="-122"/>
                <a:latin typeface="宋体" panose="02010600030101010101" pitchFamily="2" charset="-122"/>
              </a:rPr>
              <a:t>物质客体</a:t>
            </a:r>
            <a:r>
              <a:rPr altLang="en-US" dirty="0" lang="zh-CN" sz="2400">
                <a:ea typeface="宋体" panose="02010600030101010101" pitchFamily="2" charset="-122"/>
                <a:latin typeface="宋体" panose="02010600030101010101" pitchFamily="2" charset="-122"/>
              </a:rPr>
              <a:t>都可以看作是系统；</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微观系统层次：</a:t>
            </a:r>
            <a:r>
              <a:rPr altLang="en-US" dirty="0" lang="zh-CN" sz="2400">
                <a:ea typeface="宋体" panose="02010600030101010101" pitchFamily="2" charset="-122"/>
                <a:latin typeface="宋体" panose="02010600030101010101" pitchFamily="2" charset="-122"/>
              </a:rPr>
              <a:t>分子</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原子</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原子核</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基本粒子</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跨克</a:t>
            </a:r>
            <a:r>
              <a:rPr altLang="zh-CN" dirty="0" lang="en-US"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天体系统层次：</a:t>
            </a:r>
            <a:r>
              <a:rPr altLang="en-US" dirty="0" lang="zh-CN" sz="2400">
                <a:ea typeface="宋体" panose="02010600030101010101" pitchFamily="2" charset="-122"/>
                <a:latin typeface="宋体" panose="02010600030101010101" pitchFamily="2" charset="-122"/>
              </a:rPr>
              <a:t>地月系</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太阳系</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银河系</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总星系</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宇宙</a:t>
            </a:r>
            <a:r>
              <a:rPr altLang="zh-CN" dirty="0" lang="en-US"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生物系统层次：</a:t>
            </a:r>
            <a:r>
              <a:rPr altLang="en-US" dirty="0" lang="zh-CN" sz="2400">
                <a:ea typeface="宋体" panose="02010600030101010101" pitchFamily="2" charset="-122"/>
                <a:latin typeface="宋体" panose="02010600030101010101" pitchFamily="2" charset="-122"/>
              </a:rPr>
              <a:t>生物大分子</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组织</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器官</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个体</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种群</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群落</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生态体系</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生物圈</a:t>
            </a:r>
            <a:r>
              <a:rPr altLang="zh-CN" dirty="0" lang="en-US"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4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49154" name="TextBox 2"/>
          <p:cNvSpPr/>
          <p:nvPr/>
        </p:nvSpPr>
        <p:spPr>
          <a:xfrm>
            <a:off x="0" y="1743075"/>
            <a:ext cx="9144000" cy="44310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系统的基本特征</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solidFill>
                  <a:srgbClr val="FF0000"/>
                </a:solidFill>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开放性。</a:t>
            </a:r>
            <a:r>
              <a:rPr altLang="en-US" dirty="0" lang="zh-CN" sz="2800">
                <a:ea typeface="宋体" panose="02010600030101010101" pitchFamily="2" charset="-122"/>
                <a:latin typeface="宋体" panose="02010600030101010101" pitchFamily="2" charset="-122"/>
              </a:rPr>
              <a:t>自然界任何系统都是开放系统。</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动态性。</a:t>
            </a:r>
            <a:r>
              <a:rPr altLang="en-US" dirty="0" lang="zh-CN" sz="2800">
                <a:ea typeface="宋体" panose="02010600030101010101" pitchFamily="2" charset="-122"/>
                <a:latin typeface="宋体" panose="02010600030101010101" pitchFamily="2" charset="-122"/>
              </a:rPr>
              <a:t>静态只是动态的特例。</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有机整体性。</a:t>
            </a:r>
            <a:r>
              <a:rPr altLang="en-US" dirty="0" lang="zh-CN" sz="2800">
                <a:ea typeface="宋体" panose="02010600030101010101" pitchFamily="2" charset="-122"/>
                <a:latin typeface="宋体" panose="02010600030101010101" pitchFamily="2" charset="-122"/>
              </a:rPr>
              <a:t>功能的非加和性。</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层次的有序性。</a:t>
            </a:r>
            <a:r>
              <a:rPr altLang="en-US" dirty="0" lang="zh-CN" sz="2800">
                <a:solidFill>
                  <a:schemeClr val="tx1"/>
                </a:solidFill>
                <a:ea typeface="宋体" panose="02010600030101010101" pitchFamily="2" charset="-122"/>
                <a:latin typeface="宋体" panose="02010600030101010101" pitchFamily="2" charset="-122"/>
              </a:rPr>
              <a:t>层次具有顺序。</a:t>
            </a:r>
            <a:endParaRPr altLang="zh-CN" dirty="0" lang="en-US" sz="2800">
              <a:solidFill>
                <a:schemeClr val="tx1"/>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49155" name="Picture 9"/>
          <p:cNvPicPr/>
          <p:nvPr/>
        </p:nvPicPr>
        <p:blipFill>
          <a:blip r:embed="rId1"/>
          <a:stretch>
            <a:fillRect/>
          </a:stretch>
        </p:blipFill>
        <p:spPr>
          <a:xfrm>
            <a:off x="0" y="0"/>
            <a:ext cx="9144000" cy="1743075"/>
          </a:xfrm>
          <a:prstGeom prst="rect">
            <a:avLst/>
          </a:prstGeom>
          <a:noFill/>
          <a:ln w="9525">
            <a:noFill/>
          </a:ln>
        </p:spPr>
      </p:pic>
    </p:spTree>
  </p:cSld>
  <p:clrMapOvr>
    <a:masterClrMapping/>
  </p:clrMapOvr>
</p:sld>
</file>

<file path=ppt/slides/slide4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0178" name="Picture 9"/>
          <p:cNvPicPr/>
          <p:nvPr/>
        </p:nvPicPr>
        <p:blipFill>
          <a:blip r:embed="rId1"/>
          <a:stretch>
            <a:fillRect/>
          </a:stretch>
        </p:blipFill>
        <p:spPr>
          <a:xfrm>
            <a:off x="0" y="0"/>
            <a:ext cx="9144000" cy="1743075"/>
          </a:xfrm>
          <a:prstGeom prst="rect">
            <a:avLst/>
          </a:prstGeom>
          <a:noFill/>
          <a:ln w="9525">
            <a:noFill/>
          </a:ln>
        </p:spPr>
      </p:pic>
      <p:sp>
        <p:nvSpPr>
          <p:cNvPr id="50179" name="TextBox 2"/>
          <p:cNvSpPr/>
          <p:nvPr/>
        </p:nvSpPr>
        <p:spPr>
          <a:xfrm>
            <a:off x="0" y="1743075"/>
            <a:ext cx="9144000" cy="51695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）自然界的演化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演化和进化：</a:t>
            </a:r>
            <a:r>
              <a:rPr altLang="en-US" dirty="0" lang="zh-CN" sz="2800">
                <a:ea typeface="宋体" panose="02010600030101010101" pitchFamily="2" charset="-122"/>
                <a:latin typeface="宋体" panose="02010600030101010101" pitchFamily="2" charset="-122"/>
              </a:rPr>
              <a:t>英文都是</a:t>
            </a:r>
            <a:r>
              <a:rPr altLang="zh-CN" dirty="0" lang="en-US" sz="2800">
                <a:ea typeface="宋体" panose="02010600030101010101" pitchFamily="2" charset="-122"/>
                <a:latin typeface="宋体" panose="02010600030101010101" pitchFamily="2" charset="-122"/>
              </a:rPr>
              <a:t>evolution</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进化</a:t>
            </a:r>
            <a:r>
              <a:rPr altLang="en-US" dirty="0" lang="zh-CN" sz="2800">
                <a:ea typeface="宋体" panose="02010600030101010101" pitchFamily="2" charset="-122"/>
                <a:latin typeface="宋体" panose="02010600030101010101" pitchFamily="2" charset="-122"/>
              </a:rPr>
              <a:t>是一种具有特定方向的演化；所谓进化是指事物的上升的、从无序到有序的不可逆过程，或是复杂性和多样性的增长过程；</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演化比进化更宽泛，演化除了进化之意义外，还包括了事物的下降，从有序到无序的过程；</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4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1202" name="Picture 9"/>
          <p:cNvPicPr/>
          <p:nvPr/>
        </p:nvPicPr>
        <p:blipFill>
          <a:blip r:embed="rId1"/>
          <a:stretch>
            <a:fillRect/>
          </a:stretch>
        </p:blipFill>
        <p:spPr>
          <a:xfrm>
            <a:off x="0" y="0"/>
            <a:ext cx="9144000" cy="1743075"/>
          </a:xfrm>
          <a:prstGeom prst="rect">
            <a:avLst/>
          </a:prstGeom>
          <a:noFill/>
          <a:ln w="9525">
            <a:noFill/>
          </a:ln>
        </p:spPr>
      </p:pic>
      <p:sp>
        <p:nvSpPr>
          <p:cNvPr id="51203"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宇宙的起源和演化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  </a:t>
            </a:r>
            <a:r>
              <a:rPr altLang="en-US" dirty="0" lang="zh-CN" b="1" sz="2800">
                <a:solidFill>
                  <a:srgbClr val="FF0000"/>
                </a:solidFill>
                <a:ea typeface="宋体" panose="02010600030101010101" pitchFamily="2" charset="-122"/>
                <a:latin typeface="宋体" panose="02010600030101010101" pitchFamily="2" charset="-122"/>
              </a:rPr>
              <a:t>宇宙大爆炸理论</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科学依据：</a:t>
            </a:r>
            <a:r>
              <a:rPr altLang="en-US" dirty="0" lang="zh-CN" sz="2800">
                <a:ea typeface="宋体" panose="02010600030101010101" pitchFamily="2" charset="-122"/>
                <a:latin typeface="宋体" panose="02010600030101010101" pitchFamily="2" charset="-122"/>
              </a:rPr>
              <a:t>微波背景辐射、河外星系谱线红移、氦丰度</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基本粒子的产生：</a:t>
            </a:r>
            <a:r>
              <a:rPr altLang="zh-CN" dirty="0" lang="en-US" sz="2800">
                <a:ea typeface="宋体" panose="02010600030101010101" pitchFamily="2" charset="-122"/>
                <a:latin typeface="宋体" panose="02010600030101010101" pitchFamily="2" charset="-122"/>
              </a:rPr>
              <a:t>0</a:t>
            </a:r>
            <a:r>
              <a:rPr altLang="en-US" dirty="0" lang="zh-CN" sz="2800">
                <a:ea typeface="宋体" panose="02010600030101010101" pitchFamily="2" charset="-122"/>
                <a:latin typeface="宋体" panose="02010600030101010101" pitchFamily="2" charset="-122"/>
              </a:rPr>
              <a:t>到</a:t>
            </a:r>
            <a:r>
              <a:rPr altLang="zh-CN" dirty="0" lang="en-US" sz="2800">
                <a:ea typeface="宋体" panose="02010600030101010101" pitchFamily="2" charset="-122"/>
                <a:latin typeface="宋体" panose="02010600030101010101" pitchFamily="2" charset="-122"/>
              </a:rPr>
              <a:t>10</a:t>
            </a:r>
            <a:r>
              <a:rPr altLang="zh-CN" dirty="0" lang="en-US" baseline="30000" sz="2800">
                <a:ea typeface="宋体" panose="02010600030101010101" pitchFamily="2" charset="-122"/>
                <a:latin typeface="宋体" panose="02010600030101010101" pitchFamily="2" charset="-122"/>
              </a:rPr>
              <a:t>-6</a:t>
            </a:r>
            <a:r>
              <a:rPr altLang="en-US" dirty="0" lang="zh-CN" sz="2800">
                <a:ea typeface="宋体" panose="02010600030101010101" pitchFamily="2" charset="-122"/>
                <a:latin typeface="宋体" panose="02010600030101010101" pitchFamily="2" charset="-122"/>
              </a:rPr>
              <a:t>秒，时空量子化；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1</a:t>
            </a:r>
            <a:r>
              <a:rPr altLang="en-US" dirty="0" lang="zh-CN" sz="2800">
                <a:ea typeface="宋体" panose="02010600030101010101" pitchFamily="2" charset="-122"/>
                <a:latin typeface="宋体" panose="02010600030101010101" pitchFamily="2" charset="-122"/>
              </a:rPr>
              <a:t>秒内可以产生基本粒子；</a:t>
            </a:r>
            <a:r>
              <a:rPr altLang="zh-CN" dirty="0" lang="en-US" sz="2800">
                <a:ea typeface="宋体" panose="02010600030101010101" pitchFamily="2" charset="-122"/>
                <a:latin typeface="宋体" panose="02010600030101010101" pitchFamily="2" charset="-122"/>
              </a:rPr>
              <a:t>1-180</a:t>
            </a:r>
            <a:r>
              <a:rPr altLang="en-US" dirty="0" lang="zh-CN" sz="2800">
                <a:ea typeface="宋体" panose="02010600030101010101" pitchFamily="2" charset="-122"/>
                <a:latin typeface="宋体" panose="02010600030101010101" pitchFamily="2" charset="-122"/>
              </a:rPr>
              <a:t>秒，实物出现；</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1</a:t>
            </a:r>
            <a:r>
              <a:rPr altLang="en-US" dirty="0" lang="zh-CN" sz="2800">
                <a:ea typeface="宋体" panose="02010600030101010101" pitchFamily="2" charset="-122"/>
                <a:latin typeface="宋体" panose="02010600030101010101" pitchFamily="2" charset="-122"/>
              </a:rPr>
              <a:t>万年后，天体的形成；</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4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2226" name="Picture 9"/>
          <p:cNvPicPr/>
          <p:nvPr/>
        </p:nvPicPr>
        <p:blipFill>
          <a:blip r:embed="rId1"/>
          <a:stretch>
            <a:fillRect/>
          </a:stretch>
        </p:blipFill>
        <p:spPr>
          <a:xfrm>
            <a:off x="0" y="0"/>
            <a:ext cx="9144000" cy="1743075"/>
          </a:xfrm>
          <a:prstGeom prst="rect">
            <a:avLst/>
          </a:prstGeom>
          <a:noFill/>
          <a:ln w="9525">
            <a:noFill/>
          </a:ln>
        </p:spPr>
      </p:pic>
      <p:sp>
        <p:nvSpPr>
          <p:cNvPr id="52227"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宋会要</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1054</a:t>
            </a:r>
            <a:r>
              <a:rPr altLang="en-US" dirty="0" lang="zh-CN" sz="2400">
                <a:ea typeface="宋体" panose="02010600030101010101" pitchFamily="2" charset="-122"/>
                <a:latin typeface="宋体" panose="02010600030101010101" pitchFamily="2" charset="-122"/>
              </a:rPr>
              <a:t>年</a:t>
            </a:r>
            <a:r>
              <a:rPr altLang="zh-CN" dirty="0" lang="en-US" sz="2400">
                <a:ea typeface="宋体" panose="02010600030101010101" pitchFamily="2" charset="-122"/>
                <a:latin typeface="宋体" panose="02010600030101010101" pitchFamily="2" charset="-122"/>
              </a:rPr>
              <a:t>6</a:t>
            </a:r>
            <a:r>
              <a:rPr altLang="en-US" dirty="0" lang="zh-CN" sz="2400">
                <a:ea typeface="宋体" panose="02010600030101010101" pitchFamily="2" charset="-122"/>
                <a:latin typeface="宋体" panose="02010600030101010101" pitchFamily="2" charset="-122"/>
              </a:rPr>
              <a:t>月，在金牛座的天关星东部出现一颗星，白昼都可以看到，光芒四射，呈红色，可见期</a:t>
            </a:r>
            <a:r>
              <a:rPr altLang="zh-CN" dirty="0" lang="en-US" sz="2400">
                <a:ea typeface="宋体" panose="02010600030101010101" pitchFamily="2" charset="-122"/>
                <a:latin typeface="宋体" panose="02010600030101010101" pitchFamily="2" charset="-122"/>
              </a:rPr>
              <a:t>23</a:t>
            </a:r>
            <a:r>
              <a:rPr altLang="en-US" dirty="0" lang="zh-CN" sz="2400">
                <a:ea typeface="宋体" panose="02010600030101010101" pitchFamily="2" charset="-122"/>
                <a:latin typeface="宋体" panose="02010600030101010101" pitchFamily="2" charset="-122"/>
              </a:rPr>
              <a:t>天；</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52228" name="图片 4"/>
          <p:cNvPicPr/>
          <p:nvPr/>
        </p:nvPicPr>
        <p:blipFill>
          <a:blip r:embed="rId2"/>
          <a:stretch>
            <a:fillRect/>
          </a:stretch>
        </p:blipFill>
        <p:spPr>
          <a:xfrm>
            <a:off x="123825" y="2901950"/>
            <a:ext cx="4448175" cy="2954338"/>
          </a:xfrm>
          <a:prstGeom prst="rect">
            <a:avLst/>
          </a:prstGeom>
          <a:noFill/>
          <a:ln w="9525">
            <a:noFill/>
          </a:ln>
        </p:spPr>
      </p:pic>
      <p:sp>
        <p:nvSpPr>
          <p:cNvPr id="52229" name="TextBox 2"/>
          <p:cNvSpPr/>
          <p:nvPr/>
        </p:nvSpPr>
        <p:spPr>
          <a:xfrm>
            <a:off x="723900" y="5856288"/>
            <a:ext cx="3087688" cy="558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金牛座</a:t>
            </a:r>
            <a:endParaRPr altLang="zh-CN" dirty="0" lang="en-US" b="1" sz="2400">
              <a:solidFill>
                <a:srgbClr val="FF0000"/>
              </a:solidFill>
              <a:ea typeface="宋体" panose="02010600030101010101" pitchFamily="2" charset="-122"/>
              <a:latin typeface="宋体" panose="02010600030101010101" pitchFamily="2" charset="-122"/>
            </a:endParaRPr>
          </a:p>
        </p:txBody>
      </p:sp>
      <p:pic>
        <p:nvPicPr>
          <p:cNvPr id="52230" name="图片 7"/>
          <p:cNvPicPr/>
          <p:nvPr/>
        </p:nvPicPr>
        <p:blipFill>
          <a:blip r:embed="rId3"/>
          <a:stretch>
            <a:fillRect/>
          </a:stretch>
        </p:blipFill>
        <p:spPr>
          <a:xfrm>
            <a:off x="4895850" y="2901950"/>
            <a:ext cx="3924300" cy="2954338"/>
          </a:xfrm>
          <a:prstGeom prst="rect">
            <a:avLst/>
          </a:prstGeom>
          <a:noFill/>
          <a:ln w="9525">
            <a:noFill/>
          </a:ln>
        </p:spPr>
      </p:pic>
    </p:spTree>
  </p:cSld>
  <p:clrMapOvr>
    <a:masterClrMapping/>
  </p:clrMapOvr>
</p:sld>
</file>

<file path=ppt/slides/slide4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3250" name="Picture 9"/>
          <p:cNvPicPr/>
          <p:nvPr/>
        </p:nvPicPr>
        <p:blipFill>
          <a:blip r:embed="rId1"/>
          <a:stretch>
            <a:fillRect/>
          </a:stretch>
        </p:blipFill>
        <p:spPr>
          <a:xfrm>
            <a:off x="0" y="0"/>
            <a:ext cx="9144000" cy="1743075"/>
          </a:xfrm>
          <a:prstGeom prst="rect">
            <a:avLst/>
          </a:prstGeom>
          <a:noFill/>
          <a:ln w="9525">
            <a:noFill/>
          </a:ln>
        </p:spPr>
      </p:pic>
      <p:sp>
        <p:nvSpPr>
          <p:cNvPr id="53251" name="TextBox 5"/>
          <p:cNvSpPr/>
          <p:nvPr/>
        </p:nvSpPr>
        <p:spPr>
          <a:xfrm>
            <a:off x="0" y="1743075"/>
            <a:ext cx="9144000" cy="4061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十八世纪，有人通过望远镜观测到天关星附近有一块蟹状星云；</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1921</a:t>
            </a:r>
            <a:r>
              <a:rPr altLang="en-US" dirty="0" lang="zh-CN" sz="2400">
                <a:ea typeface="宋体" panose="02010600030101010101" pitchFamily="2" charset="-122"/>
                <a:latin typeface="宋体" panose="02010600030101010101" pitchFamily="2" charset="-122"/>
              </a:rPr>
              <a:t>年，发现这块蟹状星云不断向外膨胀；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1941</a:t>
            </a:r>
            <a:r>
              <a:rPr altLang="en-US" dirty="0" lang="zh-CN" sz="2400">
                <a:ea typeface="宋体" panose="02010600030101010101" pitchFamily="2" charset="-122"/>
                <a:latin typeface="宋体" panose="02010600030101010101" pitchFamily="2" charset="-122"/>
              </a:rPr>
              <a:t>年，荷兰天文学家奥尔特证实，这块星云是我国宋代记录到的超新星爆炸所形成的；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pic>
        <p:nvPicPr>
          <p:cNvPr id="53252" name="图片 4"/>
          <p:cNvPicPr/>
          <p:nvPr/>
        </p:nvPicPr>
        <p:blipFill>
          <a:blip r:embed="rId2"/>
          <a:stretch>
            <a:fillRect/>
          </a:stretch>
        </p:blipFill>
        <p:spPr>
          <a:xfrm>
            <a:off x="3133725" y="3606800"/>
            <a:ext cx="6010275" cy="3044825"/>
          </a:xfrm>
          <a:prstGeom prst="rect">
            <a:avLst/>
          </a:prstGeom>
          <a:noFill/>
          <a:ln w="9525">
            <a:noFill/>
          </a:ln>
        </p:spPr>
      </p:pic>
    </p:spTree>
  </p:cSld>
  <p:clrMapOvr>
    <a:masterClrMapping/>
  </p:clrMapOvr>
</p:sld>
</file>

<file path=ppt/slides/slide4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4274" name="Picture 9"/>
          <p:cNvPicPr/>
          <p:nvPr/>
        </p:nvPicPr>
        <p:blipFill>
          <a:blip r:embed="rId1"/>
          <a:stretch>
            <a:fillRect/>
          </a:stretch>
        </p:blipFill>
        <p:spPr>
          <a:xfrm>
            <a:off x="0" y="0"/>
            <a:ext cx="9144000" cy="1449388"/>
          </a:xfrm>
          <a:prstGeom prst="rect">
            <a:avLst/>
          </a:prstGeom>
          <a:noFill/>
          <a:ln w="9525">
            <a:noFill/>
          </a:ln>
        </p:spPr>
      </p:pic>
      <p:sp>
        <p:nvSpPr>
          <p:cNvPr id="54275" name="TextBox 2"/>
          <p:cNvSpPr/>
          <p:nvPr/>
        </p:nvSpPr>
        <p:spPr>
          <a:xfrm>
            <a:off x="3698875" y="2611438"/>
            <a:ext cx="5254625" cy="31448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地质演化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海陆变迁：七大洲、八大洋</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气候变化：全球三次大冰期</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产生生命、生物和人类</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54276" name="图片 2"/>
          <p:cNvPicPr/>
          <p:nvPr/>
        </p:nvPicPr>
        <p:blipFill>
          <a:blip r:embed="rId2"/>
          <a:stretch>
            <a:fillRect/>
          </a:stretch>
        </p:blipFill>
        <p:spPr>
          <a:xfrm>
            <a:off x="190500" y="1514475"/>
            <a:ext cx="3297238" cy="4968875"/>
          </a:xfrm>
          <a:prstGeom prst="rect">
            <a:avLst/>
          </a:prstGeom>
          <a:noFill/>
          <a:ln w="9525">
            <a:noFill/>
          </a:ln>
        </p:spPr>
      </p:pic>
    </p:spTree>
  </p:cSld>
  <p:clrMapOvr>
    <a:masterClrMapping/>
  </p:clrMapOvr>
</p:sld>
</file>

<file path=ppt/slides/slide4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6322" name="Picture 9"/>
          <p:cNvPicPr/>
          <p:nvPr/>
        </p:nvPicPr>
        <p:blipFill>
          <a:blip r:embed="rId1"/>
          <a:stretch>
            <a:fillRect/>
          </a:stretch>
        </p:blipFill>
        <p:spPr>
          <a:xfrm>
            <a:off x="0" y="0"/>
            <a:ext cx="9144000" cy="1743075"/>
          </a:xfrm>
          <a:prstGeom prst="rect">
            <a:avLst/>
          </a:prstGeom>
          <a:noFill/>
          <a:ln w="9525">
            <a:noFill/>
          </a:ln>
        </p:spPr>
      </p:pic>
      <p:sp>
        <p:nvSpPr>
          <p:cNvPr id="56323" name="TextBox 5"/>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生命的起源和演化</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现代分子生物学认为生命的物质承担者是以蛋白质、核酸为主体的多分子体系。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从无机物到有机小分子，有机小分子到生物大分子，从生物大分子到生命的诞生；</a:t>
            </a:r>
            <a:endParaRPr altLang="zh-CN" dirty="0" lang="en-US" sz="2400">
              <a:solidFill>
                <a:srgbClr val="0000FF"/>
              </a:solidFill>
              <a:ea typeface="宋体" panose="02010600030101010101" pitchFamily="2" charset="-122"/>
              <a:latin typeface="宋体" panose="02010600030101010101" pitchFamily="2" charset="-122"/>
            </a:endParaRPr>
          </a:p>
        </p:txBody>
      </p:sp>
      <p:pic>
        <p:nvPicPr>
          <p:cNvPr id="56324" name="图片 2"/>
          <p:cNvPicPr/>
          <p:nvPr/>
        </p:nvPicPr>
        <p:blipFill>
          <a:blip r:embed="rId2"/>
          <a:stretch>
            <a:fillRect/>
          </a:stretch>
        </p:blipFill>
        <p:spPr>
          <a:xfrm>
            <a:off x="3163888" y="4511675"/>
            <a:ext cx="2627312" cy="2163763"/>
          </a:xfrm>
          <a:prstGeom prst="rect">
            <a:avLst/>
          </a:prstGeom>
          <a:noFill/>
          <a:ln w="9525">
            <a:noFill/>
          </a:ln>
        </p:spPr>
      </p:pic>
      <p:pic>
        <p:nvPicPr>
          <p:cNvPr id="56325" name="图片 4"/>
          <p:cNvPicPr/>
          <p:nvPr/>
        </p:nvPicPr>
        <p:blipFill>
          <a:blip r:embed="rId3"/>
          <a:stretch>
            <a:fillRect/>
          </a:stretch>
        </p:blipFill>
        <p:spPr>
          <a:xfrm>
            <a:off x="0" y="4511675"/>
            <a:ext cx="2835275" cy="2163763"/>
          </a:xfrm>
          <a:prstGeom prst="rect">
            <a:avLst/>
          </a:prstGeom>
          <a:noFill/>
          <a:ln w="9525">
            <a:noFill/>
          </a:ln>
        </p:spPr>
      </p:pic>
      <p:pic>
        <p:nvPicPr>
          <p:cNvPr id="56326" name="图片 6"/>
          <p:cNvPicPr/>
          <p:nvPr/>
        </p:nvPicPr>
        <p:blipFill>
          <a:blip r:embed="rId4"/>
          <a:stretch>
            <a:fillRect/>
          </a:stretch>
        </p:blipFill>
        <p:spPr>
          <a:xfrm>
            <a:off x="6215063" y="4519613"/>
            <a:ext cx="2905125" cy="2155825"/>
          </a:xfrm>
          <a:prstGeom prst="rect">
            <a:avLst/>
          </a:prstGeom>
          <a:noFill/>
          <a:ln w="9525">
            <a:noFill/>
          </a:ln>
        </p:spPr>
      </p:pic>
    </p:spTree>
  </p:cSld>
  <p:clrMapOvr>
    <a:masterClrMapping/>
  </p:clrMapOvr>
</p:sld>
</file>

<file path=ppt/slides/slide4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7346" name="Picture 9"/>
          <p:cNvPicPr/>
          <p:nvPr/>
        </p:nvPicPr>
        <p:blipFill>
          <a:blip r:embed="rId1"/>
          <a:stretch>
            <a:fillRect/>
          </a:stretch>
        </p:blipFill>
        <p:spPr>
          <a:xfrm>
            <a:off x="0" y="0"/>
            <a:ext cx="9144000" cy="1417638"/>
          </a:xfrm>
          <a:prstGeom prst="rect">
            <a:avLst/>
          </a:prstGeom>
          <a:noFill/>
          <a:ln w="9525">
            <a:noFill/>
          </a:ln>
        </p:spPr>
      </p:pic>
      <p:sp>
        <p:nvSpPr>
          <p:cNvPr id="57347" name="TextBox 5"/>
          <p:cNvSpPr/>
          <p:nvPr/>
        </p:nvSpPr>
        <p:spPr>
          <a:xfrm>
            <a:off x="6697663" y="5969000"/>
            <a:ext cx="985837" cy="5603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核酸</a:t>
            </a:r>
            <a:endParaRPr altLang="zh-CN" dirty="0" lang="en-US" b="1" sz="2400">
              <a:solidFill>
                <a:srgbClr val="FF0000"/>
              </a:solidFill>
              <a:ea typeface="宋体" panose="02010600030101010101" pitchFamily="2" charset="-122"/>
              <a:latin typeface="宋体" panose="02010600030101010101" pitchFamily="2" charset="-122"/>
            </a:endParaRPr>
          </a:p>
        </p:txBody>
      </p:sp>
      <p:pic>
        <p:nvPicPr>
          <p:cNvPr id="57348" name="图片 2"/>
          <p:cNvPicPr/>
          <p:nvPr/>
        </p:nvPicPr>
        <p:blipFill>
          <a:blip r:embed="rId2"/>
          <a:stretch>
            <a:fillRect/>
          </a:stretch>
        </p:blipFill>
        <p:spPr>
          <a:xfrm>
            <a:off x="234950" y="1671638"/>
            <a:ext cx="4256088" cy="4749800"/>
          </a:xfrm>
          <a:prstGeom prst="rect">
            <a:avLst/>
          </a:prstGeom>
          <a:noFill/>
          <a:ln w="9525">
            <a:noFill/>
          </a:ln>
        </p:spPr>
      </p:pic>
      <p:pic>
        <p:nvPicPr>
          <p:cNvPr id="57349" name="图片 4"/>
          <p:cNvPicPr/>
          <p:nvPr/>
        </p:nvPicPr>
        <p:blipFill>
          <a:blip r:embed="rId3"/>
          <a:stretch>
            <a:fillRect/>
          </a:stretch>
        </p:blipFill>
        <p:spPr>
          <a:xfrm>
            <a:off x="5919788" y="1716088"/>
            <a:ext cx="2073275" cy="825500"/>
          </a:xfrm>
          <a:prstGeom prst="rect">
            <a:avLst/>
          </a:prstGeom>
          <a:noFill/>
          <a:ln w="9525">
            <a:noFill/>
          </a:ln>
        </p:spPr>
      </p:pic>
      <p:pic>
        <p:nvPicPr>
          <p:cNvPr id="57350" name="图片 6"/>
          <p:cNvPicPr/>
          <p:nvPr/>
        </p:nvPicPr>
        <p:blipFill>
          <a:blip r:embed="rId4"/>
          <a:stretch>
            <a:fillRect/>
          </a:stretch>
        </p:blipFill>
        <p:spPr>
          <a:xfrm>
            <a:off x="5897563" y="3606800"/>
            <a:ext cx="2073275" cy="825500"/>
          </a:xfrm>
          <a:prstGeom prst="rect">
            <a:avLst/>
          </a:prstGeom>
          <a:noFill/>
          <a:ln w="9525">
            <a:noFill/>
          </a:ln>
        </p:spPr>
      </p:pic>
      <p:sp>
        <p:nvSpPr>
          <p:cNvPr id="57351" name="TextBox 5"/>
          <p:cNvSpPr/>
          <p:nvPr/>
        </p:nvSpPr>
        <p:spPr>
          <a:xfrm>
            <a:off x="6175375" y="2690813"/>
            <a:ext cx="1562100" cy="5603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羟基乙醛</a:t>
            </a:r>
            <a:endParaRPr altLang="zh-CN" dirty="0" lang="en-US" sz="2400">
              <a:solidFill>
                <a:srgbClr val="FF0000"/>
              </a:solidFill>
              <a:ea typeface="宋体" panose="02010600030101010101" pitchFamily="2" charset="-122"/>
              <a:latin typeface="宋体" panose="02010600030101010101" pitchFamily="2" charset="-122"/>
            </a:endParaRPr>
          </a:p>
        </p:txBody>
      </p:sp>
      <p:sp>
        <p:nvSpPr>
          <p:cNvPr id="57352" name="箭头: 下 13"/>
          <p:cNvSpPr/>
          <p:nvPr/>
        </p:nvSpPr>
        <p:spPr>
          <a:xfrm>
            <a:off x="6832600" y="5194300"/>
            <a:ext cx="379413" cy="677863"/>
          </a:xfrm>
          <a:prstGeom prst="downArrow">
            <a:avLst>
              <a:gd name="adj1" fmla="val 50000"/>
              <a:gd name="adj2" fmla="val 50082"/>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57353" name="TextBox 5"/>
          <p:cNvSpPr/>
          <p:nvPr/>
        </p:nvSpPr>
        <p:spPr>
          <a:xfrm>
            <a:off x="6408738" y="4432300"/>
            <a:ext cx="1562100" cy="5603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乙二醇</a:t>
            </a:r>
            <a:endParaRPr altLang="zh-CN" dirty="0" lang="en-US" sz="2400">
              <a:solidFill>
                <a:srgbClr val="FF0000"/>
              </a:solidFill>
              <a:ea typeface="宋体" panose="02010600030101010101" pitchFamily="2" charset="-122"/>
              <a:latin typeface="宋体" panose="02010600030101010101" pitchFamily="2" charset="-122"/>
            </a:endParaRPr>
          </a:p>
        </p:txBody>
      </p:sp>
    </p:spTree>
  </p:cSld>
  <p:clrMapOvr>
    <a:masterClrMapping/>
  </p:clrMapOvr>
</p:sld>
</file>

<file path=ppt/slides/slide4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8370" name="Picture 9"/>
          <p:cNvPicPr/>
          <p:nvPr/>
        </p:nvPicPr>
        <p:blipFill>
          <a:blip r:embed="rId1"/>
          <a:stretch>
            <a:fillRect/>
          </a:stretch>
        </p:blipFill>
        <p:spPr>
          <a:xfrm>
            <a:off x="0" y="0"/>
            <a:ext cx="9144000" cy="1417638"/>
          </a:xfrm>
          <a:prstGeom prst="rect">
            <a:avLst/>
          </a:prstGeom>
          <a:noFill/>
          <a:ln w="9525">
            <a:noFill/>
          </a:ln>
        </p:spPr>
      </p:pic>
      <p:sp>
        <p:nvSpPr>
          <p:cNvPr id="58371" name="TextBox 5"/>
          <p:cNvSpPr/>
          <p:nvPr/>
        </p:nvSpPr>
        <p:spPr>
          <a:xfrm>
            <a:off x="3636963" y="2627313"/>
            <a:ext cx="5435600" cy="2192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a:ea typeface="宋体" panose="02010600030101010101" pitchFamily="2" charset="-122"/>
                <a:latin typeface="宋体" panose="02010600030101010101" pitchFamily="2" charset="-122"/>
              </a:rPr>
              <a:t>植物进化的最高产物是</a:t>
            </a:r>
            <a:r>
              <a:rPr altLang="en-US" dirty="0" lang="zh-CN" b="1">
                <a:solidFill>
                  <a:srgbClr val="FF0000"/>
                </a:solidFill>
                <a:ea typeface="宋体" panose="02010600030101010101" pitchFamily="2" charset="-122"/>
                <a:latin typeface="宋体" panose="02010600030101010101" pitchFamily="2" charset="-122"/>
              </a:rPr>
              <a:t>种子植物</a:t>
            </a:r>
            <a:endParaRPr altLang="zh-CN" dirty="0" lang="en-US" b="1">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a:ea typeface="宋体" panose="02010600030101010101" pitchFamily="2" charset="-122"/>
                <a:latin typeface="宋体" panose="02010600030101010101" pitchFamily="2" charset="-122"/>
              </a:rPr>
              <a:t>动物的最高产物是</a:t>
            </a:r>
            <a:r>
              <a:rPr altLang="en-US" dirty="0" lang="zh-CN" b="1">
                <a:solidFill>
                  <a:srgbClr val="FF0000"/>
                </a:solidFill>
                <a:ea typeface="宋体" panose="02010600030101010101" pitchFamily="2" charset="-122"/>
                <a:latin typeface="宋体" panose="02010600030101010101" pitchFamily="2" charset="-122"/>
              </a:rPr>
              <a:t>人</a:t>
            </a:r>
            <a:endParaRPr altLang="zh-CN" dirty="0" lang="en-US" b="1">
              <a:solidFill>
                <a:srgbClr val="FF0000"/>
              </a:solidFill>
              <a:ea typeface="宋体" panose="02010600030101010101" pitchFamily="2" charset="-122"/>
              <a:latin typeface="宋体" panose="02010600030101010101" pitchFamily="2" charset="-122"/>
            </a:endParaRPr>
          </a:p>
        </p:txBody>
      </p:sp>
      <p:pic>
        <p:nvPicPr>
          <p:cNvPr id="58372" name="图片 3"/>
          <p:cNvPicPr/>
          <p:nvPr/>
        </p:nvPicPr>
        <p:blipFill>
          <a:blip r:embed="rId2"/>
          <a:stretch>
            <a:fillRect/>
          </a:stretch>
        </p:blipFill>
        <p:spPr>
          <a:xfrm>
            <a:off x="157163" y="1530350"/>
            <a:ext cx="3479800" cy="4953000"/>
          </a:xfrm>
          <a:prstGeom prst="rect">
            <a:avLst/>
          </a:prstGeom>
          <a:noFill/>
          <a:ln w="9525">
            <a:noFill/>
          </a:ln>
        </p:spPr>
      </p:pic>
    </p:spTree>
  </p:cSld>
  <p:clrMapOvr>
    <a:masterClrMapping/>
  </p:clrMapOvr>
</p:sld>
</file>

<file path=ppt/slides/slide5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59394" name="Picture 9"/>
          <p:cNvPicPr/>
          <p:nvPr/>
        </p:nvPicPr>
        <p:blipFill>
          <a:blip r:embed="rId1"/>
          <a:stretch>
            <a:fillRect/>
          </a:stretch>
        </p:blipFill>
        <p:spPr>
          <a:xfrm>
            <a:off x="0" y="0"/>
            <a:ext cx="9144000" cy="1743075"/>
          </a:xfrm>
          <a:prstGeom prst="rect">
            <a:avLst/>
          </a:prstGeom>
          <a:noFill/>
          <a:ln w="9525">
            <a:noFill/>
          </a:ln>
        </p:spPr>
      </p:pic>
      <p:sp>
        <p:nvSpPr>
          <p:cNvPr id="59395" name="TextBox 2"/>
          <p:cNvSpPr/>
          <p:nvPr/>
        </p:nvSpPr>
        <p:spPr>
          <a:xfrm>
            <a:off x="-20637" y="1789113"/>
            <a:ext cx="4592637" cy="44370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人类的起源及意识的演化</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总体演化：</a:t>
            </a:r>
            <a:r>
              <a:rPr altLang="en-US" dirty="0" lang="zh-CN" sz="2400">
                <a:ea typeface="宋体" panose="02010600030101010101" pitchFamily="2" charset="-122"/>
                <a:latin typeface="宋体" panose="02010600030101010101" pitchFamily="2" charset="-122"/>
              </a:rPr>
              <a:t>人从森林古猿分化而来的，并经过劳动进化而来。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具体演化：</a:t>
            </a:r>
            <a:r>
              <a:rPr altLang="en-US" dirty="0" lang="zh-CN" sz="2400">
                <a:ea typeface="宋体" panose="02010600030101010101" pitchFamily="2" charset="-122"/>
                <a:latin typeface="宋体" panose="02010600030101010101" pitchFamily="2" charset="-122"/>
              </a:rPr>
              <a:t>早期猿人、晚期猿人、早期智人、晚期智人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人的意识也是从古猿的原始意识转化，并经过劳动产生出来的。</a:t>
            </a:r>
            <a:endParaRPr altLang="zh-CN" dirty="0" lang="en-US" sz="2400">
              <a:ea typeface="宋体" panose="02010600030101010101" pitchFamily="2" charset="-122"/>
              <a:latin typeface="宋体" panose="02010600030101010101" pitchFamily="2" charset="-122"/>
            </a:endParaRPr>
          </a:p>
        </p:txBody>
      </p:sp>
      <p:pic>
        <p:nvPicPr>
          <p:cNvPr id="59396" name="图片 4"/>
          <p:cNvPicPr/>
          <p:nvPr/>
        </p:nvPicPr>
        <p:blipFill>
          <a:blip r:embed="rId2"/>
          <a:stretch>
            <a:fillRect/>
          </a:stretch>
        </p:blipFill>
        <p:spPr>
          <a:xfrm>
            <a:off x="4808538" y="1927225"/>
            <a:ext cx="4232275" cy="2182813"/>
          </a:xfrm>
          <a:prstGeom prst="rect">
            <a:avLst/>
          </a:prstGeom>
          <a:noFill/>
          <a:ln w="9525">
            <a:noFill/>
          </a:ln>
        </p:spPr>
      </p:pic>
      <p:pic>
        <p:nvPicPr>
          <p:cNvPr id="59397" name="图片 6"/>
          <p:cNvPicPr/>
          <p:nvPr/>
        </p:nvPicPr>
        <p:blipFill>
          <a:blip r:embed="rId3"/>
          <a:stretch>
            <a:fillRect/>
          </a:stretch>
        </p:blipFill>
        <p:spPr>
          <a:xfrm>
            <a:off x="4808538" y="4191000"/>
            <a:ext cx="4232275" cy="2260600"/>
          </a:xfrm>
          <a:prstGeom prst="rect">
            <a:avLst/>
          </a:prstGeom>
          <a:noFill/>
          <a:ln w="9525">
            <a:noFill/>
          </a:ln>
        </p:spPr>
      </p:pic>
    </p:spTree>
  </p:cSld>
  <p:clrMapOvr>
    <a:masterClrMapping/>
  </p:clrMapOvr>
</p:sld>
</file>

<file path=ppt/slides/slide5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1442" name="Picture 9"/>
          <p:cNvPicPr/>
          <p:nvPr/>
        </p:nvPicPr>
        <p:blipFill>
          <a:blip r:embed="rId1"/>
          <a:stretch>
            <a:fillRect/>
          </a:stretch>
        </p:blipFill>
        <p:spPr>
          <a:xfrm>
            <a:off x="0" y="0"/>
            <a:ext cx="9144000" cy="1417638"/>
          </a:xfrm>
          <a:prstGeom prst="rect">
            <a:avLst/>
          </a:prstGeom>
          <a:noFill/>
          <a:ln w="9525">
            <a:noFill/>
          </a:ln>
        </p:spPr>
      </p:pic>
      <p:sp>
        <p:nvSpPr>
          <p:cNvPr id="61443" name="TextBox 2"/>
          <p:cNvSpPr/>
          <p:nvPr/>
        </p:nvSpPr>
        <p:spPr>
          <a:xfrm>
            <a:off x="0" y="1620838"/>
            <a:ext cx="8907463" cy="3328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大猩猩基因组与人类基因组相差</a:t>
            </a:r>
            <a:r>
              <a:rPr altLang="zh-CN" dirty="0" lang="en-US" sz="2400">
                <a:solidFill>
                  <a:srgbClr val="FF0000"/>
                </a:solidFill>
                <a:ea typeface="宋体" panose="02010600030101010101" pitchFamily="2" charset="-122"/>
                <a:latin typeface="宋体" panose="02010600030101010101" pitchFamily="2" charset="-122"/>
              </a:rPr>
              <a:t>3.33%</a:t>
            </a:r>
            <a:r>
              <a:rPr altLang="en-US" dirty="0" lang="zh-CN" sz="2400">
                <a:ea typeface="宋体" panose="02010600030101010101" pitchFamily="2" charset="-122"/>
                <a:latin typeface="宋体" panose="02010600030101010101" pitchFamily="2" charset="-122"/>
              </a:rPr>
              <a:t>，黑猩猩基因与人类基因相差</a:t>
            </a:r>
            <a:r>
              <a:rPr altLang="zh-CN" dirty="0" lang="en-US" sz="2400">
                <a:solidFill>
                  <a:srgbClr val="FF0000"/>
                </a:solidFill>
                <a:ea typeface="宋体" panose="02010600030101010101" pitchFamily="2" charset="-122"/>
                <a:latin typeface="宋体" panose="02010600030101010101" pitchFamily="2" charset="-122"/>
              </a:rPr>
              <a:t>2.33%</a:t>
            </a:r>
            <a:r>
              <a:rPr altLang="en-US" dirty="0" lang="zh-CN" sz="2400">
                <a:ea typeface="宋体" panose="02010600030101010101" pitchFamily="2" charset="-122"/>
                <a:latin typeface="宋体" panose="02010600030101010101" pitchFamily="2" charset="-122"/>
              </a:rPr>
              <a:t>，侏儒黑猩猩与人类基因相差</a:t>
            </a:r>
            <a:r>
              <a:rPr altLang="zh-CN" dirty="0" lang="en-US" sz="2400">
                <a:solidFill>
                  <a:srgbClr val="FF0000"/>
                </a:solidFill>
                <a:ea typeface="宋体" panose="02010600030101010101" pitchFamily="2" charset="-122"/>
                <a:latin typeface="宋体" panose="02010600030101010101" pitchFamily="2" charset="-122"/>
              </a:rPr>
              <a:t>1.33%</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南方古猿下地生活，直立行走，从简单的感应发展较为复杂的感觉和知觉。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5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3490" name="Picture 9"/>
          <p:cNvPicPr/>
          <p:nvPr/>
        </p:nvPicPr>
        <p:blipFill>
          <a:blip r:embed="rId1"/>
          <a:stretch>
            <a:fillRect/>
          </a:stretch>
        </p:blipFill>
        <p:spPr>
          <a:xfrm>
            <a:off x="0" y="0"/>
            <a:ext cx="9144000" cy="1743075"/>
          </a:xfrm>
          <a:prstGeom prst="rect">
            <a:avLst/>
          </a:prstGeom>
          <a:noFill/>
          <a:ln w="9525">
            <a:noFill/>
          </a:ln>
        </p:spPr>
      </p:pic>
      <p:sp>
        <p:nvSpPr>
          <p:cNvPr id="63491" name="TextBox 2"/>
          <p:cNvSpPr/>
          <p:nvPr/>
        </p:nvSpPr>
        <p:spPr>
          <a:xfrm>
            <a:off x="0" y="1760538"/>
            <a:ext cx="9144000" cy="55467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从猿到人有决定性的几个环节，有生物性的，有社会性的，其中劳动是关键，</a:t>
            </a:r>
            <a:r>
              <a:rPr altLang="en-US" dirty="0" lang="zh-CN" sz="2400">
                <a:solidFill>
                  <a:srgbClr val="FF0000"/>
                </a:solidFill>
                <a:ea typeface="宋体" panose="02010600030101010101" pitchFamily="2" charset="-122"/>
                <a:latin typeface="宋体" panose="02010600030101010101" pitchFamily="2" charset="-122"/>
              </a:rPr>
              <a:t>劳动使四肢分化，劳动促使语言生产，大脑发展，逐渐学会思维，学会制造工具。劳动创造人。</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）系统自然观的基本内涵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自然界不仅存在着，而且演化着；</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自然系统不仅是确定的，而且会产生随机性；</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自然界不仅是简单的，而且是复杂的；</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自然界是线性与非线性的辩证统一。</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5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4514" name="Picture 9"/>
          <p:cNvPicPr/>
          <p:nvPr/>
        </p:nvPicPr>
        <p:blipFill>
          <a:blip r:embed="rId1"/>
          <a:stretch>
            <a:fillRect/>
          </a:stretch>
        </p:blipFill>
        <p:spPr>
          <a:xfrm>
            <a:off x="0" y="0"/>
            <a:ext cx="9144000" cy="1743075"/>
          </a:xfrm>
          <a:prstGeom prst="rect">
            <a:avLst/>
          </a:prstGeom>
          <a:noFill/>
          <a:ln w="9525">
            <a:noFill/>
          </a:ln>
        </p:spPr>
      </p:pic>
      <p:sp>
        <p:nvSpPr>
          <p:cNvPr id="64515" name="TextBox 2"/>
          <p:cNvSpPr/>
          <p:nvPr/>
        </p:nvSpPr>
        <p:spPr>
          <a:xfrm>
            <a:off x="0" y="1760538"/>
            <a:ext cx="9144000" cy="38846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）系统自然观的意义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系统自然观丰富和发展了辩证唯物主义自然观；</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自然界的系统性、整体性和层次性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自然界物质系统的开放性、动态性和自组织性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时间的不可逆性、丰富了辩证唯物主义的时空观</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自然界的在循环中有序与无序、进化与退化的辩证关系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5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5538" name="Picture 9"/>
          <p:cNvPicPr/>
          <p:nvPr/>
        </p:nvPicPr>
        <p:blipFill>
          <a:blip r:embed="rId1"/>
          <a:stretch>
            <a:fillRect/>
          </a:stretch>
        </p:blipFill>
        <p:spPr>
          <a:xfrm>
            <a:off x="0" y="-68262"/>
            <a:ext cx="9144000" cy="1536700"/>
          </a:xfrm>
          <a:prstGeom prst="rect">
            <a:avLst/>
          </a:prstGeom>
          <a:noFill/>
          <a:ln w="9525">
            <a:noFill/>
          </a:ln>
        </p:spPr>
      </p:pic>
      <p:sp>
        <p:nvSpPr>
          <p:cNvPr id="65539" name="TextBox 2"/>
          <p:cNvSpPr/>
          <p:nvPr/>
        </p:nvSpPr>
        <p:spPr>
          <a:xfrm>
            <a:off x="0" y="1512888"/>
            <a:ext cx="9144000" cy="3328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系统自然观提供了系统思维方式</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所谓系统思维方式，就是把对象当作</a:t>
            </a:r>
            <a:r>
              <a:rPr altLang="en-US" dirty="0" lang="zh-CN" sz="2400">
                <a:solidFill>
                  <a:srgbClr val="FF0000"/>
                </a:solidFill>
                <a:ea typeface="宋体" panose="02010600030101010101" pitchFamily="2" charset="-122"/>
                <a:latin typeface="宋体" panose="02010600030101010101" pitchFamily="2" charset="-122"/>
              </a:rPr>
              <a:t>一个系统的整体</a:t>
            </a:r>
            <a:r>
              <a:rPr altLang="en-US" dirty="0" lang="zh-CN" sz="2400">
                <a:ea typeface="宋体" panose="02010600030101010101" pitchFamily="2" charset="-122"/>
                <a:latin typeface="宋体" panose="02010600030101010101" pitchFamily="2" charset="-122"/>
              </a:rPr>
              <a:t>加以思考的思维方式。它把对象的各个组成要素有机地组织起来，研究系统的功能和行为。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65540" name="图片 4"/>
          <p:cNvPicPr/>
          <p:nvPr/>
        </p:nvPicPr>
        <p:blipFill>
          <a:blip r:embed="rId2"/>
          <a:stretch>
            <a:fillRect/>
          </a:stretch>
        </p:blipFill>
        <p:spPr>
          <a:xfrm>
            <a:off x="1284288" y="3760788"/>
            <a:ext cx="3287712" cy="2732087"/>
          </a:xfrm>
          <a:prstGeom prst="rect">
            <a:avLst/>
          </a:prstGeom>
          <a:noFill/>
          <a:ln w="9525">
            <a:noFill/>
          </a:ln>
        </p:spPr>
      </p:pic>
      <p:pic>
        <p:nvPicPr>
          <p:cNvPr id="65541" name="图片 6"/>
          <p:cNvPicPr/>
          <p:nvPr/>
        </p:nvPicPr>
        <p:blipFill>
          <a:blip r:embed="rId3"/>
          <a:stretch>
            <a:fillRect/>
          </a:stretch>
        </p:blipFill>
        <p:spPr>
          <a:xfrm>
            <a:off x="5521325" y="3760788"/>
            <a:ext cx="3287713" cy="2732087"/>
          </a:xfrm>
          <a:prstGeom prst="rect">
            <a:avLst/>
          </a:prstGeom>
          <a:noFill/>
          <a:ln w="9525">
            <a:noFill/>
          </a:ln>
        </p:spPr>
      </p:pic>
    </p:spTree>
  </p:cSld>
  <p:clrMapOvr>
    <a:masterClrMapping/>
  </p:clrMapOvr>
</p:sld>
</file>

<file path=ppt/slides/slide5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6562" name="Picture 9"/>
          <p:cNvPicPr/>
          <p:nvPr/>
        </p:nvPicPr>
        <p:blipFill>
          <a:blip r:embed="rId1"/>
          <a:stretch>
            <a:fillRect/>
          </a:stretch>
        </p:blipFill>
        <p:spPr>
          <a:xfrm>
            <a:off x="0" y="0"/>
            <a:ext cx="9144000" cy="1417638"/>
          </a:xfrm>
          <a:prstGeom prst="rect">
            <a:avLst/>
          </a:prstGeom>
          <a:noFill/>
          <a:ln w="9525">
            <a:noFill/>
          </a:ln>
        </p:spPr>
      </p:pic>
      <p:sp>
        <p:nvSpPr>
          <p:cNvPr id="66563" name="TextBox 2"/>
          <p:cNvSpPr/>
          <p:nvPr/>
        </p:nvSpPr>
        <p:spPr>
          <a:xfrm>
            <a:off x="0" y="1743075"/>
            <a:ext cx="5434013"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2</a:t>
            </a:r>
            <a:r>
              <a:rPr altLang="en-US" dirty="0" lang="zh-CN" b="1" sz="2400">
                <a:solidFill>
                  <a:srgbClr val="FF0000"/>
                </a:solidFill>
                <a:ea typeface="宋体" panose="02010600030101010101" pitchFamily="2" charset="-122"/>
                <a:latin typeface="宋体" panose="02010600030101010101" pitchFamily="2" charset="-122"/>
              </a:rPr>
              <a:t>、生态自然观      </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）渊源</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古代中国“天人合一”的思想；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古代西方的目的论和生态学思想；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目的论（</a:t>
            </a:r>
            <a:r>
              <a:rPr altLang="zh-CN" dirty="0" lang="en-US" sz="2400">
                <a:ea typeface="宋体" panose="02010600030101010101" pitchFamily="2" charset="-122"/>
                <a:latin typeface="Times New Roman" panose="02020603050405020304" pitchFamily="18" charset="0"/>
              </a:rPr>
              <a:t>Teleology</a:t>
            </a:r>
            <a:r>
              <a:rPr altLang="en-US" dirty="0" lang="zh-CN" sz="2400">
                <a:ea typeface="宋体" panose="02010600030101010101" pitchFamily="2" charset="-122"/>
                <a:latin typeface="宋体" panose="02010600030101010101" pitchFamily="2" charset="-122"/>
              </a:rPr>
              <a:t>）：自然界的一切事物都有其存在的目的。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66564" name="图片 8"/>
          <p:cNvPicPr/>
          <p:nvPr/>
        </p:nvPicPr>
        <p:blipFill>
          <a:blip r:embed="rId2"/>
          <a:stretch>
            <a:fillRect/>
          </a:stretch>
        </p:blipFill>
        <p:spPr>
          <a:xfrm>
            <a:off x="6926263" y="3795713"/>
            <a:ext cx="1900237" cy="2789237"/>
          </a:xfrm>
          <a:prstGeom prst="rect">
            <a:avLst/>
          </a:prstGeom>
          <a:noFill/>
          <a:ln w="9525">
            <a:noFill/>
          </a:ln>
        </p:spPr>
      </p:pic>
      <p:sp>
        <p:nvSpPr>
          <p:cNvPr id="66565" name="TextBox 2"/>
          <p:cNvSpPr/>
          <p:nvPr/>
        </p:nvSpPr>
        <p:spPr>
          <a:xfrm>
            <a:off x="1778000" y="5237163"/>
            <a:ext cx="5054600" cy="942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000">
                <a:solidFill>
                  <a:srgbClr val="FF0000"/>
                </a:solidFill>
                <a:ea typeface="宋体" panose="02010600030101010101" pitchFamily="2" charset="-122"/>
                <a:latin typeface="宋体" panose="02010600030101010101" pitchFamily="2" charset="-122"/>
              </a:rPr>
              <a:t>大自然里，生物的器官顺着功能而演变，功能不是顺着器官而演变。</a:t>
            </a:r>
            <a:r>
              <a:rPr altLang="zh-CN" dirty="0" lang="en-US" sz="2000">
                <a:solidFill>
                  <a:srgbClr val="FF0000"/>
                </a:solidFill>
                <a:ea typeface="宋体" panose="02010600030101010101" pitchFamily="2" charset="-122"/>
                <a:latin typeface="宋体" panose="02010600030101010101" pitchFamily="2" charset="-122"/>
              </a:rPr>
              <a:t>——</a:t>
            </a:r>
            <a:r>
              <a:rPr altLang="en-US" dirty="0" lang="zh-CN" sz="2000">
                <a:solidFill>
                  <a:srgbClr val="FF0000"/>
                </a:solidFill>
                <a:ea typeface="宋体" panose="02010600030101010101" pitchFamily="2" charset="-122"/>
                <a:latin typeface="宋体" panose="02010600030101010101" pitchFamily="2" charset="-122"/>
              </a:rPr>
              <a:t>亚里士多德</a:t>
            </a:r>
            <a:endParaRPr altLang="zh-CN" dirty="0" lang="en-US" sz="2000">
              <a:solidFill>
                <a:srgbClr val="FF0000"/>
              </a:solidFill>
              <a:ea typeface="宋体" panose="02010600030101010101" pitchFamily="2" charset="-122"/>
              <a:latin typeface="宋体" panose="02010600030101010101" pitchFamily="2" charset="-122"/>
            </a:endParaRPr>
          </a:p>
        </p:txBody>
      </p:sp>
      <p:pic>
        <p:nvPicPr>
          <p:cNvPr id="66566" name="图片 11"/>
          <p:cNvPicPr/>
          <p:nvPr/>
        </p:nvPicPr>
        <p:blipFill>
          <a:blip r:embed="rId3"/>
          <a:stretch>
            <a:fillRect/>
          </a:stretch>
        </p:blipFill>
        <p:spPr>
          <a:xfrm>
            <a:off x="5599113" y="1581150"/>
            <a:ext cx="3381375" cy="2124075"/>
          </a:xfrm>
          <a:prstGeom prst="rect">
            <a:avLst/>
          </a:prstGeom>
          <a:noFill/>
          <a:ln w="9525">
            <a:noFill/>
          </a:ln>
        </p:spPr>
      </p:pic>
    </p:spTree>
  </p:cSld>
  <p:clrMapOvr>
    <a:masterClrMapping/>
  </p:clrMapOvr>
</p:sld>
</file>

<file path=ppt/slides/slide5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7586" name="Picture 9"/>
          <p:cNvPicPr/>
          <p:nvPr/>
        </p:nvPicPr>
        <p:blipFill>
          <a:blip r:embed="rId1"/>
          <a:stretch>
            <a:fillRect/>
          </a:stretch>
        </p:blipFill>
        <p:spPr>
          <a:xfrm>
            <a:off x="0" y="0"/>
            <a:ext cx="9144000" cy="1417638"/>
          </a:xfrm>
          <a:prstGeom prst="rect">
            <a:avLst/>
          </a:prstGeom>
          <a:noFill/>
          <a:ln w="9525">
            <a:noFill/>
          </a:ln>
        </p:spPr>
      </p:pic>
      <p:sp>
        <p:nvSpPr>
          <p:cNvPr id="67587" name="TextBox 2"/>
          <p:cNvSpPr/>
          <p:nvPr/>
        </p:nvSpPr>
        <p:spPr>
          <a:xfrm>
            <a:off x="0" y="1462088"/>
            <a:ext cx="9144000" cy="3328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a:t>
            </a: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）马克思主义生态思想的基本观点</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自然界是人类生存与发展的前提和基础；</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人是自然界发展的产物</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人是自然界的一部分，人在自然界之中，离不开自然界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人类的生存与发展依赖于自然界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67588" name="图片 7"/>
          <p:cNvPicPr/>
          <p:nvPr/>
        </p:nvPicPr>
        <p:blipFill>
          <a:blip r:embed="rId2"/>
          <a:stretch>
            <a:fillRect/>
          </a:stretch>
        </p:blipFill>
        <p:spPr>
          <a:xfrm>
            <a:off x="4572000" y="4332288"/>
            <a:ext cx="4427538" cy="2128837"/>
          </a:xfrm>
          <a:prstGeom prst="rect">
            <a:avLst/>
          </a:prstGeom>
          <a:noFill/>
          <a:ln w="9525">
            <a:noFill/>
          </a:ln>
        </p:spPr>
      </p:pic>
      <p:pic>
        <p:nvPicPr>
          <p:cNvPr id="67589" name="图片 9"/>
          <p:cNvPicPr/>
          <p:nvPr/>
        </p:nvPicPr>
        <p:blipFill>
          <a:blip r:embed="rId3"/>
          <a:stretch>
            <a:fillRect/>
          </a:stretch>
        </p:blipFill>
        <p:spPr>
          <a:xfrm>
            <a:off x="144463" y="4332288"/>
            <a:ext cx="4283075" cy="2128837"/>
          </a:xfrm>
          <a:prstGeom prst="rect">
            <a:avLst/>
          </a:prstGeom>
          <a:noFill/>
          <a:ln w="9525">
            <a:noFill/>
          </a:ln>
        </p:spPr>
      </p:pic>
    </p:spTree>
  </p:cSld>
  <p:clrMapOvr>
    <a:masterClrMapping/>
  </p:clrMapOvr>
</p:sld>
</file>

<file path=ppt/slides/slide5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8610" name="Picture 9"/>
          <p:cNvPicPr/>
          <p:nvPr/>
        </p:nvPicPr>
        <p:blipFill>
          <a:blip r:embed="rId1"/>
          <a:stretch>
            <a:fillRect/>
          </a:stretch>
        </p:blipFill>
        <p:spPr>
          <a:xfrm>
            <a:off x="0" y="0"/>
            <a:ext cx="9144000" cy="1743075"/>
          </a:xfrm>
          <a:prstGeom prst="rect">
            <a:avLst/>
          </a:prstGeom>
          <a:noFill/>
          <a:ln w="9525">
            <a:noFill/>
          </a:ln>
        </p:spPr>
      </p:pic>
      <p:sp>
        <p:nvSpPr>
          <p:cNvPr id="68611" name="TextBox 2"/>
          <p:cNvSpPr/>
          <p:nvPr/>
        </p:nvSpPr>
        <p:spPr>
          <a:xfrm>
            <a:off x="0" y="1708150"/>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环境创造人，人也创造环境；</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马克思明确地提出依靠积极的、能动的实践活动来实现环境的改变和人的活动的一致性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人类的创造必须把改造自然、建设自然、美化自然有机地结合起来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人要与自然和谐一致；</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马克思说，</a:t>
            </a:r>
            <a:r>
              <a:rPr altLang="en-US" dirty="0" lang="zh-CN" sz="2400">
                <a:solidFill>
                  <a:srgbClr val="0000FF"/>
                </a:solidFill>
                <a:ea typeface="宋体" panose="02010600030101010101" pitchFamily="2" charset="-122"/>
                <a:latin typeface="宋体" panose="02010600030101010101" pitchFamily="2" charset="-122"/>
              </a:rPr>
              <a:t>“耕作如果自发地进行，而不是有意识地加以控制</a:t>
            </a:r>
            <a:r>
              <a:rPr altLang="zh-CN" dirty="0" lang="en-US" sz="2400">
                <a:solidFill>
                  <a:srgbClr val="0000FF"/>
                </a:solidFill>
                <a:ea typeface="宋体" panose="02010600030101010101" pitchFamily="2" charset="-122"/>
                <a:latin typeface="宋体" panose="02010600030101010101" pitchFamily="2" charset="-122"/>
              </a:rPr>
              <a:t>——</a:t>
            </a:r>
            <a:r>
              <a:rPr altLang="en-US" dirty="0" lang="zh-CN" sz="2400">
                <a:solidFill>
                  <a:srgbClr val="0000FF"/>
                </a:solidFill>
                <a:ea typeface="宋体" panose="02010600030101010101" pitchFamily="2" charset="-122"/>
                <a:latin typeface="宋体" panose="02010600030101010101" pitchFamily="2" charset="-122"/>
              </a:rPr>
              <a:t>接踵而来的就是土地荒芜，像波斯、美索不达米亚等地以及希腊那样”。</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5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69634" name="Picture 9"/>
          <p:cNvPicPr/>
          <p:nvPr/>
        </p:nvPicPr>
        <p:blipFill>
          <a:blip r:embed="rId1"/>
          <a:stretch>
            <a:fillRect/>
          </a:stretch>
        </p:blipFill>
        <p:spPr>
          <a:xfrm>
            <a:off x="0" y="0"/>
            <a:ext cx="9144000" cy="1417638"/>
          </a:xfrm>
          <a:prstGeom prst="rect">
            <a:avLst/>
          </a:prstGeom>
          <a:noFill/>
          <a:ln w="9525">
            <a:noFill/>
          </a:ln>
        </p:spPr>
      </p:pic>
      <p:sp>
        <p:nvSpPr>
          <p:cNvPr id="69635" name="TextBox 2"/>
          <p:cNvSpPr/>
          <p:nvPr/>
        </p:nvSpPr>
        <p:spPr>
          <a:xfrm>
            <a:off x="0" y="1458913"/>
            <a:ext cx="9144000" cy="28686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    恩格斯在总结了人向自然索取的教训后精辟地指出，</a:t>
            </a:r>
            <a:r>
              <a:rPr altLang="en-US" dirty="0" lang="zh-CN" sz="2000">
                <a:solidFill>
                  <a:srgbClr val="0000FF"/>
                </a:solidFill>
                <a:ea typeface="宋体" panose="02010600030101010101" pitchFamily="2" charset="-122"/>
                <a:latin typeface="宋体" panose="02010600030101010101" pitchFamily="2" charset="-122"/>
              </a:rPr>
              <a:t>“我们不要过分陶醉于我们对自然界的胜利，对于每一次这样的胜利，自然界都报复了我们。每一次胜利，起初确实取得了我们预料的结果，但是以后和再以后却发生了完全不同的、出乎预料的影响，常常把最初的结果又消除了”。</a:t>
            </a:r>
            <a:endParaRPr altLang="zh-CN" dirty="0" lang="en-US" sz="20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    恩格斯还指出，</a:t>
            </a:r>
            <a:r>
              <a:rPr altLang="en-US" dirty="0" lang="zh-CN" sz="2000">
                <a:solidFill>
                  <a:srgbClr val="0000FF"/>
                </a:solidFill>
                <a:ea typeface="宋体" panose="02010600030101010101" pitchFamily="2" charset="-122"/>
                <a:latin typeface="宋体" panose="02010600030101010101" pitchFamily="2" charset="-122"/>
              </a:rPr>
              <a:t>“我们要认识到自身和自然界的一体性”。</a:t>
            </a:r>
            <a:endParaRPr altLang="zh-CN" dirty="0" lang="en-US" sz="20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69636" name="图片 4"/>
          <p:cNvPicPr/>
          <p:nvPr/>
        </p:nvPicPr>
        <p:blipFill>
          <a:blip r:embed="rId2"/>
          <a:stretch>
            <a:fillRect/>
          </a:stretch>
        </p:blipFill>
        <p:spPr>
          <a:xfrm>
            <a:off x="0" y="4017963"/>
            <a:ext cx="4448175" cy="2606675"/>
          </a:xfrm>
          <a:prstGeom prst="rect">
            <a:avLst/>
          </a:prstGeom>
          <a:noFill/>
          <a:ln w="9525">
            <a:noFill/>
          </a:ln>
        </p:spPr>
      </p:pic>
      <p:pic>
        <p:nvPicPr>
          <p:cNvPr id="69637" name="图片 6"/>
          <p:cNvPicPr/>
          <p:nvPr/>
        </p:nvPicPr>
        <p:blipFill>
          <a:blip r:embed="rId3"/>
          <a:stretch>
            <a:fillRect/>
          </a:stretch>
        </p:blipFill>
        <p:spPr>
          <a:xfrm>
            <a:off x="4572000" y="4017963"/>
            <a:ext cx="4572000" cy="2606675"/>
          </a:xfrm>
          <a:prstGeom prst="rect">
            <a:avLst/>
          </a:prstGeom>
          <a:noFill/>
          <a:ln w="9525">
            <a:noFill/>
          </a:ln>
        </p:spPr>
      </p:pic>
    </p:spTree>
  </p:cSld>
  <p:clrMapOvr>
    <a:masterClrMapping/>
  </p:clrMapOvr>
</p:sld>
</file>

<file path=ppt/slides/slide5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0658" name="Picture 9"/>
          <p:cNvPicPr/>
          <p:nvPr/>
        </p:nvPicPr>
        <p:blipFill>
          <a:blip r:embed="rId1"/>
          <a:stretch>
            <a:fillRect/>
          </a:stretch>
        </p:blipFill>
        <p:spPr>
          <a:xfrm>
            <a:off x="0" y="0"/>
            <a:ext cx="9144000" cy="1743075"/>
          </a:xfrm>
          <a:prstGeom prst="rect">
            <a:avLst/>
          </a:prstGeom>
          <a:noFill/>
          <a:ln w="9525">
            <a:noFill/>
          </a:ln>
        </p:spPr>
      </p:pic>
      <p:sp>
        <p:nvSpPr>
          <p:cNvPr id="70659"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改革不合理的社会制度，是实现人与自然协调发展的重要途经</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自然与社会是不可分割的，人与自然的不协调，实质上是人与人的问题、人与社会的问题。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不改革社会环境，就不可解决生态环境问题。因此，实现人与自然协调发展的一个不可缺少的重要途经再于改变不合理的社会制度。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6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1682" name="Picture 9"/>
          <p:cNvPicPr/>
          <p:nvPr/>
        </p:nvPicPr>
        <p:blipFill>
          <a:blip r:embed="rId1"/>
          <a:stretch>
            <a:fillRect/>
          </a:stretch>
        </p:blipFill>
        <p:spPr>
          <a:xfrm>
            <a:off x="0" y="0"/>
            <a:ext cx="9144000" cy="1743075"/>
          </a:xfrm>
          <a:prstGeom prst="rect">
            <a:avLst/>
          </a:prstGeom>
          <a:noFill/>
          <a:ln w="9525">
            <a:noFill/>
          </a:ln>
        </p:spPr>
      </p:pic>
      <p:sp>
        <p:nvSpPr>
          <p:cNvPr id="71683" name="TextBox 2"/>
          <p:cNvSpPr/>
          <p:nvPr/>
        </p:nvSpPr>
        <p:spPr>
          <a:xfrm>
            <a:off x="0" y="1743075"/>
            <a:ext cx="9144000" cy="47999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生态危机：生态自然观确立的现实根源</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生态危机：</a:t>
            </a:r>
            <a:r>
              <a:rPr altLang="en-US" dirty="0" lang="zh-CN" sz="2000">
                <a:solidFill>
                  <a:srgbClr val="0000FF"/>
                </a:solidFill>
                <a:ea typeface="宋体" panose="02010600030101010101" pitchFamily="2" charset="-122"/>
                <a:latin typeface="宋体" panose="02010600030101010101" pitchFamily="2" charset="-122"/>
              </a:rPr>
              <a:t>指由于人类不合理的活动，再全球规模或局部地区导致生态系统的结构和功能受到损害、生命维持系统趋向瓦解，从而危害人的利益、威胁人类生存和发展现象。</a:t>
            </a:r>
            <a:endParaRPr altLang="zh-CN" dirty="0" lang="en-US" sz="20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生态危机表现：</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solidFill>
                  <a:srgbClr val="0000FF"/>
                </a:solidFill>
                <a:ea typeface="宋体" panose="02010600030101010101" pitchFamily="2" charset="-122"/>
                <a:latin typeface="宋体" panose="02010600030101010101" pitchFamily="2" charset="-122"/>
              </a:rPr>
              <a:t>人口激增</a:t>
            </a:r>
            <a:endParaRPr altLang="zh-CN" dirty="0" lang="en-US" sz="20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公元初年</a:t>
            </a:r>
            <a:r>
              <a:rPr altLang="zh-CN" dirty="0" lang="en-US" sz="2000">
                <a:ea typeface="宋体" panose="02010600030101010101" pitchFamily="2" charset="-122"/>
                <a:latin typeface="宋体" panose="02010600030101010101" pitchFamily="2" charset="-122"/>
              </a:rPr>
              <a:t>2.3</a:t>
            </a:r>
            <a:r>
              <a:rPr altLang="en-US" dirty="0" lang="zh-CN" sz="2000">
                <a:ea typeface="宋体" panose="02010600030101010101" pitchFamily="2" charset="-122"/>
                <a:latin typeface="宋体" panose="02010600030101010101" pitchFamily="2" charset="-122"/>
              </a:rPr>
              <a:t>亿，</a:t>
            </a:r>
            <a:r>
              <a:rPr altLang="zh-CN" dirty="0" lang="en-US" sz="2000">
                <a:ea typeface="宋体" panose="02010600030101010101" pitchFamily="2" charset="-122"/>
                <a:latin typeface="宋体" panose="02010600030101010101" pitchFamily="2" charset="-122"/>
              </a:rPr>
              <a:t>1830</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10</a:t>
            </a:r>
            <a:r>
              <a:rPr altLang="en-US" dirty="0" lang="zh-CN" sz="2000">
                <a:ea typeface="宋体" panose="02010600030101010101" pitchFamily="2" charset="-122"/>
                <a:latin typeface="宋体" panose="02010600030101010101" pitchFamily="2" charset="-122"/>
              </a:rPr>
              <a:t>亿，</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000">
                <a:ea typeface="宋体" panose="02010600030101010101" pitchFamily="2" charset="-122"/>
                <a:latin typeface="宋体" panose="02010600030101010101" pitchFamily="2" charset="-122"/>
              </a:rPr>
              <a:t>1930</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20</a:t>
            </a:r>
            <a:r>
              <a:rPr altLang="en-US" dirty="0" lang="zh-CN" sz="2000">
                <a:ea typeface="宋体" panose="02010600030101010101" pitchFamily="2" charset="-122"/>
                <a:latin typeface="宋体" panose="02010600030101010101" pitchFamily="2" charset="-122"/>
              </a:rPr>
              <a:t>亿，</a:t>
            </a:r>
            <a:r>
              <a:rPr altLang="zh-CN" dirty="0" lang="en-US" sz="2000">
                <a:ea typeface="宋体" panose="02010600030101010101" pitchFamily="2" charset="-122"/>
                <a:latin typeface="宋体" panose="02010600030101010101" pitchFamily="2" charset="-122"/>
              </a:rPr>
              <a:t>1960</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30</a:t>
            </a:r>
            <a:r>
              <a:rPr altLang="en-US" dirty="0" lang="zh-CN" sz="2000">
                <a:ea typeface="宋体" panose="02010600030101010101" pitchFamily="2" charset="-122"/>
                <a:latin typeface="宋体" panose="02010600030101010101" pitchFamily="2" charset="-122"/>
              </a:rPr>
              <a:t>亿，</a:t>
            </a:r>
            <a:r>
              <a:rPr altLang="zh-CN" dirty="0" lang="en-US" sz="2000">
                <a:ea typeface="宋体" panose="02010600030101010101" pitchFamily="2" charset="-122"/>
                <a:latin typeface="宋体" panose="02010600030101010101" pitchFamily="2" charset="-122"/>
              </a:rPr>
              <a:t>1987</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50</a:t>
            </a:r>
            <a:r>
              <a:rPr altLang="en-US" dirty="0" lang="zh-CN" sz="2000">
                <a:ea typeface="宋体" panose="02010600030101010101" pitchFamily="2" charset="-122"/>
                <a:latin typeface="宋体" panose="02010600030101010101" pitchFamily="2" charset="-122"/>
              </a:rPr>
              <a:t>亿，</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000">
                <a:ea typeface="宋体" panose="02010600030101010101" pitchFamily="2" charset="-122"/>
                <a:latin typeface="宋体" panose="02010600030101010101" pitchFamily="2" charset="-122"/>
              </a:rPr>
              <a:t>1999</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60</a:t>
            </a:r>
            <a:r>
              <a:rPr altLang="en-US" dirty="0" lang="zh-CN" sz="2000">
                <a:ea typeface="宋体" panose="02010600030101010101" pitchFamily="2" charset="-122"/>
                <a:latin typeface="宋体" panose="02010600030101010101" pitchFamily="2" charset="-122"/>
              </a:rPr>
              <a:t>亿，</a:t>
            </a:r>
            <a:r>
              <a:rPr altLang="zh-CN" dirty="0" lang="en-US" sz="2000">
                <a:ea typeface="宋体" panose="02010600030101010101" pitchFamily="2" charset="-122"/>
                <a:latin typeface="宋体" panose="02010600030101010101" pitchFamily="2" charset="-122"/>
              </a:rPr>
              <a:t>2005</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70</a:t>
            </a:r>
            <a:r>
              <a:rPr altLang="en-US" dirty="0" lang="zh-CN" sz="2000">
                <a:ea typeface="宋体" panose="02010600030101010101" pitchFamily="2" charset="-122"/>
                <a:latin typeface="宋体" panose="02010600030101010101" pitchFamily="2" charset="-122"/>
              </a:rPr>
              <a:t>亿，</a:t>
            </a:r>
            <a:r>
              <a:rPr altLang="zh-CN" dirty="0" lang="en-US" sz="2000">
                <a:ea typeface="宋体" panose="02010600030101010101" pitchFamily="2" charset="-122"/>
                <a:latin typeface="宋体" panose="02010600030101010101" pitchFamily="2" charset="-122"/>
              </a:rPr>
              <a:t>2021</a:t>
            </a:r>
            <a:r>
              <a:rPr altLang="en-US" dirty="0" lang="zh-CN" sz="2000">
                <a:ea typeface="宋体" panose="02010600030101010101" pitchFamily="2" charset="-122"/>
                <a:latin typeface="宋体" panose="02010600030101010101" pitchFamily="2" charset="-122"/>
              </a:rPr>
              <a:t>年</a:t>
            </a:r>
            <a:r>
              <a:rPr altLang="zh-CN" dirty="0" lang="en-US" sz="2000">
                <a:ea typeface="宋体" panose="02010600030101010101" pitchFamily="2" charset="-122"/>
                <a:latin typeface="宋体" panose="02010600030101010101" pitchFamily="2" charset="-122"/>
              </a:rPr>
              <a:t>80</a:t>
            </a:r>
            <a:r>
              <a:rPr altLang="en-US" dirty="0" lang="zh-CN" sz="2000">
                <a:ea typeface="宋体" panose="02010600030101010101" pitchFamily="2" charset="-122"/>
                <a:latin typeface="宋体" panose="02010600030101010101" pitchFamily="2" charset="-122"/>
              </a:rPr>
              <a:t>亿</a:t>
            </a:r>
            <a:endParaRPr altLang="en-US" dirty="0" lang="zh-CN"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000">
                <a:ea typeface="宋体" panose="02010600030101010101" pitchFamily="2" charset="-122"/>
                <a:latin typeface="宋体" panose="02010600030101010101" pitchFamily="2" charset="-122"/>
              </a:rPr>
              <a:t>……</a:t>
            </a:r>
            <a:endParaRPr altLang="zh-CN" dirty="0" lang="en-US" sz="2000">
              <a:ea typeface="宋体" panose="02010600030101010101" pitchFamily="2" charset="-122"/>
              <a:latin typeface="宋体" panose="02010600030101010101" pitchFamily="2" charset="-122"/>
            </a:endParaRPr>
          </a:p>
        </p:txBody>
      </p:sp>
      <p:pic>
        <p:nvPicPr>
          <p:cNvPr id="71684" name="图片 4"/>
          <p:cNvPicPr/>
          <p:nvPr/>
        </p:nvPicPr>
        <p:blipFill>
          <a:blip r:embed="rId2"/>
          <a:stretch>
            <a:fillRect/>
          </a:stretch>
        </p:blipFill>
        <p:spPr>
          <a:xfrm>
            <a:off x="4797425" y="3390900"/>
            <a:ext cx="4181475" cy="3112135"/>
          </a:xfrm>
          <a:prstGeom prst="rect">
            <a:avLst/>
          </a:prstGeom>
          <a:noFill/>
          <a:ln w="9525">
            <a:noFill/>
          </a:ln>
        </p:spPr>
      </p:pic>
    </p:spTree>
  </p:cSld>
  <p:clrMapOvr>
    <a:masterClrMapping/>
  </p:clrMapOvr>
</p:sld>
</file>

<file path=ppt/slides/slide6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2706" name="Picture 9"/>
          <p:cNvPicPr/>
          <p:nvPr/>
        </p:nvPicPr>
        <p:blipFill>
          <a:blip r:embed="rId1"/>
          <a:stretch>
            <a:fillRect/>
          </a:stretch>
        </p:blipFill>
        <p:spPr>
          <a:xfrm>
            <a:off x="0" y="0"/>
            <a:ext cx="9144000" cy="1743075"/>
          </a:xfrm>
          <a:prstGeom prst="rect">
            <a:avLst/>
          </a:prstGeom>
          <a:noFill/>
          <a:ln w="9525">
            <a:noFill/>
          </a:ln>
        </p:spPr>
      </p:pic>
      <p:sp>
        <p:nvSpPr>
          <p:cNvPr id="72707"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自然资源消耗、短缺</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环境污染，</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生态系统的自我调节能力受到破坏</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72708" name="图片 2"/>
          <p:cNvPicPr/>
          <p:nvPr/>
        </p:nvPicPr>
        <p:blipFill>
          <a:blip r:embed="rId2"/>
          <a:stretch>
            <a:fillRect/>
          </a:stretch>
        </p:blipFill>
        <p:spPr>
          <a:xfrm>
            <a:off x="179388" y="2381250"/>
            <a:ext cx="4392612" cy="2209800"/>
          </a:xfrm>
          <a:prstGeom prst="rect">
            <a:avLst/>
          </a:prstGeom>
          <a:noFill/>
          <a:ln w="9525">
            <a:noFill/>
          </a:ln>
        </p:spPr>
      </p:pic>
      <p:pic>
        <p:nvPicPr>
          <p:cNvPr id="72709" name="图片 4"/>
          <p:cNvPicPr/>
          <p:nvPr/>
        </p:nvPicPr>
        <p:blipFill>
          <a:blip r:embed="rId3"/>
          <a:stretch>
            <a:fillRect/>
          </a:stretch>
        </p:blipFill>
        <p:spPr>
          <a:xfrm>
            <a:off x="5108575" y="2179638"/>
            <a:ext cx="4035425" cy="2411412"/>
          </a:xfrm>
          <a:prstGeom prst="rect">
            <a:avLst/>
          </a:prstGeom>
          <a:noFill/>
          <a:ln w="9525">
            <a:noFill/>
          </a:ln>
        </p:spPr>
      </p:pic>
      <p:pic>
        <p:nvPicPr>
          <p:cNvPr id="72710" name="图片 6"/>
          <p:cNvPicPr/>
          <p:nvPr/>
        </p:nvPicPr>
        <p:blipFill>
          <a:blip r:embed="rId4"/>
          <a:stretch>
            <a:fillRect/>
          </a:stretch>
        </p:blipFill>
        <p:spPr>
          <a:xfrm>
            <a:off x="5108575" y="4591050"/>
            <a:ext cx="4035425" cy="2143125"/>
          </a:xfrm>
          <a:prstGeom prst="rect">
            <a:avLst/>
          </a:prstGeom>
          <a:noFill/>
          <a:ln w="9525">
            <a:noFill/>
          </a:ln>
        </p:spPr>
      </p:pic>
    </p:spTree>
  </p:cSld>
  <p:clrMapOvr>
    <a:masterClrMapping/>
  </p:clrMapOvr>
</p:sld>
</file>

<file path=ppt/slides/slide6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3730" name="Picture 9"/>
          <p:cNvPicPr/>
          <p:nvPr/>
        </p:nvPicPr>
        <p:blipFill>
          <a:blip r:embed="rId1"/>
          <a:stretch>
            <a:fillRect/>
          </a:stretch>
        </p:blipFill>
        <p:spPr>
          <a:xfrm>
            <a:off x="0" y="0"/>
            <a:ext cx="9144000" cy="1428750"/>
          </a:xfrm>
          <a:prstGeom prst="rect">
            <a:avLst/>
          </a:prstGeom>
          <a:noFill/>
          <a:ln w="9525">
            <a:noFill/>
          </a:ln>
        </p:spPr>
      </p:pic>
      <p:sp>
        <p:nvSpPr>
          <p:cNvPr id="73731" name="TextBox 2"/>
          <p:cNvSpPr/>
          <p:nvPr/>
        </p:nvSpPr>
        <p:spPr>
          <a:xfrm>
            <a:off x="0" y="1428750"/>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生态危机的反思</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生态危机是</a:t>
            </a:r>
            <a:r>
              <a:rPr altLang="en-US" dirty="0" lang="zh-CN" b="1" sz="2400">
                <a:solidFill>
                  <a:srgbClr val="FF0000"/>
                </a:solidFill>
                <a:ea typeface="微软雅黑" panose="020B0503020204020204" pitchFamily="34" charset="-122"/>
                <a:latin typeface="微软雅黑" panose="020B0503020204020204" pitchFamily="34" charset="-122"/>
              </a:rPr>
              <a:t>人与自然关系</a:t>
            </a:r>
            <a:r>
              <a:rPr altLang="en-US" dirty="0" lang="zh-CN" b="1" sz="2400">
                <a:solidFill>
                  <a:srgbClr val="0000FF"/>
                </a:solidFill>
                <a:ea typeface="微软雅黑" panose="020B0503020204020204" pitchFamily="34" charset="-122"/>
                <a:latin typeface="微软雅黑" panose="020B0503020204020204" pitchFamily="34" charset="-122"/>
              </a:rPr>
              <a:t>的危机；</a:t>
            </a:r>
            <a:endParaRPr altLang="zh-CN" dirty="0" lang="en-US" b="1" sz="2400">
              <a:solidFill>
                <a:srgbClr val="0000FF"/>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生态危机与</a:t>
            </a:r>
            <a:r>
              <a:rPr altLang="en-US" dirty="0" lang="zh-CN" b="1" sz="2400">
                <a:solidFill>
                  <a:srgbClr val="FF0000"/>
                </a:solidFill>
                <a:ea typeface="微软雅黑" panose="020B0503020204020204" pitchFamily="34" charset="-122"/>
                <a:latin typeface="微软雅黑" panose="020B0503020204020204" pitchFamily="34" charset="-122"/>
              </a:rPr>
              <a:t>社会问题相关，是社会异化</a:t>
            </a:r>
            <a:r>
              <a:rPr altLang="en-US" dirty="0" lang="zh-CN" b="1" sz="2400">
                <a:solidFill>
                  <a:srgbClr val="0000FF"/>
                </a:solidFill>
                <a:ea typeface="微软雅黑" panose="020B0503020204020204" pitchFamily="34" charset="-122"/>
                <a:latin typeface="微软雅黑" panose="020B0503020204020204" pitchFamily="34" charset="-122"/>
              </a:rPr>
              <a:t>的产物；</a:t>
            </a:r>
            <a:endParaRPr altLang="zh-CN" dirty="0" lang="en-US" b="1" sz="2400">
              <a:solidFill>
                <a:srgbClr val="0000FF"/>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生态危机是</a:t>
            </a:r>
            <a:r>
              <a:rPr altLang="en-US" dirty="0" lang="zh-CN" b="1" sz="2400">
                <a:solidFill>
                  <a:srgbClr val="FF0000"/>
                </a:solidFill>
                <a:ea typeface="微软雅黑" panose="020B0503020204020204" pitchFamily="34" charset="-122"/>
                <a:latin typeface="微软雅黑" panose="020B0503020204020204" pitchFamily="34" charset="-122"/>
              </a:rPr>
              <a:t>传统工业生产方式</a:t>
            </a:r>
            <a:r>
              <a:rPr altLang="en-US" dirty="0" lang="zh-CN" b="1" sz="2400">
                <a:solidFill>
                  <a:srgbClr val="0000FF"/>
                </a:solidFill>
                <a:ea typeface="微软雅黑" panose="020B0503020204020204" pitchFamily="34" charset="-122"/>
                <a:latin typeface="微软雅黑" panose="020B0503020204020204" pitchFamily="34" charset="-122"/>
              </a:rPr>
              <a:t>的必然结果，传统发展观把发展等同于经济增长，</a:t>
            </a:r>
            <a:r>
              <a:rPr altLang="en-US" dirty="0" lang="zh-CN" b="1" sz="2400">
                <a:solidFill>
                  <a:srgbClr val="FF0000"/>
                </a:solidFill>
                <a:ea typeface="微软雅黑" panose="020B0503020204020204" pitchFamily="34" charset="-122"/>
                <a:latin typeface="微软雅黑" panose="020B0503020204020204" pitchFamily="34" charset="-122"/>
              </a:rPr>
              <a:t>单纯追求经济增长</a:t>
            </a:r>
            <a:r>
              <a:rPr altLang="en-US" dirty="0" lang="zh-CN" b="1" sz="2400">
                <a:solidFill>
                  <a:srgbClr val="0000FF"/>
                </a:solidFill>
                <a:ea typeface="微软雅黑" panose="020B0503020204020204" pitchFamily="34" charset="-122"/>
                <a:latin typeface="微软雅黑" panose="020B0503020204020204" pitchFamily="34" charset="-122"/>
              </a:rPr>
              <a:t>所致。</a:t>
            </a:r>
            <a:endParaRPr altLang="zh-CN" dirty="0" lang="en-US" b="1" sz="2800">
              <a:solidFill>
                <a:srgbClr val="0000FF"/>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生态自然观的基本思想</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生态系统是一个</a:t>
            </a:r>
            <a:r>
              <a:rPr altLang="en-US" dirty="0" lang="zh-CN" b="1" sz="2400">
                <a:solidFill>
                  <a:srgbClr val="FF0000"/>
                </a:solidFill>
                <a:ea typeface="微软雅黑" panose="020B0503020204020204" pitchFamily="34" charset="-122"/>
                <a:latin typeface="微软雅黑" panose="020B0503020204020204" pitchFamily="34" charset="-122"/>
              </a:rPr>
              <a:t>生命系统</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生态系统具有</a:t>
            </a:r>
            <a:r>
              <a:rPr altLang="en-US" dirty="0" lang="zh-CN" b="1" sz="2400">
                <a:solidFill>
                  <a:srgbClr val="FF0000"/>
                </a:solidFill>
                <a:ea typeface="微软雅黑" panose="020B0503020204020204" pitchFamily="34" charset="-122"/>
                <a:latin typeface="微软雅黑" panose="020B0503020204020204" pitchFamily="34" charset="-122"/>
              </a:rPr>
              <a:t>显著的整体性</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solidFill>
                  <a:srgbClr val="0000FF"/>
                </a:solidFill>
                <a:ea typeface="微软雅黑" panose="020B0503020204020204" pitchFamily="34" charset="-122"/>
                <a:latin typeface="微软雅黑" panose="020B0503020204020204" pitchFamily="34"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生态系统是</a:t>
            </a:r>
            <a:r>
              <a:rPr altLang="en-US" dirty="0" lang="zh-CN" b="1" sz="2400">
                <a:solidFill>
                  <a:srgbClr val="FF0000"/>
                </a:solidFill>
                <a:ea typeface="微软雅黑" panose="020B0503020204020204" pitchFamily="34" charset="-122"/>
                <a:latin typeface="微软雅黑" panose="020B0503020204020204" pitchFamily="34" charset="-122"/>
              </a:rPr>
              <a:t>自组织的开放系统</a:t>
            </a:r>
            <a:endParaRPr altLang="zh-CN" dirty="0" lang="en-US" b="1" sz="2400">
              <a:solidFill>
                <a:srgbClr val="FF0000"/>
              </a:solidFill>
              <a:ea typeface="微软雅黑" panose="020B0503020204020204" pitchFamily="34" charset="-122"/>
              <a:latin typeface="微软雅黑" panose="020B0503020204020204" pitchFamily="34" charset="-122"/>
            </a:endParaRPr>
          </a:p>
        </p:txBody>
      </p:sp>
    </p:spTree>
  </p:cSld>
  <p:clrMapOvr>
    <a:masterClrMapping/>
  </p:clrMapOvr>
</p:sld>
</file>

<file path=ppt/slides/slide6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4754" name="Picture 9"/>
          <p:cNvPicPr/>
          <p:nvPr/>
        </p:nvPicPr>
        <p:blipFill>
          <a:blip r:embed="rId1"/>
          <a:stretch>
            <a:fillRect/>
          </a:stretch>
        </p:blipFill>
        <p:spPr>
          <a:xfrm>
            <a:off x="0" y="0"/>
            <a:ext cx="9144000" cy="1743075"/>
          </a:xfrm>
          <a:prstGeom prst="rect">
            <a:avLst/>
          </a:prstGeom>
          <a:noFill/>
          <a:ln w="9525">
            <a:noFill/>
          </a:ln>
        </p:spPr>
      </p:pic>
      <p:sp>
        <p:nvSpPr>
          <p:cNvPr id="74755" name="TextBox 2"/>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  </a:t>
            </a:r>
            <a:r>
              <a:rPr altLang="en-US" dirty="0" lang="zh-CN" b="1" sz="2400">
                <a:solidFill>
                  <a:srgbClr val="0000FF"/>
                </a:solidFill>
                <a:ea typeface="微软雅黑" panose="020B0503020204020204" pitchFamily="34" charset="-122"/>
                <a:latin typeface="微软雅黑" panose="020B0503020204020204" pitchFamily="34" charset="-122"/>
              </a:rPr>
              <a:t>生态系统是动态平衡系统</a:t>
            </a:r>
            <a:endParaRPr altLang="zh-CN" dirty="0" lang="en-US" b="1" sz="2400">
              <a:solidFill>
                <a:srgbClr val="0000FF"/>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生态平衡是</a:t>
            </a:r>
            <a:r>
              <a:rPr altLang="en-US" dirty="0" lang="zh-CN" b="1" sz="2400">
                <a:solidFill>
                  <a:srgbClr val="FF0000"/>
                </a:solidFill>
                <a:ea typeface="微软雅黑" panose="020B0503020204020204" pitchFamily="34" charset="-122"/>
                <a:latin typeface="微软雅黑" panose="020B0503020204020204" pitchFamily="34" charset="-122"/>
              </a:rPr>
              <a:t>稳定性与变化性相统一</a:t>
            </a:r>
            <a:r>
              <a:rPr altLang="en-US" dirty="0" lang="zh-CN" b="1" sz="2400">
                <a:ea typeface="微软雅黑" panose="020B0503020204020204" pitchFamily="34" charset="-122"/>
                <a:latin typeface="微软雅黑" panose="020B0503020204020204" pitchFamily="34" charset="-122"/>
              </a:rPr>
              <a:t>的平衡；</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维持生态平衡不是单纯的回归自然，再人为有益影响下，生态系统可以建立</a:t>
            </a:r>
            <a:r>
              <a:rPr altLang="en-US" dirty="0" lang="zh-CN" b="1" sz="2400">
                <a:solidFill>
                  <a:srgbClr val="FF0000"/>
                </a:solidFill>
                <a:ea typeface="微软雅黑" panose="020B0503020204020204" pitchFamily="34" charset="-122"/>
                <a:latin typeface="微软雅黑" panose="020B0503020204020204" pitchFamily="34" charset="-122"/>
              </a:rPr>
              <a:t>新的平衡</a:t>
            </a:r>
            <a:r>
              <a:rPr altLang="en-US" dirty="0" lang="zh-CN" b="1" sz="2400">
                <a:ea typeface="微软雅黑" panose="020B0503020204020204" pitchFamily="34" charset="-122"/>
                <a:latin typeface="微软雅黑" panose="020B0503020204020204" pitchFamily="34" charset="-122"/>
              </a:rPr>
              <a:t>。</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74756" name="图片 2"/>
          <p:cNvPicPr/>
          <p:nvPr/>
        </p:nvPicPr>
        <p:blipFill>
          <a:blip r:embed="rId2"/>
          <a:stretch>
            <a:fillRect/>
          </a:stretch>
        </p:blipFill>
        <p:spPr>
          <a:xfrm>
            <a:off x="2713038" y="4179888"/>
            <a:ext cx="4581525" cy="2220912"/>
          </a:xfrm>
          <a:prstGeom prst="rect">
            <a:avLst/>
          </a:prstGeom>
          <a:noFill/>
          <a:ln w="9525">
            <a:noFill/>
          </a:ln>
        </p:spPr>
      </p:pic>
    </p:spTree>
  </p:cSld>
  <p:clrMapOvr>
    <a:masterClrMapping/>
  </p:clrMapOvr>
</p:sld>
</file>

<file path=ppt/slides/slide6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5778" name="Picture 9"/>
          <p:cNvPicPr/>
          <p:nvPr/>
        </p:nvPicPr>
        <p:blipFill>
          <a:blip r:embed="rId1"/>
          <a:stretch>
            <a:fillRect/>
          </a:stretch>
        </p:blipFill>
        <p:spPr>
          <a:xfrm>
            <a:off x="0" y="0"/>
            <a:ext cx="9144000" cy="1743075"/>
          </a:xfrm>
          <a:prstGeom prst="rect">
            <a:avLst/>
          </a:prstGeom>
          <a:noFill/>
          <a:ln w="9525">
            <a:noFill/>
          </a:ln>
        </p:spPr>
      </p:pic>
      <p:sp>
        <p:nvSpPr>
          <p:cNvPr id="75779"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0000FF"/>
                </a:solidFill>
                <a:ea typeface="微软雅黑" panose="020B0503020204020204" pitchFamily="34" charset="-122"/>
                <a:latin typeface="微软雅黑" panose="020B0503020204020204" pitchFamily="34" charset="-122"/>
              </a:rPr>
              <a:t>生态自然观的科学基础</a:t>
            </a:r>
            <a:endParaRPr altLang="zh-CN" dirty="0" lang="en-US" b="1" sz="2400">
              <a:solidFill>
                <a:srgbClr val="0000FF"/>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1</a:t>
            </a:r>
            <a:r>
              <a:rPr altLang="en-US" dirty="0" lang="zh-CN" b="1" sz="2400">
                <a:ea typeface="微软雅黑" panose="020B0503020204020204" pitchFamily="34" charset="-122"/>
                <a:latin typeface="微软雅黑" panose="020B0503020204020204" pitchFamily="34" charset="-122"/>
              </a:rPr>
              <a:t>、作为</a:t>
            </a:r>
            <a:r>
              <a:rPr altLang="en-US" dirty="0" lang="zh-CN" b="1" sz="2400">
                <a:solidFill>
                  <a:srgbClr val="FF0000"/>
                </a:solidFill>
                <a:ea typeface="微软雅黑" panose="020B0503020204020204" pitchFamily="34" charset="-122"/>
                <a:latin typeface="微软雅黑" panose="020B0503020204020204" pitchFamily="34" charset="-122"/>
              </a:rPr>
              <a:t>人类生存之科学</a:t>
            </a:r>
            <a:r>
              <a:rPr altLang="en-US" dirty="0" lang="zh-CN" b="1" sz="2400">
                <a:ea typeface="微软雅黑" panose="020B0503020204020204" pitchFamily="34" charset="-122"/>
                <a:latin typeface="微软雅黑" panose="020B0503020204020204" pitchFamily="34" charset="-122"/>
              </a:rPr>
              <a:t>的生态学；</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生态：</a:t>
            </a:r>
            <a:r>
              <a:rPr altLang="en-US" dirty="0" lang="zh-CN" b="1" sz="2400">
                <a:solidFill>
                  <a:srgbClr val="FF0000"/>
                </a:solidFill>
                <a:ea typeface="微软雅黑" panose="020B0503020204020204" pitchFamily="34" charset="-122"/>
                <a:latin typeface="微软雅黑" panose="020B0503020204020204" pitchFamily="34" charset="-122"/>
              </a:rPr>
              <a:t>人类生活的处所、家园</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1935</a:t>
            </a:r>
            <a:r>
              <a:rPr altLang="en-US" dirty="0" lang="zh-CN" b="1" sz="2400">
                <a:ea typeface="微软雅黑" panose="020B0503020204020204" pitchFamily="34" charset="-122"/>
                <a:latin typeface="微软雅黑" panose="020B0503020204020204" pitchFamily="34" charset="-122"/>
              </a:rPr>
              <a:t>年英国生物学家坦斯利，他认为认为生态系统包括整个生物群落和它 们环境中的一切物理的和化学的因素（即气候和土壤因素）。 </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2</a:t>
            </a:r>
            <a:r>
              <a:rPr altLang="en-US" dirty="0" lang="zh-CN" b="1" sz="2400">
                <a:ea typeface="微软雅黑" panose="020B0503020204020204" pitchFamily="34" charset="-122"/>
                <a:latin typeface="微软雅黑" panose="020B0503020204020204" pitchFamily="34" charset="-122"/>
              </a:rPr>
              <a:t>、人是生态系统的</a:t>
            </a:r>
            <a:r>
              <a:rPr altLang="en-US" dirty="0" lang="zh-CN" b="1" sz="2400">
                <a:solidFill>
                  <a:srgbClr val="FF0000"/>
                </a:solidFill>
                <a:ea typeface="微软雅黑" panose="020B0503020204020204" pitchFamily="34" charset="-122"/>
                <a:latin typeface="微软雅黑" panose="020B0503020204020204" pitchFamily="34" charset="-122"/>
              </a:rPr>
              <a:t>调控者和协调进化者</a:t>
            </a:r>
            <a:r>
              <a:rPr altLang="en-US" dirty="0" lang="zh-CN" b="1" sz="2400">
                <a:ea typeface="微软雅黑" panose="020B0503020204020204" pitchFamily="34" charset="-122"/>
                <a:latin typeface="微软雅黑" panose="020B0503020204020204" pitchFamily="34" charset="-122"/>
              </a:rPr>
              <a:t>；</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6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6802" name="Picture 9"/>
          <p:cNvPicPr/>
          <p:nvPr/>
        </p:nvPicPr>
        <p:blipFill>
          <a:blip r:embed="rId1"/>
          <a:stretch>
            <a:fillRect/>
          </a:stretch>
        </p:blipFill>
        <p:spPr>
          <a:xfrm>
            <a:off x="0" y="0"/>
            <a:ext cx="9144000" cy="1743075"/>
          </a:xfrm>
          <a:prstGeom prst="rect">
            <a:avLst/>
          </a:prstGeom>
          <a:noFill/>
          <a:ln w="9525">
            <a:noFill/>
          </a:ln>
        </p:spPr>
      </p:pic>
      <p:sp>
        <p:nvSpPr>
          <p:cNvPr id="76803" name="TextBox 2"/>
          <p:cNvSpPr/>
          <p:nvPr/>
        </p:nvSpPr>
        <p:spPr>
          <a:xfrm>
            <a:off x="0" y="1743075"/>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400">
                <a:solidFill>
                  <a:srgbClr val="FF0000"/>
                </a:solidFill>
                <a:ea typeface="微软雅黑" panose="020B0503020204020204" pitchFamily="34" charset="-122"/>
                <a:latin typeface="微软雅黑" panose="020B0503020204020204" pitchFamily="34" charset="-122"/>
              </a:rPr>
              <a:t>生态的理念和生态规律</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solidFill>
                  <a:srgbClr val="0000FF"/>
                </a:solidFill>
                <a:ea typeface="微软雅黑" panose="020B0503020204020204" pitchFamily="34" charset="-122"/>
                <a:latin typeface="微软雅黑" panose="020B0503020204020204" pitchFamily="34" charset="-122"/>
              </a:rPr>
              <a:t>  整体的观念，</a:t>
            </a:r>
            <a:r>
              <a:rPr altLang="en-US" dirty="0" lang="zh-CN" b="1" sz="2400">
                <a:ea typeface="微软雅黑" panose="020B0503020204020204" pitchFamily="34" charset="-122"/>
                <a:latin typeface="微软雅黑" panose="020B0503020204020204" pitchFamily="34" charset="-122"/>
              </a:rPr>
              <a:t>是说生物（包括人在内）与其环境构成一个不可分割的整体，任何生物均不能脱离环境而单独存在；</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  </a:t>
            </a:r>
            <a:endParaRPr altLang="zh-CN" dirty="0" lang="en-US" sz="2400">
              <a:ea typeface="宋体" panose="02010600030101010101" pitchFamily="2" charset="-122"/>
              <a:latin typeface="宋体" panose="02010600030101010101" pitchFamily="2" charset="-122"/>
            </a:endParaRPr>
          </a:p>
        </p:txBody>
      </p:sp>
      <p:pic>
        <p:nvPicPr>
          <p:cNvPr id="76804" name="图片 2"/>
          <p:cNvPicPr/>
          <p:nvPr/>
        </p:nvPicPr>
        <p:blipFill>
          <a:blip r:embed="rId2"/>
          <a:stretch>
            <a:fillRect/>
          </a:stretch>
        </p:blipFill>
        <p:spPr>
          <a:xfrm>
            <a:off x="2239963" y="3687763"/>
            <a:ext cx="4376737" cy="2646362"/>
          </a:xfrm>
          <a:prstGeom prst="rect">
            <a:avLst/>
          </a:prstGeom>
          <a:noFill/>
          <a:ln w="9525">
            <a:noFill/>
          </a:ln>
        </p:spPr>
      </p:pic>
    </p:spTree>
  </p:cSld>
  <p:clrMapOvr>
    <a:masterClrMapping/>
  </p:clrMapOvr>
</p:sld>
</file>

<file path=ppt/slides/slide6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7826" name="Picture 9"/>
          <p:cNvPicPr/>
          <p:nvPr/>
        </p:nvPicPr>
        <p:blipFill>
          <a:blip r:embed="rId1"/>
          <a:stretch>
            <a:fillRect/>
          </a:stretch>
        </p:blipFill>
        <p:spPr>
          <a:xfrm>
            <a:off x="0" y="0"/>
            <a:ext cx="9144000" cy="1743075"/>
          </a:xfrm>
          <a:prstGeom prst="rect">
            <a:avLst/>
          </a:prstGeom>
          <a:noFill/>
          <a:ln w="9525">
            <a:noFill/>
          </a:ln>
        </p:spPr>
      </p:pic>
      <p:sp>
        <p:nvSpPr>
          <p:cNvPr id="77827" name="TextBox 2"/>
          <p:cNvSpPr/>
          <p:nvPr/>
        </p:nvSpPr>
        <p:spPr>
          <a:xfrm>
            <a:off x="0" y="1743075"/>
            <a:ext cx="9144000" cy="1689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  </a:t>
            </a:r>
            <a:r>
              <a:rPr altLang="en-US" dirty="0" lang="zh-CN" b="1" sz="2400">
                <a:solidFill>
                  <a:srgbClr val="0000FF"/>
                </a:solidFill>
                <a:ea typeface="微软雅黑" panose="020B0503020204020204" pitchFamily="34" charset="-122"/>
                <a:latin typeface="微软雅黑" panose="020B0503020204020204" pitchFamily="34" charset="-122"/>
              </a:rPr>
              <a:t>循环的观念，</a:t>
            </a:r>
            <a:r>
              <a:rPr altLang="en-US" dirty="0" lang="zh-CN" b="1" sz="2400">
                <a:ea typeface="微软雅黑" panose="020B0503020204020204" pitchFamily="34" charset="-122"/>
                <a:latin typeface="微软雅黑" panose="020B0503020204020204" pitchFamily="34" charset="-122"/>
              </a:rPr>
              <a:t>是指作为生产者的植物、消费者的动物、分解者的微生物，它们互相耦合，形成由生产、 消费和分解三个环节构成的无废弃物的物质循环；</a:t>
            </a:r>
            <a:endParaRPr altLang="zh-CN" dirty="0" lang="en-US" b="1" sz="2400">
              <a:ea typeface="微软雅黑" panose="020B0503020204020204" pitchFamily="34" charset="-122"/>
              <a:latin typeface="微软雅黑" panose="020B0503020204020204" pitchFamily="34" charset="-122"/>
            </a:endParaRPr>
          </a:p>
        </p:txBody>
      </p:sp>
      <p:pic>
        <p:nvPicPr>
          <p:cNvPr id="77828" name="图片 4"/>
          <p:cNvPicPr/>
          <p:nvPr/>
        </p:nvPicPr>
        <p:blipFill>
          <a:blip r:embed="rId2"/>
          <a:stretch>
            <a:fillRect/>
          </a:stretch>
        </p:blipFill>
        <p:spPr>
          <a:xfrm>
            <a:off x="2249488" y="3708400"/>
            <a:ext cx="4705350" cy="2733675"/>
          </a:xfrm>
          <a:prstGeom prst="rect">
            <a:avLst/>
          </a:prstGeom>
          <a:noFill/>
          <a:ln w="9525">
            <a:noFill/>
          </a:ln>
        </p:spPr>
      </p:pic>
    </p:spTree>
  </p:cSld>
  <p:clrMapOvr>
    <a:masterClrMapping/>
  </p:clrMapOvr>
</p:sld>
</file>

<file path=ppt/slides/slide6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8850" name="Picture 9"/>
          <p:cNvPicPr/>
          <p:nvPr/>
        </p:nvPicPr>
        <p:blipFill>
          <a:blip r:embed="rId1"/>
          <a:stretch>
            <a:fillRect/>
          </a:stretch>
        </p:blipFill>
        <p:spPr>
          <a:xfrm>
            <a:off x="0" y="0"/>
            <a:ext cx="9144000" cy="1417638"/>
          </a:xfrm>
          <a:prstGeom prst="rect">
            <a:avLst/>
          </a:prstGeom>
          <a:noFill/>
          <a:ln w="9525">
            <a:noFill/>
          </a:ln>
        </p:spPr>
      </p:pic>
      <p:sp>
        <p:nvSpPr>
          <p:cNvPr id="78851" name="TextBox 2"/>
          <p:cNvSpPr/>
          <p:nvPr/>
        </p:nvSpPr>
        <p:spPr>
          <a:xfrm>
            <a:off x="0" y="1743075"/>
            <a:ext cx="9144000" cy="1135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0000FF"/>
                </a:solidFill>
                <a:ea typeface="微软雅黑" panose="020B0503020204020204" pitchFamily="34" charset="-122"/>
                <a:latin typeface="微软雅黑" panose="020B0503020204020204" pitchFamily="34" charset="-122"/>
              </a:rPr>
              <a:t>    平衡的观念，</a:t>
            </a:r>
            <a:r>
              <a:rPr altLang="en-US" dirty="0" lang="zh-CN" b="1" sz="2400">
                <a:ea typeface="微软雅黑" panose="020B0503020204020204" pitchFamily="34" charset="-122"/>
                <a:latin typeface="微软雅黑" panose="020B0503020204020204" pitchFamily="34" charset="-122"/>
              </a:rPr>
              <a:t>认为生物之间的</a:t>
            </a:r>
            <a:r>
              <a:rPr altLang="en-US" dirty="0" lang="zh-CN" b="1" sz="2400">
                <a:solidFill>
                  <a:srgbClr val="FF0000"/>
                </a:solidFill>
                <a:ea typeface="微软雅黑" panose="020B0503020204020204" pitchFamily="34" charset="-122"/>
                <a:latin typeface="微软雅黑" panose="020B0503020204020204" pitchFamily="34" charset="-122"/>
              </a:rPr>
              <a:t>食物链关系、金字塔结构和循环体系</a:t>
            </a:r>
            <a:r>
              <a:rPr altLang="en-US" dirty="0" lang="zh-CN" b="1" sz="2400">
                <a:ea typeface="微软雅黑" panose="020B0503020204020204" pitchFamily="34" charset="-122"/>
                <a:latin typeface="微软雅黑" panose="020B0503020204020204" pitchFamily="34" charset="-122"/>
              </a:rPr>
              <a:t>处在一个动态的平衡之中；</a:t>
            </a:r>
            <a:endParaRPr altLang="zh-CN" dirty="0" lang="en-US" b="1" sz="2400">
              <a:ea typeface="微软雅黑" panose="020B0503020204020204" pitchFamily="34" charset="-122"/>
              <a:latin typeface="微软雅黑" panose="020B0503020204020204" pitchFamily="34" charset="-122"/>
            </a:endParaRPr>
          </a:p>
        </p:txBody>
      </p:sp>
      <p:pic>
        <p:nvPicPr>
          <p:cNvPr id="78852" name="图片 2"/>
          <p:cNvPicPr/>
          <p:nvPr/>
        </p:nvPicPr>
        <p:blipFill>
          <a:blip r:embed="rId2"/>
          <a:stretch>
            <a:fillRect/>
          </a:stretch>
        </p:blipFill>
        <p:spPr>
          <a:xfrm>
            <a:off x="2081213" y="3181350"/>
            <a:ext cx="4981575" cy="2932113"/>
          </a:xfrm>
          <a:prstGeom prst="rect">
            <a:avLst/>
          </a:prstGeom>
          <a:noFill/>
          <a:ln w="9525">
            <a:noFill/>
          </a:ln>
        </p:spPr>
      </p:pic>
    </p:spTree>
  </p:cSld>
  <p:clrMapOvr>
    <a:masterClrMapping/>
  </p:clrMapOvr>
</p:sld>
</file>

<file path=ppt/slides/slide6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79874" name="Picture 9"/>
          <p:cNvPicPr/>
          <p:nvPr/>
        </p:nvPicPr>
        <p:blipFill>
          <a:blip r:embed="rId1"/>
          <a:stretch>
            <a:fillRect/>
          </a:stretch>
        </p:blipFill>
        <p:spPr>
          <a:xfrm>
            <a:off x="0" y="0"/>
            <a:ext cx="9144000" cy="1743075"/>
          </a:xfrm>
          <a:prstGeom prst="rect">
            <a:avLst/>
          </a:prstGeom>
          <a:noFill/>
          <a:ln w="9525">
            <a:noFill/>
          </a:ln>
        </p:spPr>
      </p:pic>
      <p:sp>
        <p:nvSpPr>
          <p:cNvPr id="79875" name="TextBox 2"/>
          <p:cNvSpPr/>
          <p:nvPr/>
        </p:nvSpPr>
        <p:spPr>
          <a:xfrm>
            <a:off x="0" y="1743075"/>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  多样性的观念，</a:t>
            </a:r>
            <a:r>
              <a:rPr altLang="en-US" dirty="0" lang="zh-CN" sz="2400">
                <a:ea typeface="宋体" panose="02010600030101010101" pitchFamily="2" charset="-122"/>
                <a:latin typeface="宋体" panose="02010600030101010101" pitchFamily="2" charset="-122"/>
              </a:rPr>
              <a:t>即“多样性导致稳定性”的生态原理，它强调保护生物物种的多样性，认为生物多样性的丧失，直接威胁着生态系统的稳定性。 </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79876" name="图片 2"/>
          <p:cNvPicPr/>
          <p:nvPr/>
        </p:nvPicPr>
        <p:blipFill>
          <a:blip r:embed="rId2"/>
          <a:stretch>
            <a:fillRect/>
          </a:stretch>
        </p:blipFill>
        <p:spPr>
          <a:xfrm>
            <a:off x="2222500" y="3551238"/>
            <a:ext cx="5254625" cy="2794000"/>
          </a:xfrm>
          <a:prstGeom prst="rect">
            <a:avLst/>
          </a:prstGeom>
          <a:noFill/>
          <a:ln w="9525">
            <a:noFill/>
          </a:ln>
        </p:spPr>
      </p:pic>
    </p:spTree>
  </p:cSld>
  <p:clrMapOvr>
    <a:masterClrMapping/>
  </p:clrMapOvr>
</p:sld>
</file>

<file path=ppt/slides/slide6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0898" name="Picture 9"/>
          <p:cNvPicPr/>
          <p:nvPr/>
        </p:nvPicPr>
        <p:blipFill>
          <a:blip r:embed="rId1"/>
          <a:stretch>
            <a:fillRect/>
          </a:stretch>
        </p:blipFill>
        <p:spPr>
          <a:xfrm>
            <a:off x="0" y="0"/>
            <a:ext cx="9144000" cy="1743075"/>
          </a:xfrm>
          <a:prstGeom prst="rect">
            <a:avLst/>
          </a:prstGeom>
          <a:noFill/>
          <a:ln w="9525">
            <a:noFill/>
          </a:ln>
        </p:spPr>
      </p:pic>
      <p:sp>
        <p:nvSpPr>
          <p:cNvPr id="80899"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微软雅黑" panose="020B0503020204020204" pitchFamily="34" charset="-122"/>
                <a:latin typeface="微软雅黑" panose="020B0503020204020204" pitchFamily="34" charset="-122"/>
              </a:rPr>
              <a:t>生态文明建设</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solidFill>
                  <a:srgbClr val="FF0000"/>
                </a:solidFill>
                <a:ea typeface="微软雅黑" panose="020B0503020204020204" pitchFamily="34" charset="-122"/>
                <a:latin typeface="微软雅黑" panose="020B0503020204020204" pitchFamily="34" charset="-122"/>
              </a:rPr>
              <a:t>可持续发展战略的提出</a:t>
            </a:r>
            <a:endParaRPr altLang="zh-CN" dirty="0" lang="en-US" b="1" sz="24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1980</a:t>
            </a:r>
            <a:r>
              <a:rPr altLang="en-US" dirty="0" lang="zh-CN" b="1" sz="2400">
                <a:ea typeface="微软雅黑" panose="020B0503020204020204" pitchFamily="34" charset="-122"/>
                <a:latin typeface="微软雅黑" panose="020B0503020204020204" pitchFamily="34" charset="-122"/>
              </a:rPr>
              <a:t>年，“可持续发展”最早出现再</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世界自然资源保护大纲</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中；</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1987</a:t>
            </a:r>
            <a:r>
              <a:rPr altLang="en-US" dirty="0" lang="zh-CN" b="1" sz="2400">
                <a:ea typeface="微软雅黑" panose="020B0503020204020204" pitchFamily="34" charset="-122"/>
                <a:latin typeface="微软雅黑" panose="020B0503020204020204" pitchFamily="34" charset="-122"/>
              </a:rPr>
              <a:t>年，</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我们共同的未来</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中将可持续发展定义为：</a:t>
            </a:r>
            <a:r>
              <a:rPr altLang="en-US" dirty="0" lang="zh-CN" b="1" sz="2400">
                <a:solidFill>
                  <a:srgbClr val="FF0000"/>
                </a:solidFill>
                <a:ea typeface="微软雅黑" panose="020B0503020204020204" pitchFamily="34" charset="-122"/>
                <a:latin typeface="微软雅黑" panose="020B0503020204020204" pitchFamily="34" charset="-122"/>
              </a:rPr>
              <a:t>“可持续发展是既能满足当代人的需要，又不对后代人满足需要的能力构成威胁</a:t>
            </a:r>
            <a:endParaRPr altLang="zh-CN" dirty="0" lang="en-US" b="1" sz="2400">
              <a:ea typeface="微软雅黑" panose="020B0503020204020204" pitchFamily="34" charset="-122"/>
              <a:latin typeface="微软雅黑" panose="020B0503020204020204" pitchFamily="34" charset="-122"/>
            </a:endParaRPr>
          </a:p>
        </p:txBody>
      </p:sp>
    </p:spTree>
  </p:cSld>
  <p:clrMapOvr>
    <a:masterClrMapping/>
  </p:clrMapOvr>
</p:sld>
</file>

<file path=ppt/slides/slide7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1922" name="Picture 9"/>
          <p:cNvPicPr/>
          <p:nvPr/>
        </p:nvPicPr>
        <p:blipFill>
          <a:blip r:embed="rId1"/>
          <a:stretch>
            <a:fillRect/>
          </a:stretch>
        </p:blipFill>
        <p:spPr>
          <a:xfrm>
            <a:off x="0" y="0"/>
            <a:ext cx="9144000" cy="1743075"/>
          </a:xfrm>
          <a:prstGeom prst="rect">
            <a:avLst/>
          </a:prstGeom>
          <a:noFill/>
          <a:ln w="9525">
            <a:noFill/>
          </a:ln>
        </p:spPr>
      </p:pic>
      <p:sp>
        <p:nvSpPr>
          <p:cNvPr id="81923" name="TextBox 2"/>
          <p:cNvSpPr/>
          <p:nvPr/>
        </p:nvSpPr>
        <p:spPr>
          <a:xfrm>
            <a:off x="0" y="1743075"/>
            <a:ext cx="9144000" cy="16684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1994</a:t>
            </a:r>
            <a:r>
              <a:rPr altLang="en-US" dirty="0" lang="zh-CN" sz="2400">
                <a:ea typeface="宋体" panose="02010600030101010101" pitchFamily="2" charset="-122"/>
                <a:latin typeface="宋体" panose="02010600030101010101" pitchFamily="2" charset="-122"/>
              </a:rPr>
              <a:t>年，中国发表</a:t>
            </a:r>
            <a:r>
              <a:rPr altLang="zh-CN" dirty="0" lang="en-US"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中国</a:t>
            </a:r>
            <a:r>
              <a:rPr altLang="zh-CN" dirty="0" lang="en-US" sz="2400">
                <a:solidFill>
                  <a:srgbClr val="FF0000"/>
                </a:solidFill>
                <a:ea typeface="宋体" panose="02010600030101010101" pitchFamily="2" charset="-122"/>
                <a:latin typeface="宋体" panose="02010600030101010101" pitchFamily="2" charset="-122"/>
              </a:rPr>
              <a:t>21</a:t>
            </a:r>
            <a:r>
              <a:rPr altLang="en-US" dirty="0" lang="zh-CN" sz="2400">
                <a:solidFill>
                  <a:srgbClr val="FF0000"/>
                </a:solidFill>
                <a:ea typeface="宋体" panose="02010600030101010101" pitchFamily="2" charset="-122"/>
                <a:latin typeface="宋体" panose="02010600030101010101" pitchFamily="2" charset="-122"/>
              </a:rPr>
              <a:t>世纪议程</a:t>
            </a:r>
            <a:r>
              <a:rPr altLang="zh-CN" dirty="0" lang="en-US" sz="2400">
                <a:solidFill>
                  <a:srgbClr val="FF0000"/>
                </a:solidFill>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中国</a:t>
            </a:r>
            <a:r>
              <a:rPr altLang="zh-CN" dirty="0" lang="en-US" sz="2400">
                <a:solidFill>
                  <a:srgbClr val="FF0000"/>
                </a:solidFill>
                <a:ea typeface="宋体" panose="02010600030101010101" pitchFamily="2" charset="-122"/>
                <a:latin typeface="宋体" panose="02010600030101010101" pitchFamily="2" charset="-122"/>
              </a:rPr>
              <a:t>21</a:t>
            </a:r>
            <a:r>
              <a:rPr altLang="en-US" dirty="0" lang="zh-CN" sz="2400">
                <a:solidFill>
                  <a:srgbClr val="FF0000"/>
                </a:solidFill>
                <a:ea typeface="宋体" panose="02010600030101010101" pitchFamily="2" charset="-122"/>
                <a:latin typeface="宋体" panose="02010600030101010101" pitchFamily="2" charset="-122"/>
              </a:rPr>
              <a:t>世纪人口、资源、环境与发展白皮书</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。首次将可持续发展列入到我国经济和社会发展的长远规划，标志着中国政府对全球可持续发展的参与。</a:t>
            </a:r>
            <a:endParaRPr altLang="zh-CN" dirty="0" lang="en-US" sz="2400">
              <a:ea typeface="宋体" panose="02010600030101010101" pitchFamily="2" charset="-122"/>
              <a:latin typeface="宋体" panose="02010600030101010101" pitchFamily="2" charset="-122"/>
            </a:endParaRPr>
          </a:p>
        </p:txBody>
      </p:sp>
      <p:pic>
        <p:nvPicPr>
          <p:cNvPr id="81924" name="图片 2"/>
          <p:cNvPicPr/>
          <p:nvPr/>
        </p:nvPicPr>
        <p:blipFill>
          <a:blip r:embed="rId2"/>
          <a:stretch>
            <a:fillRect/>
          </a:stretch>
        </p:blipFill>
        <p:spPr>
          <a:xfrm>
            <a:off x="2576513" y="3627438"/>
            <a:ext cx="4154487" cy="2743200"/>
          </a:xfrm>
          <a:prstGeom prst="rect">
            <a:avLst/>
          </a:prstGeom>
          <a:noFill/>
          <a:ln w="9525">
            <a:noFill/>
          </a:ln>
        </p:spPr>
      </p:pic>
    </p:spTree>
  </p:cSld>
  <p:clrMapOvr>
    <a:masterClrMapping/>
  </p:clrMapOvr>
</p:sld>
</file>

<file path=ppt/slides/slide7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2946" name="Picture 9"/>
          <p:cNvPicPr/>
          <p:nvPr/>
        </p:nvPicPr>
        <p:blipFill>
          <a:blip r:embed="rId1"/>
          <a:stretch>
            <a:fillRect/>
          </a:stretch>
        </p:blipFill>
        <p:spPr>
          <a:xfrm>
            <a:off x="0" y="0"/>
            <a:ext cx="9144000" cy="1743075"/>
          </a:xfrm>
          <a:prstGeom prst="rect">
            <a:avLst/>
          </a:prstGeom>
          <a:noFill/>
          <a:ln w="9525">
            <a:noFill/>
          </a:ln>
        </p:spPr>
      </p:pic>
      <p:sp>
        <p:nvSpPr>
          <p:cNvPr id="82947"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可持续发展的基本原则</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发展原则</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可持续原则</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共同性原则</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公平性原则</a:t>
            </a:r>
            <a:endParaRPr altLang="zh-CN" dirty="0" lang="en-US" sz="2400">
              <a:solidFill>
                <a:srgbClr val="FF0000"/>
              </a:solidFill>
              <a:ea typeface="宋体" panose="02010600030101010101" pitchFamily="2" charset="-122"/>
              <a:latin typeface="宋体" panose="02010600030101010101" pitchFamily="2" charset="-122"/>
            </a:endParaRPr>
          </a:p>
        </p:txBody>
      </p:sp>
    </p:spTree>
  </p:cSld>
  <p:clrMapOvr>
    <a:masterClrMapping/>
  </p:clrMapOvr>
</p:sld>
</file>

<file path=ppt/slides/slide7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3970" name="Picture 9"/>
          <p:cNvPicPr/>
          <p:nvPr/>
        </p:nvPicPr>
        <p:blipFill>
          <a:blip r:embed="rId1"/>
          <a:stretch>
            <a:fillRect/>
          </a:stretch>
        </p:blipFill>
        <p:spPr>
          <a:xfrm>
            <a:off x="0" y="0"/>
            <a:ext cx="9144000" cy="1743075"/>
          </a:xfrm>
          <a:prstGeom prst="rect">
            <a:avLst/>
          </a:prstGeom>
          <a:noFill/>
          <a:ln w="9525">
            <a:noFill/>
          </a:ln>
        </p:spPr>
      </p:pic>
      <p:sp>
        <p:nvSpPr>
          <p:cNvPr id="83971" name="TextBox 2"/>
          <p:cNvSpPr/>
          <p:nvPr/>
        </p:nvSpPr>
        <p:spPr>
          <a:xfrm>
            <a:off x="0" y="1743075"/>
            <a:ext cx="4171950" cy="45307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生态文明：可持续发展的必然途经</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层面：</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000">
                <a:ea typeface="宋体" panose="02010600030101010101" pitchFamily="2" charset="-122"/>
                <a:latin typeface="宋体" panose="02010600030101010101" pitchFamily="2" charset="-122"/>
              </a:rPr>
              <a:t>物质生产层面</a:t>
            </a:r>
            <a:endParaRPr altLang="zh-CN" dirty="0" lang="en-US" b="1"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生态文明的主导产业是</a:t>
            </a:r>
            <a:r>
              <a:rPr altLang="en-US" dirty="0" lang="zh-CN" sz="2000">
                <a:solidFill>
                  <a:srgbClr val="FF0000"/>
                </a:solidFill>
                <a:ea typeface="宋体" panose="02010600030101010101" pitchFamily="2" charset="-122"/>
                <a:latin typeface="宋体" panose="02010600030101010101" pitchFamily="2" charset="-122"/>
              </a:rPr>
              <a:t>生态产业</a:t>
            </a:r>
            <a:r>
              <a:rPr altLang="en-US" dirty="0" lang="zh-CN" sz="2000">
                <a:ea typeface="宋体" panose="02010600030101010101" pitchFamily="2" charset="-122"/>
                <a:latin typeface="宋体" panose="02010600030101010101" pitchFamily="2" charset="-122"/>
              </a:rPr>
              <a:t>，即生态化的农业、生态化的工业、生态化的信息与服务业。</a:t>
            </a:r>
            <a:endParaRPr altLang="zh-CN" dirty="0" lang="en-US" sz="20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000">
                <a:ea typeface="宋体" panose="02010600030101010101" pitchFamily="2" charset="-122"/>
                <a:latin typeface="宋体" panose="02010600030101010101" pitchFamily="2" charset="-122"/>
              </a:rPr>
              <a:t>核心：</a:t>
            </a:r>
            <a:r>
              <a:rPr altLang="en-US" dirty="0" lang="zh-CN" sz="2000">
                <a:solidFill>
                  <a:srgbClr val="FF0000"/>
                </a:solidFill>
                <a:ea typeface="宋体" panose="02010600030101010101" pitchFamily="2" charset="-122"/>
                <a:latin typeface="宋体" panose="02010600030101010101" pitchFamily="2" charset="-122"/>
              </a:rPr>
              <a:t>生态农业</a:t>
            </a:r>
            <a:endParaRPr altLang="zh-CN" dirty="0" lang="en-US" sz="20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83972" name="图片 6"/>
          <p:cNvPicPr/>
          <p:nvPr/>
        </p:nvPicPr>
        <p:blipFill>
          <a:blip r:embed="rId2"/>
          <a:stretch>
            <a:fillRect/>
          </a:stretch>
        </p:blipFill>
        <p:spPr>
          <a:xfrm>
            <a:off x="4171950" y="1743075"/>
            <a:ext cx="4972050" cy="2033588"/>
          </a:xfrm>
          <a:prstGeom prst="rect">
            <a:avLst/>
          </a:prstGeom>
          <a:noFill/>
          <a:ln w="9525">
            <a:noFill/>
          </a:ln>
        </p:spPr>
      </p:pic>
      <p:pic>
        <p:nvPicPr>
          <p:cNvPr id="83973" name="图片 8"/>
          <p:cNvPicPr/>
          <p:nvPr/>
        </p:nvPicPr>
        <p:blipFill>
          <a:blip r:embed="rId3"/>
          <a:stretch>
            <a:fillRect/>
          </a:stretch>
        </p:blipFill>
        <p:spPr>
          <a:xfrm>
            <a:off x="4171950" y="3776663"/>
            <a:ext cx="2516188" cy="1743075"/>
          </a:xfrm>
          <a:prstGeom prst="rect">
            <a:avLst/>
          </a:prstGeom>
          <a:noFill/>
          <a:ln w="9525">
            <a:noFill/>
          </a:ln>
        </p:spPr>
      </p:pic>
      <p:pic>
        <p:nvPicPr>
          <p:cNvPr id="83974" name="图片 10"/>
          <p:cNvPicPr/>
          <p:nvPr/>
        </p:nvPicPr>
        <p:blipFill>
          <a:blip r:embed="rId4"/>
          <a:stretch>
            <a:fillRect/>
          </a:stretch>
        </p:blipFill>
        <p:spPr>
          <a:xfrm>
            <a:off x="6626225" y="3776663"/>
            <a:ext cx="2517775" cy="2674937"/>
          </a:xfrm>
          <a:prstGeom prst="rect">
            <a:avLst/>
          </a:prstGeom>
          <a:noFill/>
          <a:ln w="9525">
            <a:noFill/>
          </a:ln>
        </p:spPr>
      </p:pic>
      <p:sp>
        <p:nvSpPr>
          <p:cNvPr id="83975" name="TextBox 2"/>
          <p:cNvSpPr/>
          <p:nvPr/>
        </p:nvSpPr>
        <p:spPr>
          <a:xfrm>
            <a:off x="4171950" y="5649913"/>
            <a:ext cx="2362200" cy="942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000">
                <a:solidFill>
                  <a:srgbClr val="FF0000"/>
                </a:solidFill>
                <a:ea typeface="宋体" panose="02010600030101010101" pitchFamily="2" charset="-122"/>
                <a:latin typeface="宋体" panose="02010600030101010101" pitchFamily="2" charset="-122"/>
              </a:rPr>
              <a:t>赣州“猪</a:t>
            </a:r>
            <a:r>
              <a:rPr altLang="zh-CN" dirty="0" lang="en-US" sz="2000">
                <a:solidFill>
                  <a:srgbClr val="FF0000"/>
                </a:solidFill>
                <a:ea typeface="宋体" panose="02010600030101010101" pitchFamily="2" charset="-122"/>
                <a:latin typeface="宋体" panose="02010600030101010101" pitchFamily="2" charset="-122"/>
              </a:rPr>
              <a:t>-</a:t>
            </a:r>
            <a:r>
              <a:rPr altLang="en-US" dirty="0" lang="zh-CN" sz="2000">
                <a:solidFill>
                  <a:srgbClr val="FF0000"/>
                </a:solidFill>
                <a:ea typeface="宋体" panose="02010600030101010101" pitchFamily="2" charset="-122"/>
                <a:latin typeface="宋体" panose="02010600030101010101" pitchFamily="2" charset="-122"/>
              </a:rPr>
              <a:t>沼</a:t>
            </a:r>
            <a:r>
              <a:rPr altLang="zh-CN" dirty="0" lang="en-US" sz="2000">
                <a:solidFill>
                  <a:srgbClr val="FF0000"/>
                </a:solidFill>
                <a:ea typeface="宋体" panose="02010600030101010101" pitchFamily="2" charset="-122"/>
                <a:latin typeface="宋体" panose="02010600030101010101" pitchFamily="2" charset="-122"/>
              </a:rPr>
              <a:t>-</a:t>
            </a:r>
            <a:r>
              <a:rPr altLang="en-US" dirty="0" lang="zh-CN" sz="2000">
                <a:solidFill>
                  <a:srgbClr val="FF0000"/>
                </a:solidFill>
                <a:ea typeface="宋体" panose="02010600030101010101" pitchFamily="2" charset="-122"/>
                <a:latin typeface="宋体" panose="02010600030101010101" pitchFamily="2" charset="-122"/>
              </a:rPr>
              <a:t>果”生态农业模式</a:t>
            </a:r>
            <a:endParaRPr altLang="zh-CN" dirty="0" lang="en-US" sz="2000">
              <a:solidFill>
                <a:srgbClr val="FF0000"/>
              </a:solidFill>
              <a:ea typeface="宋体" panose="02010600030101010101" pitchFamily="2" charset="-122"/>
              <a:latin typeface="宋体" panose="02010600030101010101" pitchFamily="2" charset="-122"/>
            </a:endParaRPr>
          </a:p>
        </p:txBody>
      </p:sp>
    </p:spTree>
  </p:cSld>
  <p:clrMapOvr>
    <a:masterClrMapping/>
  </p:clrMapOvr>
</p:sld>
</file>

<file path=ppt/slides/slide7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4994" name="Picture 9"/>
          <p:cNvPicPr/>
          <p:nvPr/>
        </p:nvPicPr>
        <p:blipFill>
          <a:blip r:embed="rId1"/>
          <a:stretch>
            <a:fillRect/>
          </a:stretch>
        </p:blipFill>
        <p:spPr>
          <a:xfrm>
            <a:off x="0" y="0"/>
            <a:ext cx="9144000" cy="1743075"/>
          </a:xfrm>
          <a:prstGeom prst="rect">
            <a:avLst/>
          </a:prstGeom>
          <a:noFill/>
          <a:ln w="9525">
            <a:noFill/>
          </a:ln>
        </p:spPr>
      </p:pic>
      <p:sp>
        <p:nvSpPr>
          <p:cNvPr id="84995" name="TextBox 2"/>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社会制度层面</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生态产业基础上</a:t>
            </a:r>
            <a:r>
              <a:rPr altLang="en-US" dirty="0" lang="zh-CN" sz="2400">
                <a:solidFill>
                  <a:srgbClr val="FF0000"/>
                </a:solidFill>
                <a:ea typeface="宋体" panose="02010600030101010101" pitchFamily="2" charset="-122"/>
                <a:latin typeface="宋体" panose="02010600030101010101" pitchFamily="2" charset="-122"/>
              </a:rPr>
              <a:t>保护生态环境的政策与法律</a:t>
            </a:r>
            <a:r>
              <a:rPr altLang="en-US" dirty="0" lang="zh-CN" sz="2400">
                <a:ea typeface="宋体" panose="02010600030101010101" pitchFamily="2" charset="-122"/>
                <a:latin typeface="宋体" panose="02010600030101010101" pitchFamily="2" charset="-122"/>
              </a:rPr>
              <a:t>等社会制度。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84996" name="图片 2"/>
          <p:cNvPicPr/>
          <p:nvPr/>
        </p:nvPicPr>
        <p:blipFill>
          <a:blip r:embed="rId2"/>
          <a:stretch>
            <a:fillRect/>
          </a:stretch>
        </p:blipFill>
        <p:spPr>
          <a:xfrm>
            <a:off x="1316038" y="2986088"/>
            <a:ext cx="2633662" cy="2633662"/>
          </a:xfrm>
          <a:prstGeom prst="rect">
            <a:avLst/>
          </a:prstGeom>
          <a:noFill/>
          <a:ln w="9525">
            <a:noFill/>
          </a:ln>
        </p:spPr>
      </p:pic>
      <p:pic>
        <p:nvPicPr>
          <p:cNvPr id="84997" name="图片 4"/>
          <p:cNvPicPr/>
          <p:nvPr/>
        </p:nvPicPr>
        <p:blipFill>
          <a:blip r:embed="rId3"/>
          <a:stretch>
            <a:fillRect/>
          </a:stretch>
        </p:blipFill>
        <p:spPr>
          <a:xfrm>
            <a:off x="5106988" y="2986088"/>
            <a:ext cx="2632075" cy="2633662"/>
          </a:xfrm>
          <a:prstGeom prst="rect">
            <a:avLst/>
          </a:prstGeom>
          <a:noFill/>
          <a:ln w="9525">
            <a:noFill/>
          </a:ln>
        </p:spPr>
      </p:pic>
    </p:spTree>
  </p:cSld>
  <p:clrMapOvr>
    <a:masterClrMapping/>
  </p:clrMapOvr>
</p:sld>
</file>

<file path=ppt/slides/slide7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6018" name="Picture 9"/>
          <p:cNvPicPr/>
          <p:nvPr/>
        </p:nvPicPr>
        <p:blipFill>
          <a:blip r:embed="rId1"/>
          <a:stretch>
            <a:fillRect/>
          </a:stretch>
        </p:blipFill>
        <p:spPr>
          <a:xfrm>
            <a:off x="0" y="0"/>
            <a:ext cx="9144000" cy="1417638"/>
          </a:xfrm>
          <a:prstGeom prst="rect">
            <a:avLst/>
          </a:prstGeom>
          <a:noFill/>
          <a:ln w="9525">
            <a:noFill/>
          </a:ln>
        </p:spPr>
      </p:pic>
      <p:sp>
        <p:nvSpPr>
          <p:cNvPr id="86019" name="TextBox 2"/>
          <p:cNvSpPr/>
          <p:nvPr/>
        </p:nvSpPr>
        <p:spPr>
          <a:xfrm>
            <a:off x="0" y="1639888"/>
            <a:ext cx="9144000" cy="11144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思想观念层面</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核心要素：</a:t>
            </a:r>
            <a:r>
              <a:rPr altLang="en-US" dirty="0" lang="zh-CN" sz="2400">
                <a:solidFill>
                  <a:srgbClr val="FF0000"/>
                </a:solidFill>
                <a:ea typeface="宋体" panose="02010600030101010101" pitchFamily="2" charset="-122"/>
                <a:latin typeface="宋体" panose="02010600030101010101" pitchFamily="2" charset="-122"/>
              </a:rPr>
              <a:t>思想方式与价值观念</a:t>
            </a:r>
            <a:r>
              <a:rPr altLang="en-US" dirty="0" lang="zh-CN" sz="2400">
                <a:ea typeface="宋体" panose="02010600030101010101" pitchFamily="2" charset="-122"/>
                <a:latin typeface="宋体" panose="02010600030101010101" pitchFamily="2" charset="-122"/>
              </a:rPr>
              <a:t>的生态化思想。</a:t>
            </a:r>
            <a:endParaRPr altLang="zh-CN" dirty="0" lang="en-US" sz="2400">
              <a:ea typeface="宋体" panose="02010600030101010101" pitchFamily="2" charset="-122"/>
              <a:latin typeface="宋体" panose="02010600030101010101" pitchFamily="2" charset="-122"/>
            </a:endParaRPr>
          </a:p>
        </p:txBody>
      </p:sp>
      <p:pic>
        <p:nvPicPr>
          <p:cNvPr id="86020" name="图片 3"/>
          <p:cNvPicPr/>
          <p:nvPr/>
        </p:nvPicPr>
        <p:blipFill>
          <a:blip r:embed="rId2"/>
          <a:stretch>
            <a:fillRect/>
          </a:stretch>
        </p:blipFill>
        <p:spPr>
          <a:xfrm>
            <a:off x="1163638" y="2976563"/>
            <a:ext cx="2828925" cy="3235325"/>
          </a:xfrm>
          <a:prstGeom prst="rect">
            <a:avLst/>
          </a:prstGeom>
          <a:noFill/>
          <a:ln w="9525">
            <a:noFill/>
          </a:ln>
        </p:spPr>
      </p:pic>
      <p:pic>
        <p:nvPicPr>
          <p:cNvPr id="86021" name="图片 8"/>
          <p:cNvPicPr/>
          <p:nvPr/>
        </p:nvPicPr>
        <p:blipFill>
          <a:blip r:embed="rId3"/>
          <a:stretch>
            <a:fillRect/>
          </a:stretch>
        </p:blipFill>
        <p:spPr>
          <a:xfrm>
            <a:off x="4922838" y="2976563"/>
            <a:ext cx="2828925" cy="3235325"/>
          </a:xfrm>
          <a:prstGeom prst="rect">
            <a:avLst/>
          </a:prstGeom>
          <a:noFill/>
          <a:ln w="9525">
            <a:noFill/>
          </a:ln>
        </p:spPr>
      </p:pic>
    </p:spTree>
  </p:cSld>
  <p:clrMapOvr>
    <a:masterClrMapping/>
  </p:clrMapOvr>
</p:sld>
</file>

<file path=ppt/slides/slide7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7042" name="Picture 9"/>
          <p:cNvPicPr/>
          <p:nvPr/>
        </p:nvPicPr>
        <p:blipFill>
          <a:blip r:embed="rId1"/>
          <a:stretch>
            <a:fillRect/>
          </a:stretch>
        </p:blipFill>
        <p:spPr>
          <a:xfrm>
            <a:off x="0" y="0"/>
            <a:ext cx="9144000" cy="1743075"/>
          </a:xfrm>
          <a:prstGeom prst="rect">
            <a:avLst/>
          </a:prstGeom>
          <a:noFill/>
          <a:ln w="9525">
            <a:noFill/>
          </a:ln>
        </p:spPr>
      </p:pic>
      <p:sp>
        <p:nvSpPr>
          <p:cNvPr id="87043" name="TextBox 2"/>
          <p:cNvSpPr/>
          <p:nvPr/>
        </p:nvSpPr>
        <p:spPr>
          <a:xfrm>
            <a:off x="0" y="1743075"/>
            <a:ext cx="9144000" cy="5162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论文写作题目：</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、以自身所学的专业为背景，谈一谈你对人与自然关系的理解。</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、科学技术与生态文明的关系。</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3000-5000</a:t>
            </a:r>
            <a:r>
              <a:rPr altLang="en-US" dirty="0" lang="zh-CN" sz="2800">
                <a:ea typeface="宋体" panose="02010600030101010101" pitchFamily="2" charset="-122"/>
                <a:latin typeface="宋体" panose="02010600030101010101" pitchFamily="2" charset="-122"/>
              </a:rPr>
              <a:t>字</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       禁止抄袭、禁止抄袭、禁止抄袭！！！</a:t>
            </a:r>
            <a:endParaRPr altLang="zh-CN" dirty="0" lang="en-US"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              重要的事情说三遍。</a:t>
            </a:r>
            <a:endParaRPr altLang="zh-CN" dirty="0" lang="en-US"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7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88066" name="Picture 9"/>
          <p:cNvPicPr/>
          <p:nvPr/>
        </p:nvPicPr>
        <p:blipFill>
          <a:blip r:embed="rId1"/>
          <a:stretch>
            <a:fillRect/>
          </a:stretch>
        </p:blipFill>
        <p:spPr>
          <a:xfrm>
            <a:off x="0" y="0"/>
            <a:ext cx="9144000" cy="1428750"/>
          </a:xfrm>
          <a:prstGeom prst="rect">
            <a:avLst/>
          </a:prstGeom>
          <a:noFill/>
          <a:ln w="9525">
            <a:noFill/>
          </a:ln>
        </p:spPr>
      </p:pic>
      <p:sp>
        <p:nvSpPr>
          <p:cNvPr id="88067" name="TextBox 2"/>
          <p:cNvSpPr/>
          <p:nvPr/>
        </p:nvSpPr>
        <p:spPr>
          <a:xfrm>
            <a:off x="71755" y="1495425"/>
            <a:ext cx="9072245" cy="42462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a:solidFill>
                  <a:srgbClr val="FF0000"/>
                </a:solidFill>
                <a:ea typeface="宋体" panose="02010600030101010101" pitchFamily="2" charset="-122"/>
                <a:latin typeface="宋体" panose="02010600030101010101" pitchFamily="2" charset="-122"/>
              </a:rPr>
              <a:t>第二章 马克思主义的科学技术观</a:t>
            </a:r>
            <a:endParaRPr altLang="zh-CN" dirty="0" lang="en-US" b="1">
              <a:solidFill>
                <a:srgbClr val="FF0000"/>
              </a:solidFill>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第一节 科学与技术的概念</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一、科学与技术的概念</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0000FF"/>
                </a:solidFill>
                <a:ea typeface="宋体" panose="02010600030101010101" pitchFamily="2" charset="-122"/>
                <a:latin typeface="宋体" panose="02010600030101010101" pitchFamily="2" charset="-122"/>
              </a:rPr>
              <a:t>1</a:t>
            </a:r>
            <a:r>
              <a:rPr altLang="en-US" dirty="0" lang="zh-CN" b="1" sz="2400">
                <a:solidFill>
                  <a:srgbClr val="0000FF"/>
                </a:solidFill>
                <a:ea typeface="宋体" panose="02010600030101010101" pitchFamily="2" charset="-122"/>
                <a:latin typeface="宋体" panose="02010600030101010101" pitchFamily="2" charset="-122"/>
              </a:rPr>
              <a:t>、科学的含义：</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Science</a:t>
            </a:r>
            <a:r>
              <a:rPr altLang="en-US" dirty="0" lang="zh-CN" sz="2400">
                <a:ea typeface="宋体" panose="02010600030101010101" pitchFamily="2" charset="-122"/>
                <a:latin typeface="宋体" panose="02010600030101010101" pitchFamily="2" charset="-122"/>
              </a:rPr>
              <a:t>源于古拉丁语</a:t>
            </a:r>
            <a:r>
              <a:rPr altLang="zh-CN" dirty="0" lang="en-US" sz="2400">
                <a:ea typeface="宋体" panose="02010600030101010101" pitchFamily="2" charset="-122"/>
                <a:latin typeface="宋体" panose="02010600030101010101" pitchFamily="2" charset="-122"/>
              </a:rPr>
              <a:t>Scientia</a:t>
            </a:r>
            <a:r>
              <a:rPr altLang="en-US" dirty="0" lang="zh-CN" sz="2400">
                <a:ea typeface="宋体" panose="02010600030101010101" pitchFamily="2" charset="-122"/>
                <a:latin typeface="宋体" panose="02010600030101010101" pitchFamily="2" charset="-122"/>
              </a:rPr>
              <a:t>，最初的涵义是</a:t>
            </a:r>
            <a:r>
              <a:rPr altLang="en-US" dirty="0" lang="zh-CN" sz="2400">
                <a:solidFill>
                  <a:srgbClr val="FF0000"/>
                </a:solidFill>
                <a:ea typeface="宋体" panose="02010600030101010101" pitchFamily="2" charset="-122"/>
                <a:latin typeface="宋体" panose="02010600030101010101" pitchFamily="2" charset="-122"/>
              </a:rPr>
              <a:t>“知识”和“学问”</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Science</a:t>
            </a:r>
            <a:r>
              <a:rPr altLang="en-US" dirty="0" lang="zh-CN" sz="2400">
                <a:ea typeface="宋体" panose="02010600030101010101" pitchFamily="2" charset="-122"/>
                <a:latin typeface="宋体" panose="02010600030101010101" pitchFamily="2" charset="-122"/>
              </a:rPr>
              <a:t>在</a:t>
            </a:r>
            <a:r>
              <a:rPr altLang="zh-CN" dirty="0" lang="en-US" sz="2400">
                <a:ea typeface="宋体" panose="02010600030101010101" pitchFamily="2" charset="-122"/>
                <a:latin typeface="宋体" panose="02010600030101010101" pitchFamily="2" charset="-122"/>
              </a:rPr>
              <a:t>17</a:t>
            </a:r>
            <a:r>
              <a:rPr altLang="en-US" dirty="0" lang="zh-CN" sz="2400">
                <a:ea typeface="宋体" panose="02010600030101010101" pitchFamily="2" charset="-122"/>
                <a:latin typeface="宋体" panose="02010600030101010101" pitchFamily="2" charset="-122"/>
              </a:rPr>
              <a:t>世纪出现于法国，</a:t>
            </a:r>
            <a:r>
              <a:rPr altLang="zh-CN" dirty="0" lang="en-US" sz="2400">
                <a:ea typeface="宋体" panose="02010600030101010101" pitchFamily="2" charset="-122"/>
                <a:latin typeface="宋体" panose="02010600030101010101" pitchFamily="2" charset="-122"/>
              </a:rPr>
              <a:t>19</a:t>
            </a:r>
            <a:r>
              <a:rPr altLang="en-US" dirty="0" lang="zh-CN" sz="2400">
                <a:ea typeface="宋体" panose="02010600030101010101" pitchFamily="2" charset="-122"/>
                <a:latin typeface="宋体" panose="02010600030101010101" pitchFamily="2" charset="-122"/>
              </a:rPr>
              <a:t>世纪上半叶出现于英国。</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7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0114" name="Picture 9"/>
          <p:cNvPicPr/>
          <p:nvPr/>
        </p:nvPicPr>
        <p:blipFill>
          <a:blip r:embed="rId1"/>
          <a:stretch>
            <a:fillRect/>
          </a:stretch>
        </p:blipFill>
        <p:spPr>
          <a:xfrm>
            <a:off x="0" y="0"/>
            <a:ext cx="9144000" cy="1743075"/>
          </a:xfrm>
          <a:prstGeom prst="rect">
            <a:avLst/>
          </a:prstGeom>
          <a:noFill/>
          <a:ln w="9525">
            <a:noFill/>
          </a:ln>
        </p:spPr>
      </p:pic>
      <p:sp>
        <p:nvSpPr>
          <p:cNvPr id="90115" name="TextBox 2"/>
          <p:cNvSpPr/>
          <p:nvPr/>
        </p:nvSpPr>
        <p:spPr>
          <a:xfrm>
            <a:off x="0" y="1743075"/>
            <a:ext cx="9144000" cy="2854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“科学家”</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scientist</a:t>
            </a:r>
            <a:r>
              <a:rPr altLang="en-US" dirty="0" lang="zh-CN" sz="2400">
                <a:ea typeface="宋体" panose="02010600030101010101" pitchFamily="2" charset="-122"/>
                <a:latin typeface="宋体" panose="02010600030101010101" pitchFamily="2" charset="-122"/>
              </a:rPr>
              <a:t>）是</a:t>
            </a:r>
            <a:r>
              <a:rPr altLang="zh-CN" dirty="0" lang="en-US" sz="2400">
                <a:solidFill>
                  <a:srgbClr val="FF0000"/>
                </a:solidFill>
                <a:ea typeface="宋体" panose="02010600030101010101" pitchFamily="2" charset="-122"/>
                <a:latin typeface="宋体" panose="02010600030101010101" pitchFamily="2" charset="-122"/>
              </a:rPr>
              <a:t>1838</a:t>
            </a:r>
            <a:r>
              <a:rPr altLang="en-US" dirty="0" lang="zh-CN" sz="2400">
                <a:solidFill>
                  <a:srgbClr val="FF0000"/>
                </a:solidFill>
                <a:ea typeface="宋体" panose="02010600030101010101" pitchFamily="2" charset="-122"/>
                <a:latin typeface="宋体" panose="02010600030101010101" pitchFamily="2" charset="-122"/>
              </a:rPr>
              <a:t>年在英国提出</a:t>
            </a:r>
            <a:r>
              <a:rPr altLang="en-US" dirty="0" lang="zh-CN" sz="2400">
                <a:ea typeface="宋体" panose="02010600030101010101" pitchFamily="2" charset="-122"/>
                <a:latin typeface="宋体" panose="02010600030101010101" pitchFamily="2" charset="-122"/>
              </a:rPr>
              <a:t>的，最初的含义是</a:t>
            </a:r>
            <a:r>
              <a:rPr altLang="en-US" dirty="0" lang="zh-CN" sz="2400">
                <a:solidFill>
                  <a:srgbClr val="FF0000"/>
                </a:solidFill>
                <a:ea typeface="宋体" panose="02010600030101010101" pitchFamily="2" charset="-122"/>
                <a:latin typeface="宋体" panose="02010600030101010101" pitchFamily="2" charset="-122"/>
              </a:rPr>
              <a:t>在科学上很有能力</a:t>
            </a:r>
            <a:r>
              <a:rPr altLang="en-US" dirty="0" lang="zh-CN" sz="2400">
                <a:ea typeface="宋体" panose="02010600030101010101" pitchFamily="2" charset="-122"/>
                <a:latin typeface="宋体" panose="02010600030101010101" pitchFamily="2" charset="-122"/>
              </a:rPr>
              <a:t>的人。</a:t>
            </a: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世纪以来才用以专门指</a:t>
            </a:r>
            <a:r>
              <a:rPr altLang="en-US" dirty="0" lang="zh-CN" sz="2400">
                <a:solidFill>
                  <a:srgbClr val="FF0000"/>
                </a:solidFill>
                <a:ea typeface="宋体" panose="02010600030101010101" pitchFamily="2" charset="-122"/>
                <a:latin typeface="宋体" panose="02010600030101010101" pitchFamily="2" charset="-122"/>
              </a:rPr>
              <a:t>以科学为职业的人</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pic>
        <p:nvPicPr>
          <p:cNvPr id="90116" name="图片 2"/>
          <p:cNvPicPr/>
          <p:nvPr/>
        </p:nvPicPr>
        <p:blipFill>
          <a:blip r:embed="rId2"/>
          <a:stretch>
            <a:fillRect/>
          </a:stretch>
        </p:blipFill>
        <p:spPr>
          <a:xfrm>
            <a:off x="3098800" y="3686175"/>
            <a:ext cx="3032125" cy="2497138"/>
          </a:xfrm>
          <a:prstGeom prst="rect">
            <a:avLst/>
          </a:prstGeom>
          <a:noFill/>
          <a:ln w="9525">
            <a:noFill/>
          </a:ln>
        </p:spPr>
      </p:pic>
      <p:pic>
        <p:nvPicPr>
          <p:cNvPr id="90117" name="图片 4"/>
          <p:cNvPicPr/>
          <p:nvPr/>
        </p:nvPicPr>
        <p:blipFill>
          <a:blip r:embed="rId3"/>
          <a:stretch>
            <a:fillRect/>
          </a:stretch>
        </p:blipFill>
        <p:spPr>
          <a:xfrm>
            <a:off x="6211888" y="3686175"/>
            <a:ext cx="2849562" cy="2497138"/>
          </a:xfrm>
          <a:prstGeom prst="rect">
            <a:avLst/>
          </a:prstGeom>
          <a:noFill/>
          <a:ln w="9525">
            <a:noFill/>
          </a:ln>
        </p:spPr>
      </p:pic>
      <p:pic>
        <p:nvPicPr>
          <p:cNvPr id="90118" name="图片 6"/>
          <p:cNvPicPr/>
          <p:nvPr/>
        </p:nvPicPr>
        <p:blipFill>
          <a:blip r:embed="rId4"/>
          <a:stretch>
            <a:fillRect/>
          </a:stretch>
        </p:blipFill>
        <p:spPr>
          <a:xfrm>
            <a:off x="82550" y="3686175"/>
            <a:ext cx="2927350" cy="2497138"/>
          </a:xfrm>
          <a:prstGeom prst="rect">
            <a:avLst/>
          </a:prstGeom>
          <a:noFill/>
          <a:ln w="9525">
            <a:noFill/>
          </a:ln>
        </p:spPr>
      </p:pic>
    </p:spTree>
  </p:cSld>
  <p:clrMapOvr>
    <a:masterClrMapping/>
  </p:clrMapOvr>
</p:sld>
</file>

<file path=ppt/slides/slide7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1138" name="Picture 9"/>
          <p:cNvPicPr/>
          <p:nvPr/>
        </p:nvPicPr>
        <p:blipFill>
          <a:blip r:embed="rId1"/>
          <a:stretch>
            <a:fillRect/>
          </a:stretch>
        </p:blipFill>
        <p:spPr>
          <a:xfrm>
            <a:off x="0" y="0"/>
            <a:ext cx="9144000" cy="1408113"/>
          </a:xfrm>
          <a:prstGeom prst="rect">
            <a:avLst/>
          </a:prstGeom>
          <a:noFill/>
          <a:ln w="9525">
            <a:noFill/>
          </a:ln>
        </p:spPr>
      </p:pic>
      <p:sp>
        <p:nvSpPr>
          <p:cNvPr id="91139" name="TextBox 2"/>
          <p:cNvSpPr/>
          <p:nvPr/>
        </p:nvSpPr>
        <p:spPr>
          <a:xfrm>
            <a:off x="0" y="1529398"/>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19</a:t>
            </a:r>
            <a:r>
              <a:rPr altLang="en-US" dirty="0" lang="zh-CN" sz="2400">
                <a:ea typeface="宋体" panose="02010600030101010101" pitchFamily="2" charset="-122"/>
                <a:latin typeface="宋体" panose="02010600030101010101" pitchFamily="2" charset="-122"/>
              </a:rPr>
              <a:t>世纪下半叶，日本明治维新时代启蒙思想家</a:t>
            </a:r>
            <a:r>
              <a:rPr altLang="en-US" dirty="0" lang="zh-CN" sz="2400">
                <a:solidFill>
                  <a:srgbClr val="FF0000"/>
                </a:solidFill>
                <a:ea typeface="宋体" panose="02010600030101010101" pitchFamily="2" charset="-122"/>
                <a:latin typeface="宋体" panose="02010600030101010101" pitchFamily="2" charset="-122"/>
              </a:rPr>
              <a:t>福泽谕吉</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1844-1901</a:t>
            </a:r>
            <a:r>
              <a:rPr altLang="en-US" dirty="0" lang="zh-CN" sz="2400">
                <a:ea typeface="宋体" panose="02010600030101010101" pitchFamily="2" charset="-122"/>
                <a:latin typeface="宋体" panose="02010600030101010101" pitchFamily="2" charset="-122"/>
              </a:rPr>
              <a:t>）首次把</a:t>
            </a:r>
            <a:r>
              <a:rPr altLang="zh-CN" dirty="0" lang="en-US" sz="2400">
                <a:solidFill>
                  <a:srgbClr val="FF0000"/>
                </a:solidFill>
                <a:ea typeface="宋体" panose="02010600030101010101" pitchFamily="2" charset="-122"/>
                <a:latin typeface="宋体" panose="02010600030101010101" pitchFamily="2" charset="-122"/>
              </a:rPr>
              <a:t>Science</a:t>
            </a:r>
            <a:r>
              <a:rPr altLang="en-US" dirty="0" lang="zh-CN" sz="2400">
                <a:solidFill>
                  <a:srgbClr val="FF0000"/>
                </a:solidFill>
                <a:ea typeface="宋体" panose="02010600030101010101" pitchFamily="2" charset="-122"/>
                <a:latin typeface="宋体" panose="02010600030101010101" pitchFamily="2" charset="-122"/>
              </a:rPr>
              <a:t>译为“科学”：分门别类加以研究的</a:t>
            </a:r>
            <a:r>
              <a:rPr altLang="en-US" dirty="0" lang="zh-CN" sz="2400">
                <a:ea typeface="宋体" panose="02010600030101010101" pitchFamily="2" charset="-122"/>
                <a:latin typeface="宋体" panose="02010600030101010101" pitchFamily="2" charset="-122"/>
              </a:rPr>
              <a:t>学问。</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1893</a:t>
            </a:r>
            <a:r>
              <a:rPr altLang="en-US" dirty="0" lang="zh-CN" sz="2400">
                <a:ea typeface="宋体" panose="02010600030101010101" pitchFamily="2" charset="-122"/>
                <a:latin typeface="宋体" panose="02010600030101010101" pitchFamily="2" charset="-122"/>
              </a:rPr>
              <a:t>年，康有为最早将“科学”引进中国。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马克思关于“科学”的理解</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科学和工业是实践基础上对自然的认识，是客观规律的理论概括。</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科学是一种社会的、精神生产领域的劳动。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科学是生产力。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科学既是观念的财富又是实际的财富。</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7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2162" name="Picture 9"/>
          <p:cNvPicPr/>
          <p:nvPr/>
        </p:nvPicPr>
        <p:blipFill>
          <a:blip r:embed="rId1"/>
          <a:stretch>
            <a:fillRect/>
          </a:stretch>
        </p:blipFill>
        <p:spPr>
          <a:xfrm>
            <a:off x="0" y="0"/>
            <a:ext cx="9144000" cy="1743075"/>
          </a:xfrm>
          <a:prstGeom prst="rect">
            <a:avLst/>
          </a:prstGeom>
          <a:noFill/>
          <a:ln w="9525">
            <a:noFill/>
          </a:ln>
        </p:spPr>
      </p:pic>
      <p:sp>
        <p:nvSpPr>
          <p:cNvPr id="92163" name="TextBox 2"/>
          <p:cNvSpPr/>
          <p:nvPr/>
        </p:nvSpPr>
        <p:spPr>
          <a:xfrm>
            <a:off x="0" y="1743075"/>
            <a:ext cx="9144000" cy="2300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“科学”的现代观点</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关于</a:t>
            </a:r>
            <a:r>
              <a:rPr altLang="en-US" dirty="0" lang="zh-CN" sz="2400">
                <a:solidFill>
                  <a:srgbClr val="FF0000"/>
                </a:solidFill>
                <a:ea typeface="宋体" panose="02010600030101010101" pitchFamily="2" charset="-122"/>
                <a:latin typeface="宋体" panose="02010600030101010101" pitchFamily="2" charset="-122"/>
              </a:rPr>
              <a:t>客观世界的知识体系</a:t>
            </a:r>
            <a:r>
              <a:rPr altLang="en-US" dirty="0" lang="zh-CN" sz="2400">
                <a:ea typeface="宋体" panose="02010600030101010101" pitchFamily="2" charset="-122"/>
                <a:latin typeface="宋体" panose="02010600030101010101" pitchFamily="2" charset="-122"/>
              </a:rPr>
              <a:t>以及</a:t>
            </a:r>
            <a:r>
              <a:rPr altLang="en-US" dirty="0" lang="zh-CN" sz="2400">
                <a:solidFill>
                  <a:srgbClr val="FF0000"/>
                </a:solidFill>
                <a:ea typeface="宋体" panose="02010600030101010101" pitchFamily="2" charset="-122"/>
                <a:latin typeface="宋体" panose="02010600030101010101" pitchFamily="2" charset="-122"/>
              </a:rPr>
              <a:t>有效地获取这种知识并加以系统化</a:t>
            </a:r>
            <a:r>
              <a:rPr altLang="en-US" dirty="0" lang="zh-CN" sz="2400">
                <a:ea typeface="宋体" panose="02010600030101010101" pitchFamily="2" charset="-122"/>
                <a:latin typeface="宋体" panose="02010600030101010101" pitchFamily="2" charset="-122"/>
              </a:rPr>
              <a:t>的方式。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pic>
        <p:nvPicPr>
          <p:cNvPr id="92164" name="图片 2"/>
          <p:cNvPicPr/>
          <p:nvPr/>
        </p:nvPicPr>
        <p:blipFill>
          <a:blip r:embed="rId2"/>
          <a:stretch>
            <a:fillRect/>
          </a:stretch>
        </p:blipFill>
        <p:spPr>
          <a:xfrm>
            <a:off x="1838325" y="3486150"/>
            <a:ext cx="5846763" cy="2984500"/>
          </a:xfrm>
          <a:prstGeom prst="rect">
            <a:avLst/>
          </a:prstGeom>
          <a:noFill/>
          <a:ln w="9525">
            <a:noFill/>
          </a:ln>
        </p:spPr>
      </p:pic>
    </p:spTree>
  </p:cSld>
  <p:clrMapOvr>
    <a:masterClrMapping/>
  </p:clrMapOvr>
</p:sld>
</file>

<file path=ppt/slides/slide8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3186" name="Picture 9"/>
          <p:cNvPicPr/>
          <p:nvPr/>
        </p:nvPicPr>
        <p:blipFill>
          <a:blip r:embed="rId1"/>
          <a:stretch>
            <a:fillRect/>
          </a:stretch>
        </p:blipFill>
        <p:spPr>
          <a:xfrm>
            <a:off x="0" y="0"/>
            <a:ext cx="9144000" cy="1743075"/>
          </a:xfrm>
          <a:prstGeom prst="rect">
            <a:avLst/>
          </a:prstGeom>
          <a:noFill/>
          <a:ln w="9525">
            <a:noFill/>
          </a:ln>
        </p:spPr>
      </p:pic>
      <p:sp>
        <p:nvSpPr>
          <p:cNvPr id="93187" name="TextBox 2"/>
          <p:cNvSpPr/>
          <p:nvPr/>
        </p:nvSpPr>
        <p:spPr>
          <a:xfrm>
            <a:off x="0" y="1743075"/>
            <a:ext cx="9144000" cy="47005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自然科学于其它社会意识形式的区别</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广义的科学：</a:t>
            </a:r>
            <a:r>
              <a:rPr altLang="en-US" dirty="0" lang="zh-CN" sz="2400">
                <a:ea typeface="宋体" panose="02010600030101010101" pitchFamily="2" charset="-122"/>
                <a:latin typeface="宋体" panose="02010600030101010101" pitchFamily="2" charset="-122"/>
              </a:rPr>
              <a:t>自然科学、人文科学、社会科学和思维科学。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狭义的科学仅指</a:t>
            </a:r>
            <a:r>
              <a:rPr altLang="en-US" dirty="0" lang="zh-CN" sz="2400">
                <a:solidFill>
                  <a:srgbClr val="FF0000"/>
                </a:solidFill>
                <a:ea typeface="宋体" panose="02010600030101010101" pitchFamily="2" charset="-122"/>
                <a:latin typeface="宋体" panose="02010600030101010101" pitchFamily="2" charset="-122"/>
              </a:rPr>
              <a:t>自然科学</a:t>
            </a:r>
            <a:r>
              <a:rPr altLang="en-US" dirty="0" lang="zh-CN" sz="2400">
                <a:ea typeface="宋体" panose="02010600030101010101" pitchFamily="2" charset="-122"/>
                <a:latin typeface="宋体" panose="02010600030101010101" pitchFamily="2" charset="-122"/>
              </a:rPr>
              <a:t>，且不包括技术。</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自然科学</a:t>
            </a:r>
            <a:r>
              <a:rPr altLang="en-US" dirty="0" lang="zh-CN" sz="2400">
                <a:ea typeface="宋体" panose="02010600030101010101" pitchFamily="2" charset="-122"/>
                <a:latin typeface="宋体" panose="02010600030101010101" pitchFamily="2" charset="-122"/>
              </a:rPr>
              <a:t>是以自然界（包括人工自然）为研究对象的科学，最终成果是关于自然的系统化、理论化的知识。</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800">
                <a:ea typeface="宋体" panose="02010600030101010101" pitchFamily="2" charset="-122"/>
                <a:latin typeface="宋体" panose="02010600030101010101" pitchFamily="2" charset="-122"/>
              </a:rPr>
              <a:t>  科学的本质属性</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客观真理性、可检验性、</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系统性、主体际性</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8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4210" name="Picture 9"/>
          <p:cNvPicPr/>
          <p:nvPr/>
        </p:nvPicPr>
        <p:blipFill>
          <a:blip r:embed="rId1"/>
          <a:stretch>
            <a:fillRect/>
          </a:stretch>
        </p:blipFill>
        <p:spPr>
          <a:xfrm>
            <a:off x="0" y="0"/>
            <a:ext cx="9144000" cy="1417638"/>
          </a:xfrm>
          <a:prstGeom prst="rect">
            <a:avLst/>
          </a:prstGeom>
          <a:noFill/>
          <a:ln w="9525">
            <a:noFill/>
          </a:ln>
        </p:spPr>
      </p:pic>
      <p:sp>
        <p:nvSpPr>
          <p:cNvPr id="94211" name="TextBox 2"/>
          <p:cNvSpPr/>
          <p:nvPr/>
        </p:nvSpPr>
        <p:spPr>
          <a:xfrm>
            <a:off x="0" y="1554163"/>
            <a:ext cx="9144000" cy="12842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科学的本质属性</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客观真理性   可检验性</a:t>
            </a: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系统性      主体际性</a:t>
            </a:r>
            <a:endParaRPr altLang="zh-CN" dirty="0" lang="en-US" sz="2800">
              <a:ea typeface="宋体" panose="02010600030101010101" pitchFamily="2" charset="-122"/>
              <a:latin typeface="宋体" panose="02010600030101010101" pitchFamily="2" charset="-122"/>
            </a:endParaRPr>
          </a:p>
        </p:txBody>
      </p:sp>
      <p:pic>
        <p:nvPicPr>
          <p:cNvPr id="94212" name="图片 2"/>
          <p:cNvPicPr/>
          <p:nvPr/>
        </p:nvPicPr>
        <p:blipFill>
          <a:blip r:embed="rId2"/>
          <a:stretch>
            <a:fillRect/>
          </a:stretch>
        </p:blipFill>
        <p:spPr>
          <a:xfrm>
            <a:off x="95250" y="3063875"/>
            <a:ext cx="2216150" cy="3168650"/>
          </a:xfrm>
          <a:prstGeom prst="rect">
            <a:avLst/>
          </a:prstGeom>
          <a:noFill/>
          <a:ln w="9525">
            <a:noFill/>
          </a:ln>
        </p:spPr>
      </p:pic>
      <p:pic>
        <p:nvPicPr>
          <p:cNvPr id="94213" name="图片 4"/>
          <p:cNvPicPr/>
          <p:nvPr/>
        </p:nvPicPr>
        <p:blipFill>
          <a:blip r:embed="rId3"/>
          <a:stretch>
            <a:fillRect/>
          </a:stretch>
        </p:blipFill>
        <p:spPr>
          <a:xfrm>
            <a:off x="2478088" y="3063875"/>
            <a:ext cx="2093912" cy="3168650"/>
          </a:xfrm>
          <a:prstGeom prst="rect">
            <a:avLst/>
          </a:prstGeom>
          <a:noFill/>
          <a:ln w="9525">
            <a:noFill/>
          </a:ln>
        </p:spPr>
      </p:pic>
      <p:pic>
        <p:nvPicPr>
          <p:cNvPr id="94214" name="图片 6"/>
          <p:cNvPicPr/>
          <p:nvPr/>
        </p:nvPicPr>
        <p:blipFill>
          <a:blip r:embed="rId4"/>
          <a:stretch>
            <a:fillRect/>
          </a:stretch>
        </p:blipFill>
        <p:spPr>
          <a:xfrm>
            <a:off x="4738688" y="3063875"/>
            <a:ext cx="2093912" cy="3163888"/>
          </a:xfrm>
          <a:prstGeom prst="rect">
            <a:avLst/>
          </a:prstGeom>
          <a:noFill/>
          <a:ln w="9525">
            <a:noFill/>
          </a:ln>
        </p:spPr>
      </p:pic>
      <p:pic>
        <p:nvPicPr>
          <p:cNvPr id="94215" name="图片 8"/>
          <p:cNvPicPr/>
          <p:nvPr/>
        </p:nvPicPr>
        <p:blipFill>
          <a:blip r:embed="rId5"/>
          <a:stretch>
            <a:fillRect/>
          </a:stretch>
        </p:blipFill>
        <p:spPr>
          <a:xfrm>
            <a:off x="6999288" y="3063875"/>
            <a:ext cx="2093912" cy="3168650"/>
          </a:xfrm>
          <a:prstGeom prst="rect">
            <a:avLst/>
          </a:prstGeom>
          <a:noFill/>
          <a:ln w="9525">
            <a:noFill/>
          </a:ln>
        </p:spPr>
      </p:pic>
    </p:spTree>
  </p:cSld>
  <p:clrMapOvr>
    <a:masterClrMapping/>
  </p:clrMapOvr>
</p:sld>
</file>

<file path=ppt/slides/slide8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5234" name="Picture 9"/>
          <p:cNvPicPr/>
          <p:nvPr/>
        </p:nvPicPr>
        <p:blipFill>
          <a:blip r:embed="rId1"/>
          <a:stretch>
            <a:fillRect/>
          </a:stretch>
        </p:blipFill>
        <p:spPr>
          <a:xfrm>
            <a:off x="0" y="0"/>
            <a:ext cx="9144000" cy="1743075"/>
          </a:xfrm>
          <a:prstGeom prst="rect">
            <a:avLst/>
          </a:prstGeom>
          <a:noFill/>
          <a:ln w="9525">
            <a:noFill/>
          </a:ln>
        </p:spPr>
      </p:pic>
      <p:sp>
        <p:nvSpPr>
          <p:cNvPr id="95235"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二、科学的分类</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科学分类的标准：</a:t>
            </a:r>
            <a:r>
              <a:rPr altLang="en-US" dirty="0" lang="zh-CN" sz="2400">
                <a:solidFill>
                  <a:srgbClr val="FF0000"/>
                </a:solidFill>
                <a:ea typeface="宋体" panose="02010600030101010101" pitchFamily="2" charset="-122"/>
                <a:latin typeface="宋体" panose="02010600030101010101" pitchFamily="2" charset="-122"/>
              </a:rPr>
              <a:t>物质运动形式的区别和固有次序</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科学分类：</a:t>
            </a:r>
            <a:r>
              <a:rPr altLang="en-US" dirty="0" lang="zh-CN" sz="2400">
                <a:solidFill>
                  <a:srgbClr val="FF0000"/>
                </a:solidFill>
                <a:ea typeface="宋体" panose="02010600030101010101" pitchFamily="2" charset="-122"/>
                <a:latin typeface="宋体" panose="02010600030101010101" pitchFamily="2" charset="-122"/>
              </a:rPr>
              <a:t>数学、物理学、生物学、化学、天文学</a:t>
            </a:r>
            <a:r>
              <a:rPr altLang="en-US" dirty="0" lang="zh-CN" sz="2400">
                <a:ea typeface="宋体" panose="02010600030101010101" pitchFamily="2" charset="-122"/>
                <a:latin typeface="宋体" panose="02010600030101010101" pitchFamily="2" charset="-122"/>
              </a:rPr>
              <a:t>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三、科学技术是生产力</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马克思提出科学是生产力。</a:t>
            </a:r>
            <a:r>
              <a:rPr altLang="en-US" dirty="0" lang="zh-CN" i="1" sz="2400" u="sng">
                <a:solidFill>
                  <a:srgbClr val="0000FF"/>
                </a:solidFill>
                <a:ea typeface="宋体" panose="02010600030101010101" pitchFamily="2" charset="-122"/>
                <a:latin typeface="宋体" panose="02010600030101010101" pitchFamily="2" charset="-122"/>
              </a:rPr>
              <a:t>“资本是以生产力的一定的现有的历史发展为前提的</a:t>
            </a:r>
            <a:r>
              <a:rPr altLang="zh-CN" dirty="0" lang="en-US" i="1" sz="2400" u="sng">
                <a:solidFill>
                  <a:srgbClr val="0000FF"/>
                </a:solidFill>
                <a:ea typeface="宋体" panose="02010600030101010101" pitchFamily="2" charset="-122"/>
                <a:latin typeface="宋体" panose="02010600030101010101" pitchFamily="2" charset="-122"/>
              </a:rPr>
              <a:t>——</a:t>
            </a:r>
            <a:r>
              <a:rPr altLang="en-US" dirty="0" lang="zh-CN" i="1" sz="2400" u="sng">
                <a:solidFill>
                  <a:srgbClr val="0000FF"/>
                </a:solidFill>
                <a:ea typeface="宋体" panose="02010600030101010101" pitchFamily="2" charset="-122"/>
                <a:latin typeface="宋体" panose="02010600030101010101" pitchFamily="2" charset="-122"/>
              </a:rPr>
              <a:t>在这些生产力中也包括科学”。</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马克思恩格斯文集</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8</a:t>
            </a:r>
            <a:r>
              <a:rPr altLang="en-US" dirty="0" lang="zh-CN" sz="2400">
                <a:ea typeface="宋体" panose="02010600030101010101" pitchFamily="2" charset="-122"/>
                <a:latin typeface="宋体" panose="02010600030101010101" pitchFamily="2" charset="-122"/>
              </a:rPr>
              <a:t>卷，人民出版社</a:t>
            </a:r>
            <a:r>
              <a:rPr altLang="zh-CN" dirty="0" lang="en-US" sz="2400">
                <a:ea typeface="宋体" panose="02010600030101010101" pitchFamily="2" charset="-122"/>
                <a:latin typeface="宋体" panose="02010600030101010101" pitchFamily="2" charset="-122"/>
              </a:rPr>
              <a:t>2009</a:t>
            </a:r>
            <a:r>
              <a:rPr altLang="en-US" dirty="0" lang="zh-CN" sz="2400">
                <a:ea typeface="宋体" panose="02010600030101010101" pitchFamily="2" charset="-122"/>
                <a:latin typeface="宋体" panose="02010600030101010101" pitchFamily="2" charset="-122"/>
              </a:rPr>
              <a:t>年版，第</a:t>
            </a:r>
            <a:r>
              <a:rPr altLang="zh-CN" dirty="0" lang="en-US" sz="2400">
                <a:ea typeface="宋体" panose="02010600030101010101" pitchFamily="2" charset="-122"/>
                <a:latin typeface="宋体" panose="02010600030101010101" pitchFamily="2" charset="-122"/>
              </a:rPr>
              <a:t>188</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8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6258" name="Picture 9"/>
          <p:cNvPicPr/>
          <p:nvPr/>
        </p:nvPicPr>
        <p:blipFill>
          <a:blip r:embed="rId1"/>
          <a:stretch>
            <a:fillRect/>
          </a:stretch>
        </p:blipFill>
        <p:spPr>
          <a:xfrm>
            <a:off x="0" y="0"/>
            <a:ext cx="9144000" cy="1743075"/>
          </a:xfrm>
          <a:prstGeom prst="rect">
            <a:avLst/>
          </a:prstGeom>
          <a:noFill/>
          <a:ln w="9525">
            <a:noFill/>
          </a:ln>
        </p:spPr>
      </p:pic>
      <p:sp>
        <p:nvSpPr>
          <p:cNvPr id="96259" name="TextBox 2"/>
          <p:cNvSpPr/>
          <p:nvPr/>
        </p:nvSpPr>
        <p:spPr>
          <a:xfrm>
            <a:off x="0" y="1743075"/>
            <a:ext cx="9144000" cy="5603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四、科学技术的生产动因</a:t>
            </a:r>
            <a:endParaRPr altLang="zh-CN" dirty="0" lang="en-US" sz="2400">
              <a:solidFill>
                <a:srgbClr val="FF0000"/>
              </a:solidFill>
              <a:ea typeface="宋体" panose="02010600030101010101" pitchFamily="2" charset="-122"/>
              <a:latin typeface="宋体" panose="02010600030101010101" pitchFamily="2" charset="-122"/>
            </a:endParaRPr>
          </a:p>
        </p:txBody>
      </p:sp>
      <p:sp>
        <p:nvSpPr>
          <p:cNvPr id="96260" name="TextBox 2"/>
          <p:cNvSpPr/>
          <p:nvPr/>
        </p:nvSpPr>
        <p:spPr>
          <a:xfrm>
            <a:off x="3768725" y="2506663"/>
            <a:ext cx="5159375" cy="33289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恩格斯认为，</a:t>
            </a:r>
            <a:r>
              <a:rPr altLang="en-US" dirty="0" lang="zh-CN" sz="2400">
                <a:solidFill>
                  <a:srgbClr val="0000FF"/>
                </a:solidFill>
                <a:ea typeface="宋体" panose="02010600030101010101" pitchFamily="2" charset="-122"/>
                <a:latin typeface="宋体" panose="02010600030101010101" pitchFamily="2" charset="-122"/>
              </a:rPr>
              <a:t>“近代以来科学以神奇的速度发展起来，那么，我们要再次把这个奇迹归功于生产”。</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马克思恩格斯文集</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9</a:t>
            </a:r>
            <a:r>
              <a:rPr altLang="en-US" dirty="0" lang="zh-CN" sz="2400">
                <a:ea typeface="宋体" panose="02010600030101010101" pitchFamily="2" charset="-122"/>
                <a:latin typeface="宋体" panose="02010600030101010101" pitchFamily="2" charset="-122"/>
              </a:rPr>
              <a:t>卷，人民出版社</a:t>
            </a:r>
            <a:r>
              <a:rPr altLang="zh-CN" dirty="0" lang="en-US" sz="2400">
                <a:ea typeface="宋体" panose="02010600030101010101" pitchFamily="2" charset="-122"/>
                <a:latin typeface="宋体" panose="02010600030101010101" pitchFamily="2" charset="-122"/>
              </a:rPr>
              <a:t>2009</a:t>
            </a:r>
            <a:r>
              <a:rPr altLang="en-US" dirty="0" lang="zh-CN" sz="2400">
                <a:ea typeface="宋体" panose="02010600030101010101" pitchFamily="2" charset="-122"/>
                <a:latin typeface="宋体" panose="02010600030101010101" pitchFamily="2" charset="-122"/>
              </a:rPr>
              <a:t>年版，第</a:t>
            </a:r>
            <a:r>
              <a:rPr altLang="zh-CN" dirty="0" lang="en-US" sz="2400">
                <a:ea typeface="宋体" panose="02010600030101010101" pitchFamily="2" charset="-122"/>
                <a:latin typeface="宋体" panose="02010600030101010101" pitchFamily="2" charset="-122"/>
              </a:rPr>
              <a:t>427</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96261" name="图片 4"/>
          <p:cNvPicPr/>
          <p:nvPr/>
        </p:nvPicPr>
        <p:blipFill>
          <a:blip r:embed="rId2"/>
          <a:stretch>
            <a:fillRect/>
          </a:stretch>
        </p:blipFill>
        <p:spPr>
          <a:xfrm>
            <a:off x="161925" y="2506663"/>
            <a:ext cx="3444875" cy="3411537"/>
          </a:xfrm>
          <a:prstGeom prst="rect">
            <a:avLst/>
          </a:prstGeom>
          <a:noFill/>
          <a:ln w="9525">
            <a:noFill/>
          </a:ln>
        </p:spPr>
      </p:pic>
    </p:spTree>
  </p:cSld>
  <p:clrMapOvr>
    <a:masterClrMapping/>
  </p:clrMapOvr>
</p:sld>
</file>

<file path=ppt/slides/slide8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7282" name="Picture 9"/>
          <p:cNvPicPr/>
          <p:nvPr/>
        </p:nvPicPr>
        <p:blipFill>
          <a:blip r:embed="rId1"/>
          <a:stretch>
            <a:fillRect/>
          </a:stretch>
        </p:blipFill>
        <p:spPr>
          <a:xfrm>
            <a:off x="0" y="0"/>
            <a:ext cx="9144000" cy="1743075"/>
          </a:xfrm>
          <a:prstGeom prst="rect">
            <a:avLst/>
          </a:prstGeom>
          <a:noFill/>
          <a:ln w="9525">
            <a:noFill/>
          </a:ln>
        </p:spPr>
      </p:pic>
      <p:sp>
        <p:nvSpPr>
          <p:cNvPr id="97283"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五、科学的社会功能</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科学使</a:t>
            </a:r>
            <a:r>
              <a:rPr altLang="en-US" dirty="0" lang="zh-CN" sz="2400">
                <a:solidFill>
                  <a:srgbClr val="FF0000"/>
                </a:solidFill>
                <a:ea typeface="宋体" panose="02010600030101010101" pitchFamily="2" charset="-122"/>
                <a:latin typeface="宋体" panose="02010600030101010101" pitchFamily="2" charset="-122"/>
              </a:rPr>
              <a:t>人类从神学</a:t>
            </a:r>
            <a:r>
              <a:rPr altLang="en-US" dirty="0" lang="zh-CN" sz="2400">
                <a:ea typeface="宋体" panose="02010600030101010101" pitchFamily="2" charset="-122"/>
                <a:latin typeface="宋体" panose="02010600030101010101" pitchFamily="2" charset="-122"/>
              </a:rPr>
              <a:t>解放出来；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科学与技术结合推动</a:t>
            </a:r>
            <a:r>
              <a:rPr altLang="en-US" dirty="0" lang="zh-CN" sz="2400">
                <a:solidFill>
                  <a:srgbClr val="FF0000"/>
                </a:solidFill>
                <a:ea typeface="宋体" panose="02010600030101010101" pitchFamily="2" charset="-122"/>
                <a:latin typeface="宋体" panose="02010600030101010101" pitchFamily="2" charset="-122"/>
              </a:rPr>
              <a:t>产业革命</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科学技术引起</a:t>
            </a:r>
            <a:r>
              <a:rPr altLang="en-US" dirty="0" lang="zh-CN" sz="2400">
                <a:solidFill>
                  <a:srgbClr val="FF0000"/>
                </a:solidFill>
                <a:ea typeface="宋体" panose="02010600030101010101" pitchFamily="2" charset="-122"/>
                <a:latin typeface="宋体" panose="02010600030101010101" pitchFamily="2" charset="-122"/>
              </a:rPr>
              <a:t>生产方式</a:t>
            </a:r>
            <a:r>
              <a:rPr altLang="en-US" dirty="0" lang="zh-CN" sz="2400">
                <a:ea typeface="宋体" panose="02010600030101010101" pitchFamily="2" charset="-122"/>
                <a:latin typeface="宋体" panose="02010600030101010101" pitchFamily="2" charset="-122"/>
              </a:rPr>
              <a:t>变革；</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97284" name="图片 2"/>
          <p:cNvPicPr/>
          <p:nvPr/>
        </p:nvPicPr>
        <p:blipFill>
          <a:blip r:embed="rId2"/>
          <a:stretch>
            <a:fillRect/>
          </a:stretch>
        </p:blipFill>
        <p:spPr>
          <a:xfrm>
            <a:off x="5495925" y="1855788"/>
            <a:ext cx="3094038" cy="1460500"/>
          </a:xfrm>
          <a:prstGeom prst="rect">
            <a:avLst/>
          </a:prstGeom>
          <a:noFill/>
          <a:ln w="9525">
            <a:noFill/>
          </a:ln>
        </p:spPr>
      </p:pic>
      <p:pic>
        <p:nvPicPr>
          <p:cNvPr id="97285" name="图片 4"/>
          <p:cNvPicPr/>
          <p:nvPr/>
        </p:nvPicPr>
        <p:blipFill>
          <a:blip r:embed="rId3"/>
          <a:stretch>
            <a:fillRect/>
          </a:stretch>
        </p:blipFill>
        <p:spPr>
          <a:xfrm>
            <a:off x="5503863" y="3452813"/>
            <a:ext cx="3092450" cy="1573212"/>
          </a:xfrm>
          <a:prstGeom prst="rect">
            <a:avLst/>
          </a:prstGeom>
          <a:noFill/>
          <a:ln w="9525">
            <a:noFill/>
          </a:ln>
        </p:spPr>
      </p:pic>
      <p:sp>
        <p:nvSpPr>
          <p:cNvPr id="97286" name="箭头: 右 5"/>
          <p:cNvSpPr/>
          <p:nvPr/>
        </p:nvSpPr>
        <p:spPr>
          <a:xfrm>
            <a:off x="4371975" y="2511425"/>
            <a:ext cx="1036638" cy="298450"/>
          </a:xfrm>
          <a:prstGeom prst="rightArrow">
            <a:avLst>
              <a:gd name="adj1" fmla="val 50000"/>
              <a:gd name="adj2" fmla="val 49865"/>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97287" name="箭头: 右 6"/>
          <p:cNvSpPr/>
          <p:nvPr/>
        </p:nvSpPr>
        <p:spPr>
          <a:xfrm>
            <a:off x="4371975" y="4403725"/>
            <a:ext cx="1036638" cy="298450"/>
          </a:xfrm>
          <a:prstGeom prst="rightArrow">
            <a:avLst>
              <a:gd name="adj1" fmla="val 50000"/>
              <a:gd name="adj2" fmla="val 49865"/>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pic>
        <p:nvPicPr>
          <p:cNvPr id="97288" name="图片 9"/>
          <p:cNvPicPr/>
          <p:nvPr/>
        </p:nvPicPr>
        <p:blipFill>
          <a:blip r:embed="rId4"/>
          <a:stretch>
            <a:fillRect/>
          </a:stretch>
        </p:blipFill>
        <p:spPr>
          <a:xfrm>
            <a:off x="5503863" y="5094288"/>
            <a:ext cx="3141662" cy="1571625"/>
          </a:xfrm>
          <a:prstGeom prst="rect">
            <a:avLst/>
          </a:prstGeom>
          <a:noFill/>
          <a:ln w="9525">
            <a:noFill/>
          </a:ln>
        </p:spPr>
      </p:pic>
      <p:sp>
        <p:nvSpPr>
          <p:cNvPr id="97289" name="箭头: 右 10"/>
          <p:cNvSpPr/>
          <p:nvPr/>
        </p:nvSpPr>
        <p:spPr>
          <a:xfrm>
            <a:off x="4371975" y="5799138"/>
            <a:ext cx="1036638" cy="298450"/>
          </a:xfrm>
          <a:prstGeom prst="rightArrow">
            <a:avLst>
              <a:gd name="adj1" fmla="val 50000"/>
              <a:gd name="adj2" fmla="val 49865"/>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Tree>
  </p:cSld>
  <p:clrMapOvr>
    <a:masterClrMapping/>
  </p:clrMapOvr>
</p:sld>
</file>

<file path=ppt/slides/slide8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99330" name="Picture 9"/>
          <p:cNvPicPr/>
          <p:nvPr/>
        </p:nvPicPr>
        <p:blipFill>
          <a:blip r:embed="rId1"/>
          <a:stretch>
            <a:fillRect/>
          </a:stretch>
        </p:blipFill>
        <p:spPr>
          <a:xfrm>
            <a:off x="0" y="0"/>
            <a:ext cx="9144000" cy="1417638"/>
          </a:xfrm>
          <a:prstGeom prst="rect">
            <a:avLst/>
          </a:prstGeom>
          <a:noFill/>
          <a:ln w="9525">
            <a:noFill/>
          </a:ln>
        </p:spPr>
      </p:pic>
      <p:sp>
        <p:nvSpPr>
          <p:cNvPr id="99331" name="TextBox 2"/>
          <p:cNvSpPr/>
          <p:nvPr/>
        </p:nvSpPr>
        <p:spPr>
          <a:xfrm>
            <a:off x="92075" y="1417638"/>
            <a:ext cx="9144000" cy="50847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第二节 科学技术的本质与结构</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一、科学技术的本质</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0000FF"/>
                </a:solidFill>
                <a:ea typeface="宋体" panose="02010600030101010101" pitchFamily="2" charset="-122"/>
                <a:latin typeface="宋体" panose="02010600030101010101" pitchFamily="2" charset="-122"/>
              </a:rPr>
              <a:t>1</a:t>
            </a:r>
            <a:r>
              <a:rPr altLang="en-US" dirty="0" lang="zh-CN" b="1" sz="2400">
                <a:solidFill>
                  <a:srgbClr val="0000FF"/>
                </a:solidFill>
                <a:ea typeface="宋体" panose="02010600030101010101" pitchFamily="2" charset="-122"/>
                <a:latin typeface="宋体" panose="02010600030101010101" pitchFamily="2" charset="-122"/>
              </a:rPr>
              <a:t>、科学的本质</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科学是揭示</a:t>
            </a:r>
            <a:r>
              <a:rPr altLang="en-US" dirty="0" lang="zh-CN" sz="2400">
                <a:solidFill>
                  <a:srgbClr val="FF0000"/>
                </a:solidFill>
                <a:ea typeface="宋体" panose="02010600030101010101" pitchFamily="2" charset="-122"/>
                <a:latin typeface="宋体" panose="02010600030101010101" pitchFamily="2" charset="-122"/>
              </a:rPr>
              <a:t>规律、生产科学知识</a:t>
            </a:r>
            <a:r>
              <a:rPr altLang="en-US" dirty="0" lang="zh-CN" sz="2400">
                <a:ea typeface="宋体" panose="02010600030101010101" pitchFamily="2" charset="-122"/>
                <a:latin typeface="宋体" panose="02010600030101010101" pitchFamily="2" charset="-122"/>
              </a:rPr>
              <a:t>的认识活动；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科学是探索自然实践基础上的</a:t>
            </a:r>
            <a:r>
              <a:rPr altLang="en-US" dirty="0" lang="zh-CN" sz="2400">
                <a:solidFill>
                  <a:srgbClr val="FF0000"/>
                </a:solidFill>
                <a:ea typeface="宋体" panose="02010600030101010101" pitchFamily="2" charset="-122"/>
                <a:latin typeface="宋体" panose="02010600030101010101" pitchFamily="2" charset="-122"/>
              </a:rPr>
              <a:t>理论化和系统化的知识体系</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科学是</a:t>
            </a:r>
            <a:r>
              <a:rPr altLang="en-US" dirty="0" lang="zh-CN" sz="2400">
                <a:solidFill>
                  <a:srgbClr val="FF0000"/>
                </a:solidFill>
                <a:ea typeface="宋体" panose="02010600030101010101" pitchFamily="2" charset="-122"/>
                <a:latin typeface="宋体" panose="02010600030101010101" pitchFamily="2" charset="-122"/>
              </a:rPr>
              <a:t>一般生产力</a:t>
            </a:r>
            <a:r>
              <a:rPr altLang="en-US" dirty="0" lang="zh-CN" sz="2400">
                <a:ea typeface="宋体" panose="02010600030101010101" pitchFamily="2" charset="-122"/>
                <a:latin typeface="宋体" panose="02010600030101010101" pitchFamily="2" charset="-122"/>
              </a:rPr>
              <a:t>，结合生产实践可以物化为现实生产力；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科学是一种</a:t>
            </a:r>
            <a:r>
              <a:rPr altLang="en-US" dirty="0" lang="zh-CN" sz="2400">
                <a:solidFill>
                  <a:srgbClr val="FF0000"/>
                </a:solidFill>
                <a:ea typeface="宋体" panose="02010600030101010101" pitchFamily="2" charset="-122"/>
                <a:latin typeface="宋体" panose="02010600030101010101" pitchFamily="2" charset="-122"/>
              </a:rPr>
              <a:t>社会建制</a:t>
            </a:r>
            <a:r>
              <a:rPr altLang="en-US" dirty="0" lang="zh-CN" sz="2400">
                <a:ea typeface="宋体" panose="02010600030101010101" pitchFamily="2" charset="-122"/>
                <a:latin typeface="宋体" panose="02010600030101010101" pitchFamily="2" charset="-122"/>
              </a:rPr>
              <a:t>，是社会系统的构成，是一项重要社会事业；</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科学是一种</a:t>
            </a:r>
            <a:r>
              <a:rPr altLang="en-US" dirty="0" lang="zh-CN" sz="2400">
                <a:solidFill>
                  <a:srgbClr val="FF0000"/>
                </a:solidFill>
                <a:ea typeface="宋体" panose="02010600030101010101" pitchFamily="2" charset="-122"/>
                <a:latin typeface="宋体" panose="02010600030101010101" pitchFamily="2" charset="-122"/>
              </a:rPr>
              <a:t>文化现象</a:t>
            </a:r>
            <a:r>
              <a:rPr altLang="en-US" dirty="0" lang="zh-CN" sz="2400">
                <a:ea typeface="宋体" panose="02010600030101010101" pitchFamily="2" charset="-122"/>
                <a:latin typeface="宋体" panose="02010600030101010101" pitchFamily="2" charset="-122"/>
              </a:rPr>
              <a:t>，是人类整体文化的基本构成。</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8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0354" name="Picture 9"/>
          <p:cNvPicPr/>
          <p:nvPr/>
        </p:nvPicPr>
        <p:blipFill>
          <a:blip r:embed="rId1"/>
          <a:stretch>
            <a:fillRect/>
          </a:stretch>
        </p:blipFill>
        <p:spPr>
          <a:xfrm>
            <a:off x="0" y="0"/>
            <a:ext cx="9144000" cy="1428750"/>
          </a:xfrm>
          <a:prstGeom prst="rect">
            <a:avLst/>
          </a:prstGeom>
          <a:noFill/>
          <a:ln w="9525">
            <a:noFill/>
          </a:ln>
        </p:spPr>
      </p:pic>
      <p:sp>
        <p:nvSpPr>
          <p:cNvPr id="100355" name="TextBox 2"/>
          <p:cNvSpPr/>
          <p:nvPr/>
        </p:nvSpPr>
        <p:spPr>
          <a:xfrm>
            <a:off x="0" y="1743075"/>
            <a:ext cx="5619750" cy="37131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000">
                <a:ea typeface="宋体" panose="02010600030101010101" pitchFamily="2" charset="-122"/>
                <a:latin typeface="宋体" panose="02010600030101010101" pitchFamily="2" charset="-122"/>
              </a:rPr>
              <a:t>C.P.</a:t>
            </a:r>
            <a:r>
              <a:rPr altLang="en-US" dirty="0" lang="zh-CN" sz="2000">
                <a:ea typeface="宋体" panose="02010600030101010101" pitchFamily="2" charset="-122"/>
                <a:latin typeface="宋体" panose="02010600030101010101" pitchFamily="2" charset="-122"/>
              </a:rPr>
              <a:t>斯诺在</a:t>
            </a:r>
            <a:r>
              <a:rPr altLang="zh-CN" dirty="0" lang="en-US" sz="2000">
                <a:ea typeface="宋体" panose="02010600030101010101" pitchFamily="2" charset="-122"/>
                <a:latin typeface="宋体" panose="02010600030101010101" pitchFamily="2" charset="-122"/>
              </a:rPr>
              <a:t>《</a:t>
            </a:r>
            <a:r>
              <a:rPr altLang="en-US" dirty="0" lang="zh-CN" sz="2000">
                <a:ea typeface="宋体" panose="02010600030101010101" pitchFamily="2" charset="-122"/>
                <a:latin typeface="宋体" panose="02010600030101010101" pitchFamily="2" charset="-122"/>
              </a:rPr>
              <a:t>两种文化</a:t>
            </a:r>
            <a:r>
              <a:rPr altLang="zh-CN" dirty="0" lang="en-US" sz="2000">
                <a:ea typeface="宋体" panose="02010600030101010101" pitchFamily="2" charset="-122"/>
                <a:latin typeface="宋体" panose="02010600030101010101" pitchFamily="2" charset="-122"/>
              </a:rPr>
              <a:t>》</a:t>
            </a:r>
            <a:r>
              <a:rPr altLang="en-US" dirty="0" lang="zh-CN" sz="2000">
                <a:ea typeface="宋体" panose="02010600030101010101" pitchFamily="2" charset="-122"/>
                <a:latin typeface="宋体" panose="02010600030101010101" pitchFamily="2" charset="-122"/>
              </a:rPr>
              <a:t>中指出，</a:t>
            </a:r>
            <a:r>
              <a:rPr altLang="en-US" dirty="0" lang="zh-CN" i="1" sz="2000" u="sng">
                <a:solidFill>
                  <a:srgbClr val="0000FF"/>
                </a:solidFill>
                <a:ea typeface="宋体" panose="02010600030101010101" pitchFamily="2" charset="-122"/>
                <a:latin typeface="宋体" panose="02010600030101010101" pitchFamily="2" charset="-122"/>
              </a:rPr>
              <a:t>科学文化之中的科学家们彼此之间尽管也有许多互不理解之处，但是具有共同的价值标准和行为准则。科学文化的约束甚至比宗教、政治和阶级的模式更强。对科学家来说，可能有不同的宗教、政治态度、阶级和民族，但是都必须遵守共同的科学行为准则和价值标准。一个科学家背离这些规范，意味着其科学生涯的结束。</a:t>
            </a:r>
            <a:endParaRPr altLang="zh-CN" dirty="0" lang="en-US" i="1" sz="2000" u="sng">
              <a:ea typeface="宋体" panose="02010600030101010101" pitchFamily="2" charset="-122"/>
              <a:latin typeface="宋体" panose="02010600030101010101" pitchFamily="2" charset="-122"/>
            </a:endParaRPr>
          </a:p>
        </p:txBody>
      </p:sp>
      <p:pic>
        <p:nvPicPr>
          <p:cNvPr id="100356" name="图片 3"/>
          <p:cNvPicPr/>
          <p:nvPr/>
        </p:nvPicPr>
        <p:blipFill>
          <a:blip r:embed="rId2"/>
          <a:stretch>
            <a:fillRect/>
          </a:stretch>
        </p:blipFill>
        <p:spPr>
          <a:xfrm>
            <a:off x="5740400" y="1758950"/>
            <a:ext cx="3403600" cy="4975225"/>
          </a:xfrm>
          <a:prstGeom prst="rect">
            <a:avLst/>
          </a:prstGeom>
          <a:noFill/>
          <a:ln w="9525">
            <a:noFill/>
          </a:ln>
        </p:spPr>
      </p:pic>
    </p:spTree>
  </p:cSld>
  <p:clrMapOvr>
    <a:masterClrMapping/>
  </p:clrMapOvr>
</p:sld>
</file>

<file path=ppt/slides/slide8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1378" name="Picture 9"/>
          <p:cNvPicPr/>
          <p:nvPr/>
        </p:nvPicPr>
        <p:blipFill>
          <a:blip r:embed="rId1"/>
          <a:stretch>
            <a:fillRect/>
          </a:stretch>
        </p:blipFill>
        <p:spPr>
          <a:xfrm>
            <a:off x="0" y="0"/>
            <a:ext cx="9144000" cy="1743075"/>
          </a:xfrm>
          <a:prstGeom prst="rect">
            <a:avLst/>
          </a:prstGeom>
          <a:noFill/>
          <a:ln w="9525">
            <a:noFill/>
          </a:ln>
        </p:spPr>
      </p:pic>
      <p:sp>
        <p:nvSpPr>
          <p:cNvPr id="101379"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0000FF"/>
                </a:solidFill>
                <a:ea typeface="宋体" panose="02010600030101010101" pitchFamily="2" charset="-122"/>
                <a:latin typeface="宋体" panose="02010600030101010101" pitchFamily="2" charset="-122"/>
              </a:rPr>
              <a:t>2</a:t>
            </a:r>
            <a:r>
              <a:rPr altLang="en-US" dirty="0" lang="zh-CN" b="1" sz="2400">
                <a:solidFill>
                  <a:srgbClr val="0000FF"/>
                </a:solidFill>
                <a:ea typeface="宋体" panose="02010600030101010101" pitchFamily="2" charset="-122"/>
                <a:latin typeface="宋体" panose="02010600030101010101" pitchFamily="2" charset="-122"/>
              </a:rPr>
              <a:t>、技术的本质</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latin typeface="宋体" panose="02010600030101010101" pitchFamily="2" charset="-122"/>
              </a:rPr>
              <a:t>    技术一词源于古希腊语</a:t>
            </a:r>
            <a:r>
              <a:rPr altLang="zh-CN" dirty="0" lang="en-US" sz="2400">
                <a:latin typeface="宋体" panose="02010600030101010101" pitchFamily="2" charset="-122"/>
              </a:rPr>
              <a:t>techne</a:t>
            </a:r>
            <a:r>
              <a:rPr altLang="en-US" dirty="0" lang="zh-CN" sz="2400">
                <a:latin typeface="宋体" panose="02010600030101010101" pitchFamily="2" charset="-122"/>
              </a:rPr>
              <a:t>，意为</a:t>
            </a:r>
            <a:r>
              <a:rPr altLang="en-US" dirty="0" lang="zh-CN" sz="2400">
                <a:solidFill>
                  <a:srgbClr val="FF0000"/>
                </a:solidFill>
                <a:latin typeface="宋体" panose="02010600030101010101" pitchFamily="2" charset="-122"/>
              </a:rPr>
              <a:t>技艺、手艺、技能、本领</a:t>
            </a:r>
            <a:r>
              <a:rPr altLang="en-US" dirty="0" lang="zh-CN" sz="2400">
                <a:latin typeface="宋体" panose="02010600030101010101" pitchFamily="2" charset="-122"/>
              </a:rPr>
              <a:t>。</a:t>
            </a:r>
            <a:r>
              <a:rPr altLang="zh-CN" dirty="0" lang="en-US" sz="2400">
                <a:latin typeface="宋体" panose="02010600030101010101" pitchFamily="2" charset="-122"/>
              </a:rPr>
              <a:t>17</a:t>
            </a:r>
            <a:r>
              <a:rPr altLang="en-US" dirty="0" lang="zh-CN" sz="2400">
                <a:latin typeface="宋体" panose="02010600030101010101" pitchFamily="2" charset="-122"/>
              </a:rPr>
              <a:t>世纪初，人们把</a:t>
            </a:r>
            <a:r>
              <a:rPr altLang="zh-CN" dirty="0" lang="en-US" sz="2400">
                <a:latin typeface="宋体" panose="02010600030101010101" pitchFamily="2" charset="-122"/>
              </a:rPr>
              <a:t>techne</a:t>
            </a:r>
            <a:r>
              <a:rPr altLang="en-US" dirty="0" lang="zh-CN" sz="2400">
                <a:latin typeface="宋体" panose="02010600030101010101" pitchFamily="2" charset="-122"/>
              </a:rPr>
              <a:t>同</a:t>
            </a:r>
            <a:r>
              <a:rPr altLang="zh-CN" dirty="0" lang="en-US" sz="2400">
                <a:latin typeface="宋体" panose="02010600030101010101" pitchFamily="2" charset="-122"/>
              </a:rPr>
              <a:t>logos</a:t>
            </a:r>
            <a:r>
              <a:rPr altLang="en-US" dirty="0" lang="zh-CN" sz="2400">
                <a:latin typeface="宋体" panose="02010600030101010101" pitchFamily="2" charset="-122"/>
              </a:rPr>
              <a:t>结合起来，形成</a:t>
            </a:r>
            <a:r>
              <a:rPr altLang="zh-CN" dirty="0" lang="en-US" sz="2400">
                <a:latin typeface="宋体" panose="02010600030101010101" pitchFamily="2" charset="-122"/>
              </a:rPr>
              <a:t>technology</a:t>
            </a:r>
            <a:r>
              <a:rPr altLang="en-US" dirty="0" lang="zh-CN" sz="2400">
                <a:latin typeface="宋体" panose="02010600030101010101" pitchFamily="2" charset="-122"/>
              </a:rPr>
              <a:t>（技术）一词。</a:t>
            </a:r>
            <a:r>
              <a:rPr altLang="zh-CN" dirty="0" lang="en-US" sz="2400">
                <a:latin typeface="宋体" panose="02010600030101010101" pitchFamily="2" charset="-122"/>
              </a:rPr>
              <a:t>18</a:t>
            </a:r>
            <a:r>
              <a:rPr altLang="en-US" dirty="0" lang="zh-CN" sz="2400">
                <a:latin typeface="宋体" panose="02010600030101010101" pitchFamily="2" charset="-122"/>
              </a:rPr>
              <a:t>世纪狄德罗把技术定义为“</a:t>
            </a:r>
            <a:r>
              <a:rPr altLang="en-US" dirty="0" lang="zh-CN" sz="2400">
                <a:solidFill>
                  <a:srgbClr val="FF0000"/>
                </a:solidFill>
                <a:latin typeface="宋体" panose="02010600030101010101" pitchFamily="2" charset="-122"/>
              </a:rPr>
              <a:t>为了完成特定目标而协调动作的方法、手段和规则相结合的体系</a:t>
            </a:r>
            <a:r>
              <a:rPr altLang="en-US" dirty="0" lang="zh-CN" sz="2400">
                <a:latin typeface="宋体" panose="02010600030101010101" pitchFamily="2" charset="-122"/>
              </a:rPr>
              <a:t>”。</a:t>
            </a:r>
            <a:endParaRPr altLang="zh-CN" dirty="0" lang="en-US" sz="2400">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    技术是人类为满足自身需要，遵循自然规律，在利用、控制和改造自然的实践活动中所创造的各种劳动手段和方法技能的总和。</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8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2402" name="Picture 9"/>
          <p:cNvPicPr/>
          <p:nvPr/>
        </p:nvPicPr>
        <p:blipFill>
          <a:blip r:embed="rId1"/>
          <a:stretch>
            <a:fillRect/>
          </a:stretch>
        </p:blipFill>
        <p:spPr>
          <a:xfrm>
            <a:off x="0" y="0"/>
            <a:ext cx="9144000" cy="1397000"/>
          </a:xfrm>
          <a:prstGeom prst="rect">
            <a:avLst/>
          </a:prstGeom>
          <a:noFill/>
          <a:ln w="9525">
            <a:noFill/>
          </a:ln>
        </p:spPr>
      </p:pic>
      <p:sp>
        <p:nvSpPr>
          <p:cNvPr id="102403" name="TextBox 2"/>
          <p:cNvSpPr/>
          <p:nvPr/>
        </p:nvSpPr>
        <p:spPr>
          <a:xfrm>
            <a:off x="0" y="1636713"/>
            <a:ext cx="9144000" cy="44370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中国古代</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技术泛指“</a:t>
            </a:r>
            <a:r>
              <a:rPr altLang="en-US" dirty="0" lang="zh-CN" sz="2400">
                <a:solidFill>
                  <a:srgbClr val="FF0000"/>
                </a:solidFill>
                <a:ea typeface="宋体" panose="02010600030101010101" pitchFamily="2" charset="-122"/>
                <a:latin typeface="宋体" panose="02010600030101010101" pitchFamily="2" charset="-122"/>
              </a:rPr>
              <a:t>百工</a:t>
            </a:r>
            <a:r>
              <a:rPr altLang="en-US" dirty="0" lang="zh-CN" sz="2400">
                <a:ea typeface="宋体" panose="02010600030101010101" pitchFamily="2" charset="-122"/>
                <a:latin typeface="宋体" panose="02010600030101010101" pitchFamily="2" charset="-122"/>
              </a:rPr>
              <a:t>”，成书于战国时期的</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考工记</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：“天有时，地有气，材有美，工有巧，合此四者然后可以为良”，天、地、材为自然界和物质的特征。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当代对技术本质的认识：</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人类活动的行为方式，</a:t>
            </a:r>
            <a:r>
              <a:rPr altLang="en-US" dirty="0" lang="zh-CN" sz="2400">
                <a:solidFill>
                  <a:srgbClr val="FF0000"/>
                </a:solidFill>
                <a:ea typeface="宋体" panose="02010600030101010101" pitchFamily="2" charset="-122"/>
                <a:latin typeface="宋体" panose="02010600030101010101" pitchFamily="2" charset="-122"/>
              </a:rPr>
              <a:t>做事或制作</a:t>
            </a:r>
            <a:r>
              <a:rPr altLang="en-US" dirty="0" lang="zh-CN" sz="2400">
                <a:ea typeface="宋体" panose="02010600030101010101" pitchFamily="2" charset="-122"/>
                <a:latin typeface="宋体" panose="02010600030101010101" pitchFamily="2" charset="-122"/>
              </a:rPr>
              <a:t>的方法；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劳动手段</a:t>
            </a:r>
            <a:r>
              <a:rPr altLang="en-US" dirty="0" lang="zh-CN" sz="2400">
                <a:ea typeface="宋体" panose="02010600030101010101" pitchFamily="2" charset="-122"/>
                <a:latin typeface="宋体" panose="02010600030101010101" pitchFamily="2" charset="-122"/>
              </a:rPr>
              <a:t>的总和；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对自然规律有意识的运用，是</a:t>
            </a:r>
            <a:r>
              <a:rPr altLang="en-US" dirty="0" lang="zh-CN" sz="2400">
                <a:solidFill>
                  <a:srgbClr val="FF0000"/>
                </a:solidFill>
                <a:ea typeface="宋体" panose="02010600030101010101" pitchFamily="2" charset="-122"/>
                <a:latin typeface="宋体" panose="02010600030101010101" pitchFamily="2" charset="-122"/>
              </a:rPr>
              <a:t>科学的物化</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8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3426" name="Picture 9"/>
          <p:cNvPicPr/>
          <p:nvPr/>
        </p:nvPicPr>
        <p:blipFill>
          <a:blip r:embed="rId1"/>
          <a:stretch>
            <a:fillRect/>
          </a:stretch>
        </p:blipFill>
        <p:spPr>
          <a:xfrm>
            <a:off x="0" y="0"/>
            <a:ext cx="9144000" cy="1743075"/>
          </a:xfrm>
          <a:prstGeom prst="rect">
            <a:avLst/>
          </a:prstGeom>
          <a:noFill/>
          <a:ln w="9525">
            <a:noFill/>
          </a:ln>
        </p:spPr>
      </p:pic>
      <p:sp>
        <p:nvSpPr>
          <p:cNvPr id="103427"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技术是</a:t>
            </a:r>
            <a:r>
              <a:rPr altLang="en-US" dirty="0" lang="zh-CN" sz="2400">
                <a:solidFill>
                  <a:srgbClr val="FF0000"/>
                </a:solidFill>
                <a:ea typeface="宋体" panose="02010600030101010101" pitchFamily="2" charset="-122"/>
                <a:latin typeface="宋体" panose="02010600030101010101" pitchFamily="2" charset="-122"/>
              </a:rPr>
              <a:t>直接生产力</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技术具有</a:t>
            </a:r>
            <a:r>
              <a:rPr altLang="en-US" dirty="0" lang="zh-CN" sz="2400">
                <a:solidFill>
                  <a:srgbClr val="FF0000"/>
                </a:solidFill>
                <a:ea typeface="宋体" panose="02010600030101010101" pitchFamily="2" charset="-122"/>
                <a:latin typeface="宋体" panose="02010600030101010101" pitchFamily="2" charset="-122"/>
              </a:rPr>
              <a:t>自然属性</a:t>
            </a:r>
            <a:r>
              <a:rPr altLang="en-US" dirty="0" lang="zh-CN" sz="2400">
                <a:ea typeface="宋体" panose="02010600030101010101" pitchFamily="2" charset="-122"/>
                <a:latin typeface="宋体" panose="02010600030101010101" pitchFamily="2" charset="-122"/>
              </a:rPr>
              <a:t>；人们在改造自然的社会实践活动中必须遵循自然规律。技术具有社会属性；人类在变革天然自然为人工自然的过程中要受到经济、政治、军事、科学、教育、文化等社会条件制约。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技术概念是一个历史范畴；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技术的异化</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技术在资本主义制度中使劳动异化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9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4450" name="Picture 9"/>
          <p:cNvPicPr/>
          <p:nvPr/>
        </p:nvPicPr>
        <p:blipFill>
          <a:blip r:embed="rId1"/>
          <a:stretch>
            <a:fillRect/>
          </a:stretch>
        </p:blipFill>
        <p:spPr>
          <a:xfrm>
            <a:off x="0" y="0"/>
            <a:ext cx="9144000" cy="1743075"/>
          </a:xfrm>
          <a:prstGeom prst="rect">
            <a:avLst/>
          </a:prstGeom>
          <a:noFill/>
          <a:ln w="9525">
            <a:noFill/>
          </a:ln>
        </p:spPr>
      </p:pic>
      <p:sp>
        <p:nvSpPr>
          <p:cNvPr id="104451" name="TextBox 2"/>
          <p:cNvSpPr/>
          <p:nvPr/>
        </p:nvSpPr>
        <p:spPr>
          <a:xfrm>
            <a:off x="30163"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原始技术与巫术界限不清；古代技术是指古代工匠的技巧、技能和操作方法等主观能力，近代以来技术是科学知识的物化。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3</a:t>
            </a:r>
            <a:r>
              <a:rPr altLang="en-US" dirty="0" lang="zh-CN" b="1" sz="2400">
                <a:solidFill>
                  <a:srgbClr val="FF0000"/>
                </a:solidFill>
                <a:ea typeface="宋体" panose="02010600030101010101" pitchFamily="2" charset="-122"/>
                <a:latin typeface="宋体" panose="02010600030101010101" pitchFamily="2" charset="-122"/>
              </a:rPr>
              <a:t>、科学与技术的联系和区别</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联系：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科学与技术都是人类理性创造活动及其成果，都反映了人对于自然的对象性的关系，都属于历史的、发展的范畴。</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现代科学技术是一个科学研究与技术开发的整体过程。</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现代科学技术的一体化，包括：科学技术化和技术科学化</a:t>
            </a:r>
            <a:endParaRPr altLang="en-US" dirty="0" lang="zh-CN"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9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5474" name="Picture 9"/>
          <p:cNvPicPr/>
          <p:nvPr/>
        </p:nvPicPr>
        <p:blipFill>
          <a:blip r:embed="rId1"/>
          <a:stretch>
            <a:fillRect/>
          </a:stretch>
        </p:blipFill>
        <p:spPr>
          <a:xfrm>
            <a:off x="0" y="0"/>
            <a:ext cx="9144000" cy="1743075"/>
          </a:xfrm>
          <a:prstGeom prst="rect">
            <a:avLst/>
          </a:prstGeom>
          <a:noFill/>
          <a:ln w="9525">
            <a:noFill/>
          </a:ln>
        </p:spPr>
      </p:pic>
      <p:sp>
        <p:nvSpPr>
          <p:cNvPr id="84995" name="TextBox 2"/>
          <p:cNvSpPr/>
          <p:nvPr/>
        </p:nvSpPr>
        <p:spPr>
          <a:xfrm>
            <a:off x="46038" y="1803400"/>
            <a:ext cx="9144000" cy="1114425"/>
          </a:xfrm>
          <a:prstGeom prst="rect">
            <a:avLst/>
          </a:prstGeom>
          <a:noFill/>
          <a:ln w="12700">
            <a:noFill/>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marL="0" marR="0" indent="0" lvl="0" algn="just" defTabSz="914400" rtl="0" eaLnBrk="1" latinLnBrk="0" hangingPunct="1" fontAlgn="base">
              <a:lnSpc>
                <a:spcPct val="150000"/>
              </a:lnSpc>
              <a:spcBef>
                <a:spcPct val="0"/>
              </a:spcBef>
              <a:spcAft>
                <a:spcPct val="0"/>
              </a:spcAft>
              <a:buNone/>
              <a:defRPr/>
            </a:pPr>
            <a:r>
              <a:rPr altLang="zh-CN" dirty="0" kern="1200" kumimoji="0" lang="zh-CN" normalizeH="0" b="0" cap="none" i="0" noProof="0" spc="0" strike="noStrike" sz="2400" u="none">
                <a:ln>
                  <a:noFill/>
                </a:ln>
                <a:solidFill>
                  <a:schemeClr val="tx1"/>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rPr>
              <a:t>科学技术的三个层次：基础科学、应用科学和工程技术。</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rgbClr val="0000FF"/>
              </a:solidFill>
              <a:effectLst/>
              <a:uLnTx/>
              <a:uFillTx/>
              <a:cs typeface="+mn-cs"/>
              <a:ea typeface="宋体" panose="02010600030101010101" pitchFamily="2" charset="-122"/>
              <a:latin typeface="宋体" panose="02010600030101010101" pitchFamily="2" charset="-122"/>
            </a:endParaRPr>
          </a:p>
        </p:txBody>
      </p:sp>
      <p:sp>
        <p:nvSpPr>
          <p:cNvPr id="4" name="AutoShape 3"/>
          <p:cNvSpPr/>
          <p:nvPr/>
        </p:nvSpPr>
        <p:spPr>
          <a:xfrm>
            <a:off x="46038" y="2738438"/>
            <a:ext cx="9175750" cy="1271588"/>
          </a:xfrm>
          <a:prstGeom prst="wedgeRectCallout">
            <a:avLst>
              <a:gd name="adj1" fmla="val -13347"/>
              <a:gd name="adj2" fmla="val -74116"/>
            </a:avLst>
          </a:prstGeom>
          <a:noFill/>
          <a:ln w="25400" cmpd="sng">
            <a:solidFill>
              <a:srgbClr val="FF00FF"/>
            </a:solidFill>
            <a:miter lim="800000"/>
          </a:ln>
          <a:effectLst/>
        </p:spPr>
        <p:txBody>
          <a:bodyPr lIns="54000" tIns="10800" rIns="54000" bIns="82800">
            <a:spAutoFit/>
          </a:bodyPr>
          <a:lstStyle>
            <a:lvl1pPr indent="361950">
              <a:defRPr sz="2400">
                <a:solidFill>
                  <a:schemeClr val="tx1"/>
                </a:solidFill>
                <a:latin typeface="Times New Roman" panose="02020603050405020304" pitchFamily="18" charset="0"/>
                <a:ea typeface="宋体" panose="02010600030101010101" pitchFamily="2" charset="-122"/>
              </a:defRPr>
            </a:lvl1pPr>
            <a:lvl2pPr marL="54165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indent="361950" lvl="0" algn="just" defTabSz="914400" rtl="0" eaLnBrk="0" latinLnBrk="0" hangingPunct="0" fontAlgn="base">
              <a:lnSpc>
                <a:spcPct val="104999"/>
              </a:lnSpc>
              <a:spcBef>
                <a:spcPct val="0"/>
              </a:spcBef>
              <a:spcAft>
                <a:spcPct val="0"/>
              </a:spcAft>
              <a:buNone/>
              <a:defRPr/>
            </a:pPr>
            <a:r>
              <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rPr>
              <a:t>对客观世界基本规律的认识，包括天文学、地质学、理学、物理学、化学、生物学以及作为各门科学的工具和方法的数学。具有非保密性，与生产实践的关系一般较为间接。</a:t>
            </a:r>
            <a:endPar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endParaRPr>
          </a:p>
        </p:txBody>
      </p:sp>
      <p:sp>
        <p:nvSpPr>
          <p:cNvPr id="5" name="AutoShape 4"/>
          <p:cNvSpPr/>
          <p:nvPr/>
        </p:nvSpPr>
        <p:spPr>
          <a:xfrm>
            <a:off x="0" y="4010025"/>
            <a:ext cx="9144000" cy="1271588"/>
          </a:xfrm>
          <a:prstGeom prst="wedgeRectCallout">
            <a:avLst>
              <a:gd name="adj1" fmla="val 3847"/>
              <a:gd name="adj2" fmla="val -181833"/>
            </a:avLst>
          </a:prstGeom>
          <a:noFill/>
          <a:ln w="25400" cmpd="sng">
            <a:solidFill>
              <a:srgbClr val="FF00FF"/>
            </a:solidFill>
            <a:miter lim="800000"/>
          </a:ln>
          <a:effectLst/>
        </p:spPr>
        <p:txBody>
          <a:bodyPr lIns="54000" tIns="10800" rIns="54000" bIns="82800">
            <a:spAutoFit/>
          </a:bodyPr>
          <a:lstStyle>
            <a:lvl1pPr indent="361950">
              <a:defRPr sz="2400">
                <a:solidFill>
                  <a:schemeClr val="tx1"/>
                </a:solidFill>
                <a:latin typeface="Times New Roman" panose="02020603050405020304" pitchFamily="18" charset="0"/>
                <a:ea typeface="宋体" panose="02010600030101010101" pitchFamily="2" charset="-122"/>
              </a:defRPr>
            </a:lvl1pPr>
            <a:lvl2pPr marL="54165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indent="361950" lvl="0" algn="just" defTabSz="914400" rtl="0" eaLnBrk="0" latinLnBrk="0" hangingPunct="0" fontAlgn="base">
              <a:lnSpc>
                <a:spcPct val="104999"/>
              </a:lnSpc>
              <a:spcBef>
                <a:spcPct val="0"/>
              </a:spcBef>
              <a:spcAft>
                <a:spcPct val="0"/>
              </a:spcAft>
              <a:buNone/>
              <a:defRPr/>
            </a:pPr>
            <a:r>
              <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rPr>
              <a:t>研究生产过程和工艺过程中的共同性规律，对象大部分是技术产品，即人工自然，目的是形成技术理论，把认识自然的理论转化为改造自然的能力。</a:t>
            </a:r>
            <a:endPar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endParaRPr>
          </a:p>
        </p:txBody>
      </p:sp>
      <p:sp>
        <p:nvSpPr>
          <p:cNvPr id="6" name="AutoShape 5"/>
          <p:cNvSpPr/>
          <p:nvPr/>
        </p:nvSpPr>
        <p:spPr>
          <a:xfrm>
            <a:off x="46038" y="5386388"/>
            <a:ext cx="9097963" cy="1271588"/>
          </a:xfrm>
          <a:prstGeom prst="wedgeRectCallout">
            <a:avLst>
              <a:gd name="adj1" fmla="val 19880"/>
              <a:gd name="adj2" fmla="val -298736"/>
            </a:avLst>
          </a:prstGeom>
          <a:noFill/>
          <a:ln w="25400" cmpd="sng">
            <a:solidFill>
              <a:srgbClr val="FF00FF"/>
            </a:solidFill>
            <a:miter lim="800000"/>
          </a:ln>
          <a:effectLst/>
        </p:spPr>
        <p:txBody>
          <a:bodyPr lIns="54000" tIns="10800" rIns="54000" bIns="82800">
            <a:spAutoFit/>
          </a:bodyPr>
          <a:lstStyle>
            <a:lvl1pPr indent="361950">
              <a:defRPr sz="2400">
                <a:solidFill>
                  <a:schemeClr val="tx1"/>
                </a:solidFill>
                <a:latin typeface="Times New Roman" panose="02020603050405020304" pitchFamily="18" charset="0"/>
                <a:ea typeface="宋体" panose="02010600030101010101" pitchFamily="2" charset="-122"/>
              </a:defRPr>
            </a:lvl1pPr>
            <a:lvl2pPr marL="54165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indent="361950" lvl="0" algn="just" defTabSz="914400" rtl="0" eaLnBrk="0" latinLnBrk="0" hangingPunct="0" fontAlgn="base">
              <a:lnSpc>
                <a:spcPct val="104999"/>
              </a:lnSpc>
              <a:spcBef>
                <a:spcPct val="0"/>
              </a:spcBef>
              <a:spcAft>
                <a:spcPct val="0"/>
              </a:spcAft>
              <a:buNone/>
              <a:defRPr/>
            </a:pPr>
            <a:r>
              <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rPr>
              <a:t>工程活动中所运用的技术或为工程活动服务的技术，是具体地研究基础科学和技术科学如何转化为生产力的原则和方法，是工程和技术的统一体。与社会现实最接近。</a:t>
            </a:r>
            <a:endParaRPr altLang="zh-CN" dirty="0" kern="1200" kumimoji="0" lang="zh-CN" normalizeH="0" b="0" cap="none" i="0" noProof="0" spc="0" strike="noStrike" sz="2400" u="none">
              <a:ln>
                <a:noFill/>
              </a:ln>
              <a:solidFill>
                <a:srgbClr val="0000FF"/>
              </a:solidFill>
              <a:effectLst>
                <a:outerShdw blurRad="38100" dist="38100" dir="2700000" algn="tl">
                  <a:srgbClr val="C0C0C0"/>
                </a:outerShdw>
              </a:effectLst>
              <a:uLnTx/>
              <a:uFillTx/>
              <a:cs typeface="+mn-cs"/>
              <a:ea typeface="宋体" panose="02010600030101010101" pitchFamily="2" charset="-122"/>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ppt_y-#ppt_h/2"/>
                                          </p:val>
                                        </p:tav>
                                        <p:tav tm="100000">
                                          <p:val>
                                            <p:strVal val="#ppt_y"/>
                                          </p:val>
                                        </p:tav>
                                      </p:tavLst>
                                    </p:anim>
                                    <p:anim calcmode="lin" valueType="num">
                                      <p:cBhvr>
                                        <p:cTn id="9" dur="500" fill="hold"/>
                                        <p:tgtEl>
                                          <p:spTgt spid="4"/>
                                        </p:tgtEl>
                                        <p:attrNameLst>
                                          <p:attrName>ppt_w</p:attrName>
                                        </p:attrNameLst>
                                      </p:cBhvr>
                                      <p:tavLst>
                                        <p:tav tm="0">
                                          <p:val>
                                            <p:strVal val="#ppt_w"/>
                                          </p:val>
                                        </p:tav>
                                        <p:tav tm="100000">
                                          <p:val>
                                            <p:strVal val="#ppt_w"/>
                                          </p:val>
                                        </p:tav>
                                      </p:tavLst>
                                    </p:anim>
                                    <p:anim calcmode="lin" valueType="num">
                                      <p:cBhvr>
                                        <p:cTn id="10" dur="500" fill="hold"/>
                                        <p:tgtEl>
                                          <p:spTgt spid="4"/>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1" nodeType="clickEffect">
                                  <p:stCondLst>
                                    <p:cond delay="0"/>
                                  </p:stCondLst>
                                  <p:childTnLst>
                                    <p:animEffect transition="out" filter="wipe(down)">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500" fill="hold"/>
                                        <p:tgtEl>
                                          <p:spTgt spid="5"/>
                                        </p:tgtEl>
                                        <p:attrNameLst>
                                          <p:attrName>ppt_y</p:attrName>
                                        </p:attrNameLst>
                                      </p:cBhvr>
                                      <p:tavLst>
                                        <p:tav tm="0">
                                          <p:val>
                                            <p:strVal val="#ppt_y-#ppt_h/2"/>
                                          </p:val>
                                        </p:tav>
                                        <p:tav tm="100000">
                                          <p:val>
                                            <p:strVal val="#ppt_y"/>
                                          </p:val>
                                        </p:tav>
                                      </p:tavLst>
                                    </p:anim>
                                    <p:anim calcmode="lin" valueType="num">
                                      <p:cBhvr>
                                        <p:cTn id="22" dur="500" fill="hold"/>
                                        <p:tgtEl>
                                          <p:spTgt spid="5"/>
                                        </p:tgtEl>
                                        <p:attrNameLst>
                                          <p:attrName>ppt_w</p:attrName>
                                        </p:attrNameLst>
                                      </p:cBhvr>
                                      <p:tavLst>
                                        <p:tav tm="0">
                                          <p:val>
                                            <p:strVal val="#ppt_w"/>
                                          </p:val>
                                        </p:tav>
                                        <p:tav tm="100000">
                                          <p:val>
                                            <p:strVal val="#ppt_w"/>
                                          </p:val>
                                        </p:tav>
                                      </p:tavLst>
                                    </p:anim>
                                    <p:anim calcmode="lin" valueType="num">
                                      <p:cBhvr>
                                        <p:cTn id="23"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grpId="1" nodeType="clickEffect">
                                  <p:stCondLst>
                                    <p:cond delay="0"/>
                                  </p:stCondLst>
                                  <p:childTnLst>
                                    <p:animEffect transition="out" filter="wipe(down)">
                                      <p:cBhvr>
                                        <p:cTn id="27" dur="500"/>
                                        <p:tgtEl>
                                          <p:spTgt spid="5"/>
                                        </p:tgtEl>
                                      </p:cBhvr>
                                    </p:animEffect>
                                    <p:set>
                                      <p:cBhvr>
                                        <p:cTn id="28" dur="1" fill="hold">
                                          <p:stCondLst>
                                            <p:cond delay="499"/>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ppt_x</p:attrName>
                                        </p:attrNameLst>
                                      </p:cBhvr>
                                      <p:tavLst>
                                        <p:tav tm="0">
                                          <p:val>
                                            <p:strVal val="#ppt_x"/>
                                          </p:val>
                                        </p:tav>
                                        <p:tav tm="100000">
                                          <p:val>
                                            <p:strVal val="#ppt_x"/>
                                          </p:val>
                                        </p:tav>
                                      </p:tavLst>
                                    </p:anim>
                                    <p:anim calcmode="lin" valueType="num">
                                      <p:cBhvr>
                                        <p:cTn id="34" dur="500" fill="hold"/>
                                        <p:tgtEl>
                                          <p:spTgt spid="6"/>
                                        </p:tgtEl>
                                        <p:attrNameLst>
                                          <p:attrName>ppt_y</p:attrName>
                                        </p:attrNameLst>
                                      </p:cBhvr>
                                      <p:tavLst>
                                        <p:tav tm="0">
                                          <p:val>
                                            <p:strVal val="#ppt_y-#ppt_h/2"/>
                                          </p:val>
                                        </p:tav>
                                        <p:tav tm="100000">
                                          <p:val>
                                            <p:strVal val="#ppt_y"/>
                                          </p:val>
                                        </p:tav>
                                      </p:tavLst>
                                    </p:anim>
                                    <p:anim calcmode="lin" valueType="num">
                                      <p:cBhvr>
                                        <p:cTn id="35" dur="500" fill="hold"/>
                                        <p:tgtEl>
                                          <p:spTgt spid="6"/>
                                        </p:tgtEl>
                                        <p:attrNameLst>
                                          <p:attrName>ppt_w</p:attrName>
                                        </p:attrNameLst>
                                      </p:cBhvr>
                                      <p:tavLst>
                                        <p:tav tm="0">
                                          <p:val>
                                            <p:strVal val="#ppt_w"/>
                                          </p:val>
                                        </p:tav>
                                        <p:tav tm="100000">
                                          <p:val>
                                            <p:strVal val="#ppt_w"/>
                                          </p:val>
                                        </p:tav>
                                      </p:tavLst>
                                    </p:anim>
                                    <p:anim calcmode="lin" valueType="num">
                                      <p:cBhvr>
                                        <p:cTn id="36"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grpId="1" nodeType="clickEffect">
                                  <p:stCondLst>
                                    <p:cond delay="0"/>
                                  </p:stCondLst>
                                  <p:childTnLst>
                                    <p:animEffect transition="out" filter="wipe(down)">
                                      <p:cBhvr>
                                        <p:cTn id="40" dur="500"/>
                                        <p:tgtEl>
                                          <p:spTgt spid="6"/>
                                        </p:tgtEl>
                                      </p:cBhvr>
                                    </p:animEffect>
                                    <p:set>
                                      <p:cBhvr>
                                        <p:cTn id="4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Lst>
  </p:timing>
</p:sld>
</file>

<file path=ppt/slides/slide9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6498" name="Picture 9"/>
          <p:cNvPicPr/>
          <p:nvPr/>
        </p:nvPicPr>
        <p:blipFill>
          <a:blip r:embed="rId1"/>
          <a:stretch>
            <a:fillRect/>
          </a:stretch>
        </p:blipFill>
        <p:spPr>
          <a:xfrm>
            <a:off x="0" y="0"/>
            <a:ext cx="9144000" cy="1743075"/>
          </a:xfrm>
          <a:prstGeom prst="rect">
            <a:avLst/>
          </a:prstGeom>
          <a:noFill/>
          <a:ln w="9525">
            <a:noFill/>
          </a:ln>
        </p:spPr>
      </p:pic>
      <p:sp>
        <p:nvSpPr>
          <p:cNvPr id="106499" name="TextBox 2"/>
          <p:cNvSpPr/>
          <p:nvPr/>
        </p:nvSpPr>
        <p:spPr>
          <a:xfrm>
            <a:off x="46038" y="1803400"/>
            <a:ext cx="9144000" cy="16684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科学研究与技术开发（</a:t>
            </a:r>
            <a:r>
              <a:rPr altLang="zh-CN" dirty="0" lang="en-US" sz="2400">
                <a:ea typeface="宋体" panose="02010600030101010101" pitchFamily="2" charset="-122"/>
                <a:latin typeface="宋体" panose="02010600030101010101" pitchFamily="2" charset="-122"/>
              </a:rPr>
              <a:t>R&amp;D</a:t>
            </a:r>
            <a:r>
              <a:rPr altLang="en-US" dirty="0" lang="zh-CN" sz="2400">
                <a:ea typeface="宋体" panose="02010600030101010101" pitchFamily="2" charset="-122"/>
                <a:latin typeface="宋体" panose="02010600030101010101" pitchFamily="2" charset="-122"/>
              </a:rPr>
              <a:t>）：指为</a:t>
            </a:r>
            <a:r>
              <a:rPr altLang="en-US" dirty="0" lang="zh-CN" sz="2400">
                <a:solidFill>
                  <a:srgbClr val="FF0000"/>
                </a:solidFill>
                <a:ea typeface="宋体" panose="02010600030101010101" pitchFamily="2" charset="-122"/>
                <a:latin typeface="宋体" panose="02010600030101010101" pitchFamily="2" charset="-122"/>
              </a:rPr>
              <a:t>增加知识总量以及运用这些知识去创造新的应用</a:t>
            </a:r>
            <a:r>
              <a:rPr altLang="en-US" dirty="0" lang="zh-CN" sz="2400">
                <a:ea typeface="宋体" panose="02010600030101010101" pitchFamily="2" charset="-122"/>
                <a:latin typeface="宋体" panose="02010600030101010101" pitchFamily="2" charset="-122"/>
              </a:rPr>
              <a:t>而进行的系统和创造性的工作。</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p:txBody>
      </p:sp>
      <p:pic>
        <p:nvPicPr>
          <p:cNvPr id="106500" name="图片 6"/>
          <p:cNvPicPr/>
          <p:nvPr/>
        </p:nvPicPr>
        <p:blipFill>
          <a:blip r:embed="rId2"/>
          <a:stretch>
            <a:fillRect/>
          </a:stretch>
        </p:blipFill>
        <p:spPr>
          <a:xfrm>
            <a:off x="169863" y="3141663"/>
            <a:ext cx="4227512" cy="3367087"/>
          </a:xfrm>
          <a:prstGeom prst="rect">
            <a:avLst/>
          </a:prstGeom>
          <a:noFill/>
          <a:ln w="9525">
            <a:noFill/>
          </a:ln>
        </p:spPr>
      </p:pic>
      <p:pic>
        <p:nvPicPr>
          <p:cNvPr id="106501" name="图片 8"/>
          <p:cNvPicPr/>
          <p:nvPr/>
        </p:nvPicPr>
        <p:blipFill>
          <a:blip r:embed="rId3"/>
          <a:stretch>
            <a:fillRect/>
          </a:stretch>
        </p:blipFill>
        <p:spPr>
          <a:xfrm>
            <a:off x="4521200" y="3141663"/>
            <a:ext cx="4457700" cy="3367087"/>
          </a:xfrm>
          <a:prstGeom prst="rect">
            <a:avLst/>
          </a:prstGeom>
          <a:noFill/>
          <a:ln w="9525">
            <a:noFill/>
          </a:ln>
        </p:spPr>
      </p:pic>
    </p:spTree>
  </p:cSld>
  <p:clrMapOvr>
    <a:masterClrMapping/>
  </p:clrMapOvr>
</p:sld>
</file>

<file path=ppt/slides/slide9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7522" name="Picture 9"/>
          <p:cNvPicPr/>
          <p:nvPr/>
        </p:nvPicPr>
        <p:blipFill>
          <a:blip r:embed="rId1"/>
          <a:stretch>
            <a:fillRect/>
          </a:stretch>
        </p:blipFill>
        <p:spPr>
          <a:xfrm>
            <a:off x="0" y="0"/>
            <a:ext cx="9144000" cy="1743075"/>
          </a:xfrm>
          <a:prstGeom prst="rect">
            <a:avLst/>
          </a:prstGeom>
          <a:noFill/>
          <a:ln w="9525">
            <a:noFill/>
          </a:ln>
        </p:spPr>
      </p:pic>
      <p:sp>
        <p:nvSpPr>
          <p:cNvPr id="107523"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科学研究与技术开发的三个环节</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基础研究：</a:t>
            </a:r>
            <a:r>
              <a:rPr altLang="en-US" dirty="0" lang="zh-CN" sz="2400">
                <a:ea typeface="宋体" panose="02010600030101010101" pitchFamily="2" charset="-122"/>
                <a:latin typeface="宋体" panose="02010600030101010101" pitchFamily="2" charset="-122"/>
              </a:rPr>
              <a:t>认识自然现象、揭示自然规律，获取新知识、新原理、新方法的研究活动。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107524" name="图片 2"/>
          <p:cNvPicPr/>
          <p:nvPr/>
        </p:nvPicPr>
        <p:blipFill>
          <a:blip r:embed="rId2"/>
          <a:stretch>
            <a:fillRect/>
          </a:stretch>
        </p:blipFill>
        <p:spPr>
          <a:xfrm>
            <a:off x="2768600" y="3486150"/>
            <a:ext cx="3910013" cy="3000375"/>
          </a:xfrm>
          <a:prstGeom prst="rect">
            <a:avLst/>
          </a:prstGeom>
          <a:noFill/>
          <a:ln w="9525">
            <a:noFill/>
          </a:ln>
        </p:spPr>
      </p:pic>
    </p:spTree>
  </p:cSld>
  <p:clrMapOvr>
    <a:masterClrMapping/>
  </p:clrMapOvr>
</p:sld>
</file>

<file path=ppt/slides/slide9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8546" name="Picture 9"/>
          <p:cNvPicPr/>
          <p:nvPr/>
        </p:nvPicPr>
        <p:blipFill>
          <a:blip r:embed="rId1"/>
          <a:stretch>
            <a:fillRect/>
          </a:stretch>
        </p:blipFill>
        <p:spPr>
          <a:xfrm>
            <a:off x="0" y="0"/>
            <a:ext cx="9144000" cy="1743075"/>
          </a:xfrm>
          <a:prstGeom prst="rect">
            <a:avLst/>
          </a:prstGeom>
          <a:noFill/>
          <a:ln w="9525">
            <a:noFill/>
          </a:ln>
        </p:spPr>
      </p:pic>
      <p:sp>
        <p:nvSpPr>
          <p:cNvPr id="108547"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应用研究：</a:t>
            </a:r>
            <a:r>
              <a:rPr altLang="en-US" dirty="0" lang="zh-CN" sz="2400">
                <a:ea typeface="宋体" panose="02010600030101010101" pitchFamily="2" charset="-122"/>
                <a:latin typeface="宋体" panose="02010600030101010101" pitchFamily="2" charset="-122"/>
              </a:rPr>
              <a:t>指为</a:t>
            </a:r>
            <a:r>
              <a:rPr altLang="en-US" dirty="0" lang="zh-CN" sz="2400">
                <a:solidFill>
                  <a:srgbClr val="FF0000"/>
                </a:solidFill>
                <a:ea typeface="宋体" panose="02010600030101010101" pitchFamily="2" charset="-122"/>
                <a:latin typeface="宋体" panose="02010600030101010101" pitchFamily="2" charset="-122"/>
              </a:rPr>
              <a:t>获得新知识而进行的创造性</a:t>
            </a:r>
            <a:r>
              <a:rPr altLang="en-US" dirty="0" lang="zh-CN" sz="2400">
                <a:ea typeface="宋体" panose="02010600030101010101" pitchFamily="2" charset="-122"/>
                <a:latin typeface="宋体" panose="02010600030101010101" pitchFamily="2" charset="-122"/>
              </a:rPr>
              <a:t>的研究，它主要是针对某一特定的实际目的或目标。</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108548" name="图片 2"/>
          <p:cNvPicPr/>
          <p:nvPr/>
        </p:nvPicPr>
        <p:blipFill>
          <a:blip r:embed="rId2"/>
          <a:stretch>
            <a:fillRect/>
          </a:stretch>
        </p:blipFill>
        <p:spPr>
          <a:xfrm>
            <a:off x="2373313" y="3071813"/>
            <a:ext cx="4397375" cy="3482975"/>
          </a:xfrm>
          <a:prstGeom prst="rect">
            <a:avLst/>
          </a:prstGeom>
          <a:noFill/>
          <a:ln w="9525">
            <a:noFill/>
          </a:ln>
        </p:spPr>
      </p:pic>
    </p:spTree>
  </p:cSld>
  <p:clrMapOvr>
    <a:masterClrMapping/>
  </p:clrMapOvr>
</p:sld>
</file>

<file path=ppt/slides/slide9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09570" name="Picture 9"/>
          <p:cNvPicPr/>
          <p:nvPr/>
        </p:nvPicPr>
        <p:blipFill>
          <a:blip r:embed="rId1"/>
          <a:stretch>
            <a:fillRect/>
          </a:stretch>
        </p:blipFill>
        <p:spPr>
          <a:xfrm>
            <a:off x="0" y="0"/>
            <a:ext cx="9144000" cy="1438275"/>
          </a:xfrm>
          <a:prstGeom prst="rect">
            <a:avLst/>
          </a:prstGeom>
          <a:noFill/>
          <a:ln w="9525">
            <a:noFill/>
          </a:ln>
        </p:spPr>
      </p:pic>
      <p:sp>
        <p:nvSpPr>
          <p:cNvPr id="109571" name="TextBox 2"/>
          <p:cNvSpPr/>
          <p:nvPr/>
        </p:nvSpPr>
        <p:spPr>
          <a:xfrm>
            <a:off x="0" y="1438275"/>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开发研究：</a:t>
            </a:r>
            <a:r>
              <a:rPr altLang="en-US" dirty="0" lang="zh-CN" sz="2400">
                <a:ea typeface="宋体" panose="02010600030101010101" pitchFamily="2" charset="-122"/>
                <a:latin typeface="宋体" panose="02010600030101010101" pitchFamily="2" charset="-122"/>
              </a:rPr>
              <a:t>利用</a:t>
            </a:r>
            <a:r>
              <a:rPr altLang="en-US" dirty="0" lang="zh-CN" sz="2400">
                <a:solidFill>
                  <a:srgbClr val="FF0000"/>
                </a:solidFill>
                <a:ea typeface="宋体" panose="02010600030101010101" pitchFamily="2" charset="-122"/>
                <a:latin typeface="宋体" panose="02010600030101010101" pitchFamily="2" charset="-122"/>
              </a:rPr>
              <a:t>应用研究的成果和现在的知识与技术</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创造新技术、新方法和新产品</a:t>
            </a:r>
            <a:r>
              <a:rPr altLang="en-US" dirty="0" lang="zh-CN" sz="2400">
                <a:ea typeface="宋体" panose="02010600030101010101" pitchFamily="2" charset="-122"/>
                <a:latin typeface="宋体" panose="02010600030101010101" pitchFamily="2" charset="-122"/>
              </a:rPr>
              <a:t>，是一种以生产新产品或完成工程技术任务为内容而进行的研究活动。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109572" name="图片 2"/>
          <p:cNvPicPr/>
          <p:nvPr/>
        </p:nvPicPr>
        <p:blipFill>
          <a:blip r:embed="rId2"/>
          <a:stretch>
            <a:fillRect/>
          </a:stretch>
        </p:blipFill>
        <p:spPr>
          <a:xfrm>
            <a:off x="2579688" y="3122613"/>
            <a:ext cx="4200525" cy="3354387"/>
          </a:xfrm>
          <a:prstGeom prst="rect">
            <a:avLst/>
          </a:prstGeom>
          <a:noFill/>
          <a:ln w="9525">
            <a:noFill/>
          </a:ln>
        </p:spPr>
      </p:pic>
    </p:spTree>
  </p:cSld>
  <p:clrMapOvr>
    <a:masterClrMapping/>
  </p:clrMapOvr>
</p:sld>
</file>

<file path=ppt/slides/slide9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0594" name="Picture 9"/>
          <p:cNvPicPr/>
          <p:nvPr/>
        </p:nvPicPr>
        <p:blipFill>
          <a:blip r:embed="rId1"/>
          <a:stretch>
            <a:fillRect/>
          </a:stretch>
        </p:blipFill>
        <p:spPr>
          <a:xfrm>
            <a:off x="0" y="0"/>
            <a:ext cx="9144000" cy="1743075"/>
          </a:xfrm>
          <a:prstGeom prst="rect">
            <a:avLst/>
          </a:prstGeom>
          <a:noFill/>
          <a:ln w="9525">
            <a:noFill/>
          </a:ln>
        </p:spPr>
      </p:pic>
      <p:sp>
        <p:nvSpPr>
          <p:cNvPr id="110595" name="TextBox 2"/>
          <p:cNvSpPr/>
          <p:nvPr/>
        </p:nvSpPr>
        <p:spPr>
          <a:xfrm>
            <a:off x="0" y="1743075"/>
            <a:ext cx="9144000" cy="66532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区别：</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与自然的关系不同；</a:t>
            </a:r>
            <a:r>
              <a:rPr altLang="en-US" dirty="0" lang="zh-CN" sz="2400">
                <a:solidFill>
                  <a:srgbClr val="0000FF"/>
                </a:solidFill>
                <a:ea typeface="宋体" panose="02010600030101010101" pitchFamily="2" charset="-122"/>
                <a:latin typeface="宋体" panose="02010600030101010101" pitchFamily="2" charset="-122"/>
              </a:rPr>
              <a:t>科学是人与自然的理论关系，是间接生产力；技术是人与自然的实践关系，是直接生产力。</a:t>
            </a:r>
            <a:endParaRPr altLang="en-US" dirty="0" lang="zh-CN"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二者的目的不同；</a:t>
            </a:r>
            <a:r>
              <a:rPr altLang="en-US" dirty="0" lang="zh-CN" sz="2400">
                <a:solidFill>
                  <a:srgbClr val="0000FF"/>
                </a:solidFill>
                <a:ea typeface="宋体" panose="02010600030101010101" pitchFamily="2" charset="-122"/>
                <a:latin typeface="宋体" panose="02010600030101010101" pitchFamily="2" charset="-122"/>
              </a:rPr>
              <a:t>科学属认识范畴，主要回答“是什么”的问题，技术属实践范畴，主要回答“如何做”的问题。</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可预见程度不同；</a:t>
            </a:r>
            <a:r>
              <a:rPr altLang="en-US" dirty="0" lang="zh-CN" sz="2400">
                <a:solidFill>
                  <a:srgbClr val="0000FF"/>
                </a:solidFill>
                <a:ea typeface="宋体" panose="02010600030101010101" pitchFamily="2" charset="-122"/>
                <a:latin typeface="宋体" panose="02010600030101010101" pitchFamily="2" charset="-122"/>
              </a:rPr>
              <a:t>科学一般是不可预见的，而技术总体是可预见的。</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  评价标准不同：</a:t>
            </a:r>
            <a:r>
              <a:rPr altLang="en-US" dirty="0" lang="zh-CN" sz="2400">
                <a:solidFill>
                  <a:srgbClr val="0000FF"/>
                </a:solidFill>
                <a:ea typeface="宋体" panose="02010600030101010101" pitchFamily="2" charset="-122"/>
                <a:latin typeface="宋体" panose="02010600030101010101" pitchFamily="2" charset="-122"/>
              </a:rPr>
              <a:t>科学进步的标准在于能否完善理论，技术的标准在于能否生产出好的产品。</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9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1618" name="Picture 9"/>
          <p:cNvPicPr/>
          <p:nvPr/>
        </p:nvPicPr>
        <p:blipFill>
          <a:blip r:embed="rId1"/>
          <a:stretch>
            <a:fillRect/>
          </a:stretch>
        </p:blipFill>
        <p:spPr>
          <a:xfrm>
            <a:off x="0" y="0"/>
            <a:ext cx="9144000" cy="1743075"/>
          </a:xfrm>
          <a:prstGeom prst="rect">
            <a:avLst/>
          </a:prstGeom>
          <a:noFill/>
          <a:ln w="9525">
            <a:noFill/>
          </a:ln>
        </p:spPr>
      </p:pic>
      <p:sp>
        <p:nvSpPr>
          <p:cNvPr id="111619" name="TextBox 2"/>
          <p:cNvSpPr/>
          <p:nvPr/>
        </p:nvSpPr>
        <p:spPr>
          <a:xfrm>
            <a:off x="0" y="1757363"/>
            <a:ext cx="9144000" cy="49926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二、科学技术的体系结构</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亚里士多德的分类</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哲学知识</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111620" name="左大括号 3"/>
          <p:cNvSpPr/>
          <p:nvPr/>
        </p:nvSpPr>
        <p:spPr>
          <a:xfrm>
            <a:off x="1517650" y="2846388"/>
            <a:ext cx="846138" cy="3760787"/>
          </a:xfrm>
          <a:prstGeom prst="leftBrace">
            <a:avLst>
              <a:gd name="adj1" fmla="val 8333"/>
              <a:gd name="adj2" fmla="val 50000"/>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111621" name="矩形 4"/>
          <p:cNvSpPr/>
          <p:nvPr/>
        </p:nvSpPr>
        <p:spPr>
          <a:xfrm>
            <a:off x="2570163" y="2846388"/>
            <a:ext cx="1657350"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理论知识</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22" name="矩形 5"/>
          <p:cNvSpPr/>
          <p:nvPr/>
        </p:nvSpPr>
        <p:spPr>
          <a:xfrm>
            <a:off x="2570163" y="4435475"/>
            <a:ext cx="1657350" cy="582613"/>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实践知识</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23" name="矩形 6"/>
          <p:cNvSpPr/>
          <p:nvPr/>
        </p:nvSpPr>
        <p:spPr>
          <a:xfrm>
            <a:off x="2552700" y="6026150"/>
            <a:ext cx="1657350" cy="581025"/>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创制知识</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24" name="左大括号 7"/>
          <p:cNvSpPr/>
          <p:nvPr/>
        </p:nvSpPr>
        <p:spPr>
          <a:xfrm>
            <a:off x="4278313" y="1873250"/>
            <a:ext cx="846137" cy="1743075"/>
          </a:xfrm>
          <a:prstGeom prst="leftBrace">
            <a:avLst>
              <a:gd name="adj1" fmla="val 8325"/>
              <a:gd name="adj2" fmla="val 50000"/>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111625" name="左大括号 8"/>
          <p:cNvSpPr/>
          <p:nvPr/>
        </p:nvSpPr>
        <p:spPr>
          <a:xfrm>
            <a:off x="4330700" y="3494088"/>
            <a:ext cx="844550" cy="1743075"/>
          </a:xfrm>
          <a:prstGeom prst="leftBrace">
            <a:avLst>
              <a:gd name="adj1" fmla="val 8341"/>
              <a:gd name="adj2" fmla="val 50000"/>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111626" name="左大括号 9"/>
          <p:cNvSpPr/>
          <p:nvPr/>
        </p:nvSpPr>
        <p:spPr>
          <a:xfrm>
            <a:off x="4348163" y="5114925"/>
            <a:ext cx="844550" cy="1743075"/>
          </a:xfrm>
          <a:prstGeom prst="leftBrace">
            <a:avLst>
              <a:gd name="adj1" fmla="val 8341"/>
              <a:gd name="adj2" fmla="val 50000"/>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ea typeface="宋体" panose="02010600030101010101" pitchFamily="2" charset="-122"/>
              <a:latin typeface="Arial" panose="020B0604020202020204" pitchFamily="34" charset="0"/>
            </a:endParaRPr>
          </a:p>
        </p:txBody>
      </p:sp>
      <p:sp>
        <p:nvSpPr>
          <p:cNvPr id="111627" name="矩形 10"/>
          <p:cNvSpPr/>
          <p:nvPr/>
        </p:nvSpPr>
        <p:spPr>
          <a:xfrm>
            <a:off x="5235575" y="1814513"/>
            <a:ext cx="1657350"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数学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28" name="矩形 11"/>
          <p:cNvSpPr/>
          <p:nvPr/>
        </p:nvSpPr>
        <p:spPr>
          <a:xfrm>
            <a:off x="5235575" y="2360613"/>
            <a:ext cx="1657350"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物理学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29" name="矩形 12"/>
          <p:cNvSpPr/>
          <p:nvPr/>
        </p:nvSpPr>
        <p:spPr>
          <a:xfrm>
            <a:off x="5235575" y="2859088"/>
            <a:ext cx="1657350"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形而上学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0" name="矩形 13"/>
          <p:cNvSpPr/>
          <p:nvPr/>
        </p:nvSpPr>
        <p:spPr>
          <a:xfrm>
            <a:off x="5235575" y="3349625"/>
            <a:ext cx="1657350" cy="582613"/>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政治学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1" name="矩形 14"/>
          <p:cNvSpPr/>
          <p:nvPr/>
        </p:nvSpPr>
        <p:spPr>
          <a:xfrm>
            <a:off x="5235575" y="3878263"/>
            <a:ext cx="1657350"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经济学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2" name="矩形 15"/>
          <p:cNvSpPr/>
          <p:nvPr/>
        </p:nvSpPr>
        <p:spPr>
          <a:xfrm>
            <a:off x="5262563" y="4435475"/>
            <a:ext cx="1655762" cy="582613"/>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伦理学</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3" name="矩形 16"/>
          <p:cNvSpPr/>
          <p:nvPr/>
        </p:nvSpPr>
        <p:spPr>
          <a:xfrm>
            <a:off x="5245100" y="5038725"/>
            <a:ext cx="1655763" cy="582613"/>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诗歌</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4" name="矩形 17"/>
          <p:cNvSpPr/>
          <p:nvPr/>
        </p:nvSpPr>
        <p:spPr>
          <a:xfrm>
            <a:off x="5245100" y="5592763"/>
            <a:ext cx="1655763"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艺术</a:t>
            </a:r>
            <a:endParaRPr altLang="en-US" dirty="0" lang="zh-CN" sz="2800">
              <a:solidFill>
                <a:srgbClr val="FF0000"/>
              </a:solidFill>
              <a:ea typeface="宋体" panose="02010600030101010101" pitchFamily="2" charset="-122"/>
              <a:latin typeface="Arial" panose="020B0604020202020204" pitchFamily="34" charset="0"/>
            </a:endParaRPr>
          </a:p>
        </p:txBody>
      </p:sp>
      <p:sp>
        <p:nvSpPr>
          <p:cNvPr id="111635" name="矩形 18"/>
          <p:cNvSpPr/>
          <p:nvPr/>
        </p:nvSpPr>
        <p:spPr>
          <a:xfrm>
            <a:off x="5262563" y="6157913"/>
            <a:ext cx="1655762" cy="5826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sz="2800">
                <a:solidFill>
                  <a:srgbClr val="FF0000"/>
                </a:solidFill>
                <a:ea typeface="宋体" panose="02010600030101010101" pitchFamily="2" charset="-122"/>
                <a:latin typeface="Arial" panose="020B0604020202020204" pitchFamily="34" charset="0"/>
              </a:rPr>
              <a:t>讲演术</a:t>
            </a:r>
            <a:endParaRPr altLang="en-US" dirty="0" lang="zh-CN" sz="2800">
              <a:solidFill>
                <a:srgbClr val="FF0000"/>
              </a:solidFill>
              <a:ea typeface="宋体" panose="02010600030101010101" pitchFamily="2" charset="-122"/>
              <a:latin typeface="Arial" panose="020B0604020202020204" pitchFamily="34" charset="0"/>
            </a:endParaRPr>
          </a:p>
        </p:txBody>
      </p:sp>
    </p:spTree>
  </p:cSld>
  <p:clrMapOvr>
    <a:masterClrMapping/>
  </p:clrMapOvr>
</p:sld>
</file>

<file path=ppt/slides/slide9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2642" name="Picture 9"/>
          <p:cNvPicPr/>
          <p:nvPr/>
        </p:nvPicPr>
        <p:blipFill>
          <a:blip r:embed="rId1"/>
          <a:stretch>
            <a:fillRect/>
          </a:stretch>
        </p:blipFill>
        <p:spPr>
          <a:xfrm>
            <a:off x="0" y="0"/>
            <a:ext cx="9144000" cy="1743075"/>
          </a:xfrm>
          <a:prstGeom prst="rect">
            <a:avLst/>
          </a:prstGeom>
          <a:noFill/>
          <a:ln w="9525">
            <a:noFill/>
          </a:ln>
        </p:spPr>
      </p:pic>
      <p:sp>
        <p:nvSpPr>
          <p:cNvPr id="112643"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F.</a:t>
            </a:r>
            <a:r>
              <a:rPr altLang="en-US" dirty="0" lang="zh-CN" sz="2400">
                <a:ea typeface="宋体" panose="02010600030101010101" pitchFamily="2" charset="-122"/>
                <a:latin typeface="宋体" panose="02010600030101010101" pitchFamily="2" charset="-122"/>
              </a:rPr>
              <a:t>培根的分类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科学发展是人类理性能力的表现，因而科学分类应从人类理性出发。</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人的理性能力的分类：</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记忆能力、想象能力、判断能力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科学的分类：</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历史学：记忆的科学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诗歌：想象力的科学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哲学：理性判断的科学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9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3666" name="Picture 9"/>
          <p:cNvPicPr/>
          <p:nvPr/>
        </p:nvPicPr>
        <p:blipFill>
          <a:blip r:embed="rId1"/>
          <a:stretch>
            <a:fillRect/>
          </a:stretch>
        </p:blipFill>
        <p:spPr>
          <a:xfrm>
            <a:off x="0" y="0"/>
            <a:ext cx="9144000" cy="1743075"/>
          </a:xfrm>
          <a:prstGeom prst="rect">
            <a:avLst/>
          </a:prstGeom>
          <a:noFill/>
          <a:ln w="9525">
            <a:noFill/>
          </a:ln>
        </p:spPr>
      </p:pic>
      <p:sp>
        <p:nvSpPr>
          <p:cNvPr id="113667"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孔德的分类：</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按照各类现象生产的历史和特殊性程度的不同进行分类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天文学</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物理学</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化学</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生物学</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社会学</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0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4690" name="Picture 9"/>
          <p:cNvPicPr/>
          <p:nvPr/>
        </p:nvPicPr>
        <p:blipFill>
          <a:blip r:embed="rId1"/>
          <a:stretch>
            <a:fillRect/>
          </a:stretch>
        </p:blipFill>
        <p:spPr>
          <a:xfrm>
            <a:off x="0" y="0"/>
            <a:ext cx="9144000" cy="1743075"/>
          </a:xfrm>
          <a:prstGeom prst="rect">
            <a:avLst/>
          </a:prstGeom>
          <a:noFill/>
          <a:ln w="9525">
            <a:noFill/>
          </a:ln>
        </p:spPr>
      </p:pic>
      <p:sp>
        <p:nvSpPr>
          <p:cNvPr id="114691" name="TextBox 2"/>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现代科学技术的体系结构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2" name="矩形 1"/>
          <p:cNvSpPr/>
          <p:nvPr/>
        </p:nvSpPr>
        <p:spPr>
          <a:xfrm>
            <a:off x="534838" y="2812211"/>
            <a:ext cx="776377" cy="2605178"/>
          </a:xfrm>
          <a:prstGeom prst="rect">
            <a:avLst/>
          </a:prstGeom>
          <a:ln w="12700">
            <a:headEnd type="none" len="med" w="med"/>
            <a:tailEnd type="none" len="med" w="med"/>
          </a:ln>
        </p:spPr>
        <p:style>
          <a:lnRef idx="0">
            <a:schemeClr val="accent2"/>
          </a:lnRef>
          <a:fillRef idx="3">
            <a:schemeClr val="accent2"/>
          </a:fillRef>
          <a:effectRef idx="3">
            <a:schemeClr val="accent2"/>
          </a:effectRef>
          <a:fontRef idx="minor">
            <a:schemeClr val="lt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rPr>
              <a:t>基</a:t>
            </a:r>
            <a:endParaRPr altLang="zh-CN" dirty="0" kern="1200" kumimoji="0" lang="en-US"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rPr>
              <a:t>础</a:t>
            </a:r>
            <a:endParaRPr altLang="zh-CN" dirty="0" kern="1200" kumimoji="0" lang="en-US"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rPr>
              <a:t>科</a:t>
            </a:r>
            <a:endParaRPr altLang="zh-CN" dirty="0" kern="1200" kumimoji="0" lang="en-US"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rPr>
              <a:t>学</a:t>
            </a:r>
            <a:endParaRPr altLang="en-US" dirty="0" kern="1200" kumimoji="0" lang="zh-CN" normalizeH="0" b="0" cap="none" i="0" noProof="0" spc="0" strike="noStrike" sz="3200" u="none">
              <a:ln>
                <a:noFill/>
              </a:ln>
              <a:solidFill>
                <a:schemeClr val="lt1"/>
              </a:solidFill>
              <a:effectLst/>
              <a:uLnTx/>
              <a:uFillTx/>
              <a:cs typeface="+mn-cs"/>
              <a:ea typeface="宋体" panose="02010600030101010101" pitchFamily="2" charset="-122"/>
              <a:latin typeface="宋体" panose="02010600030101010101" pitchFamily="2" charset="-122"/>
            </a:endParaRPr>
          </a:p>
        </p:txBody>
      </p:sp>
      <p:sp>
        <p:nvSpPr>
          <p:cNvPr id="4" name="矩形 3"/>
          <p:cNvSpPr/>
          <p:nvPr/>
        </p:nvSpPr>
        <p:spPr>
          <a:xfrm>
            <a:off x="2173857" y="2812211"/>
            <a:ext cx="2191109" cy="673939"/>
          </a:xfrm>
          <a:prstGeom prst="rect">
            <a:avLst/>
          </a:prstGeom>
          <a:ln w="12700">
            <a:headEnd type="none" len="med" w="med"/>
            <a:tailEnd type="none" len="med" w="med"/>
          </a:ln>
        </p:spPr>
        <p:style>
          <a:lnRef idx="0">
            <a:schemeClr val="accent1"/>
          </a:lnRef>
          <a:fillRef idx="3">
            <a:schemeClr val="accent1"/>
          </a:fillRef>
          <a:effectRef idx="3">
            <a:schemeClr val="accent1"/>
          </a:effectRef>
          <a:fontRef idx="minor">
            <a:schemeClr val="lt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自然科学</a:t>
            </a:r>
            <a:endPar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2173856" y="3790950"/>
            <a:ext cx="2191109" cy="673939"/>
          </a:xfrm>
          <a:prstGeom prst="rect">
            <a:avLst/>
          </a:prstGeom>
          <a:ln w="12700">
            <a:headEnd type="none" len="med" w="med"/>
            <a:tailEnd type="none" len="med" w="med"/>
          </a:ln>
        </p:spPr>
        <p:style>
          <a:lnRef idx="0">
            <a:schemeClr val="accent2"/>
          </a:lnRef>
          <a:fillRef idx="3">
            <a:schemeClr val="accent2"/>
          </a:fillRef>
          <a:effectRef idx="3">
            <a:schemeClr val="accent2"/>
          </a:effectRef>
          <a:fontRef idx="minor">
            <a:schemeClr val="lt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数学科学</a:t>
            </a:r>
            <a:endPar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2153727" y="4814330"/>
            <a:ext cx="2191109" cy="673939"/>
          </a:xfrm>
          <a:prstGeom prst="rect">
            <a:avLst/>
          </a:prstGeom>
          <a:ln w="12700">
            <a:headEnd type="none" len="med" w="med"/>
            <a:tailEnd type="none" len="med" w="med"/>
          </a:ln>
        </p:spPr>
        <p:style>
          <a:lnRef idx="0">
            <a:schemeClr val="accent5"/>
          </a:lnRef>
          <a:fillRef idx="3">
            <a:schemeClr val="accent5"/>
          </a:fillRef>
          <a:effectRef idx="3">
            <a:schemeClr val="accent5"/>
          </a:effectRef>
          <a:fontRef idx="minor">
            <a:schemeClr val="lt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社会科学</a:t>
            </a:r>
            <a:endPar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5" name="矩形 4"/>
          <p:cNvSpPr/>
          <p:nvPr/>
        </p:nvSpPr>
        <p:spPr>
          <a:xfrm>
            <a:off x="5141913" y="2811463"/>
            <a:ext cx="931863" cy="2606675"/>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技</a:t>
            </a:r>
            <a:endParaRPr altLang="zh-CN" dirty="0" kern="1200" kumimoji="0" lang="en-US"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术</a:t>
            </a:r>
            <a:endParaRPr altLang="zh-CN" dirty="0" kern="1200" kumimoji="0" lang="en-US"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rPr>
              <a:t>科</a:t>
            </a:r>
            <a:endParaRPr altLang="zh-CN" dirty="0" kern="1200" kumimoji="0" lang="en-US"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rPr>
              <a:t>学</a:t>
            </a:r>
            <a:endPar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
        <p:nvSpPr>
          <p:cNvPr id="9" name="矩形 8"/>
          <p:cNvSpPr/>
          <p:nvPr/>
        </p:nvSpPr>
        <p:spPr>
          <a:xfrm>
            <a:off x="7467600" y="2811463"/>
            <a:ext cx="931863" cy="260508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工</a:t>
            </a:r>
            <a:endParaRPr altLang="zh-CN" dirty="0" kern="1200" kumimoji="0" lang="en-US"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rPr>
              <a:t>程</a:t>
            </a:r>
            <a:endParaRPr altLang="zh-CN" dirty="0" kern="1200" kumimoji="0" lang="en-US" normalizeH="0" b="0" cap="none" i="0" noProof="0" spc="0" strike="noStrike" sz="32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rPr>
              <a:t>科</a:t>
            </a:r>
            <a:endParaRPr altLang="zh-CN" dirty="0" kern="1200" kumimoji="0" lang="en-US"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3200" u="none">
                <a:ln>
                  <a:noFill/>
                </a:ln>
                <a:solidFill>
                  <a:schemeClr val="dk1"/>
                </a:solidFill>
                <a:effectLst/>
                <a:uLnTx/>
                <a:uFillTx/>
                <a:cs typeface="+mn-cs"/>
                <a:ea typeface="宋体" panose="02010600030101010101" pitchFamily="2" charset="-122"/>
                <a:latin typeface="宋体" panose="02010600030101010101" pitchFamily="2" charset="-122"/>
              </a:rPr>
              <a:t>学</a:t>
            </a:r>
            <a:endParaRPr altLang="en-US" dirty="0" kern="1200" kumimoji="0" lang="zh-CN" normalizeH="0" b="0"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cxnSp>
        <p:nvCxnSpPr>
          <p:cNvPr id="114706" name="直接连接符 9"/>
          <p:cNvCxnSpPr/>
          <p:nvPr/>
        </p:nvCxnSpPr>
        <p:spPr>
          <a:xfrm flipV="1">
            <a:off x="1311275" y="3149600"/>
            <a:ext cx="862013" cy="33338"/>
          </a:xfrm>
          <a:prstGeom prst="line">
            <a:avLst/>
          </a:prstGeom>
          <a:ln w="9525" cap="flat" cmpd="sng">
            <a:solidFill>
              <a:schemeClr val="tx1"/>
            </a:solidFill>
            <a:prstDash val="solid"/>
            <a:headEnd type="none" len="med" w="med"/>
            <a:tailEnd type="none" len="med" w="med"/>
          </a:ln>
        </p:spPr>
      </p:cxnSp>
      <p:cxnSp>
        <p:nvCxnSpPr>
          <p:cNvPr id="114707" name="直接连接符 11"/>
          <p:cNvCxnSpPr/>
          <p:nvPr/>
        </p:nvCxnSpPr>
        <p:spPr>
          <a:xfrm>
            <a:off x="1311275" y="4114800"/>
            <a:ext cx="862013" cy="12700"/>
          </a:xfrm>
          <a:prstGeom prst="line">
            <a:avLst/>
          </a:prstGeom>
          <a:ln w="9525" cap="flat" cmpd="sng">
            <a:solidFill>
              <a:schemeClr val="tx1"/>
            </a:solidFill>
            <a:prstDash val="solid"/>
            <a:headEnd type="none" len="med" w="med"/>
            <a:tailEnd type="none" len="med" w="med"/>
          </a:ln>
        </p:spPr>
      </p:cxnSp>
      <p:cxnSp>
        <p:nvCxnSpPr>
          <p:cNvPr id="114708" name="直接连接符 13"/>
          <p:cNvCxnSpPr/>
          <p:nvPr/>
        </p:nvCxnSpPr>
        <p:spPr>
          <a:xfrm>
            <a:off x="1311275" y="5118100"/>
            <a:ext cx="842963" cy="33338"/>
          </a:xfrm>
          <a:prstGeom prst="line">
            <a:avLst/>
          </a:prstGeom>
          <a:ln w="9525" cap="flat" cmpd="sng">
            <a:solidFill>
              <a:schemeClr val="tx1"/>
            </a:solidFill>
            <a:prstDash val="solid"/>
            <a:headEnd type="none" len="med" w="med"/>
            <a:tailEnd type="none" len="med" w="med"/>
          </a:ln>
        </p:spPr>
      </p:cxnSp>
      <p:cxnSp>
        <p:nvCxnSpPr>
          <p:cNvPr id="114709" name="直接连接符 15"/>
          <p:cNvCxnSpPr/>
          <p:nvPr/>
        </p:nvCxnSpPr>
        <p:spPr>
          <a:xfrm>
            <a:off x="4365625" y="3149600"/>
            <a:ext cx="776288" cy="0"/>
          </a:xfrm>
          <a:prstGeom prst="line">
            <a:avLst/>
          </a:prstGeom>
          <a:ln w="9525" cap="flat" cmpd="sng">
            <a:solidFill>
              <a:schemeClr val="tx1"/>
            </a:solidFill>
            <a:prstDash val="solid"/>
            <a:headEnd type="none" len="med" w="med"/>
            <a:tailEnd type="none" len="med" w="med"/>
          </a:ln>
        </p:spPr>
      </p:cxnSp>
      <p:cxnSp>
        <p:nvCxnSpPr>
          <p:cNvPr id="114710" name="直接连接符 17"/>
          <p:cNvCxnSpPr>
            <a:endCxn id="5" idx="1"/>
          </p:cNvCxnSpPr>
          <p:nvPr/>
        </p:nvCxnSpPr>
        <p:spPr>
          <a:xfrm>
            <a:off x="4365625" y="4113213"/>
            <a:ext cx="776288" cy="1587"/>
          </a:xfrm>
          <a:prstGeom prst="line">
            <a:avLst/>
          </a:prstGeom>
          <a:ln w="9525" cap="flat" cmpd="sng">
            <a:solidFill>
              <a:schemeClr val="tx1"/>
            </a:solidFill>
            <a:prstDash val="solid"/>
            <a:headEnd type="none" len="med" w="med"/>
            <a:tailEnd type="none" len="med" w="med"/>
          </a:ln>
        </p:spPr>
      </p:cxnSp>
      <p:cxnSp>
        <p:nvCxnSpPr>
          <p:cNvPr id="114711" name="直接连接符 19"/>
          <p:cNvCxnSpPr/>
          <p:nvPr/>
        </p:nvCxnSpPr>
        <p:spPr>
          <a:xfrm>
            <a:off x="4344988" y="5151438"/>
            <a:ext cx="796925" cy="0"/>
          </a:xfrm>
          <a:prstGeom prst="line">
            <a:avLst/>
          </a:prstGeom>
          <a:ln w="9525" cap="flat" cmpd="sng">
            <a:solidFill>
              <a:schemeClr val="tx1"/>
            </a:solidFill>
            <a:prstDash val="solid"/>
            <a:headEnd type="none" len="med" w="med"/>
            <a:tailEnd type="none" len="med" w="med"/>
          </a:ln>
        </p:spPr>
      </p:cxnSp>
      <p:cxnSp>
        <p:nvCxnSpPr>
          <p:cNvPr id="114712" name="直接连接符 21"/>
          <p:cNvCxnSpPr/>
          <p:nvPr/>
        </p:nvCxnSpPr>
        <p:spPr>
          <a:xfrm>
            <a:off x="6073775" y="3165475"/>
            <a:ext cx="1393825" cy="17463"/>
          </a:xfrm>
          <a:prstGeom prst="line">
            <a:avLst/>
          </a:prstGeom>
          <a:ln w="9525" cap="flat" cmpd="sng">
            <a:solidFill>
              <a:schemeClr val="tx1"/>
            </a:solidFill>
            <a:prstDash val="solid"/>
            <a:headEnd type="none" len="med" w="med"/>
            <a:tailEnd type="none" len="med" w="med"/>
          </a:ln>
        </p:spPr>
      </p:cxnSp>
      <p:cxnSp>
        <p:nvCxnSpPr>
          <p:cNvPr id="114713" name="直接连接符 23"/>
          <p:cNvCxnSpPr>
            <a:endCxn id="9" idx="1"/>
          </p:cNvCxnSpPr>
          <p:nvPr/>
        </p:nvCxnSpPr>
        <p:spPr>
          <a:xfrm flipV="1">
            <a:off x="6073775" y="4113213"/>
            <a:ext cx="1393825" cy="14287"/>
          </a:xfrm>
          <a:prstGeom prst="line">
            <a:avLst/>
          </a:prstGeom>
          <a:ln w="9525" cap="flat" cmpd="sng">
            <a:solidFill>
              <a:schemeClr val="tx1"/>
            </a:solidFill>
            <a:prstDash val="solid"/>
            <a:headEnd type="none" len="med" w="med"/>
            <a:tailEnd type="none" len="med" w="med"/>
          </a:ln>
        </p:spPr>
      </p:cxnSp>
      <p:cxnSp>
        <p:nvCxnSpPr>
          <p:cNvPr id="114714" name="直接连接符 25"/>
          <p:cNvCxnSpPr/>
          <p:nvPr/>
        </p:nvCxnSpPr>
        <p:spPr>
          <a:xfrm>
            <a:off x="6073775" y="5072063"/>
            <a:ext cx="1393825" cy="0"/>
          </a:xfrm>
          <a:prstGeom prst="line">
            <a:avLst/>
          </a:prstGeom>
          <a:ln w="9525" cap="flat" cmpd="sng">
            <a:solidFill>
              <a:schemeClr val="tx1"/>
            </a:solidFill>
            <a:prstDash val="solid"/>
            <a:headEnd type="none" len="med" w="med"/>
            <a:tailEnd type="none" len="med" w="med"/>
          </a:ln>
        </p:spPr>
      </p:cxnSp>
    </p:spTree>
  </p:cSld>
  <p:clrMapOvr>
    <a:masterClrMapping/>
  </p:clrMapOvr>
</p:sld>
</file>

<file path=ppt/slides/slide10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6738" name="Picture 9"/>
          <p:cNvPicPr/>
          <p:nvPr/>
        </p:nvPicPr>
        <p:blipFill>
          <a:blip r:embed="rId1"/>
          <a:stretch>
            <a:fillRect/>
          </a:stretch>
        </p:blipFill>
        <p:spPr>
          <a:xfrm>
            <a:off x="0" y="0"/>
            <a:ext cx="9144000" cy="1743075"/>
          </a:xfrm>
          <a:prstGeom prst="rect">
            <a:avLst/>
          </a:prstGeom>
          <a:noFill/>
          <a:ln w="9525">
            <a:noFill/>
          </a:ln>
        </p:spPr>
      </p:pic>
      <p:sp>
        <p:nvSpPr>
          <p:cNvPr id="116739"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技术体系的分类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基本技术分类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2" name="左大括号 1"/>
          <p:cNvSpPr/>
          <p:nvPr/>
        </p:nvSpPr>
        <p:spPr>
          <a:xfrm>
            <a:off x="2446338" y="2384425"/>
            <a:ext cx="708025" cy="3813175"/>
          </a:xfrm>
          <a:prstGeom prst="leftBrace">
            <a:avLst/>
          </a:prstGeom>
          <a:ln w="9525">
            <a:headEnd type="none" len="med" w="med"/>
            <a:tailEnd type="none" len="med" w="med"/>
          </a:ln>
        </p:spPr>
        <p:style>
          <a:lnRef idx="1">
            <a:schemeClr val="dk1"/>
          </a:lnRef>
          <a:fillRef idx="0">
            <a:schemeClr val="dk1"/>
          </a:fillRef>
          <a:effectRef idx="0">
            <a:schemeClr val="dk1"/>
          </a:effectRef>
          <a:fontRef idx="minor">
            <a:schemeClr val="tx1"/>
          </a:fontRef>
        </p:style>
        <p:txBody>
          <a:bodyPr/>
          <a:lstStyle/>
          <a:p>
            <a:pPr marL="0" marR="0" indent="0" lvl="0" algn="l" defTabSz="914400" rtl="0" eaLnBrk="1" latinLnBrk="0" hangingPunct="1" fontAlgn="base">
              <a:lnSpc>
                <a:spcPct val="100000"/>
              </a:lnSpc>
              <a:spcBef>
                <a:spcPct val="0"/>
              </a:spcBef>
              <a:spcAft>
                <a:spcPct val="0"/>
              </a:spcAft>
              <a:buNone/>
              <a:defRPr/>
            </a:pPr>
            <a:endParaRPr altLang="en-US" kern="1200" kumimoji="0" lang="zh-CN" normalizeH="0" b="0" cap="none" i="0" noProof="0" spc="0" strike="noStrike" sz="18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4" name="矩形 3"/>
          <p:cNvSpPr/>
          <p:nvPr/>
        </p:nvSpPr>
        <p:spPr>
          <a:xfrm>
            <a:off x="3154363" y="4405313"/>
            <a:ext cx="2570163"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化学</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化工技术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3154363" y="3279775"/>
            <a:ext cx="2570163"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物理学</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物理技术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3154363" y="2076450"/>
            <a:ext cx="2570163"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力学</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机械技术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8" name="矩形 7"/>
          <p:cNvSpPr/>
          <p:nvPr/>
        </p:nvSpPr>
        <p:spPr>
          <a:xfrm>
            <a:off x="3154363" y="5626100"/>
            <a:ext cx="2570163"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生物学</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生物技术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9" name="矩形 8"/>
          <p:cNvSpPr/>
          <p:nvPr/>
        </p:nvSpPr>
        <p:spPr>
          <a:xfrm>
            <a:off x="0" y="4552950"/>
            <a:ext cx="2570163" cy="93345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rgbClr val="FF0000"/>
                </a:solidFill>
                <a:effectLst/>
                <a:uLnTx/>
                <a:uFillTx/>
                <a:cs typeface="+mn-cs"/>
                <a:ea typeface="宋体" panose="02010600030101010101" pitchFamily="2" charset="-122"/>
                <a:latin typeface="Arial" panose="020B0604020202020204" pitchFamily="34" charset="0"/>
              </a:rPr>
              <a:t>以自然界的基本运动形式分类</a:t>
            </a:r>
            <a:endParaRPr altLang="en-US" dirty="0" kern="1200" kumimoji="0" lang="zh-CN" normalizeH="0" b="0" cap="none" i="0" noProof="0" spc="0" strike="noStrike" sz="2400" u="none">
              <a:ln>
                <a:noFill/>
              </a:ln>
              <a:solidFill>
                <a:srgbClr val="FF0000"/>
              </a:solidFill>
              <a:effectLst/>
              <a:uLnTx/>
              <a:uFillTx/>
              <a:cs typeface="+mn-cs"/>
              <a:ea typeface="宋体" panose="02010600030101010101" pitchFamily="2" charset="-122"/>
              <a:latin typeface="Arial" panose="020B0604020202020204" pitchFamily="34" charset="0"/>
            </a:endParaRPr>
          </a:p>
        </p:txBody>
      </p:sp>
    </p:spTree>
  </p:cSld>
  <p:clrMapOvr>
    <a:masterClrMapping/>
  </p:clrMapOvr>
</p:sld>
</file>

<file path=ppt/slides/slide10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7762" name="Picture 9"/>
          <p:cNvPicPr/>
          <p:nvPr/>
        </p:nvPicPr>
        <p:blipFill>
          <a:blip r:embed="rId1"/>
          <a:stretch>
            <a:fillRect/>
          </a:stretch>
        </p:blipFill>
        <p:spPr>
          <a:xfrm>
            <a:off x="0" y="0"/>
            <a:ext cx="9144000" cy="1743075"/>
          </a:xfrm>
          <a:prstGeom prst="rect">
            <a:avLst/>
          </a:prstGeom>
          <a:noFill/>
          <a:ln w="9525">
            <a:noFill/>
          </a:ln>
        </p:spPr>
      </p:pic>
      <p:sp>
        <p:nvSpPr>
          <p:cNvPr id="117763"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劳动过程中的技术分类</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（日本学者星野芳朗以八类基本劳动过程为基础）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矩形 3"/>
          <p:cNvSpPr/>
          <p:nvPr/>
        </p:nvSpPr>
        <p:spPr>
          <a:xfrm>
            <a:off x="0" y="3130550"/>
            <a:ext cx="2070100" cy="820738"/>
          </a:xfrm>
          <a:prstGeom prst="rect">
            <a:avLst/>
          </a:prstGeom>
          <a:solidFill>
            <a:srgbClr val="FF0000"/>
          </a:solidFill>
          <a:ln w="25400">
            <a:headEnd type="none" len="med" w="med"/>
            <a:tailEnd type="none" len="med" w="med"/>
          </a:ln>
        </p:spPr>
        <p:style>
          <a:lnRef idx="2">
            <a:schemeClr val="accent3"/>
          </a:lnRef>
          <a:fillRef idx="1">
            <a:schemeClr val="lt1"/>
          </a:fillRef>
          <a:effectRef idx="0">
            <a:schemeClr val="accent3"/>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采集技术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5" name="矩形 4"/>
          <p:cNvSpPr/>
          <p:nvPr/>
        </p:nvSpPr>
        <p:spPr>
          <a:xfrm>
            <a:off x="2070100" y="3130550"/>
            <a:ext cx="2070100"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原料生产技术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4140200" y="3130550"/>
            <a:ext cx="2070100"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机械生产技术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6210300" y="3130550"/>
            <a:ext cx="1933575" cy="822325"/>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建设技术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8" name="矩形 7"/>
          <p:cNvSpPr/>
          <p:nvPr/>
        </p:nvSpPr>
        <p:spPr>
          <a:xfrm>
            <a:off x="0" y="4108450"/>
            <a:ext cx="2070100"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运输技术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9" name="矩形 8"/>
          <p:cNvSpPr/>
          <p:nvPr/>
        </p:nvSpPr>
        <p:spPr>
          <a:xfrm>
            <a:off x="2070100" y="4108450"/>
            <a:ext cx="2070100"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信息处理技术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0" name="矩形 9"/>
          <p:cNvSpPr/>
          <p:nvPr/>
        </p:nvSpPr>
        <p:spPr>
          <a:xfrm>
            <a:off x="4140200" y="4108450"/>
            <a:ext cx="2070100"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能源生产技术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1" name="矩形 10"/>
          <p:cNvSpPr/>
          <p:nvPr/>
        </p:nvSpPr>
        <p:spPr>
          <a:xfrm>
            <a:off x="6216650" y="4114800"/>
            <a:ext cx="1927225"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农业生产技术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Tree>
  </p:cSld>
  <p:clrMapOvr>
    <a:masterClrMapping/>
  </p:clrMapOvr>
</p:sld>
</file>

<file path=ppt/slides/slide10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8786" name="Picture 9"/>
          <p:cNvPicPr/>
          <p:nvPr/>
        </p:nvPicPr>
        <p:blipFill>
          <a:blip r:embed="rId1"/>
          <a:stretch>
            <a:fillRect/>
          </a:stretch>
        </p:blipFill>
        <p:spPr>
          <a:xfrm>
            <a:off x="0" y="0"/>
            <a:ext cx="9144000" cy="1743075"/>
          </a:xfrm>
          <a:prstGeom prst="rect">
            <a:avLst/>
          </a:prstGeom>
          <a:noFill/>
          <a:ln w="9525">
            <a:noFill/>
          </a:ln>
        </p:spPr>
      </p:pic>
      <p:sp>
        <p:nvSpPr>
          <p:cNvPr id="118787" name="TextBox 2"/>
          <p:cNvSpPr/>
          <p:nvPr/>
        </p:nvSpPr>
        <p:spPr>
          <a:xfrm>
            <a:off x="17463" y="1862138"/>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产业技术的分类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第一产业</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矩形 3"/>
          <p:cNvSpPr/>
          <p:nvPr/>
        </p:nvSpPr>
        <p:spPr>
          <a:xfrm>
            <a:off x="0" y="3019425"/>
            <a:ext cx="1258888" cy="187960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栽培技术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农业、林业</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5" name="矩形 4"/>
          <p:cNvSpPr/>
          <p:nvPr/>
        </p:nvSpPr>
        <p:spPr>
          <a:xfrm>
            <a:off x="1276350" y="2995613"/>
            <a:ext cx="1260475" cy="1903413"/>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捕捞技术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渔业</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2552700" y="2995613"/>
            <a:ext cx="1311275" cy="1903413"/>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饲养技术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畜牧业、水产业</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3881438" y="2973388"/>
            <a:ext cx="1311275" cy="19256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力学</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机械技术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8" name="矩形 7"/>
          <p:cNvSpPr/>
          <p:nvPr/>
        </p:nvSpPr>
        <p:spPr>
          <a:xfrm>
            <a:off x="5210175" y="2968625"/>
            <a:ext cx="1311275" cy="193040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材料技术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金属、石油化工工业</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Tree>
  </p:cSld>
  <p:clrMapOvr>
    <a:masterClrMapping/>
  </p:clrMapOvr>
</p:sld>
</file>

<file path=ppt/slides/slide10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19810" name="Picture 9"/>
          <p:cNvPicPr/>
          <p:nvPr/>
        </p:nvPicPr>
        <p:blipFill>
          <a:blip r:embed="rId1"/>
          <a:stretch>
            <a:fillRect/>
          </a:stretch>
        </p:blipFill>
        <p:spPr>
          <a:xfrm>
            <a:off x="0" y="0"/>
            <a:ext cx="9144000" cy="1743075"/>
          </a:xfrm>
          <a:prstGeom prst="rect">
            <a:avLst/>
          </a:prstGeom>
          <a:noFill/>
          <a:ln w="9525">
            <a:noFill/>
          </a:ln>
        </p:spPr>
      </p:pic>
      <p:sp>
        <p:nvSpPr>
          <p:cNvPr id="119811" name="TextBox 2"/>
          <p:cNvSpPr/>
          <p:nvPr/>
        </p:nvSpPr>
        <p:spPr>
          <a:xfrm>
            <a:off x="17463" y="1862138"/>
            <a:ext cx="9144000" cy="16684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第二产业</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矩形 3"/>
          <p:cNvSpPr/>
          <p:nvPr/>
        </p:nvSpPr>
        <p:spPr>
          <a:xfrm>
            <a:off x="0" y="3019425"/>
            <a:ext cx="1258888" cy="187960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制造技术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机器制造等</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5" name="矩形 4"/>
          <p:cNvSpPr/>
          <p:nvPr/>
        </p:nvSpPr>
        <p:spPr>
          <a:xfrm>
            <a:off x="2690813" y="3011488"/>
            <a:ext cx="1260475" cy="190500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传输技术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汽车、船舶、飞机等</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5192713" y="3040063"/>
            <a:ext cx="1311275" cy="1905000"/>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能源技术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电力、煤、电气等</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7418388" y="3019425"/>
            <a:ext cx="1311275" cy="19256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建设技术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桥梁、房屋等</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Tree>
  </p:cSld>
  <p:clrMapOvr>
    <a:masterClrMapping/>
  </p:clrMapOvr>
</p:sld>
</file>

<file path=ppt/slides/slide10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0834" name="Picture 9"/>
          <p:cNvPicPr/>
          <p:nvPr/>
        </p:nvPicPr>
        <p:blipFill>
          <a:blip r:embed="rId1"/>
          <a:stretch>
            <a:fillRect/>
          </a:stretch>
        </p:blipFill>
        <p:spPr>
          <a:xfrm>
            <a:off x="0" y="0"/>
            <a:ext cx="9144000" cy="1465263"/>
          </a:xfrm>
          <a:prstGeom prst="rect">
            <a:avLst/>
          </a:prstGeom>
          <a:noFill/>
          <a:ln w="9525">
            <a:noFill/>
          </a:ln>
        </p:spPr>
      </p:pic>
      <p:sp>
        <p:nvSpPr>
          <p:cNvPr id="120835"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第三产业</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矩形 3"/>
          <p:cNvSpPr/>
          <p:nvPr/>
        </p:nvSpPr>
        <p:spPr>
          <a:xfrm>
            <a:off x="0" y="2986088"/>
            <a:ext cx="2001838"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信息技术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5" name="矩形 4"/>
          <p:cNvSpPr/>
          <p:nvPr/>
        </p:nvSpPr>
        <p:spPr>
          <a:xfrm>
            <a:off x="2413000" y="1743075"/>
            <a:ext cx="2000250"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通讯技术：电话、广播</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6" name="矩形 5"/>
          <p:cNvSpPr/>
          <p:nvPr/>
        </p:nvSpPr>
        <p:spPr>
          <a:xfrm>
            <a:off x="2413000" y="2640013"/>
            <a:ext cx="2000250"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系统技术：情报</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7" name="矩形 6"/>
          <p:cNvSpPr/>
          <p:nvPr/>
        </p:nvSpPr>
        <p:spPr>
          <a:xfrm>
            <a:off x="2413000" y="3556000"/>
            <a:ext cx="2000250" cy="820738"/>
          </a:xfrm>
          <a:prstGeom prst="rect">
            <a:avLst/>
          </a:prstGeom>
          <a:solidFill>
            <a:srgbClr val="FF00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控制技术：测量</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8" name="矩形 7"/>
          <p:cNvSpPr/>
          <p:nvPr/>
        </p:nvSpPr>
        <p:spPr>
          <a:xfrm>
            <a:off x="0" y="5138738"/>
            <a:ext cx="2001838"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保健技术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9" name="矩形 8"/>
          <p:cNvSpPr/>
          <p:nvPr/>
        </p:nvSpPr>
        <p:spPr>
          <a:xfrm>
            <a:off x="2413000" y="4729163"/>
            <a:ext cx="2000250"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医疗技术：医疗设备</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0" name="矩形 9"/>
          <p:cNvSpPr/>
          <p:nvPr/>
        </p:nvSpPr>
        <p:spPr>
          <a:xfrm>
            <a:off x="2413000" y="5680075"/>
            <a:ext cx="2000250" cy="820738"/>
          </a:xfrm>
          <a:prstGeom prst="rect">
            <a:avLst/>
          </a:prstGeom>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体育技术：体育器材</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1" name="矩形 10"/>
          <p:cNvSpPr/>
          <p:nvPr/>
        </p:nvSpPr>
        <p:spPr>
          <a:xfrm>
            <a:off x="6346825" y="2239963"/>
            <a:ext cx="2001838"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管理技术</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2" name="矩形 11"/>
          <p:cNvSpPr/>
          <p:nvPr/>
        </p:nvSpPr>
        <p:spPr>
          <a:xfrm>
            <a:off x="6346825" y="3983038"/>
            <a:ext cx="2001838" cy="820738"/>
          </a:xfrm>
          <a:prstGeom prst="rect">
            <a:avLst/>
          </a:prstGeom>
          <a:solidFill>
            <a:srgbClr val="FFFF00"/>
          </a:solidFill>
          <a:ln w="25400">
            <a:headEnd type="none" len="med" w="med"/>
            <a:tailEnd type="none" len="med" w="med"/>
          </a:ln>
        </p:spPr>
        <p:style>
          <a:lnRef idx="2">
            <a:schemeClr val="dk1"/>
          </a:lnRef>
          <a:fillRef idx="1">
            <a:schemeClr val="lt1"/>
          </a:fillRef>
          <a:effectRef idx="0">
            <a:schemeClr val="dk1"/>
          </a:effectRef>
          <a:fontRef idx="minor">
            <a:schemeClr val="dk1"/>
          </a:fontRef>
        </p:style>
        <p:txBody>
          <a:bodyPr/>
          <a:lstStyle/>
          <a:p>
            <a:pPr marL="0" marR="0" indent="0" lvl="0" algn="l"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rPr>
              <a:t>决策、咨询</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Arial" panose="020B0604020202020204" pitchFamily="34" charset="0"/>
            </a:endParaRPr>
          </a:p>
        </p:txBody>
      </p:sp>
      <p:cxnSp>
        <p:nvCxnSpPr>
          <p:cNvPr id="120845" name="直接箭头连接符 12"/>
          <p:cNvCxnSpPr>
            <a:stCxn id="11" idx="2"/>
            <a:endCxn id="12" idx="0"/>
          </p:cNvCxnSpPr>
          <p:nvPr/>
        </p:nvCxnSpPr>
        <p:spPr>
          <a:xfrm>
            <a:off x="7348538" y="3060700"/>
            <a:ext cx="0" cy="922338"/>
          </a:xfrm>
          <a:prstGeom prst="straightConnector1">
            <a:avLst/>
          </a:prstGeom>
          <a:ln w="9525" cap="flat" cmpd="sng">
            <a:solidFill>
              <a:schemeClr val="tx1"/>
            </a:solidFill>
            <a:prstDash val="solid"/>
            <a:headEnd type="none" len="med" w="med"/>
            <a:tailEnd type="triangle" len="med" w="med"/>
          </a:ln>
        </p:spPr>
      </p:cxnSp>
      <p:cxnSp>
        <p:nvCxnSpPr>
          <p:cNvPr id="120846" name="连接符: 肘形 2"/>
          <p:cNvCxnSpPr>
            <a:endCxn id="5" idx="1"/>
          </p:cNvCxnSpPr>
          <p:nvPr/>
        </p:nvCxnSpPr>
        <p:spPr>
          <a:xfrm flipV="1" flipH="1" rot="5400000">
            <a:off x="1570038" y="2586038"/>
            <a:ext cx="1274762" cy="411162"/>
          </a:xfrm>
          <a:prstGeom prst="bentConnector2">
            <a:avLst/>
          </a:prstGeom>
          <a:ln w="9525" cap="flat" cmpd="sng">
            <a:solidFill>
              <a:schemeClr val="tx1"/>
            </a:solidFill>
            <a:prstDash val="solid"/>
            <a:headEnd type="none" len="med" w="med"/>
            <a:tailEnd type="triangle" len="med" w="med"/>
          </a:ln>
        </p:spPr>
      </p:cxnSp>
      <p:cxnSp>
        <p:nvCxnSpPr>
          <p:cNvPr id="120847" name="连接符: 肘形 13"/>
          <p:cNvCxnSpPr>
            <a:endCxn id="7" idx="1"/>
          </p:cNvCxnSpPr>
          <p:nvPr/>
        </p:nvCxnSpPr>
        <p:spPr>
          <a:xfrm flipH="1" rot="-5400000">
            <a:off x="1938338" y="3490913"/>
            <a:ext cx="536575" cy="411162"/>
          </a:xfrm>
          <a:prstGeom prst="bentConnector2">
            <a:avLst/>
          </a:prstGeom>
          <a:ln w="9525" cap="flat" cmpd="sng">
            <a:solidFill>
              <a:schemeClr val="tx1"/>
            </a:solidFill>
            <a:prstDash val="solid"/>
            <a:headEnd type="none" len="med" w="med"/>
            <a:tailEnd type="triangle" len="med" w="med"/>
          </a:ln>
        </p:spPr>
      </p:cxnSp>
      <p:cxnSp>
        <p:nvCxnSpPr>
          <p:cNvPr id="120848" name="连接符: 肘形 15"/>
          <p:cNvCxnSpPr>
            <a:endCxn id="6" idx="1"/>
          </p:cNvCxnSpPr>
          <p:nvPr/>
        </p:nvCxnSpPr>
        <p:spPr>
          <a:xfrm flipV="1">
            <a:off x="2001838" y="3051175"/>
            <a:ext cx="411162" cy="377825"/>
          </a:xfrm>
          <a:prstGeom prst="bentConnector3">
            <a:avLst>
              <a:gd name="adj1" fmla="val 50000"/>
            </a:avLst>
          </a:prstGeom>
          <a:ln w="9525" cap="flat" cmpd="sng">
            <a:solidFill>
              <a:schemeClr val="tx1"/>
            </a:solidFill>
            <a:prstDash val="solid"/>
            <a:headEnd type="none" len="med" w="med"/>
            <a:tailEnd type="triangle" len="med" w="med"/>
          </a:ln>
        </p:spPr>
      </p:cxnSp>
      <p:cxnSp>
        <p:nvCxnSpPr>
          <p:cNvPr id="120849" name="连接符: 肘形 17"/>
          <p:cNvCxnSpPr>
            <a:endCxn id="9" idx="1"/>
          </p:cNvCxnSpPr>
          <p:nvPr/>
        </p:nvCxnSpPr>
        <p:spPr>
          <a:xfrm flipV="1">
            <a:off x="2001838" y="5140325"/>
            <a:ext cx="411162" cy="409575"/>
          </a:xfrm>
          <a:prstGeom prst="bentConnector3">
            <a:avLst>
              <a:gd name="adj1" fmla="val 50000"/>
            </a:avLst>
          </a:prstGeom>
          <a:ln w="9525" cap="flat" cmpd="sng">
            <a:solidFill>
              <a:schemeClr val="tx1"/>
            </a:solidFill>
            <a:prstDash val="solid"/>
            <a:headEnd type="none" len="med" w="med"/>
            <a:tailEnd type="triangle" len="med" w="med"/>
          </a:ln>
        </p:spPr>
      </p:cxnSp>
      <p:cxnSp>
        <p:nvCxnSpPr>
          <p:cNvPr id="120850" name="连接符: 肘形 19"/>
          <p:cNvCxnSpPr>
            <a:stCxn id="8" idx="3"/>
            <a:endCxn id="10" idx="1"/>
          </p:cNvCxnSpPr>
          <p:nvPr/>
        </p:nvCxnSpPr>
        <p:spPr>
          <a:xfrm>
            <a:off x="2001838" y="5549900"/>
            <a:ext cx="411162" cy="541338"/>
          </a:xfrm>
          <a:prstGeom prst="bentConnector3">
            <a:avLst>
              <a:gd name="adj1" fmla="val 50000"/>
            </a:avLst>
          </a:prstGeom>
          <a:ln w="9525" cap="flat" cmpd="sng">
            <a:solidFill>
              <a:schemeClr val="tx1"/>
            </a:solidFill>
            <a:prstDash val="solid"/>
            <a:headEnd type="none" len="med" w="med"/>
            <a:tailEnd type="triangle" len="med" w="med"/>
          </a:ln>
        </p:spPr>
      </p:cxnSp>
    </p:spTree>
  </p:cSld>
  <p:clrMapOvr>
    <a:masterClrMapping/>
  </p:clrMapOvr>
</p:sld>
</file>

<file path=ppt/slides/slide10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1858" name="Picture 9"/>
          <p:cNvPicPr/>
          <p:nvPr/>
        </p:nvPicPr>
        <p:blipFill>
          <a:blip r:embed="rId1"/>
          <a:stretch>
            <a:fillRect/>
          </a:stretch>
        </p:blipFill>
        <p:spPr>
          <a:xfrm>
            <a:off x="0" y="0"/>
            <a:ext cx="9144000" cy="1743075"/>
          </a:xfrm>
          <a:prstGeom prst="rect">
            <a:avLst/>
          </a:prstGeom>
          <a:noFill/>
          <a:ln w="9525">
            <a:noFill/>
          </a:ln>
        </p:spPr>
      </p:pic>
      <p:sp>
        <p:nvSpPr>
          <p:cNvPr id="121859" name="TextBox 2"/>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现代科学技术体系的特点</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现代科学技术正走向整体化、社会化、数学化和科技一体化。</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当代科学处于综合时代，边缘学科、交叉学科、横断学科层出不穷。</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0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2882" name="Picture 9"/>
          <p:cNvPicPr/>
          <p:nvPr/>
        </p:nvPicPr>
        <p:blipFill>
          <a:blip r:embed="rId1"/>
          <a:stretch>
            <a:fillRect/>
          </a:stretch>
        </p:blipFill>
        <p:spPr>
          <a:xfrm>
            <a:off x="0" y="0"/>
            <a:ext cx="9144000" cy="1743075"/>
          </a:xfrm>
          <a:prstGeom prst="rect">
            <a:avLst/>
          </a:prstGeom>
          <a:noFill/>
          <a:ln w="9525">
            <a:noFill/>
          </a:ln>
        </p:spPr>
      </p:pic>
      <p:sp>
        <p:nvSpPr>
          <p:cNvPr id="122883" name="TextBox 2"/>
          <p:cNvSpPr/>
          <p:nvPr/>
        </p:nvSpPr>
        <p:spPr>
          <a:xfrm>
            <a:off x="0" y="1743075"/>
            <a:ext cx="9144000" cy="5084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第三节 科学技术的发展模式</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一、科学技术发展的动力</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科学发展的动力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现代科学与社会政治、经济、文化、环境等关系越来越密切，因此，科学发展具有外部动力。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科学本身是一个有其内在矛盾运动规律的相对独立的社会子系统，科学发展具有内部动力。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i="1" sz="2400">
                <a:solidFill>
                  <a:srgbClr val="0000FF"/>
                </a:solidFill>
                <a:ea typeface="宋体" panose="02010600030101010101" pitchFamily="2" charset="-122"/>
                <a:latin typeface="宋体" panose="02010600030101010101" pitchFamily="2" charset="-122"/>
              </a:rPr>
              <a:t>理论与实验的矛盾、理论内部的矛盾、不同学派之间的矛盾、继承与创新的矛盾、分化与综合的矛盾。</a:t>
            </a:r>
            <a:endParaRPr altLang="zh-CN" dirty="0" lang="en-US" i="1"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0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3906" name="Picture 9"/>
          <p:cNvPicPr/>
          <p:nvPr/>
        </p:nvPicPr>
        <p:blipFill>
          <a:blip r:embed="rId1"/>
          <a:stretch>
            <a:fillRect/>
          </a:stretch>
        </p:blipFill>
        <p:spPr>
          <a:xfrm>
            <a:off x="0" y="0"/>
            <a:ext cx="9144000" cy="1743075"/>
          </a:xfrm>
          <a:prstGeom prst="rect">
            <a:avLst/>
          </a:prstGeom>
          <a:noFill/>
          <a:ln w="9525">
            <a:noFill/>
          </a:ln>
        </p:spPr>
      </p:pic>
      <p:sp>
        <p:nvSpPr>
          <p:cNvPr id="123907"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带头学科理论：</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科学发展的各学科不是齐头并进，而是带有明显的不平衡性。在不同历史时期，总是有一门或一组学科作为主导学科在科学活动中居有带头地位，它决定着整个科学发展特征和水平。</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0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4930" name="Picture 9"/>
          <p:cNvPicPr/>
          <p:nvPr/>
        </p:nvPicPr>
        <p:blipFill>
          <a:blip r:embed="rId1"/>
          <a:stretch>
            <a:fillRect/>
          </a:stretch>
        </p:blipFill>
        <p:spPr>
          <a:xfrm>
            <a:off x="0" y="0"/>
            <a:ext cx="9144000" cy="1743075"/>
          </a:xfrm>
          <a:prstGeom prst="rect">
            <a:avLst/>
          </a:prstGeom>
          <a:noFill/>
          <a:ln w="9525">
            <a:noFill/>
          </a:ln>
        </p:spPr>
      </p:pic>
      <p:sp>
        <p:nvSpPr>
          <p:cNvPr id="124931"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技术发展的动力</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社会需要是技术发展的重要推动力。</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矿井积水</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蒸汽</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供水、灭火、水磨</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瓦特改造蒸汽机</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提高产功效率</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内燃机、汽轮机。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技术体系内部发展的需要。</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现有技术的功能失效；</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既成技术的革新需要；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一定时期内相关技术内部的不平衡。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科学对技术的先导作用。</a:t>
            </a:r>
            <a:endParaRPr altLang="zh-CN" dirty="0" lang="en-US"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5954" name="Picture 9"/>
          <p:cNvPicPr/>
          <p:nvPr/>
        </p:nvPicPr>
        <p:blipFill>
          <a:blip r:embed="rId1"/>
          <a:stretch>
            <a:fillRect/>
          </a:stretch>
        </p:blipFill>
        <p:spPr>
          <a:xfrm>
            <a:off x="0" y="0"/>
            <a:ext cx="9144000" cy="1743075"/>
          </a:xfrm>
          <a:prstGeom prst="rect">
            <a:avLst/>
          </a:prstGeom>
          <a:noFill/>
          <a:ln w="9525">
            <a:noFill/>
          </a:ln>
        </p:spPr>
      </p:pic>
      <p:sp>
        <p:nvSpPr>
          <p:cNvPr id="125955" name="TextBox 2"/>
          <p:cNvSpPr/>
          <p:nvPr/>
        </p:nvSpPr>
        <p:spPr>
          <a:xfrm>
            <a:off x="0" y="1898650"/>
            <a:ext cx="9144000" cy="4252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二、科学技术发展的模式</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0000FF"/>
                </a:solidFill>
                <a:ea typeface="宋体" panose="02010600030101010101" pitchFamily="2" charset="-122"/>
                <a:latin typeface="宋体" panose="02010600030101010101" pitchFamily="2" charset="-122"/>
              </a:rPr>
              <a:t>1</a:t>
            </a:r>
            <a:r>
              <a:rPr altLang="en-US" dirty="0" lang="zh-CN" b="1" sz="2400">
                <a:solidFill>
                  <a:srgbClr val="0000FF"/>
                </a:solidFill>
                <a:ea typeface="宋体" panose="02010600030101010101" pitchFamily="2" charset="-122"/>
                <a:latin typeface="宋体" panose="02010600030101010101" pitchFamily="2" charset="-122"/>
              </a:rPr>
              <a:t>、科学发展模式</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实证主义和逻辑实证主义的积累模式</a:t>
            </a:r>
            <a:endParaRPr altLang="en-US" dirty="0" lang="zh-CN" sz="2800">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证伪主义的否证模式</a:t>
            </a:r>
            <a:endParaRPr altLang="en-US" dirty="0" lang="zh-CN" sz="2800">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库恩的历史主义模式</a:t>
            </a:r>
            <a:endParaRPr altLang="en-US" dirty="0" lang="zh-CN" sz="2800">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拉卡托斯的科学研究纲领方法论</a:t>
            </a:r>
            <a:endParaRPr altLang="en-US" dirty="0" lang="zh-CN" sz="2800">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费耶阿本德的无政府主义理论</a:t>
            </a:r>
            <a:endParaRPr altLang="en-US" dirty="0" lang="zh-CN"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1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6978" name="Picture 9"/>
          <p:cNvPicPr/>
          <p:nvPr/>
        </p:nvPicPr>
        <p:blipFill>
          <a:blip r:embed="rId1"/>
          <a:stretch>
            <a:fillRect/>
          </a:stretch>
        </p:blipFill>
        <p:spPr>
          <a:xfrm>
            <a:off x="0" y="0"/>
            <a:ext cx="9144000" cy="1743075"/>
          </a:xfrm>
          <a:prstGeom prst="rect">
            <a:avLst/>
          </a:prstGeom>
          <a:noFill/>
          <a:ln w="9525">
            <a:noFill/>
          </a:ln>
        </p:spPr>
      </p:pic>
      <p:sp>
        <p:nvSpPr>
          <p:cNvPr id="126979" name="TextBox 2"/>
          <p:cNvSpPr/>
          <p:nvPr/>
        </p:nvSpPr>
        <p:spPr>
          <a:xfrm>
            <a:off x="0" y="1743075"/>
            <a:ext cx="9144000" cy="46720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zh-CN" sz="2400">
                <a:latin typeface="Times New Roman" panose="02020603050405020304" pitchFamily="18" charset="0"/>
              </a:rPr>
              <a:t> </a:t>
            </a:r>
            <a:r>
              <a:rPr altLang="zh-CN" dirty="0" lang="zh-CN" sz="2400">
                <a:ea typeface="宋体" panose="02010600030101010101" pitchFamily="2" charset="-122"/>
                <a:latin typeface="宋体" panose="02010600030101010101" pitchFamily="2" charset="-122"/>
              </a:rPr>
              <a:t>科学哲学的发展(按时间顺序)：逻辑实证主义— 批判理性主义—  历史主义—后现代思潮</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t>逻辑实证主义的累积模式</a:t>
            </a:r>
            <a:endParaRPr altLang="zh-CN" dirty="0" lang="en-US" sz="2400">
              <a:ea typeface="宋体" panose="02010600030101010101" pitchFamily="2" charset="-122"/>
              <a:latin typeface="Times New Roman" panose="02020603050405020304" pitchFamily="18" charset="0"/>
            </a:endParaRPr>
          </a:p>
          <a:p>
            <a:pPr marL="0" indent="0" lvl="0" eaLnBrk="1" hangingPunct="1">
              <a:buNone/>
            </a:pPr>
            <a:r>
              <a:rPr altLang="en-US" dirty="0" lang="zh-CN" sz="2800">
                <a:ea typeface="宋体" panose="02010600030101010101" pitchFamily="2" charset="-122"/>
                <a:latin typeface="宋体" panose="02010600030101010101" pitchFamily="2" charset="-122"/>
              </a:rPr>
              <a:t>逻辑实证主义明确地把可证实性作为“科学的”划界标准，作为“命题有（科学）意义的”标准：</a:t>
            </a:r>
            <a:endParaRPr altLang="en-US" dirty="0" lang="zh-CN" sz="2800">
              <a:ea typeface="宋体" panose="02010600030101010101" pitchFamily="2" charset="-122"/>
              <a:latin typeface="宋体" panose="02010600030101010101" pitchFamily="2" charset="-122"/>
            </a:endParaRPr>
          </a:p>
          <a:p>
            <a:pPr marL="0" indent="0" lvl="0" eaLnBrk="1" hangingPunct="1">
              <a:buNone/>
            </a:pPr>
            <a:r>
              <a:rPr altLang="en-US" dirty="0" lang="zh-CN" sz="2800">
                <a:ea typeface="宋体" panose="02010600030101010101" pitchFamily="2" charset="-122"/>
                <a:latin typeface="宋体" panose="02010600030101010101" pitchFamily="2" charset="-122"/>
              </a:rPr>
              <a:t>一个陈述当且仅当原则上是可经验地证实的时才是有（科学）意义的。</a:t>
            </a:r>
            <a:endParaRPr altLang="en-US" dirty="0" lang="zh-CN"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Times New Roman" panose="02020603050405020304" pitchFamily="18" charset="0"/>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1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8002" name="Picture 9"/>
          <p:cNvPicPr/>
          <p:nvPr/>
        </p:nvPicPr>
        <p:blipFill>
          <a:blip r:embed="rId1"/>
          <a:stretch>
            <a:fillRect/>
          </a:stretch>
        </p:blipFill>
        <p:spPr>
          <a:xfrm>
            <a:off x="0" y="0"/>
            <a:ext cx="9144000" cy="1743075"/>
          </a:xfrm>
          <a:prstGeom prst="rect">
            <a:avLst/>
          </a:prstGeom>
          <a:noFill/>
          <a:ln w="9525">
            <a:noFill/>
          </a:ln>
        </p:spPr>
      </p:pic>
      <p:sp>
        <p:nvSpPr>
          <p:cNvPr id="128003" name="TextBox 2"/>
          <p:cNvSpPr/>
          <p:nvPr/>
        </p:nvSpPr>
        <p:spPr>
          <a:xfrm>
            <a:off x="0" y="1743075"/>
            <a:ext cx="9144000" cy="4492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15000"/>
              </a:lnSpc>
              <a:buNone/>
            </a:pPr>
            <a:r>
              <a:rPr altLang="zh-CN" dirty="0" lang="zh-CN" sz="2400">
                <a:solidFill>
                  <a:srgbClr val="FF0000"/>
                </a:solidFill>
              </a:rPr>
              <a:t>逻辑实证主义按归纳主义观点说明科学知识增长的特征：</a:t>
            </a:r>
            <a:endParaRPr altLang="zh-CN" dirty="0" lang="zh-CN" sz="2400">
              <a:solidFill>
                <a:srgbClr val="FF0000"/>
              </a:solidFill>
            </a:endParaRPr>
          </a:p>
          <a:p>
            <a:pPr marL="0" indent="0" lvl="0" algn="just" eaLnBrk="1" hangingPunct="1">
              <a:lnSpc>
                <a:spcPct val="115000"/>
              </a:lnSpc>
              <a:buNone/>
            </a:pPr>
            <a:r>
              <a:rPr altLang="zh-CN" dirty="0" lang="en-US" sz="2400">
                <a:ea typeface="宋体" panose="02010600030101010101" pitchFamily="2" charset="-122"/>
                <a:latin typeface="宋体" panose="02010600030101010101" pitchFamily="2" charset="-122"/>
              </a:rPr>
              <a:t>    </a:t>
            </a:r>
            <a:r>
              <a:rPr altLang="zh-CN" dirty="0" lang="zh-CN" sz="2400">
                <a:ea typeface="宋体" panose="02010600030101010101" pitchFamily="2" charset="-122"/>
                <a:latin typeface="宋体" panose="02010600030101010101" pitchFamily="2" charset="-122"/>
              </a:rPr>
              <a:t>科学知识的增长来自对经验事实的归纳，科学发展即通过归纳获得的科学知识的不断增加；</a:t>
            </a:r>
            <a:endParaRPr altLang="zh-CN" dirty="0" lang="zh-CN" sz="2400">
              <a:ea typeface="宋体" panose="02010600030101010101" pitchFamily="2" charset="-122"/>
              <a:latin typeface="宋体" panose="02010600030101010101" pitchFamily="2" charset="-122"/>
            </a:endParaRPr>
          </a:p>
          <a:p>
            <a:pPr marL="0" indent="0" lvl="0" algn="just" eaLnBrk="1" hangingPunct="1">
              <a:lnSpc>
                <a:spcPct val="115000"/>
              </a:lnSpc>
              <a:buNone/>
            </a:pPr>
            <a:r>
              <a:rPr altLang="zh-CN" dirty="0" lang="en-US" sz="2400">
                <a:ea typeface="宋体" panose="02010600030101010101" pitchFamily="2" charset="-122"/>
                <a:latin typeface="宋体" panose="02010600030101010101" pitchFamily="2" charset="-122"/>
              </a:rPr>
              <a:t>    </a:t>
            </a:r>
            <a:r>
              <a:rPr altLang="zh-CN" dirty="0" lang="zh-CN" sz="2400">
                <a:ea typeface="宋体" panose="02010600030101010101" pitchFamily="2" charset="-122"/>
                <a:latin typeface="宋体" panose="02010600030101010101" pitchFamily="2" charset="-122"/>
              </a:rPr>
              <a:t>因此，科学发展是一个渐进积累的直线发展过程，其中没有渐进的中断，没有革命；</a:t>
            </a:r>
            <a:endParaRPr altLang="zh-CN"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zh-CN" dirty="0" lang="zh-CN" sz="2400">
                <a:ea typeface="宋体" panose="02010600030101010101" pitchFamily="2" charset="-122"/>
                <a:latin typeface="宋体" panose="02010600030101010101" pitchFamily="2" charset="-122"/>
              </a:rPr>
              <a:t>观察事实积累越多、越深入，通过归纳逻辑得出的科学定律或理论越被高频率经验证据所证实，那么它就越普遍，解释力和预见力越强，所包括的非科学的错误成分也越少。</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1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29026" name="Picture 9"/>
          <p:cNvPicPr/>
          <p:nvPr/>
        </p:nvPicPr>
        <p:blipFill>
          <a:blip r:embed="rId1"/>
          <a:stretch>
            <a:fillRect/>
          </a:stretch>
        </p:blipFill>
        <p:spPr>
          <a:xfrm>
            <a:off x="0" y="0"/>
            <a:ext cx="9144000" cy="1743075"/>
          </a:xfrm>
          <a:prstGeom prst="rect">
            <a:avLst/>
          </a:prstGeom>
          <a:noFill/>
          <a:ln w="9525">
            <a:noFill/>
          </a:ln>
        </p:spPr>
      </p:pic>
      <p:sp>
        <p:nvSpPr>
          <p:cNvPr id="129027" name="TextBox 2"/>
          <p:cNvSpPr/>
          <p:nvPr/>
        </p:nvSpPr>
        <p:spPr>
          <a:xfrm>
            <a:off x="0" y="1743075"/>
            <a:ext cx="9144000" cy="4156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15000"/>
              </a:lnSpc>
              <a:buNone/>
            </a:pPr>
            <a:r>
              <a:rPr altLang="en-US" dirty="0" lang="zh-CN" sz="2400">
                <a:ea typeface="宋体" panose="02010600030101010101" pitchFamily="2" charset="-122"/>
                <a:latin typeface="宋体" panose="02010600030101010101" pitchFamily="2" charset="-122"/>
              </a:rPr>
              <a:t>逻辑实证主义的累积发展观曾长期统治科学界和哲学界，它勾画了一幅积累式的科学发展图景，从一个侧面反映了科学不断进步的总趋势，但它的根本缺陷是忽视了科学中的革命，因而不能解释人们是怎样提出逻辑上和传统理论不同的革命性新理论的。</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15000"/>
              </a:lnSpc>
              <a:buNone/>
            </a:pPr>
            <a:r>
              <a:rPr altLang="zh-CN" dirty="0" lang="zh-CN" sz="2400">
                <a:solidFill>
                  <a:schemeClr val="tx2"/>
                </a:solidFill>
              </a:rPr>
              <a:t>波普尔的证伪主义的发展观</a:t>
            </a:r>
            <a:endParaRPr altLang="zh-CN" dirty="0" lang="zh-CN" sz="2400">
              <a:solidFill>
                <a:schemeClr val="tx2"/>
              </a:solidFill>
            </a:endParaRPr>
          </a:p>
          <a:p>
            <a:pPr marL="0" indent="0" lvl="0" algn="just" eaLnBrk="1" hangingPunct="1">
              <a:lnSpc>
                <a:spcPct val="115000"/>
              </a:lnSpc>
              <a:buNone/>
            </a:pPr>
            <a:r>
              <a:rPr altLang="zh-CN" dirty="0" lang="zh-CN" sz="2400">
                <a:ea typeface="宋体" panose="02010600030101010101" pitchFamily="2" charset="-122"/>
                <a:latin typeface="宋体" panose="02010600030101010101" pitchFamily="2" charset="-122"/>
              </a:rPr>
              <a:t>波普尔从证伪主义出发，否定了逻辑实证主义的逐渐积累的模式。他认为：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buNone/>
            </a:pPr>
            <a:endParaRPr altLang="zh-CN" dirty="0" lang="zh-CN" sz="2400">
              <a:ea typeface="宋体" panose="02010600030101010101" pitchFamily="2" charset="-122"/>
              <a:latin typeface="宋体" panose="02010600030101010101" pitchFamily="2" charset="-122"/>
            </a:endParaRPr>
          </a:p>
        </p:txBody>
      </p:sp>
      <p:pic>
        <p:nvPicPr>
          <p:cNvPr id="129028" name="Picture 2" descr="popper"/>
          <p:cNvPicPr/>
          <p:nvPr/>
        </p:nvPicPr>
        <p:blipFill>
          <a:blip r:embed="rId2"/>
          <a:stretch>
            <a:fillRect/>
          </a:stretch>
        </p:blipFill>
        <p:spPr>
          <a:xfrm>
            <a:off x="3429000" y="4406900"/>
            <a:ext cx="3341688" cy="2373313"/>
          </a:xfrm>
          <a:prstGeom prst="rect">
            <a:avLst/>
          </a:prstGeom>
          <a:noFill/>
          <a:ln w="9525">
            <a:noFill/>
          </a:ln>
        </p:spPr>
      </p:pic>
    </p:spTree>
  </p:cSld>
  <p:clrMapOvr>
    <a:masterClrMapping/>
  </p:clrMapOvr>
</p:sld>
</file>

<file path=ppt/slides/slide11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0050" name="Picture 9"/>
          <p:cNvPicPr/>
          <p:nvPr/>
        </p:nvPicPr>
        <p:blipFill>
          <a:blip r:embed="rId1"/>
          <a:stretch>
            <a:fillRect/>
          </a:stretch>
        </p:blipFill>
        <p:spPr>
          <a:xfrm>
            <a:off x="0" y="0"/>
            <a:ext cx="9144000" cy="1743075"/>
          </a:xfrm>
          <a:prstGeom prst="rect">
            <a:avLst/>
          </a:prstGeom>
          <a:noFill/>
          <a:ln w="9525">
            <a:noFill/>
          </a:ln>
        </p:spPr>
      </p:pic>
      <p:sp>
        <p:nvSpPr>
          <p:cNvPr id="130051" name="TextBox 2"/>
          <p:cNvSpPr/>
          <p:nvPr/>
        </p:nvSpPr>
        <p:spPr>
          <a:xfrm>
            <a:off x="0" y="1743075"/>
            <a:ext cx="9144000" cy="2733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15000"/>
              </a:lnSpc>
              <a:buNone/>
            </a:pPr>
            <a:r>
              <a:rPr altLang="zh-CN" dirty="0" lang="zh-CN" sz="2400">
                <a:solidFill>
                  <a:srgbClr val="0000FF"/>
                </a:solidFill>
                <a:latin typeface="Times New Roman" panose="02020603050405020304" pitchFamily="18" charset="0"/>
              </a:rPr>
              <a:t>科学理论不能通过归纳得到证实，但能被证伪。科学的发展是理论不断被经验反驳和证伪的反复过程。猜测和反驳是科学发展过程中最基本的环节。科学发展的历史就是大胆地提出假设，通过证伪，然后推翻理论的过程，科学知识的增长就是不间断地革命。</a:t>
            </a:r>
            <a:endParaRPr altLang="zh-CN" dirty="0" lang="zh-CN" sz="2400">
              <a:solidFill>
                <a:srgbClr val="0000FF"/>
              </a:solidFill>
              <a:latin typeface="Times New Roman" panose="02020603050405020304" pitchFamily="18" charset="0"/>
            </a:endParaRPr>
          </a:p>
          <a:p>
            <a:pPr marL="0" indent="0" lvl="0" algn="just" eaLnBrk="1" hangingPunct="1">
              <a:lnSpc>
                <a:spcPct val="115000"/>
              </a:lnSpc>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buNone/>
            </a:pPr>
            <a:endParaRPr altLang="zh-CN" dirty="0" lang="zh-CN" sz="2400">
              <a:ea typeface="宋体" panose="02010600030101010101" pitchFamily="2" charset="-122"/>
              <a:latin typeface="宋体" panose="02010600030101010101" pitchFamily="2" charset="-122"/>
            </a:endParaRPr>
          </a:p>
        </p:txBody>
      </p:sp>
      <p:sp>
        <p:nvSpPr>
          <p:cNvPr id="130052" name="Text Box 2"/>
          <p:cNvSpPr/>
          <p:nvPr/>
        </p:nvSpPr>
        <p:spPr>
          <a:xfrm>
            <a:off x="123825" y="3492500"/>
            <a:ext cx="9020175" cy="30464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科学发展的历史就是大胆地提出假设，通过否证，然后推翻理论的过程。</a:t>
            </a:r>
            <a:endParaRPr altLang="zh-CN" dirty="0" lang="zh-CN" sz="24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(否证是演绎逻辑，不需要用归纳法，因此又被称为“理性主义”。)</a:t>
            </a:r>
            <a:endParaRPr altLang="zh-CN" dirty="0" lang="zh-CN" sz="24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科学知识的增长，就是不断革命。</a:t>
            </a:r>
            <a:endParaRPr altLang="zh-CN" dirty="0" lang="zh-CN" sz="24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理论1 —  否证—  理论2 —  否证—   … </a:t>
            </a:r>
            <a:endParaRPr altLang="zh-CN" dirty="0" lang="zh-CN" sz="24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(科学理论是可错的，“批判”。)</a:t>
            </a:r>
            <a:endParaRPr altLang="zh-CN" dirty="0" lang="zh-CN" sz="24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400">
                <a:ea typeface="宋体" panose="02010600030101010101" pitchFamily="2" charset="-122"/>
                <a:latin typeface="Times New Roman" panose="02020603050405020304" pitchFamily="18" charset="0"/>
              </a:rPr>
              <a:t>不断革命说</a:t>
            </a:r>
            <a:endParaRPr altLang="zh-CN" dirty="0" lang="zh-CN" sz="2400">
              <a:ea typeface="宋体" panose="02010600030101010101" pitchFamily="2" charset="-122"/>
              <a:latin typeface="Times New Roman" panose="02020603050405020304" pitchFamily="18" charset="0"/>
            </a:endParaRPr>
          </a:p>
        </p:txBody>
      </p:sp>
    </p:spTree>
  </p:cSld>
  <p:clrMapOvr>
    <a:masterClrMapping/>
  </p:clrMapOvr>
</p:sld>
</file>

<file path=ppt/slides/slide11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2098" name="Picture 9"/>
          <p:cNvPicPr/>
          <p:nvPr/>
        </p:nvPicPr>
        <p:blipFill>
          <a:blip r:embed="rId1"/>
          <a:stretch>
            <a:fillRect/>
          </a:stretch>
        </p:blipFill>
        <p:spPr>
          <a:xfrm>
            <a:off x="0" y="0"/>
            <a:ext cx="9144000" cy="1743075"/>
          </a:xfrm>
          <a:prstGeom prst="rect">
            <a:avLst/>
          </a:prstGeom>
          <a:noFill/>
          <a:ln w="9525">
            <a:noFill/>
          </a:ln>
        </p:spPr>
      </p:pic>
      <p:sp>
        <p:nvSpPr>
          <p:cNvPr id="132099" name="Text Box 2"/>
          <p:cNvSpPr/>
          <p:nvPr/>
        </p:nvSpPr>
        <p:spPr>
          <a:xfrm>
            <a:off x="123825" y="3492500"/>
            <a:ext cx="9020175"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50000"/>
              </a:spcBef>
              <a:buNone/>
            </a:pPr>
            <a:r>
              <a:rPr altLang="zh-CN" dirty="0" lang="zh-CN" sz="2400">
                <a:ea typeface="宋体" panose="02010600030101010101" pitchFamily="2" charset="-122"/>
                <a:latin typeface="Times New Roman" panose="02020603050405020304" pitchFamily="18" charset="0"/>
              </a:rPr>
              <a:t>“不断革命说”的问题：</a:t>
            </a:r>
            <a:endParaRPr altLang="zh-CN" dirty="0" lang="zh-CN" sz="2400">
              <a:ea typeface="宋体" panose="02010600030101010101" pitchFamily="2" charset="-122"/>
              <a:latin typeface="Times New Roman" panose="02020603050405020304" pitchFamily="18" charset="0"/>
            </a:endParaRPr>
          </a:p>
          <a:p>
            <a:pPr marL="0" indent="0" lvl="0" eaLnBrk="1" hangingPunct="1">
              <a:spcBef>
                <a:spcPct val="50000"/>
              </a:spcBef>
              <a:buNone/>
            </a:pPr>
            <a:r>
              <a:rPr altLang="zh-CN" dirty="0" lang="zh-CN" sz="2400">
                <a:ea typeface="宋体" panose="02010600030101010101" pitchFamily="2" charset="-122"/>
                <a:latin typeface="Times New Roman" panose="02020603050405020304" pitchFamily="18" charset="0"/>
              </a:rPr>
              <a:t>(1)Quine-Duhem论旨表明，任何科学理论只要引入辅助假说，都可以避免否证。</a:t>
            </a:r>
            <a:endParaRPr altLang="zh-CN" dirty="0" lang="zh-CN" sz="2400">
              <a:ea typeface="宋体" panose="02010600030101010101" pitchFamily="2" charset="-122"/>
              <a:latin typeface="Times New Roman" panose="02020603050405020304" pitchFamily="18" charset="0"/>
            </a:endParaRPr>
          </a:p>
          <a:p>
            <a:pPr marL="0" indent="0" lvl="0" eaLnBrk="1" hangingPunct="1">
              <a:spcBef>
                <a:spcPct val="50000"/>
              </a:spcBef>
              <a:buNone/>
            </a:pPr>
            <a:r>
              <a:rPr altLang="zh-CN" dirty="0" lang="zh-CN" sz="2400">
                <a:ea typeface="宋体" panose="02010600030101010101" pitchFamily="2" charset="-122"/>
                <a:latin typeface="Times New Roman" panose="02020603050405020304" pitchFamily="18" charset="0"/>
              </a:rPr>
              <a:t>(2)科学研究不是纯粹的批判，有时需要在现有的理论框架中从事进一步的研究。</a:t>
            </a:r>
            <a:endParaRPr altLang="zh-CN" dirty="0" lang="zh-CN" sz="2000">
              <a:ea typeface="宋体" panose="02010600030101010101" pitchFamily="2" charset="-122"/>
              <a:latin typeface="Times New Roman" panose="02020603050405020304" pitchFamily="18" charset="0"/>
            </a:endParaRPr>
          </a:p>
        </p:txBody>
      </p:sp>
      <p:sp>
        <p:nvSpPr>
          <p:cNvPr id="132100" name="Text Box 2"/>
          <p:cNvSpPr/>
          <p:nvPr/>
        </p:nvSpPr>
        <p:spPr>
          <a:xfrm>
            <a:off x="0" y="1743075"/>
            <a:ext cx="9144000"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r>
              <a:rPr altLang="zh-CN" dirty="0" lang="zh-CN" sz="2800">
                <a:ea typeface="宋体" panose="02010600030101010101" pitchFamily="2" charset="-122"/>
                <a:latin typeface="Times New Roman" panose="02020603050405020304" pitchFamily="18" charset="0"/>
              </a:rPr>
              <a:t>科学发展模式：P1—  TT—  EE—  P2</a:t>
            </a:r>
            <a:endParaRPr altLang="zh-CN" dirty="0" lang="zh-CN" sz="2800">
              <a:ea typeface="宋体" panose="02010600030101010101" pitchFamily="2" charset="-122"/>
              <a:latin typeface="Times New Roman" panose="02020603050405020304" pitchFamily="18" charset="0"/>
            </a:endParaRPr>
          </a:p>
          <a:p>
            <a:pPr marL="0" indent="0" lvl="0" eaLnBrk="1" hangingPunct="1">
              <a:spcBef>
                <a:spcPct val="0"/>
              </a:spcBef>
              <a:buNone/>
            </a:pPr>
            <a:r>
              <a:rPr altLang="zh-CN" dirty="0" lang="zh-CN" sz="2800">
                <a:ea typeface="宋体" panose="02010600030101010101" pitchFamily="2" charset="-122"/>
                <a:latin typeface="Times New Roman" panose="02020603050405020304" pitchFamily="18" charset="0"/>
              </a:rPr>
              <a:t>即科学从问题(P1)开始，经过试探性理论(TT)，又经过批判性检验，排除错误(EE)，进而提出新的问题(P2)。</a:t>
            </a:r>
            <a:endParaRPr altLang="zh-CN" dirty="0" lang="zh-CN" sz="2800">
              <a:ea typeface="宋体" panose="02010600030101010101" pitchFamily="2" charset="-122"/>
              <a:latin typeface="Times New Roman" panose="02020603050405020304" pitchFamily="18" charset="0"/>
            </a:endParaRPr>
          </a:p>
        </p:txBody>
      </p:sp>
    </p:spTree>
  </p:cSld>
  <p:clrMapOvr>
    <a:masterClrMapping/>
  </p:clrMapOvr>
</p:sld>
</file>

<file path=ppt/slides/slide11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4146" name="Picture 9"/>
          <p:cNvPicPr/>
          <p:nvPr/>
        </p:nvPicPr>
        <p:blipFill>
          <a:blip r:embed="rId1"/>
          <a:stretch>
            <a:fillRect/>
          </a:stretch>
        </p:blipFill>
        <p:spPr>
          <a:xfrm>
            <a:off x="0" y="0"/>
            <a:ext cx="9144000" cy="1743075"/>
          </a:xfrm>
          <a:prstGeom prst="rect">
            <a:avLst/>
          </a:prstGeom>
          <a:noFill/>
          <a:ln w="9525">
            <a:noFill/>
          </a:ln>
        </p:spPr>
      </p:pic>
      <p:sp>
        <p:nvSpPr>
          <p:cNvPr id="134147" name="Text Box 2"/>
          <p:cNvSpPr/>
          <p:nvPr/>
        </p:nvSpPr>
        <p:spPr>
          <a:xfrm>
            <a:off x="0" y="1743075"/>
            <a:ext cx="914400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50000"/>
              </a:spcBef>
              <a:buNone/>
            </a:pPr>
            <a:r>
              <a:rPr altLang="zh-CN" dirty="0" lang="zh-CN" sz="2800">
                <a:solidFill>
                  <a:schemeClr val="tx2"/>
                </a:solidFill>
                <a:latin typeface="Tahoma" panose="020B0604030504040204" pitchFamily="34" charset="0"/>
              </a:rPr>
              <a:t>库恩的历史主义模式</a:t>
            </a:r>
            <a:endParaRPr altLang="zh-CN" dirty="0" lang="zh-CN" sz="2800">
              <a:solidFill>
                <a:schemeClr val="tx2"/>
              </a:solidFill>
              <a:latin typeface="Tahoma" panose="020B0604030504040204" pitchFamily="34" charset="0"/>
            </a:endParaRPr>
          </a:p>
        </p:txBody>
      </p:sp>
      <p:pic>
        <p:nvPicPr>
          <p:cNvPr id="134148" name="Picture 2" descr="kuhn"/>
          <p:cNvPicPr/>
          <p:nvPr/>
        </p:nvPicPr>
        <p:blipFill>
          <a:blip r:embed="rId2"/>
          <a:stretch>
            <a:fillRect/>
          </a:stretch>
        </p:blipFill>
        <p:spPr>
          <a:xfrm>
            <a:off x="123825" y="2581275"/>
            <a:ext cx="2979738" cy="3657600"/>
          </a:xfrm>
          <a:prstGeom prst="rect">
            <a:avLst/>
          </a:prstGeom>
          <a:noFill/>
          <a:ln w="9525">
            <a:noFill/>
          </a:ln>
        </p:spPr>
      </p:pic>
      <p:sp>
        <p:nvSpPr>
          <p:cNvPr id="134149" name="Text Box 4"/>
          <p:cNvSpPr/>
          <p:nvPr/>
        </p:nvSpPr>
        <p:spPr>
          <a:xfrm>
            <a:off x="4252913" y="2400300"/>
            <a:ext cx="4114800" cy="3749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50000"/>
              </a:spcBef>
              <a:buNone/>
            </a:pPr>
            <a:r>
              <a:rPr altLang="zh-CN" dirty="0" lang="zh-CN">
                <a:ea typeface="宋体" panose="02010600030101010101" pitchFamily="2" charset="-122"/>
                <a:latin typeface="Times New Roman" panose="02020603050405020304" pitchFamily="18" charset="0"/>
              </a:rPr>
              <a:t>历史主义的代表，1962年提出“范式”</a:t>
            </a:r>
            <a:endParaRPr altLang="zh-CN" dirty="0" lang="zh-CN">
              <a:ea typeface="宋体" panose="02010600030101010101" pitchFamily="2" charset="-122"/>
              <a:latin typeface="Times New Roman" panose="02020603050405020304" pitchFamily="18" charset="0"/>
            </a:endParaRPr>
          </a:p>
          <a:p>
            <a:pPr marL="0" indent="0" lvl="0" eaLnBrk="1" hangingPunct="1">
              <a:spcBef>
                <a:spcPct val="0"/>
              </a:spcBef>
              <a:buNone/>
            </a:pPr>
            <a:r>
              <a:rPr altLang="zh-CN" dirty="0" lang="zh-CN">
                <a:ea typeface="宋体" panose="02010600030101010101" pitchFamily="2" charset="-122"/>
                <a:latin typeface="Times New Roman" panose="02020603050405020304" pitchFamily="18" charset="0"/>
              </a:rPr>
              <a:t>(paradigm)概念</a:t>
            </a:r>
            <a:endParaRPr altLang="zh-CN" dirty="0" lang="zh-CN">
              <a:ea typeface="宋体" panose="02010600030101010101" pitchFamily="2" charset="-122"/>
              <a:latin typeface="Times New Roman" panose="02020603050405020304" pitchFamily="18" charset="0"/>
            </a:endParaRPr>
          </a:p>
          <a:p>
            <a:pPr marL="0" indent="0" lvl="0" eaLnBrk="1" hangingPunct="1">
              <a:spcBef>
                <a:spcPct val="50000"/>
              </a:spcBef>
              <a:buNone/>
            </a:pPr>
            <a:endParaRPr altLang="zh-CN" dirty="0" lang="zh-CN">
              <a:ea typeface="宋体" panose="02010600030101010101" pitchFamily="2" charset="-122"/>
              <a:latin typeface="Times New Roman" panose="02020603050405020304" pitchFamily="18" charset="0"/>
            </a:endParaRPr>
          </a:p>
          <a:p>
            <a:pPr marL="0" indent="0" lvl="0" eaLnBrk="1" hangingPunct="1">
              <a:spcBef>
                <a:spcPct val="50000"/>
              </a:spcBef>
              <a:buNone/>
            </a:pPr>
            <a:r>
              <a:rPr altLang="zh-CN" dirty="0" lang="zh-CN">
                <a:ea typeface="宋体" panose="02010600030101010101" pitchFamily="2" charset="-122"/>
                <a:latin typeface="Times New Roman" panose="02020603050405020304" pitchFamily="18" charset="0"/>
              </a:rPr>
              <a:t>科学发展：</a:t>
            </a:r>
            <a:endParaRPr altLang="zh-CN" dirty="0" lang="zh-CN">
              <a:ea typeface="宋体" panose="02010600030101010101" pitchFamily="2" charset="-122"/>
              <a:latin typeface="Times New Roman" panose="02020603050405020304" pitchFamily="18" charset="0"/>
            </a:endParaRPr>
          </a:p>
          <a:p>
            <a:pPr marL="0" indent="0" lvl="0" eaLnBrk="1" hangingPunct="1">
              <a:spcBef>
                <a:spcPct val="50000"/>
              </a:spcBef>
              <a:buNone/>
            </a:pPr>
            <a:r>
              <a:rPr altLang="zh-CN" dirty="0" lang="zh-CN">
                <a:ea typeface="宋体" panose="02010600030101010101" pitchFamily="2" charset="-122"/>
                <a:latin typeface="Times New Roman" panose="02020603050405020304" pitchFamily="18" charset="0"/>
              </a:rPr>
              <a:t>常规科学 + 科学革命</a:t>
            </a:r>
            <a:endParaRPr altLang="zh-CN" dirty="0" lang="zh-CN" sz="2400">
              <a:ea typeface="宋体" panose="02010600030101010101" pitchFamily="2" charset="-122"/>
              <a:latin typeface="Times New Roman" panose="02020603050405020304" pitchFamily="18" charset="0"/>
            </a:endParaRPr>
          </a:p>
        </p:txBody>
      </p:sp>
    </p:spTree>
  </p:cSld>
  <p:clrMapOvr>
    <a:masterClrMapping/>
  </p:clrMapOvr>
</p:sld>
</file>

<file path=ppt/slides/slide11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6194" name="Picture 9"/>
          <p:cNvPicPr/>
          <p:nvPr/>
        </p:nvPicPr>
        <p:blipFill>
          <a:blip r:embed="rId1"/>
          <a:stretch>
            <a:fillRect/>
          </a:stretch>
        </p:blipFill>
        <p:spPr>
          <a:xfrm>
            <a:off x="0" y="0"/>
            <a:ext cx="9144000" cy="1743075"/>
          </a:xfrm>
          <a:prstGeom prst="rect">
            <a:avLst/>
          </a:prstGeom>
          <a:noFill/>
          <a:ln w="9525">
            <a:noFill/>
          </a:ln>
        </p:spPr>
      </p:pic>
      <p:sp>
        <p:nvSpPr>
          <p:cNvPr id="136195" name="Text Box 4"/>
          <p:cNvSpPr/>
          <p:nvPr/>
        </p:nvSpPr>
        <p:spPr>
          <a:xfrm>
            <a:off x="0" y="1743075"/>
            <a:ext cx="9144000" cy="49545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范式包括：</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(1)符号通式(语言，可能互相定义)</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(2)共同信念(形而上学或模型)</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(3)共有价值(简单性、一致性，鉴赏力)</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(4)范例(演示)</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范式举例：</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燃素说—  氧气说</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亚里士多德物理学—  近代科学</a:t>
            </a:r>
            <a:endParaRPr altLang="zh-CN" dirty="0" lang="zh-CN" sz="2800">
              <a:ea typeface="宋体" panose="02010600030101010101" pitchFamily="2" charset="-122"/>
              <a:latin typeface="Times New Roman" panose="02020603050405020304" pitchFamily="18" charset="0"/>
            </a:endParaRPr>
          </a:p>
          <a:p>
            <a:pPr marL="0" indent="0" lvl="0" algn="just" eaLnBrk="1" hangingPunct="1">
              <a:spcBef>
                <a:spcPct val="0"/>
              </a:spcBef>
              <a:buNone/>
            </a:pPr>
            <a:r>
              <a:rPr altLang="zh-CN" dirty="0" lang="zh-CN" sz="2800">
                <a:ea typeface="宋体" panose="02010600030101010101" pitchFamily="2" charset="-122"/>
                <a:latin typeface="Times New Roman" panose="02020603050405020304" pitchFamily="18" charset="0"/>
              </a:rPr>
              <a:t>经典力学— 相对论</a:t>
            </a:r>
            <a:endParaRPr altLang="zh-CN" dirty="0" lang="zh-CN" sz="2800">
              <a:ea typeface="宋体" panose="02010600030101010101" pitchFamily="2" charset="-122"/>
              <a:latin typeface="Times New Roman" panose="02020603050405020304" pitchFamily="18" charset="0"/>
            </a:endParaRPr>
          </a:p>
          <a:p>
            <a:pPr marL="0" indent="0" lvl="0" eaLnBrk="1" hangingPunct="1">
              <a:spcBef>
                <a:spcPct val="50000"/>
              </a:spcBef>
              <a:buNone/>
            </a:pPr>
            <a:endParaRPr altLang="zh-CN" dirty="0" lang="zh-CN" sz="2400">
              <a:ea typeface="宋体" panose="02010600030101010101" pitchFamily="2" charset="-122"/>
              <a:latin typeface="Times New Roman" panose="02020603050405020304" pitchFamily="18" charset="0"/>
            </a:endParaRPr>
          </a:p>
        </p:txBody>
      </p:sp>
    </p:spTree>
  </p:cSld>
  <p:clrMapOvr>
    <a:masterClrMapping/>
  </p:clrMapOvr>
</p:sld>
</file>

<file path=ppt/slides/slide11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8242" name="Picture 9"/>
          <p:cNvPicPr/>
          <p:nvPr/>
        </p:nvPicPr>
        <p:blipFill>
          <a:blip r:embed="rId1"/>
          <a:stretch>
            <a:fillRect/>
          </a:stretch>
        </p:blipFill>
        <p:spPr>
          <a:xfrm>
            <a:off x="0" y="0"/>
            <a:ext cx="9144000" cy="1743075"/>
          </a:xfrm>
          <a:prstGeom prst="rect">
            <a:avLst/>
          </a:prstGeom>
          <a:noFill/>
          <a:ln w="9525">
            <a:noFill/>
          </a:ln>
        </p:spPr>
      </p:pic>
      <p:sp>
        <p:nvSpPr>
          <p:cNvPr id="138243"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ea typeface="宋体" panose="02010600030101010101" pitchFamily="2" charset="-122"/>
                <a:latin typeface="宋体" panose="02010600030101010101" pitchFamily="2" charset="-122"/>
              </a:rPr>
              <a:t>2</a:t>
            </a:r>
            <a:r>
              <a:rPr altLang="en-US" dirty="0" lang="zh-CN" b="1" sz="2400">
                <a:ea typeface="宋体" panose="02010600030101010101" pitchFamily="2" charset="-122"/>
                <a:latin typeface="宋体" panose="02010600030101010101" pitchFamily="2" charset="-122"/>
              </a:rPr>
              <a:t>、科学发展的指数规律</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恩格斯说，“科学的发展则与前一代人遗留下的知识量成正比，因此在最普遍的情况下，科学也是按几何级数发展的”。（</a:t>
            </a:r>
            <a:r>
              <a:rPr altLang="zh-CN" dirty="0" lang="en-US" sz="2400">
                <a:solidFill>
                  <a:srgbClr val="0000FF"/>
                </a:solidFill>
                <a:ea typeface="宋体" panose="02010600030101010101" pitchFamily="2" charset="-122"/>
                <a:latin typeface="宋体" panose="02010600030101010101" pitchFamily="2" charset="-122"/>
              </a:rPr>
              <a:t>《</a:t>
            </a:r>
            <a:r>
              <a:rPr altLang="en-US" dirty="0" lang="zh-CN" sz="2400">
                <a:solidFill>
                  <a:srgbClr val="0000FF"/>
                </a:solidFill>
                <a:ea typeface="宋体" panose="02010600030101010101" pitchFamily="2" charset="-122"/>
                <a:latin typeface="宋体" panose="02010600030101010101" pitchFamily="2" charset="-122"/>
              </a:rPr>
              <a:t>马克思恩格斯全集</a:t>
            </a:r>
            <a:r>
              <a:rPr altLang="zh-CN" dirty="0" lang="en-US" sz="2400">
                <a:solidFill>
                  <a:srgbClr val="0000FF"/>
                </a:solidFill>
                <a:ea typeface="宋体" panose="02010600030101010101" pitchFamily="2" charset="-122"/>
                <a:latin typeface="宋体" panose="02010600030101010101" pitchFamily="2" charset="-122"/>
              </a:rPr>
              <a:t>》</a:t>
            </a:r>
            <a:r>
              <a:rPr altLang="en-US" dirty="0" lang="zh-CN" sz="2400">
                <a:solidFill>
                  <a:srgbClr val="0000FF"/>
                </a:solidFill>
                <a:ea typeface="宋体" panose="02010600030101010101" pitchFamily="2" charset="-122"/>
                <a:latin typeface="宋体" panose="02010600030101010101" pitchFamily="2" charset="-122"/>
              </a:rPr>
              <a:t>第一卷，第</a:t>
            </a:r>
            <a:r>
              <a:rPr altLang="zh-CN" dirty="0" lang="en-US" sz="2400">
                <a:solidFill>
                  <a:srgbClr val="0000FF"/>
                </a:solidFill>
                <a:ea typeface="宋体" panose="02010600030101010101" pitchFamily="2" charset="-122"/>
                <a:latin typeface="宋体" panose="02010600030101010101" pitchFamily="2" charset="-122"/>
              </a:rPr>
              <a:t>621</a:t>
            </a:r>
            <a:r>
              <a:rPr altLang="en-US" dirty="0" lang="zh-CN" sz="2400">
                <a:solidFill>
                  <a:srgbClr val="0000FF"/>
                </a:solidFill>
                <a:ea typeface="宋体" panose="02010600030101010101" pitchFamily="2" charset="-122"/>
                <a:latin typeface="宋体" panose="02010600030101010101" pitchFamily="2" charset="-122"/>
              </a:rPr>
              <a:t>页。</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1962</a:t>
            </a:r>
            <a:r>
              <a:rPr altLang="en-US" dirty="0" lang="zh-CN" sz="2400">
                <a:ea typeface="宋体" panose="02010600030101010101" pitchFamily="2" charset="-122"/>
                <a:latin typeface="宋体" panose="02010600030101010101" pitchFamily="2" charset="-122"/>
              </a:rPr>
              <a:t>年，普赖斯用计量学的方法把科学增长的势态描绘为指数增长曲线。科学发展是加速与停顿以至下降的交替。当指数增长到达极限以后，指数型规律就会失效，而当抑制期过去以后，科学又表现为一种新的加速发展。所以总态势呈</a:t>
            </a:r>
            <a:r>
              <a:rPr altLang="zh-CN" dirty="0" lang="en-US" sz="2400">
                <a:ea typeface="宋体" panose="02010600030101010101" pitchFamily="2" charset="-122"/>
                <a:latin typeface="宋体" panose="02010600030101010101" pitchFamily="2" charset="-122"/>
              </a:rPr>
              <a:t>S</a:t>
            </a:r>
            <a:r>
              <a:rPr altLang="en-US" dirty="0" lang="zh-CN" sz="2400">
                <a:ea typeface="宋体" panose="02010600030101010101" pitchFamily="2" charset="-122"/>
                <a:latin typeface="宋体" panose="02010600030101010101" pitchFamily="2" charset="-122"/>
              </a:rPr>
              <a:t>型曲线。</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1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39266" name="Picture 9"/>
          <p:cNvPicPr/>
          <p:nvPr/>
        </p:nvPicPr>
        <p:blipFill>
          <a:blip r:embed="rId1"/>
          <a:stretch>
            <a:fillRect/>
          </a:stretch>
        </p:blipFill>
        <p:spPr>
          <a:xfrm>
            <a:off x="0" y="0"/>
            <a:ext cx="9144000" cy="1743075"/>
          </a:xfrm>
          <a:prstGeom prst="rect">
            <a:avLst/>
          </a:prstGeom>
          <a:noFill/>
          <a:ln w="9525">
            <a:noFill/>
          </a:ln>
        </p:spPr>
      </p:pic>
      <p:sp>
        <p:nvSpPr>
          <p:cNvPr id="139267" name="TextBox 2"/>
          <p:cNvSpPr/>
          <p:nvPr/>
        </p:nvSpPr>
        <p:spPr>
          <a:xfrm>
            <a:off x="0" y="1743075"/>
            <a:ext cx="9144000" cy="6099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技术发展模式</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石谷清干的更替论模式：</a:t>
            </a:r>
            <a:r>
              <a:rPr altLang="en-US" dirty="0" lang="zh-CN" sz="2400">
                <a:ea typeface="宋体" panose="02010600030101010101" pitchFamily="2" charset="-122"/>
                <a:latin typeface="宋体" panose="02010600030101010101" pitchFamily="2" charset="-122"/>
              </a:rPr>
              <a:t>旧技术→新需要→新技术→技术更替。</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社会提出更新需要时，新技术的出现便步可避免。</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星野芳郎的阶段论模式：</a:t>
            </a:r>
            <a:r>
              <a:rPr altLang="en-US" dirty="0" lang="zh-CN" sz="2400">
                <a:ea typeface="宋体" panose="02010600030101010101" pitchFamily="2" charset="-122"/>
                <a:latin typeface="宋体" panose="02010600030101010101" pitchFamily="2" charset="-122"/>
              </a:rPr>
              <a:t>技术原理的奠定与发展→技术手段的局部性改良→新技术原理的奠定、发展</a:t>
            </a:r>
            <a:r>
              <a:rPr altLang="zh-CN" dirty="0" lang="en-US"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在原有技术原理框架内的提高改善是有限度的，当达到极限后，进一步的发展就只有冲破这个框架，使技术原理实现飞跃性变革。</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道西的范式论模式：</a:t>
            </a:r>
            <a:r>
              <a:rPr altLang="en-US" dirty="0" lang="zh-CN" sz="2400">
                <a:ea typeface="宋体" panose="02010600030101010101" pitchFamily="2" charset="-122"/>
                <a:latin typeface="宋体" panose="02010600030101010101" pitchFamily="2" charset="-122"/>
              </a:rPr>
              <a:t>技术模式→常规技术的发展→科技、社会多因素的重新权衡和选择→新的技术模式</a:t>
            </a:r>
            <a:r>
              <a:rPr altLang="zh-CN" dirty="0" lang="en-US"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0290" name="Picture 9"/>
          <p:cNvPicPr/>
          <p:nvPr/>
        </p:nvPicPr>
        <p:blipFill>
          <a:blip r:embed="rId1"/>
          <a:stretch>
            <a:fillRect/>
          </a:stretch>
        </p:blipFill>
        <p:spPr>
          <a:xfrm>
            <a:off x="0" y="0"/>
            <a:ext cx="9144000" cy="1743075"/>
          </a:xfrm>
          <a:prstGeom prst="rect">
            <a:avLst/>
          </a:prstGeom>
          <a:noFill/>
          <a:ln w="9525">
            <a:noFill/>
          </a:ln>
        </p:spPr>
      </p:pic>
      <p:sp>
        <p:nvSpPr>
          <p:cNvPr id="140291"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国外关于技术发展模式及其动力的研究</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、技术自主论</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认为技术是独立的、自我决定、自我创生、自我推进、自在的或自我扩展力量，埃吕尔和温纳被公认为技术自主论的主要代表。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、社会建构论</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认为在技术的发展过程中，社会因素起到了决定性的作用，如比克、平齐等。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技术自主论和社会建构论都看到了技术发展某一方面的动力，忽视了其他方面动力的作用，存在片面性。</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1314" name="Picture 9"/>
          <p:cNvPicPr/>
          <p:nvPr/>
        </p:nvPicPr>
        <p:blipFill>
          <a:blip r:embed="rId1"/>
          <a:stretch>
            <a:fillRect/>
          </a:stretch>
        </p:blipFill>
        <p:spPr>
          <a:xfrm>
            <a:off x="0" y="0"/>
            <a:ext cx="9144000" cy="1743075"/>
          </a:xfrm>
          <a:prstGeom prst="rect">
            <a:avLst/>
          </a:prstGeom>
          <a:noFill/>
          <a:ln w="9525">
            <a:noFill/>
          </a:ln>
        </p:spPr>
      </p:pic>
      <p:sp>
        <p:nvSpPr>
          <p:cNvPr id="141315"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a:ea typeface="宋体" panose="02010600030101010101" pitchFamily="2" charset="-122"/>
                <a:latin typeface="宋体" panose="02010600030101010101" pitchFamily="2" charset="-122"/>
              </a:rPr>
              <a:t>论文题目：</a:t>
            </a:r>
            <a:endParaRPr altLang="zh-CN" dirty="0" lang="en-US" b="1">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如何理解科学？</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如何理解技术？</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禁止抄袭、禁止抄袭、禁止抄袭！！！</a:t>
            </a:r>
            <a:endParaRPr altLang="zh-CN" dirty="0" lang="en-US" sz="2800">
              <a:solidFill>
                <a:srgbClr val="FF0000"/>
              </a:solidFill>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重要的事情说三遍。</a:t>
            </a:r>
            <a:endParaRPr altLang="zh-CN" dirty="0" lang="en-US"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2338" name="Picture 9"/>
          <p:cNvPicPr/>
          <p:nvPr/>
        </p:nvPicPr>
        <p:blipFill>
          <a:blip r:embed="rId1"/>
          <a:stretch>
            <a:fillRect/>
          </a:stretch>
        </p:blipFill>
        <p:spPr>
          <a:xfrm>
            <a:off x="0" y="0"/>
            <a:ext cx="9144000" cy="1743075"/>
          </a:xfrm>
          <a:prstGeom prst="rect">
            <a:avLst/>
          </a:prstGeom>
          <a:noFill/>
          <a:ln w="9525">
            <a:noFill/>
          </a:ln>
        </p:spPr>
      </p:pic>
      <p:sp>
        <p:nvSpPr>
          <p:cNvPr id="105475" name="TextBox 2"/>
          <p:cNvSpPr/>
          <p:nvPr/>
        </p:nvSpPr>
        <p:spPr>
          <a:xfrm>
            <a:off x="0" y="1743075"/>
            <a:ext cx="9144000" cy="3969385"/>
          </a:xfrm>
          <a:prstGeom prst="rect">
            <a:avLst/>
          </a:prstGeom>
          <a:noFill/>
          <a:ln w="12700">
            <a:noFill/>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marL="0" marR="0" indent="0" lvl="0" algn="ctr" defTabSz="914400" rtl="0" eaLnBrk="1" latinLnBrk="0" hangingPunct="1" fontAlgn="base">
              <a:lnSpc>
                <a:spcPct val="150000"/>
              </a:lnSpc>
              <a:spcBef>
                <a:spcPct val="0"/>
              </a:spcBef>
              <a:spcAft>
                <a:spcPct val="0"/>
              </a:spcAft>
              <a:buNone/>
              <a:defRPr/>
            </a:pPr>
            <a:r>
              <a:rPr altLang="en-US" dirty="0" kern="1200" kumimoji="0" lang="zh-CN" normalizeH="0" b="1" cap="none" i="0" noProof="0" spc="0" strike="noStrike" sz="3200" u="none">
                <a:ln>
                  <a:noFill/>
                </a:ln>
                <a:solidFill>
                  <a:srgbClr val="FF0000"/>
                </a:solidFill>
                <a:effectLst/>
                <a:uLnTx/>
                <a:uFillTx/>
                <a:cs typeface="+mn-cs"/>
                <a:ea typeface="宋体" panose="02010600030101010101" pitchFamily="2" charset="-122"/>
                <a:latin typeface="宋体" panose="02010600030101010101" pitchFamily="2" charset="-122"/>
              </a:rPr>
              <a:t>第三章 马克思主义的科学技术方法论</a:t>
            </a:r>
            <a:endParaRPr altLang="zh-CN" dirty="0" kern="1200" kumimoji="0" lang="en-US" normalizeH="0" b="1" cap="none" i="0" noProof="0" spc="0" strike="noStrike" sz="3200" u="none">
              <a:ln>
                <a:noFill/>
              </a:ln>
              <a:solidFill>
                <a:srgbClr val="FF0000"/>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黑体" panose="02010609060101010101" pitchFamily="49" charset="-122"/>
                <a:latin typeface="Franklin Gothic Book" panose="020B0503020102020204" pitchFamily="34" charset="0"/>
              </a:rPr>
              <a:t>         只要有生活经历，就有被称作科学和科学方法的经验。了解科学和科学方法的运行过程，对解决人和事物的经验、技巧进行总结，就能够成为能量很强的人，有作为的人。</a:t>
            </a:r>
            <a:endParaRPr altLang="zh-CN" dirty="0" kern="1200" kumimoji="0" lang="en-US" normalizeH="0" b="1"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Tree>
  </p:cSld>
  <p:clrMapOvr>
    <a:masterClrMapping/>
  </p:clrMapOvr>
</p:sld>
</file>

<file path=ppt/slides/slide12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3362" name="Picture 9"/>
          <p:cNvPicPr/>
          <p:nvPr/>
        </p:nvPicPr>
        <p:blipFill>
          <a:blip r:embed="rId1"/>
          <a:stretch>
            <a:fillRect/>
          </a:stretch>
        </p:blipFill>
        <p:spPr>
          <a:xfrm>
            <a:off x="0" y="0"/>
            <a:ext cx="9144000" cy="1743075"/>
          </a:xfrm>
          <a:prstGeom prst="rect">
            <a:avLst/>
          </a:prstGeom>
          <a:noFill/>
          <a:ln w="9525">
            <a:noFill/>
          </a:ln>
        </p:spPr>
      </p:pic>
      <p:sp>
        <p:nvSpPr>
          <p:cNvPr id="143363" name="TextBox 2"/>
          <p:cNvSpPr/>
          <p:nvPr/>
        </p:nvSpPr>
        <p:spPr>
          <a:xfrm>
            <a:off x="0" y="1743075"/>
            <a:ext cx="9144000" cy="3222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马克思主义的科学技术方法论是以辩证唯物主义立场、观点为基础，吸取具体科学技术研究中的基本方法，并且对其进行概括和升华的方法论。</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马克思主义科学技术方法论的核心是</a:t>
            </a:r>
            <a:r>
              <a:rPr altLang="en-US" dirty="0" lang="zh-CN" b="1" sz="2800">
                <a:ea typeface="宋体" panose="02010600030101010101" pitchFamily="2" charset="-122"/>
                <a:latin typeface="宋体" panose="02010600030101010101" pitchFamily="2" charset="-122"/>
              </a:rPr>
              <a:t>辩证思维。</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12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4386" name="Picture 9"/>
          <p:cNvPicPr/>
          <p:nvPr/>
        </p:nvPicPr>
        <p:blipFill>
          <a:blip r:embed="rId1"/>
          <a:stretch>
            <a:fillRect/>
          </a:stretch>
        </p:blipFill>
        <p:spPr>
          <a:xfrm>
            <a:off x="0" y="0"/>
            <a:ext cx="9144000" cy="1743075"/>
          </a:xfrm>
          <a:prstGeom prst="rect">
            <a:avLst/>
          </a:prstGeom>
          <a:noFill/>
          <a:ln w="9525">
            <a:noFill/>
          </a:ln>
        </p:spPr>
      </p:pic>
      <p:sp>
        <p:nvSpPr>
          <p:cNvPr id="144387" name="TextBox 2"/>
          <p:cNvSpPr/>
          <p:nvPr/>
        </p:nvSpPr>
        <p:spPr>
          <a:xfrm>
            <a:off x="0" y="1743075"/>
            <a:ext cx="9144000" cy="45307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第一节 科学技术的辩证思维方法</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一、从具体到抽象再到具体</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r>
              <a:rPr altLang="zh-CN" dirty="0" lang="en-US" b="1" sz="2400">
                <a:solidFill>
                  <a:srgbClr val="0000FF"/>
                </a:solidFill>
                <a:ea typeface="宋体" panose="02010600030101010101" pitchFamily="2" charset="-122"/>
                <a:latin typeface="宋体" panose="02010600030101010101" pitchFamily="2" charset="-122"/>
              </a:rPr>
              <a:t>1</a:t>
            </a:r>
            <a:r>
              <a:rPr altLang="en-US" dirty="0" lang="zh-CN" b="1" sz="2400">
                <a:solidFill>
                  <a:srgbClr val="0000FF"/>
                </a:solidFill>
                <a:ea typeface="宋体" panose="02010600030101010101" pitchFamily="2" charset="-122"/>
                <a:latin typeface="宋体" panose="02010600030101010101" pitchFamily="2" charset="-122"/>
              </a:rPr>
              <a:t>、科学抽象 </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科学抽象：</a:t>
            </a:r>
            <a:r>
              <a:rPr altLang="en-US" dirty="0" lang="zh-CN" sz="2400">
                <a:ea typeface="宋体" panose="02010600030101010101" pitchFamily="2" charset="-122"/>
                <a:latin typeface="宋体" panose="02010600030101010101" pitchFamily="2" charset="-122"/>
              </a:rPr>
              <a:t>就是透过现象，提取本质的思维过程和方法。只有通过科学抽象，我们才能对现象作出统一的科学说明。</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马克思说：</a:t>
            </a:r>
            <a:r>
              <a:rPr altLang="en-US" dirty="0" lang="zh-CN" sz="2400">
                <a:solidFill>
                  <a:srgbClr val="FF0000"/>
                </a:solidFill>
                <a:ea typeface="宋体" panose="02010600030101010101" pitchFamily="2" charset="-122"/>
                <a:latin typeface="宋体" panose="02010600030101010101" pitchFamily="2" charset="-122"/>
              </a:rPr>
              <a:t>“如果事物的表现形式和事物的本质会直接合二为一，一切科学就成为多余的了”</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资本论</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卷，第</a:t>
            </a:r>
            <a:r>
              <a:rPr altLang="zh-CN" dirty="0" lang="en-US" sz="2400">
                <a:ea typeface="宋体" panose="02010600030101010101" pitchFamily="2" charset="-122"/>
                <a:latin typeface="宋体" panose="02010600030101010101" pitchFamily="2" charset="-122"/>
              </a:rPr>
              <a:t>923</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5410" name="Picture 9"/>
          <p:cNvPicPr/>
          <p:nvPr/>
        </p:nvPicPr>
        <p:blipFill>
          <a:blip r:embed="rId1"/>
          <a:stretch>
            <a:fillRect/>
          </a:stretch>
        </p:blipFill>
        <p:spPr>
          <a:xfrm>
            <a:off x="0" y="0"/>
            <a:ext cx="9144000" cy="1743075"/>
          </a:xfrm>
          <a:prstGeom prst="rect">
            <a:avLst/>
          </a:prstGeom>
          <a:noFill/>
          <a:ln w="9525">
            <a:noFill/>
          </a:ln>
        </p:spPr>
      </p:pic>
      <p:sp>
        <p:nvSpPr>
          <p:cNvPr id="145411" name="TextBox 2"/>
          <p:cNvSpPr/>
          <p:nvPr/>
        </p:nvSpPr>
        <p:spPr>
          <a:xfrm>
            <a:off x="0" y="1743075"/>
            <a:ext cx="9144000" cy="56311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0000FF"/>
                </a:solidFill>
                <a:ea typeface="宋体" panose="02010600030101010101" pitchFamily="2" charset="-122"/>
                <a:latin typeface="宋体" panose="02010600030101010101" pitchFamily="2" charset="-122"/>
              </a:rPr>
              <a:t>2</a:t>
            </a:r>
            <a:r>
              <a:rPr altLang="en-US" dirty="0" lang="zh-CN" b="1" sz="2400">
                <a:solidFill>
                  <a:srgbClr val="0000FF"/>
                </a:solidFill>
                <a:ea typeface="宋体" panose="02010600030101010101" pitchFamily="2" charset="-122"/>
                <a:latin typeface="宋体" panose="02010600030101010101" pitchFamily="2" charset="-122"/>
              </a:rPr>
              <a:t>、科学抽象的一般过程</a:t>
            </a:r>
            <a:endParaRPr altLang="zh-CN" dirty="0" lang="en-US" b="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科学抽象的两个阶段：从个别到一般，即由具体到抽象，然后，从一般到个别，即从抽象到具体。</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感性具体是观察、实验中获得的科学事实。孟德尔发现遗传定律以前关于生物遗传变异的许多复杂现象就属于这种“具体”。</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科学抽象的第一阶段获得一些抽象的规定，如道尔顿的“原子”、孟德尔的“基因”等科学概念。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科学抽象的第二步从抽象的规定到思维的具体。这往往表现为将最基本的科学慨念作为逻辑起点，把事物的各种规定性按照其内部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6434" name="Picture 9"/>
          <p:cNvPicPr/>
          <p:nvPr/>
        </p:nvPicPr>
        <p:blipFill>
          <a:blip r:embed="rId1"/>
          <a:stretch>
            <a:fillRect/>
          </a:stretch>
        </p:blipFill>
        <p:spPr>
          <a:xfrm>
            <a:off x="0" y="0"/>
            <a:ext cx="9144000" cy="1743075"/>
          </a:xfrm>
          <a:prstGeom prst="rect">
            <a:avLst/>
          </a:prstGeom>
          <a:noFill/>
          <a:ln w="9525">
            <a:noFill/>
          </a:ln>
        </p:spPr>
      </p:pic>
      <p:sp>
        <p:nvSpPr>
          <p:cNvPr id="146435"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联系综合起来，在思维中再现事物原来的整体面貌。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第二阶段的成果主要是科学原理、科学定律，如</a:t>
            </a:r>
            <a:r>
              <a:rPr altLang="zh-CN" dirty="0" lang="en-US" sz="2400">
                <a:ea typeface="宋体" panose="02010600030101010101" pitchFamily="2" charset="-122"/>
                <a:latin typeface="宋体" panose="02010600030101010101" pitchFamily="2" charset="-122"/>
              </a:rPr>
              <a:t>DNA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RNA</a:t>
            </a:r>
            <a:r>
              <a:rPr altLang="en-US" dirty="0" lang="zh-CN" sz="2400">
                <a:ea typeface="宋体" panose="02010600030101010101" pitchFamily="2" charset="-122"/>
                <a:latin typeface="宋体" panose="02010600030101010101" pitchFamily="2" charset="-122"/>
              </a:rPr>
              <a:t>的转录机制，染色体的分裂，复制机制。</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二、归纳与演绎</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归纳与演绎方法就是从一般到个别与从个别到一般的思维方法，要正确处理一般与个别之间的辩证关系。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2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7458" name="Picture 9"/>
          <p:cNvPicPr/>
          <p:nvPr/>
        </p:nvPicPr>
        <p:blipFill>
          <a:blip r:embed="rId1"/>
          <a:stretch>
            <a:fillRect/>
          </a:stretch>
        </p:blipFill>
        <p:spPr>
          <a:xfrm>
            <a:off x="0" y="0"/>
            <a:ext cx="9144000" cy="1743075"/>
          </a:xfrm>
          <a:prstGeom prst="rect">
            <a:avLst/>
          </a:prstGeom>
          <a:noFill/>
          <a:ln w="9525">
            <a:noFill/>
          </a:ln>
        </p:spPr>
      </p:pic>
      <p:sp>
        <p:nvSpPr>
          <p:cNvPr id="147459" name="TextBox 2"/>
          <p:cNvSpPr/>
          <p:nvPr/>
        </p:nvSpPr>
        <p:spPr>
          <a:xfrm>
            <a:off x="0" y="1743075"/>
            <a:ext cx="9144000" cy="3843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buNone/>
            </a:pPr>
            <a:r>
              <a:rPr altLang="en-US" dirty="0" lang="zh-CN" sz="2400"/>
              <a:t>演绎方法：</a:t>
            </a:r>
            <a:r>
              <a:rPr altLang="en-US" dirty="0" lang="zh-CN" sz="2400">
                <a:ea typeface="宋体" panose="02010600030101010101" pitchFamily="2" charset="-122"/>
                <a:latin typeface="宋体" panose="02010600030101010101" pitchFamily="2" charset="-122"/>
              </a:rPr>
              <a:t>从一般到个别的演绎推理。</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en-US" dirty="0" lang="zh-CN" sz="2400"/>
              <a:t>根本特点：</a:t>
            </a:r>
            <a:r>
              <a:rPr altLang="en-US" dirty="0" lang="zh-CN" sz="2400">
                <a:ea typeface="宋体" panose="02010600030101010101" pitchFamily="2" charset="-122"/>
                <a:latin typeface="宋体" panose="02010600030101010101" pitchFamily="2" charset="-122"/>
              </a:rPr>
              <a:t>前提与结论间有蕴含关系。 </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sz="2400">
                <a:ea typeface="宋体" panose="02010600030101010101" pitchFamily="2" charset="-122"/>
                <a:latin typeface="宋体" panose="02010600030101010101" pitchFamily="2" charset="-122"/>
              </a:rPr>
              <a:t>现在的演绎方法包括演绎推理和以演绎推理为基础的证明及公理化方法。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b="1" sz="2400">
                <a:ea typeface="宋体" panose="02010600030101010101" pitchFamily="2" charset="-122"/>
                <a:latin typeface="宋体" panose="02010600030101010101" pitchFamily="2" charset="-122"/>
              </a:rPr>
              <a:t>亚里士多德的三段论</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sz="2400">
                <a:ea typeface="宋体" panose="02010600030101010101" pitchFamily="2" charset="-122"/>
                <a:latin typeface="宋体" panose="02010600030101010101" pitchFamily="2" charset="-122"/>
              </a:rPr>
              <a:t>大前提：所有</a:t>
            </a:r>
            <a:r>
              <a:rPr altLang="zh-CN" dirty="0" lang="en-US" sz="2400">
                <a:ea typeface="宋体" panose="02010600030101010101" pitchFamily="2" charset="-122"/>
                <a:latin typeface="宋体" panose="02010600030101010101" pitchFamily="2" charset="-122"/>
              </a:rPr>
              <a:t>S</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P</a:t>
            </a:r>
            <a:r>
              <a:rPr altLang="en-US" dirty="0" lang="zh-CN" sz="2400">
                <a:ea typeface="宋体" panose="02010600030101010101" pitchFamily="2" charset="-122"/>
                <a:latin typeface="宋体" panose="02010600030101010101" pitchFamily="2" charset="-122"/>
              </a:rPr>
              <a:t>，（凡人皆死）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sz="2400">
                <a:ea typeface="宋体" panose="02010600030101010101" pitchFamily="2" charset="-122"/>
                <a:latin typeface="宋体" panose="02010600030101010101" pitchFamily="2" charset="-122"/>
              </a:rPr>
              <a:t>小前提：</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S</a:t>
            </a:r>
            <a:r>
              <a:rPr altLang="en-US" dirty="0" lang="zh-CN" sz="2400">
                <a:ea typeface="宋体" panose="02010600030101010101" pitchFamily="2" charset="-122"/>
                <a:latin typeface="宋体" panose="02010600030101010101" pitchFamily="2" charset="-122"/>
              </a:rPr>
              <a:t>，（苏格拉底是人）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sz="2400">
                <a:ea typeface="宋体" panose="02010600030101010101" pitchFamily="2" charset="-122"/>
                <a:latin typeface="宋体" panose="02010600030101010101" pitchFamily="2" charset="-122"/>
              </a:rPr>
              <a:t>结论：所以</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P</a:t>
            </a:r>
            <a:r>
              <a:rPr altLang="en-US" dirty="0" lang="zh-CN" sz="2400">
                <a:ea typeface="宋体" panose="02010600030101010101" pitchFamily="2" charset="-122"/>
                <a:latin typeface="宋体" panose="02010600030101010101" pitchFamily="2" charset="-122"/>
              </a:rPr>
              <a:t>。（苏格拉底会死）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endParaRPr altLang="zh-CN" dirty="0" lang="en-US" sz="2400"/>
          </a:p>
        </p:txBody>
      </p:sp>
      <p:pic>
        <p:nvPicPr>
          <p:cNvPr id="147460" name="图片 2"/>
          <p:cNvPicPr/>
          <p:nvPr/>
        </p:nvPicPr>
        <p:blipFill>
          <a:blip r:embed="rId2"/>
          <a:stretch>
            <a:fillRect/>
          </a:stretch>
        </p:blipFill>
        <p:spPr>
          <a:xfrm>
            <a:off x="5173663" y="3109913"/>
            <a:ext cx="3810000" cy="3335337"/>
          </a:xfrm>
          <a:prstGeom prst="rect">
            <a:avLst/>
          </a:prstGeom>
          <a:noFill/>
          <a:ln w="9525">
            <a:noFill/>
          </a:ln>
        </p:spPr>
      </p:pic>
    </p:spTree>
  </p:cSld>
  <p:clrMapOvr>
    <a:masterClrMapping/>
  </p:clrMapOvr>
</p:sld>
</file>

<file path=ppt/slides/slide12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8482" name="Picture 9"/>
          <p:cNvPicPr/>
          <p:nvPr/>
        </p:nvPicPr>
        <p:blipFill>
          <a:blip r:embed="rId1"/>
          <a:stretch>
            <a:fillRect/>
          </a:stretch>
        </p:blipFill>
        <p:spPr>
          <a:xfrm>
            <a:off x="0" y="0"/>
            <a:ext cx="9144000" cy="1743075"/>
          </a:xfrm>
          <a:prstGeom prst="rect">
            <a:avLst/>
          </a:prstGeom>
          <a:noFill/>
          <a:ln w="9525">
            <a:noFill/>
          </a:ln>
        </p:spPr>
      </p:pic>
      <p:sp>
        <p:nvSpPr>
          <p:cNvPr id="148483" name="TextBox 2"/>
          <p:cNvSpPr/>
          <p:nvPr/>
        </p:nvSpPr>
        <p:spPr>
          <a:xfrm>
            <a:off x="0" y="1743075"/>
            <a:ext cx="9144000" cy="3203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15000"/>
              </a:lnSpc>
              <a:spcBef>
                <a:spcPct val="0"/>
              </a:spcBef>
              <a:buNone/>
            </a:pPr>
            <a:r>
              <a:rPr altLang="zh-CN" dirty="0" lang="en-US" b="1" sz="2400">
                <a:ea typeface="宋体" panose="02010600030101010101" pitchFamily="2" charset="-122"/>
                <a:latin typeface="宋体" panose="02010600030101010101" pitchFamily="2" charset="-122"/>
              </a:rPr>
              <a:t>  </a:t>
            </a:r>
            <a:r>
              <a:rPr altLang="en-US" dirty="0" lang="zh-CN" b="1" sz="2400">
                <a:ea typeface="宋体" panose="02010600030101010101" pitchFamily="2" charset="-122"/>
                <a:latin typeface="宋体" panose="02010600030101010101" pitchFamily="2" charset="-122"/>
              </a:rPr>
              <a:t>归纳原理：</a:t>
            </a:r>
            <a:r>
              <a:rPr altLang="en-US" dirty="0" lang="zh-CN" sz="2400">
                <a:ea typeface="宋体" panose="02010600030101010101" pitchFamily="2" charset="-122"/>
                <a:latin typeface="宋体" panose="02010600030101010101" pitchFamily="2" charset="-122"/>
              </a:rPr>
              <a:t>如果在很多不同的条件下已经观察到大量的</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，而且如果所有这些被观察到的</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无一例外都具有属性</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，那么所有</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都具有属性</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归纳法：完全归纳法</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r>
              <a:rPr altLang="en-US" dirty="0" lang="zh-CN" sz="2800">
                <a:ea typeface="宋体" panose="02010600030101010101" pitchFamily="2" charset="-122"/>
                <a:latin typeface="宋体" panose="02010600030101010101" pitchFamily="2" charset="-122"/>
              </a:rPr>
              <a:t>        不完全归纳法（简单枚举法、科学归纳法）</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15000"/>
              </a:lnSpc>
              <a:spcBef>
                <a:spcPct val="0"/>
              </a:spcBef>
              <a:buNone/>
            </a:pPr>
            <a:endParaRPr altLang="zh-CN" dirty="0" lang="en-US" sz="2400"/>
          </a:p>
        </p:txBody>
      </p:sp>
    </p:spTree>
  </p:cSld>
  <p:clrMapOvr>
    <a:masterClrMapping/>
  </p:clrMapOvr>
</p:sld>
</file>

<file path=ppt/slides/slide12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49506" name="Picture 9"/>
          <p:cNvPicPr/>
          <p:nvPr/>
        </p:nvPicPr>
        <p:blipFill>
          <a:blip r:embed="rId1"/>
          <a:stretch>
            <a:fillRect/>
          </a:stretch>
        </p:blipFill>
        <p:spPr>
          <a:xfrm>
            <a:off x="0" y="0"/>
            <a:ext cx="9144000" cy="1743075"/>
          </a:xfrm>
          <a:prstGeom prst="rect">
            <a:avLst/>
          </a:prstGeom>
          <a:noFill/>
          <a:ln w="9525">
            <a:noFill/>
          </a:ln>
        </p:spPr>
      </p:pic>
      <p:sp>
        <p:nvSpPr>
          <p:cNvPr id="149507" name="TextBox 2"/>
          <p:cNvSpPr/>
          <p:nvPr/>
        </p:nvSpPr>
        <p:spPr>
          <a:xfrm>
            <a:off x="0" y="1743075"/>
            <a:ext cx="9144000" cy="4449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buNone/>
            </a:pPr>
            <a:r>
              <a:rPr altLang="en-US" dirty="0" lang="zh-CN" sz="2400"/>
              <a:t>简单枚举法</a:t>
            </a:r>
            <a:endParaRPr altLang="zh-CN" dirty="0" lang="en-US" sz="2400"/>
          </a:p>
          <a:p>
            <a:pPr marL="0" indent="0" lvl="0" eaLnBrk="1" hangingPunct="1">
              <a:buNone/>
            </a:pPr>
            <a:r>
              <a:rPr altLang="en-US" dirty="0" lang="zh-CN" sz="2400"/>
              <a:t>例：</a:t>
            </a:r>
            <a:endParaRPr altLang="zh-CN" dirty="0" lang="en-US" sz="2400"/>
          </a:p>
          <a:p>
            <a:pPr marL="0" indent="0" lvl="0" eaLnBrk="1" hangingPunct="1">
              <a:buNone/>
            </a:pPr>
            <a:r>
              <a:rPr altLang="en-US" dirty="0" lang="zh-CN" sz="2400"/>
              <a:t>鸡的血是红色的，</a:t>
            </a:r>
            <a:endParaRPr altLang="zh-CN" dirty="0" lang="en-US" sz="2400"/>
          </a:p>
          <a:p>
            <a:pPr marL="0" indent="0" lvl="0" eaLnBrk="1" hangingPunct="1">
              <a:buNone/>
            </a:pPr>
            <a:r>
              <a:rPr altLang="en-US" dirty="0" lang="zh-CN" sz="2400"/>
              <a:t>马的血是红色的，</a:t>
            </a:r>
            <a:endParaRPr altLang="zh-CN" dirty="0" lang="en-US" sz="2400"/>
          </a:p>
          <a:p>
            <a:pPr marL="0" indent="0" lvl="0" eaLnBrk="1" hangingPunct="1">
              <a:buNone/>
            </a:pPr>
            <a:r>
              <a:rPr altLang="en-US" dirty="0" lang="zh-CN" sz="2400"/>
              <a:t>鱼的血是红色的，</a:t>
            </a:r>
            <a:endParaRPr altLang="zh-CN" dirty="0" lang="en-US" sz="2400"/>
          </a:p>
          <a:p>
            <a:pPr marL="0" indent="0" lvl="0" eaLnBrk="1" hangingPunct="1">
              <a:buNone/>
            </a:pPr>
            <a:r>
              <a:rPr altLang="en-US" dirty="0" lang="zh-CN" sz="2400"/>
              <a:t>鸟的血是红色的，</a:t>
            </a:r>
            <a:endParaRPr altLang="zh-CN" dirty="0" lang="en-US" sz="2400"/>
          </a:p>
          <a:p>
            <a:pPr marL="0" indent="0" lvl="0" eaLnBrk="1" hangingPunct="1">
              <a:buNone/>
            </a:pPr>
            <a:r>
              <a:rPr altLang="en-US" dirty="0" lang="zh-CN" sz="2400"/>
              <a:t>鸡、马、鱼、鸟的血是红色的，</a:t>
            </a:r>
            <a:endParaRPr altLang="zh-CN" dirty="0" lang="en-US" sz="2400"/>
          </a:p>
          <a:p>
            <a:pPr marL="0" indent="0" lvl="0" eaLnBrk="1" hangingPunct="1">
              <a:buNone/>
            </a:pPr>
            <a:r>
              <a:rPr altLang="en-US" dirty="0" lang="zh-CN" sz="2400"/>
              <a:t>所以，动物的血都是红色的。</a:t>
            </a:r>
            <a:endParaRPr altLang="zh-CN" dirty="0" lang="en-US" sz="2400"/>
          </a:p>
          <a:p>
            <a:pPr marL="0" indent="0" lvl="0" eaLnBrk="1" hangingPunct="1">
              <a:buNone/>
            </a:pPr>
            <a:r>
              <a:rPr altLang="en-US" dirty="0" lang="zh-CN" sz="2400"/>
              <a:t>结论是错误的，章鱼、蜘蛛的血不是红色的。</a:t>
            </a:r>
            <a:endParaRPr altLang="zh-CN" dirty="0" lang="en-US" sz="2400"/>
          </a:p>
          <a:p>
            <a:pPr marL="0" indent="0" lvl="0" eaLnBrk="1" hangingPunct="1">
              <a:buNone/>
            </a:pPr>
            <a:endParaRPr altLang="zh-CN" dirty="0" lang="en-US" sz="2400"/>
          </a:p>
        </p:txBody>
      </p:sp>
    </p:spTree>
  </p:cSld>
  <p:clrMapOvr>
    <a:masterClrMapping/>
  </p:clrMapOvr>
</p:sld>
</file>

<file path=ppt/slides/slide13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0530" name="Picture 9"/>
          <p:cNvPicPr/>
          <p:nvPr/>
        </p:nvPicPr>
        <p:blipFill>
          <a:blip r:embed="rId1"/>
          <a:stretch>
            <a:fillRect/>
          </a:stretch>
        </p:blipFill>
        <p:spPr>
          <a:xfrm>
            <a:off x="0" y="0"/>
            <a:ext cx="9144000" cy="1743075"/>
          </a:xfrm>
          <a:prstGeom prst="rect">
            <a:avLst/>
          </a:prstGeom>
          <a:noFill/>
          <a:ln w="9525">
            <a:noFill/>
          </a:ln>
        </p:spPr>
      </p:pic>
      <p:sp>
        <p:nvSpPr>
          <p:cNvPr id="150531" name="TextBox 2"/>
          <p:cNvSpPr/>
          <p:nvPr/>
        </p:nvSpPr>
        <p:spPr>
          <a:xfrm>
            <a:off x="0" y="1743075"/>
            <a:ext cx="9144000" cy="42306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科学归纳法：根据</a:t>
            </a:r>
            <a:r>
              <a:rPr altLang="en-US" dirty="0" lang="zh-CN" sz="2400">
                <a:solidFill>
                  <a:srgbClr val="FF0000"/>
                </a:solidFill>
                <a:ea typeface="宋体" panose="02010600030101010101" pitchFamily="2" charset="-122"/>
                <a:latin typeface="宋体" panose="02010600030101010101" pitchFamily="2" charset="-122"/>
              </a:rPr>
              <a:t>某类事物部分对象与其属性之间的因果关系</a:t>
            </a:r>
            <a:r>
              <a:rPr altLang="en-US" dirty="0" lang="zh-CN" sz="2400">
                <a:ea typeface="宋体" panose="02010600030101010101" pitchFamily="2" charset="-122"/>
                <a:latin typeface="宋体" panose="02010600030101010101" pitchFamily="2" charset="-122"/>
              </a:rPr>
              <a:t>而对该事物作出一般性结论。（或然性）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19</a:t>
            </a:r>
            <a:r>
              <a:rPr altLang="en-US" dirty="0" lang="zh-CN" sz="2400">
                <a:ea typeface="宋体" panose="02010600030101010101" pitchFamily="2" charset="-122"/>
                <a:latin typeface="宋体" panose="02010600030101010101" pitchFamily="2" charset="-122"/>
              </a:rPr>
              <a:t>世纪，英国哲学家约翰</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密尔（</a:t>
            </a:r>
            <a:r>
              <a:rPr altLang="zh-CN" dirty="0" lang="en-US" sz="2400">
                <a:ea typeface="宋体" panose="02010600030101010101" pitchFamily="2" charset="-122"/>
                <a:latin typeface="Times New Roman" panose="02020603050405020304" pitchFamily="18" charset="0"/>
              </a:rPr>
              <a:t>John Mill</a:t>
            </a:r>
            <a:r>
              <a:rPr altLang="en-US" dirty="0" lang="zh-CN" sz="2400">
                <a:ea typeface="宋体" panose="02010600030101010101" pitchFamily="2" charset="-122"/>
                <a:latin typeface="宋体" panose="02010600030101010101" pitchFamily="2" charset="-122"/>
              </a:rPr>
              <a:t>）为了克服简单枚举法的缺陷，</a:t>
            </a:r>
            <a:r>
              <a:rPr altLang="en-US" dirty="0" lang="zh-CN" sz="2400">
                <a:solidFill>
                  <a:srgbClr val="FF0000"/>
                </a:solidFill>
                <a:ea typeface="宋体" panose="02010600030101010101" pitchFamily="2" charset="-122"/>
                <a:latin typeface="宋体" panose="02010600030101010101" pitchFamily="2" charset="-122"/>
              </a:rPr>
              <a:t>提出判明因果联系的归纳法</a:t>
            </a:r>
            <a:r>
              <a:rPr altLang="en-US" dirty="0" lang="zh-CN" sz="2400">
                <a:ea typeface="宋体" panose="02010600030101010101" pitchFamily="2" charset="-122"/>
                <a:latin typeface="宋体" panose="02010600030101010101" pitchFamily="2" charset="-122"/>
              </a:rPr>
              <a:t>，称为“密尔五法”。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即求同法、差异法、求同差异共用法、共变法、剩余法。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p>
          <a:p>
            <a:pPr marL="0" indent="0" lvl="0" algn="just" eaLnBrk="1" hangingPunct="1">
              <a:lnSpc>
                <a:spcPct val="115000"/>
              </a:lnSpc>
              <a:spcBef>
                <a:spcPct val="0"/>
              </a:spcBef>
              <a:buNone/>
            </a:pPr>
            <a:endParaRPr altLang="zh-CN" dirty="0" lang="en-US" sz="2400"/>
          </a:p>
          <a:p>
            <a:pPr marL="0" indent="0" lvl="0" algn="just" eaLnBrk="1" hangingPunct="1">
              <a:lnSpc>
                <a:spcPct val="115000"/>
              </a:lnSpc>
              <a:spcBef>
                <a:spcPct val="0"/>
              </a:spcBef>
              <a:buNone/>
            </a:pPr>
            <a:endParaRPr altLang="zh-CN" dirty="0" lang="en-US" sz="2400"/>
          </a:p>
        </p:txBody>
      </p:sp>
    </p:spTree>
  </p:cSld>
  <p:clrMapOvr>
    <a:masterClrMapping/>
  </p:clrMapOvr>
</p:sld>
</file>

<file path=ppt/slides/slide13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1554" name="Picture 9"/>
          <p:cNvPicPr/>
          <p:nvPr/>
        </p:nvPicPr>
        <p:blipFill>
          <a:blip r:embed="rId1"/>
          <a:stretch>
            <a:fillRect/>
          </a:stretch>
        </p:blipFill>
        <p:spPr>
          <a:xfrm>
            <a:off x="0" y="0"/>
            <a:ext cx="9144000" cy="1743075"/>
          </a:xfrm>
          <a:prstGeom prst="rect">
            <a:avLst/>
          </a:prstGeom>
          <a:noFill/>
          <a:ln w="9525">
            <a:noFill/>
          </a:ln>
        </p:spPr>
      </p:pic>
      <p:sp>
        <p:nvSpPr>
          <p:cNvPr id="151555"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求同法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场合   条件   考察对象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C     a</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D</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E     a</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F</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G     a</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所以，</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的原因。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cxnSp>
        <p:nvCxnSpPr>
          <p:cNvPr id="151556" name="直接连接符 2"/>
          <p:cNvCxnSpPr/>
          <p:nvPr/>
        </p:nvCxnSpPr>
        <p:spPr>
          <a:xfrm>
            <a:off x="0" y="4140200"/>
            <a:ext cx="3433763" cy="0"/>
          </a:xfrm>
          <a:prstGeom prst="line">
            <a:avLst/>
          </a:prstGeom>
          <a:ln w="9525" cap="flat" cmpd="sng">
            <a:solidFill>
              <a:schemeClr val="tx1"/>
            </a:solidFill>
            <a:prstDash val="solid"/>
            <a:headEnd type="none" len="med" w="med"/>
            <a:tailEnd type="none" len="med" w="med"/>
          </a:ln>
        </p:spPr>
      </p:cxnSp>
    </p:spTree>
  </p:cSld>
  <p:clrMapOvr>
    <a:masterClrMapping/>
  </p:clrMapOvr>
</p:sld>
</file>

<file path=ppt/slides/slide13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2578" name="Picture 9"/>
          <p:cNvPicPr/>
          <p:nvPr/>
        </p:nvPicPr>
        <p:blipFill>
          <a:blip r:embed="rId1"/>
          <a:stretch>
            <a:fillRect/>
          </a:stretch>
        </p:blipFill>
        <p:spPr>
          <a:xfrm>
            <a:off x="0" y="0"/>
            <a:ext cx="9144000" cy="1743075"/>
          </a:xfrm>
          <a:prstGeom prst="rect">
            <a:avLst/>
          </a:prstGeom>
          <a:noFill/>
          <a:ln w="9525">
            <a:noFill/>
          </a:ln>
        </p:spPr>
      </p:pic>
      <p:sp>
        <p:nvSpPr>
          <p:cNvPr id="152579"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事例：</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在</a:t>
            </a:r>
            <a:r>
              <a:rPr altLang="zh-CN" dirty="0" lang="en-US" sz="2400">
                <a:ea typeface="宋体" panose="02010600030101010101" pitchFamily="2" charset="-122"/>
                <a:latin typeface="宋体" panose="02010600030101010101" pitchFamily="2" charset="-122"/>
              </a:rPr>
              <a:t>19</a:t>
            </a:r>
            <a:r>
              <a:rPr altLang="en-US" dirty="0" lang="zh-CN" sz="2400">
                <a:ea typeface="宋体" panose="02010600030101010101" pitchFamily="2" charset="-122"/>
                <a:latin typeface="宋体" panose="02010600030101010101" pitchFamily="2" charset="-122"/>
              </a:rPr>
              <a:t>世纪，人们还不知道某些人的甲状腺会肿大，后来人们对甲状腺肿大盛行的地区进行调查和比较时发现，这些地球的人口、气候、风俗等状况各不相同，但有一个共同的情况，即土壤和水流中缺碘，居民的食物和饮水中也缺碘，由此得出结论：缺碘是引起甲状腺肿大的原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3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3602" name="Picture 9"/>
          <p:cNvPicPr/>
          <p:nvPr/>
        </p:nvPicPr>
        <p:blipFill>
          <a:blip r:embed="rId1"/>
          <a:stretch>
            <a:fillRect/>
          </a:stretch>
        </p:blipFill>
        <p:spPr>
          <a:xfrm>
            <a:off x="0" y="0"/>
            <a:ext cx="9144000" cy="1743075"/>
          </a:xfrm>
          <a:prstGeom prst="rect">
            <a:avLst/>
          </a:prstGeom>
          <a:noFill/>
          <a:ln w="9525">
            <a:noFill/>
          </a:ln>
        </p:spPr>
      </p:pic>
      <p:sp>
        <p:nvSpPr>
          <p:cNvPr id="109571" name="TextBox 2"/>
          <p:cNvSpPr/>
          <p:nvPr/>
        </p:nvSpPr>
        <p:spPr>
          <a:xfrm>
            <a:off x="0" y="1743075"/>
            <a:ext cx="9144000" cy="4437063"/>
          </a:xfrm>
          <a:prstGeom prst="rect">
            <a:avLst/>
          </a:prstGeom>
          <a:noFill/>
          <a:ln w="12700">
            <a:noFill/>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marL="0" marR="0" indent="0" lvl="0" algn="just" defTabSz="914400" rtl="0" eaLnBrk="1" latinLnBrk="0" hangingPunct="1" fontAlgn="base">
              <a:lnSpc>
                <a:spcPct val="150000"/>
              </a:lnSpc>
              <a:spcBef>
                <a:spcPct val="0"/>
              </a:spcBef>
              <a:spcAft>
                <a:spcPct val="0"/>
              </a:spcAft>
              <a:buNone/>
              <a:defRPr/>
            </a:pPr>
            <a:r>
              <a:rPr altLang="en-US" dirty="0" kern="1200" kumimoji="0" lang="zh-CN" normalizeH="0" b="1"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差异法</a:t>
            </a:r>
            <a:endParaRPr altLang="zh-CN" dirty="0" kern="1200" kumimoji="0" lang="en-US" normalizeH="0" b="1"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场合   条件   考察对象</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1    A</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B</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C     a</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457200" marR="0" indent="-457200" lvl="0" algn="just" defTabSz="914400" rtl="0" eaLnBrk="1" latinLnBrk="0" hangingPunct="1" fontAlgn="base">
              <a:lnSpc>
                <a:spcPct val="150000"/>
              </a:lnSpc>
              <a:spcBef>
                <a:spcPct val="0"/>
              </a:spcBef>
              <a:spcAft>
                <a:spcPct val="0"/>
              </a:spcAft>
              <a:buClrTx/>
              <a:buSzPct val="100000"/>
              <a:buFont typeface="05020102010507070707" pitchFamily="18" charset="2"/>
              <a:buAutoNum type="arabicPlain" startAt="2"/>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  — B</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C     —</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3    </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所以，</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的原因。</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cxnSp>
        <p:nvCxnSpPr>
          <p:cNvPr id="153604" name="直接连接符 2"/>
          <p:cNvCxnSpPr/>
          <p:nvPr/>
        </p:nvCxnSpPr>
        <p:spPr>
          <a:xfrm>
            <a:off x="0" y="4192588"/>
            <a:ext cx="3725863" cy="0"/>
          </a:xfrm>
          <a:prstGeom prst="line">
            <a:avLst/>
          </a:prstGeom>
          <a:ln w="9525" cap="flat" cmpd="sng">
            <a:solidFill>
              <a:schemeClr val="tx1"/>
            </a:solidFill>
            <a:prstDash val="solid"/>
            <a:headEnd type="none" len="med" w="med"/>
            <a:tailEnd type="none" len="med" w="med"/>
          </a:ln>
        </p:spPr>
      </p:cxnSp>
    </p:spTree>
  </p:cSld>
  <p:clrMapOvr>
    <a:masterClrMapping/>
  </p:clrMapOvr>
</p:sld>
</file>

<file path=ppt/slides/slide13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4626" name="Picture 9"/>
          <p:cNvPicPr/>
          <p:nvPr/>
        </p:nvPicPr>
        <p:blipFill>
          <a:blip r:embed="rId1"/>
          <a:stretch>
            <a:fillRect/>
          </a:stretch>
        </p:blipFill>
        <p:spPr>
          <a:xfrm>
            <a:off x="0" y="0"/>
            <a:ext cx="9144000" cy="1743075"/>
          </a:xfrm>
          <a:prstGeom prst="rect">
            <a:avLst/>
          </a:prstGeom>
          <a:noFill/>
          <a:ln w="9525">
            <a:noFill/>
          </a:ln>
        </p:spPr>
      </p:pic>
      <p:sp>
        <p:nvSpPr>
          <p:cNvPr id="154627"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事例：</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前几年，有人发现一只生下来就缺少主翼的雌鸡，这只畸形的鸡后来比其他小鸡长得快，产蛋也较早且大。人们从它身上得到启发，对正常小鸡施切翼手术，经对照试验证明，施切翼术的鸡多长肉。医学临床对照试验同此理。</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3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5650" name="Picture 9"/>
          <p:cNvPicPr/>
          <p:nvPr/>
        </p:nvPicPr>
        <p:blipFill>
          <a:blip r:embed="rId1"/>
          <a:stretch>
            <a:fillRect/>
          </a:stretch>
        </p:blipFill>
        <p:spPr>
          <a:xfrm>
            <a:off x="0" y="0"/>
            <a:ext cx="9144000" cy="1743075"/>
          </a:xfrm>
          <a:prstGeom prst="rect">
            <a:avLst/>
          </a:prstGeom>
          <a:noFill/>
          <a:ln w="9525">
            <a:noFill/>
          </a:ln>
        </p:spPr>
      </p:pic>
      <p:sp>
        <p:nvSpPr>
          <p:cNvPr id="155651"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求同差异共用法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场合   条件   考察对象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C     a</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D</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E     a</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       F</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G     —</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所以，</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的原因。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3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6674" name="Picture 9"/>
          <p:cNvPicPr/>
          <p:nvPr/>
        </p:nvPicPr>
        <p:blipFill>
          <a:blip r:embed="rId1"/>
          <a:stretch>
            <a:fillRect/>
          </a:stretch>
        </p:blipFill>
        <p:spPr>
          <a:xfrm>
            <a:off x="0" y="0"/>
            <a:ext cx="9144000" cy="1743075"/>
          </a:xfrm>
          <a:prstGeom prst="rect">
            <a:avLst/>
          </a:prstGeom>
          <a:noFill/>
          <a:ln w="9525">
            <a:noFill/>
          </a:ln>
        </p:spPr>
      </p:pic>
      <p:sp>
        <p:nvSpPr>
          <p:cNvPr id="156675"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事例：</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科学家发现，晴天能看得见太阳时，它们能确定正确的飞行方向；而在阴雨天看不见太阳时，它们就会迷失方向。所以，鸟类是靠太阳定向的。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3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7698" name="Picture 9"/>
          <p:cNvPicPr/>
          <p:nvPr/>
        </p:nvPicPr>
        <p:blipFill>
          <a:blip r:embed="rId1"/>
          <a:stretch>
            <a:fillRect/>
          </a:stretch>
        </p:blipFill>
        <p:spPr>
          <a:xfrm>
            <a:off x="0" y="0"/>
            <a:ext cx="9144000" cy="1743075"/>
          </a:xfrm>
          <a:prstGeom prst="rect">
            <a:avLst/>
          </a:prstGeom>
          <a:noFill/>
          <a:ln w="9525">
            <a:noFill/>
          </a:ln>
        </p:spPr>
      </p:pic>
      <p:sp>
        <p:nvSpPr>
          <p:cNvPr id="137219" name="TextBox 2"/>
          <p:cNvSpPr/>
          <p:nvPr/>
        </p:nvSpPr>
        <p:spPr>
          <a:xfrm>
            <a:off x="0" y="1743075"/>
            <a:ext cx="9144000" cy="5545138"/>
          </a:xfrm>
          <a:prstGeom prst="rect">
            <a:avLst/>
          </a:prstGeom>
          <a:noFill/>
          <a:ln w="12700">
            <a:noFill/>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marL="0" marR="0" indent="0" lvl="0" algn="just" defTabSz="914400" rtl="0" eaLnBrk="1" latinLnBrk="0" hangingPunct="1" fontAlgn="base">
              <a:lnSpc>
                <a:spcPct val="150000"/>
              </a:lnSpc>
              <a:spcBef>
                <a:spcPct val="0"/>
              </a:spcBef>
              <a:spcAft>
                <a:spcPct val="0"/>
              </a:spcAft>
              <a:buNone/>
              <a:defRPr/>
            </a:pPr>
            <a:r>
              <a:rPr altLang="en-US" dirty="0" kern="1200" kumimoji="0" lang="zh-CN" normalizeH="0" b="1"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共变法</a:t>
            </a:r>
            <a:endParaRPr altLang="zh-CN" dirty="0" kern="1200" kumimoji="0" lang="en-US" normalizeH="0" b="1"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场合   条件   考察对象</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1    A1</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B</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C     a1 b c</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2    A2</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D</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E     a2 d e</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457200" marR="0" indent="-457200" lvl="0" algn="just" defTabSz="914400" rtl="0" eaLnBrk="1" latinLnBrk="0" hangingPunct="1" fontAlgn="base">
              <a:lnSpc>
                <a:spcPct val="150000"/>
              </a:lnSpc>
              <a:spcBef>
                <a:spcPct val="0"/>
              </a:spcBef>
              <a:spcAft>
                <a:spcPct val="0"/>
              </a:spcAft>
              <a:buClrTx/>
              <a:buSzPct val="100000"/>
              <a:buFont typeface="05020102010507070707" pitchFamily="18" charset="2"/>
              <a:buAutoNum type="arabicPlain" startAt="3"/>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A3</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F</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G     a3 f g</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所以，</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是</a:t>
            </a: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a</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的原因。</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Tree>
  </p:cSld>
  <p:clrMapOvr>
    <a:masterClrMapping/>
  </p:clrMapOvr>
</p:sld>
</file>

<file path=ppt/slides/slide13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8722" name="Picture 9"/>
          <p:cNvPicPr/>
          <p:nvPr/>
        </p:nvPicPr>
        <p:blipFill>
          <a:blip r:embed="rId1"/>
          <a:stretch>
            <a:fillRect/>
          </a:stretch>
        </p:blipFill>
        <p:spPr>
          <a:xfrm>
            <a:off x="0" y="0"/>
            <a:ext cx="9144000" cy="1743075"/>
          </a:xfrm>
          <a:prstGeom prst="rect">
            <a:avLst/>
          </a:prstGeom>
          <a:noFill/>
          <a:ln w="9525">
            <a:noFill/>
          </a:ln>
        </p:spPr>
      </p:pic>
      <p:sp>
        <p:nvSpPr>
          <p:cNvPr id="158723"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事例</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根据湖南农业科学研究所对早稻产量的调查，表明水稻产量与施肥有密切关系：缺少肥料，水稻产量低；增加肥料，产量增高。在其它条件相同的情况下：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施氮肥</a:t>
            </a:r>
            <a:r>
              <a:rPr altLang="zh-CN" dirty="0" lang="en-US" sz="2400">
                <a:ea typeface="宋体" panose="02010600030101010101" pitchFamily="2" charset="-122"/>
                <a:latin typeface="宋体" panose="02010600030101010101" pitchFamily="2" charset="-122"/>
              </a:rPr>
              <a:t>15</a:t>
            </a:r>
            <a:r>
              <a:rPr altLang="en-US" dirty="0" lang="zh-CN" sz="2400">
                <a:ea typeface="宋体" panose="02010600030101010101" pitchFamily="2" charset="-122"/>
                <a:latin typeface="宋体" panose="02010600030101010101" pitchFamily="2" charset="-122"/>
              </a:rPr>
              <a:t>斤，其产量接近</a:t>
            </a:r>
            <a:r>
              <a:rPr altLang="zh-CN" dirty="0" lang="en-US" sz="2400">
                <a:ea typeface="宋体" panose="02010600030101010101" pitchFamily="2" charset="-122"/>
                <a:latin typeface="宋体" panose="02010600030101010101" pitchFamily="2" charset="-122"/>
              </a:rPr>
              <a:t>600</a:t>
            </a:r>
            <a:r>
              <a:rPr altLang="en-US" dirty="0" lang="zh-CN" sz="2400">
                <a:ea typeface="宋体" panose="02010600030101010101" pitchFamily="2" charset="-122"/>
                <a:latin typeface="宋体" panose="02010600030101010101" pitchFamily="2" charset="-122"/>
              </a:rPr>
              <a:t>斤；</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施氮肥</a:t>
            </a: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斤，其产量接近</a:t>
            </a:r>
            <a:r>
              <a:rPr altLang="zh-CN" dirty="0" lang="en-US" sz="2400">
                <a:ea typeface="宋体" panose="02010600030101010101" pitchFamily="2" charset="-122"/>
                <a:latin typeface="宋体" panose="02010600030101010101" pitchFamily="2" charset="-122"/>
              </a:rPr>
              <a:t>700</a:t>
            </a:r>
            <a:r>
              <a:rPr altLang="en-US" dirty="0" lang="zh-CN" sz="2400">
                <a:ea typeface="宋体" panose="02010600030101010101" pitchFamily="2" charset="-122"/>
                <a:latin typeface="宋体" panose="02010600030101010101" pitchFamily="2" charset="-122"/>
              </a:rPr>
              <a:t>斤；</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施氮肥</a:t>
            </a:r>
            <a:r>
              <a:rPr altLang="zh-CN" dirty="0" lang="en-US" sz="2400">
                <a:ea typeface="宋体" panose="02010600030101010101" pitchFamily="2" charset="-122"/>
                <a:latin typeface="宋体" panose="02010600030101010101" pitchFamily="2" charset="-122"/>
              </a:rPr>
              <a:t>25</a:t>
            </a:r>
            <a:r>
              <a:rPr altLang="en-US" dirty="0" lang="zh-CN" sz="2400">
                <a:ea typeface="宋体" panose="02010600030101010101" pitchFamily="2" charset="-122"/>
                <a:latin typeface="宋体" panose="02010600030101010101" pitchFamily="2" charset="-122"/>
              </a:rPr>
              <a:t>斤，其产量接近</a:t>
            </a:r>
            <a:r>
              <a:rPr altLang="zh-CN" dirty="0" lang="en-US" sz="2400">
                <a:ea typeface="宋体" panose="02010600030101010101" pitchFamily="2" charset="-122"/>
                <a:latin typeface="宋体" panose="02010600030101010101" pitchFamily="2" charset="-122"/>
              </a:rPr>
              <a:t>800</a:t>
            </a:r>
            <a:r>
              <a:rPr altLang="en-US" dirty="0" lang="zh-CN" sz="2400">
                <a:ea typeface="宋体" panose="02010600030101010101" pitchFamily="2" charset="-122"/>
                <a:latin typeface="宋体" panose="02010600030101010101" pitchFamily="2" charset="-122"/>
              </a:rPr>
              <a:t>斤；</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结论：施氮肥是水稻增产的原因。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3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59746" name="Picture 9"/>
          <p:cNvPicPr/>
          <p:nvPr/>
        </p:nvPicPr>
        <p:blipFill>
          <a:blip r:embed="rId1"/>
          <a:stretch>
            <a:fillRect/>
          </a:stretch>
        </p:blipFill>
        <p:spPr>
          <a:xfrm>
            <a:off x="0" y="0"/>
            <a:ext cx="9144000" cy="1743075"/>
          </a:xfrm>
          <a:prstGeom prst="rect">
            <a:avLst/>
          </a:prstGeom>
          <a:noFill/>
          <a:ln w="9525">
            <a:noFill/>
          </a:ln>
        </p:spPr>
      </p:pic>
      <p:sp>
        <p:nvSpPr>
          <p:cNvPr id="159747"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剩余法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场合   条件   考察对象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C   a</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b</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c</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       B         b</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       C         c</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所以，</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是</a:t>
            </a:r>
            <a:r>
              <a:rPr altLang="zh-CN" dirty="0" lang="en-US" sz="2400">
                <a:ea typeface="宋体" panose="02010600030101010101" pitchFamily="2" charset="-122"/>
                <a:latin typeface="宋体" panose="02010600030101010101" pitchFamily="2" charset="-122"/>
              </a:rPr>
              <a:t>a</a:t>
            </a:r>
            <a:r>
              <a:rPr altLang="en-US" dirty="0" lang="zh-CN" sz="2400">
                <a:ea typeface="宋体" panose="02010600030101010101" pitchFamily="2" charset="-122"/>
                <a:latin typeface="宋体" panose="02010600030101010101" pitchFamily="2" charset="-122"/>
              </a:rPr>
              <a:t>的原因。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0770" name="Picture 9"/>
          <p:cNvPicPr/>
          <p:nvPr/>
        </p:nvPicPr>
        <p:blipFill>
          <a:blip r:embed="rId1"/>
          <a:stretch>
            <a:fillRect/>
          </a:stretch>
        </p:blipFill>
        <p:spPr>
          <a:xfrm>
            <a:off x="0" y="0"/>
            <a:ext cx="9144000" cy="1743075"/>
          </a:xfrm>
          <a:prstGeom prst="rect">
            <a:avLst/>
          </a:prstGeom>
          <a:noFill/>
          <a:ln w="9525">
            <a:noFill/>
          </a:ln>
        </p:spPr>
      </p:pic>
      <p:sp>
        <p:nvSpPr>
          <p:cNvPr id="160771"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事例</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海王星的发现。当天文学家观察天王星时，发现了一组复合现象，即它在运行轨道上发生各种偏离，经计算表明，这一现象是由另一组复合的条件所引起的，即已知几个行星引力是使天王星相应偏离的原因，由此推论，天王星剩下一个偏离现象，很可能是由另一未发现的行星的吸引力造成的。后来，果然发现了这颗行星，取名海王星。</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1794" name="Picture 9"/>
          <p:cNvPicPr/>
          <p:nvPr/>
        </p:nvPicPr>
        <p:blipFill>
          <a:blip r:embed="rId1"/>
          <a:stretch>
            <a:fillRect/>
          </a:stretch>
        </p:blipFill>
        <p:spPr>
          <a:xfrm>
            <a:off x="0" y="0"/>
            <a:ext cx="9144000" cy="1743075"/>
          </a:xfrm>
          <a:prstGeom prst="rect">
            <a:avLst/>
          </a:prstGeom>
          <a:noFill/>
          <a:ln w="9525">
            <a:noFill/>
          </a:ln>
        </p:spPr>
      </p:pic>
      <p:sp>
        <p:nvSpPr>
          <p:cNvPr id="161795"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三、分析与综合</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分析与综合是通过逻辑思维进行科学抽象的基本方法，其实质是要正确把握客观对象整体与部分之间的关系。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它与归纳、演绎方法并不是相互平行，彼此完全独立的，而是互相渗透，在思维中共同起作用。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分析：将被研究对象整体分为各部分、方面、因素和层次等</a:t>
            </a:r>
            <a:r>
              <a:rPr altLang="zh-CN" dirty="0" lang="en-US" sz="2400">
                <a:solidFill>
                  <a:srgbClr val="0000FF"/>
                </a:solidFill>
                <a:ea typeface="宋体" panose="02010600030101010101" pitchFamily="2" charset="-122"/>
                <a:latin typeface="宋体" panose="02010600030101010101" pitchFamily="2" charset="-122"/>
              </a:rPr>
              <a:t>,</a:t>
            </a:r>
            <a:r>
              <a:rPr altLang="en-US" dirty="0" lang="zh-CN" sz="2400">
                <a:solidFill>
                  <a:srgbClr val="0000FF"/>
                </a:solidFill>
                <a:ea typeface="宋体" panose="02010600030101010101" pitchFamily="2" charset="-122"/>
                <a:latin typeface="宋体" panose="02010600030101010101" pitchFamily="2" charset="-122"/>
              </a:rPr>
              <a:t>并分别加以考察的认识方法。（定性分析、定量分析、因果分析）</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综合：将已有的关于研究对象各个部分、方面、因素和层次的认识联系起来，形成对研究对象整体性认识的认识方法。</a:t>
            </a:r>
            <a:endParaRPr altLang="en-US" dirty="0" lang="zh-CN"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4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2818" name="Picture 9"/>
          <p:cNvPicPr/>
          <p:nvPr/>
        </p:nvPicPr>
        <p:blipFill>
          <a:blip r:embed="rId1"/>
          <a:stretch>
            <a:fillRect/>
          </a:stretch>
        </p:blipFill>
        <p:spPr>
          <a:xfrm>
            <a:off x="0" y="0"/>
            <a:ext cx="9144000" cy="1743075"/>
          </a:xfrm>
          <a:prstGeom prst="rect">
            <a:avLst/>
          </a:prstGeom>
          <a:noFill/>
          <a:ln w="9525">
            <a:noFill/>
          </a:ln>
        </p:spPr>
      </p:pic>
      <p:sp>
        <p:nvSpPr>
          <p:cNvPr id="162819"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在科学研究中，分析与综合是相互渗透和相互转化的。分析的目的，不仅是为了深入对象内部进行认识和实践，而且是为了在思维中综合认识对象，为在实践中变革对象打下基础；综合也需要以分析为基础，没有分析的综合不是深刻的综合。分析是研究，综合是创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en-US" dirty="0" lang="zh-CN"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4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3842" name="Picture 9"/>
          <p:cNvPicPr/>
          <p:nvPr/>
        </p:nvPicPr>
        <p:blipFill>
          <a:blip r:embed="rId1"/>
          <a:stretch>
            <a:fillRect/>
          </a:stretch>
        </p:blipFill>
        <p:spPr>
          <a:xfrm>
            <a:off x="0" y="0"/>
            <a:ext cx="9144000" cy="1743075"/>
          </a:xfrm>
          <a:prstGeom prst="rect">
            <a:avLst/>
          </a:prstGeom>
          <a:noFill/>
          <a:ln w="9525">
            <a:noFill/>
          </a:ln>
        </p:spPr>
      </p:pic>
      <p:sp>
        <p:nvSpPr>
          <p:cNvPr id="163843"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四、逻辑与历史的统一</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逻辑与历史的统一，就是将考察事物发展的逻辑过程与事物发展的历史过程或认识事物的历史过程统一起来的方法。</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恩格斯说，</a:t>
            </a:r>
            <a:r>
              <a:rPr altLang="en-US" dirty="0" lang="zh-CN" b="1" sz="2400">
                <a:solidFill>
                  <a:srgbClr val="0000FF"/>
                </a:solidFill>
                <a:ea typeface="微软雅黑" panose="020B0503020204020204" pitchFamily="34" charset="-122"/>
                <a:latin typeface="微软雅黑" panose="020B0503020204020204" pitchFamily="34" charset="-122"/>
              </a:rPr>
              <a:t>“历史从哪里开始，思维进程也应当从那里开始，而思想进程的进一步发展不过是历史过程在抽象的、理论上前后一贯的形式上的反映；这种反映是经过修正的，然而是按照现实的历史过程本身的规律修正的”。</a:t>
            </a:r>
            <a:r>
              <a:rPr altLang="en-US" dirty="0" lang="zh-CN" b="1" sz="2400">
                <a:ea typeface="微软雅黑" panose="020B0503020204020204" pitchFamily="34" charset="-122"/>
                <a:latin typeface="微软雅黑" panose="020B0503020204020204" pitchFamily="34" charset="-122"/>
              </a:rPr>
              <a:t>（</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马克思恩格斯选集</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第</a:t>
            </a:r>
            <a:r>
              <a:rPr altLang="zh-CN" dirty="0" lang="en-US" b="1" sz="2400">
                <a:ea typeface="微软雅黑" panose="020B0503020204020204" pitchFamily="34" charset="-122"/>
                <a:latin typeface="微软雅黑" panose="020B0503020204020204" pitchFamily="34" charset="-122"/>
              </a:rPr>
              <a:t>2</a:t>
            </a:r>
            <a:r>
              <a:rPr altLang="en-US" dirty="0" lang="zh-CN" b="1" sz="2400">
                <a:ea typeface="微软雅黑" panose="020B0503020204020204" pitchFamily="34" charset="-122"/>
                <a:latin typeface="微软雅黑" panose="020B0503020204020204" pitchFamily="34" charset="-122"/>
              </a:rPr>
              <a:t>卷，第</a:t>
            </a:r>
            <a:r>
              <a:rPr altLang="zh-CN" dirty="0" lang="en-US" b="1" sz="2400">
                <a:ea typeface="微软雅黑" panose="020B0503020204020204" pitchFamily="34" charset="-122"/>
                <a:latin typeface="微软雅黑" panose="020B0503020204020204" pitchFamily="34" charset="-122"/>
              </a:rPr>
              <a:t>122</a:t>
            </a:r>
            <a:r>
              <a:rPr altLang="en-US" dirty="0" lang="zh-CN" b="1" sz="2400">
                <a:ea typeface="微软雅黑" panose="020B0503020204020204" pitchFamily="34" charset="-122"/>
                <a:latin typeface="微软雅黑" panose="020B0503020204020204" pitchFamily="34" charset="-122"/>
              </a:rPr>
              <a:t>页。）</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4866" name="Picture 9"/>
          <p:cNvPicPr/>
          <p:nvPr/>
        </p:nvPicPr>
        <p:blipFill>
          <a:blip r:embed="rId1"/>
          <a:stretch>
            <a:fillRect/>
          </a:stretch>
        </p:blipFill>
        <p:spPr>
          <a:xfrm>
            <a:off x="0" y="0"/>
            <a:ext cx="9144000" cy="1743075"/>
          </a:xfrm>
          <a:prstGeom prst="rect">
            <a:avLst/>
          </a:prstGeom>
          <a:noFill/>
          <a:ln w="9525">
            <a:noFill/>
          </a:ln>
        </p:spPr>
      </p:pic>
      <p:sp>
        <p:nvSpPr>
          <p:cNvPr id="164867"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逻辑与客观事物发展的历史统一</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普通化学的逻辑进程与宇宙中元素起源与演化的历史是基本一致的。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化学家肖莱马编写有机化学教科书：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首先叙述最简单的有机化合物</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碳氢化合物。在其中又以最简单的脂肪族化合物开始，然后经过一系列特殊的有机化学反应，使碳氢化合物转化为它的衍生物。转化又是以一系列环节构成的过程，即从最简单、最低级的衍生物向越来越复杂、越来越高级的衍生物，直至向生物大分子的转化的过程，这同地球早期发展史上由简单有机物道生物大分子的化学进化过程总趋势是一致的。</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5890" name="Picture 9"/>
          <p:cNvPicPr/>
          <p:nvPr/>
        </p:nvPicPr>
        <p:blipFill>
          <a:blip r:embed="rId1"/>
          <a:stretch>
            <a:fillRect/>
          </a:stretch>
        </p:blipFill>
        <p:spPr>
          <a:xfrm>
            <a:off x="0" y="0"/>
            <a:ext cx="9144000" cy="1743075"/>
          </a:xfrm>
          <a:prstGeom prst="rect">
            <a:avLst/>
          </a:prstGeom>
          <a:noFill/>
          <a:ln w="9525">
            <a:noFill/>
          </a:ln>
        </p:spPr>
      </p:pic>
      <p:sp>
        <p:nvSpPr>
          <p:cNvPr id="165891"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逻辑与人类认识发展历史的统一</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经典力学是以研究物体平衡条件的静力学部分开始叙述，然后进入道运动学，最后叙述动力学。这个逻辑体系大体上是经典力学发展的缩影。</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早在古希腊，阿基米德（</a:t>
            </a:r>
            <a:r>
              <a:rPr altLang="zh-CN" dirty="0" lang="en-US" sz="2400">
                <a:ea typeface="宋体" panose="02010600030101010101" pitchFamily="2" charset="-122"/>
                <a:latin typeface="Times New Roman" panose="02020603050405020304" pitchFamily="18" charset="0"/>
              </a:rPr>
              <a:t>Archimedes</a:t>
            </a:r>
            <a:r>
              <a:rPr altLang="en-US" dirty="0" lang="zh-CN" sz="2400">
                <a:ea typeface="宋体" panose="02010600030101010101" pitchFamily="2" charset="-122"/>
                <a:latin typeface="宋体" panose="02010600030101010101" pitchFamily="2" charset="-122"/>
              </a:rPr>
              <a:t>）就概括出概括出杠杆原理和浮体定律，标志着静力学已经形成。</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16</a:t>
            </a:r>
            <a:r>
              <a:rPr altLang="en-US" dirty="0" lang="zh-CN" sz="2400">
                <a:ea typeface="宋体" panose="02010600030101010101" pitchFamily="2" charset="-122"/>
                <a:latin typeface="宋体" panose="02010600030101010101" pitchFamily="2" charset="-122"/>
              </a:rPr>
              <a:t>世纪伽利略进行斜面实验的研究，以后又提出惯性定律，从而开创了运动学。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17</a:t>
            </a:r>
            <a:r>
              <a:rPr altLang="en-US" dirty="0" lang="zh-CN" sz="2400">
                <a:ea typeface="宋体" panose="02010600030101010101" pitchFamily="2" charset="-122"/>
                <a:latin typeface="宋体" panose="02010600030101010101" pitchFamily="2" charset="-122"/>
              </a:rPr>
              <a:t>世纪牛顿提出的力学第二定律，奠定了动力学基础。</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6914" name="Picture 9"/>
          <p:cNvPicPr/>
          <p:nvPr/>
        </p:nvPicPr>
        <p:blipFill>
          <a:blip r:embed="rId1"/>
          <a:stretch>
            <a:fillRect/>
          </a:stretch>
        </p:blipFill>
        <p:spPr>
          <a:xfrm>
            <a:off x="0" y="0"/>
            <a:ext cx="9144000" cy="1743075"/>
          </a:xfrm>
          <a:prstGeom prst="rect">
            <a:avLst/>
          </a:prstGeom>
          <a:noFill/>
          <a:ln w="9525">
            <a:noFill/>
          </a:ln>
        </p:spPr>
      </p:pic>
      <p:sp>
        <p:nvSpPr>
          <p:cNvPr id="166915" name="TextBox 2"/>
          <p:cNvSpPr/>
          <p:nvPr/>
        </p:nvSpPr>
        <p:spPr>
          <a:xfrm>
            <a:off x="0" y="1743075"/>
            <a:ext cx="9144000" cy="5084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第二节 科学技术研究的创新思维方法</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科学思维</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    科学思维：形成并运用于科学认识活动、对感性认识材料进行加工处理的方式与途径的理论体系</a:t>
            </a:r>
            <a:r>
              <a:rPr altLang="zh-CN" dirty="0" lang="en-US" b="1" sz="2400">
                <a:ea typeface="微软雅黑" panose="020B0503020204020204" pitchFamily="34" charset="-122"/>
                <a:latin typeface="微软雅黑" panose="020B0503020204020204" pitchFamily="34" charset="-122"/>
              </a:rPr>
              <a:t>;</a:t>
            </a:r>
            <a:r>
              <a:rPr altLang="en-US" dirty="0" lang="zh-CN" b="1" sz="2400">
                <a:ea typeface="微软雅黑" panose="020B0503020204020204" pitchFamily="34" charset="-122"/>
                <a:latin typeface="微软雅黑" panose="020B0503020204020204" pitchFamily="34" charset="-122"/>
              </a:rPr>
              <a:t>它是真理在认识的统一过程中，对各种科学的思维方法的有机整合，它是人类实践活动的产物。</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166916" name="图片 2"/>
          <p:cNvPicPr/>
          <p:nvPr/>
        </p:nvPicPr>
        <p:blipFill>
          <a:blip r:embed="rId2"/>
          <a:stretch>
            <a:fillRect/>
          </a:stretch>
        </p:blipFill>
        <p:spPr>
          <a:xfrm>
            <a:off x="0" y="4664075"/>
            <a:ext cx="4572000" cy="1985963"/>
          </a:xfrm>
          <a:prstGeom prst="rect">
            <a:avLst/>
          </a:prstGeom>
          <a:noFill/>
          <a:ln w="9525">
            <a:noFill/>
          </a:ln>
        </p:spPr>
      </p:pic>
      <p:pic>
        <p:nvPicPr>
          <p:cNvPr id="166917" name="图片 4"/>
          <p:cNvPicPr/>
          <p:nvPr/>
        </p:nvPicPr>
        <p:blipFill>
          <a:blip r:embed="rId3"/>
          <a:stretch>
            <a:fillRect/>
          </a:stretch>
        </p:blipFill>
        <p:spPr>
          <a:xfrm>
            <a:off x="4818063" y="4664075"/>
            <a:ext cx="4325937" cy="1985963"/>
          </a:xfrm>
          <a:prstGeom prst="rect">
            <a:avLst/>
          </a:prstGeom>
          <a:noFill/>
          <a:ln w="9525">
            <a:noFill/>
          </a:ln>
        </p:spPr>
      </p:pic>
    </p:spTree>
  </p:cSld>
  <p:clrMapOvr>
    <a:masterClrMapping/>
  </p:clrMapOvr>
</p:sld>
</file>

<file path=ppt/slides/slide14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7938" name="Picture 9"/>
          <p:cNvPicPr/>
          <p:nvPr/>
        </p:nvPicPr>
        <p:blipFill>
          <a:blip r:embed="rId1"/>
          <a:stretch>
            <a:fillRect/>
          </a:stretch>
        </p:blipFill>
        <p:spPr>
          <a:xfrm>
            <a:off x="0" y="0"/>
            <a:ext cx="9144000" cy="1743075"/>
          </a:xfrm>
          <a:prstGeom prst="rect">
            <a:avLst/>
          </a:prstGeom>
          <a:noFill/>
          <a:ln w="9525">
            <a:noFill/>
          </a:ln>
        </p:spPr>
      </p:pic>
      <p:sp>
        <p:nvSpPr>
          <p:cNvPr id="167939"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1</a:t>
            </a:r>
            <a:r>
              <a:rPr altLang="en-US" dirty="0" lang="zh-CN" b="1" sz="2400">
                <a:solidFill>
                  <a:srgbClr val="FF0000"/>
                </a:solidFill>
                <a:ea typeface="宋体" panose="02010600030101010101" pitchFamily="2" charset="-122"/>
                <a:latin typeface="宋体" panose="02010600030101010101" pitchFamily="2" charset="-122"/>
              </a:rPr>
              <a:t>、逻辑思维与创造性思维</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r>
              <a:rPr altLang="en-US" dirty="0" lang="zh-CN" b="1" sz="2400">
                <a:ea typeface="宋体" panose="02010600030101010101" pitchFamily="2" charset="-122"/>
                <a:latin typeface="宋体" panose="02010600030101010101" pitchFamily="2" charset="-122"/>
              </a:rPr>
              <a:t>逻辑思维是在感性认识的基础上，运用概念、判断、推理等形式，对客观世界进行的间接的，概括的反映过程。它是科学思维最普遍、最基本的形式，如归纳、演绎、分析、综合等。</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创造性思维是指人们在依据一定的经验和知识对对象进行研究和思考时，不受已有的经验、知识和固定逻辑规则的约束，而灵活地进行发散性和收敛性探索，以寻求对象本质的思维方式。</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8962" name="Picture 9"/>
          <p:cNvPicPr/>
          <p:nvPr/>
        </p:nvPicPr>
        <p:blipFill>
          <a:blip r:embed="rId1"/>
          <a:stretch>
            <a:fillRect/>
          </a:stretch>
        </p:blipFill>
        <p:spPr>
          <a:xfrm>
            <a:off x="0" y="0"/>
            <a:ext cx="9144000" cy="1743075"/>
          </a:xfrm>
          <a:prstGeom prst="rect">
            <a:avLst/>
          </a:prstGeom>
          <a:noFill/>
          <a:ln w="9525">
            <a:noFill/>
          </a:ln>
        </p:spPr>
      </p:pic>
      <p:sp>
        <p:nvSpPr>
          <p:cNvPr id="168963"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创造性思维的特点</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非逻辑性。</a:t>
            </a:r>
            <a:r>
              <a:rPr altLang="en-US" dirty="0" lang="zh-CN" sz="2400">
                <a:ea typeface="宋体" panose="02010600030101010101" pitchFamily="2" charset="-122"/>
                <a:latin typeface="宋体" panose="02010600030101010101" pitchFamily="2" charset="-122"/>
              </a:rPr>
              <a:t>即思维过程并不是根据一定的逻辑规则按部就班地进行，主要靠思维的想象和洞察力直接把握对象。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突发性。</a:t>
            </a:r>
            <a:r>
              <a:rPr altLang="en-US" dirty="0" lang="zh-CN" sz="2400">
                <a:ea typeface="宋体" panose="02010600030101010101" pitchFamily="2" charset="-122"/>
                <a:latin typeface="宋体" panose="02010600030101010101" pitchFamily="2" charset="-122"/>
              </a:rPr>
              <a:t>思维出现突如其来，稍纵即逝。</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偶然性。</a:t>
            </a:r>
            <a:r>
              <a:rPr altLang="en-US" dirty="0" lang="zh-CN" sz="2400">
                <a:ea typeface="宋体" panose="02010600030101010101" pitchFamily="2" charset="-122"/>
                <a:latin typeface="宋体" panose="02010600030101010101" pitchFamily="2" charset="-122"/>
              </a:rPr>
              <a:t>思维出现难以预料，不按预定计划。</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发散性。</a:t>
            </a:r>
            <a:r>
              <a:rPr altLang="en-US" dirty="0" lang="zh-CN" sz="2400">
                <a:ea typeface="宋体" panose="02010600030101010101" pitchFamily="2" charset="-122"/>
                <a:latin typeface="宋体" panose="02010600030101010101" pitchFamily="2" charset="-122"/>
              </a:rPr>
              <a:t>思维自由和多向。</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只发散、不收敛，劳而无功；只收敛、不发散，没有创造。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4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69986" name="Picture 9"/>
          <p:cNvPicPr/>
          <p:nvPr/>
        </p:nvPicPr>
        <p:blipFill>
          <a:blip r:embed="rId1"/>
          <a:stretch>
            <a:fillRect/>
          </a:stretch>
        </p:blipFill>
        <p:spPr>
          <a:xfrm>
            <a:off x="0" y="0"/>
            <a:ext cx="9144000" cy="1743075"/>
          </a:xfrm>
          <a:prstGeom prst="rect">
            <a:avLst/>
          </a:prstGeom>
          <a:noFill/>
          <a:ln w="9525">
            <a:noFill/>
          </a:ln>
        </p:spPr>
      </p:pic>
      <p:sp>
        <p:nvSpPr>
          <p:cNvPr id="169987"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阿基米德发现浮体定律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爱因斯坦说，</a:t>
            </a:r>
            <a:r>
              <a:rPr altLang="en-US" dirty="0" lang="zh-CN" sz="2400">
                <a:solidFill>
                  <a:srgbClr val="0000FF"/>
                </a:solidFill>
                <a:ea typeface="宋体" panose="02010600030101010101" pitchFamily="2" charset="-122"/>
                <a:latin typeface="宋体" panose="02010600030101010101" pitchFamily="2" charset="-122"/>
              </a:rPr>
              <a:t>“想象比知识更重要，因为知识是有限的，而想象了概括着世界上的一切，推动着进步，并且是知识进化的源泉。严格地说，想象力是科学中的实在因素”。</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爱因斯坦文集</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卷，第</a:t>
            </a:r>
            <a:r>
              <a:rPr altLang="zh-CN" dirty="0" lang="en-US" sz="2400">
                <a:ea typeface="宋体" panose="02010600030101010101" pitchFamily="2" charset="-122"/>
                <a:latin typeface="宋体" panose="02010600030101010101" pitchFamily="2" charset="-122"/>
              </a:rPr>
              <a:t>284</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爱因斯坦说：</a:t>
            </a:r>
            <a:r>
              <a:rPr altLang="en-US" dirty="0" lang="zh-CN" sz="2400">
                <a:solidFill>
                  <a:srgbClr val="0000FF"/>
                </a:solidFill>
                <a:ea typeface="宋体" panose="02010600030101010101" pitchFamily="2" charset="-122"/>
                <a:latin typeface="宋体" panose="02010600030101010101" pitchFamily="2" charset="-122"/>
              </a:rPr>
              <a:t>“从特殊到一般的道路是直觉性的，而从一般到特殊的道路则是逻辑性的”。</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爱因斯坦文集</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卷，第</a:t>
            </a:r>
            <a:r>
              <a:rPr altLang="zh-CN" dirty="0" lang="en-US" sz="2400">
                <a:ea typeface="宋体" panose="02010600030101010101" pitchFamily="2" charset="-122"/>
                <a:latin typeface="宋体" panose="02010600030101010101" pitchFamily="2" charset="-122"/>
              </a:rPr>
              <a:t>490</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5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1010" name="Picture 9"/>
          <p:cNvPicPr/>
          <p:nvPr/>
        </p:nvPicPr>
        <p:blipFill>
          <a:blip r:embed="rId1"/>
          <a:stretch>
            <a:fillRect/>
          </a:stretch>
        </p:blipFill>
        <p:spPr>
          <a:xfrm>
            <a:off x="0" y="0"/>
            <a:ext cx="9144000" cy="1743075"/>
          </a:xfrm>
          <a:prstGeom prst="rect">
            <a:avLst/>
          </a:prstGeom>
          <a:noFill/>
          <a:ln w="9525">
            <a:noFill/>
          </a:ln>
        </p:spPr>
      </p:pic>
      <p:sp>
        <p:nvSpPr>
          <p:cNvPr id="171011" name="TextBox 2"/>
          <p:cNvSpPr/>
          <p:nvPr/>
        </p:nvSpPr>
        <p:spPr>
          <a:xfrm>
            <a:off x="0" y="1743075"/>
            <a:ext cx="9144000" cy="34150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创造性思维形式</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联想：</a:t>
            </a:r>
            <a:r>
              <a:rPr altLang="en-US" dirty="0" lang="zh-CN" sz="2400">
                <a:ea typeface="宋体" panose="02010600030101010101" pitchFamily="2" charset="-122"/>
                <a:latin typeface="宋体" panose="02010600030101010101" pitchFamily="2" charset="-122"/>
              </a:rPr>
              <a:t>指从一概念想到他概念，从一事物想到他事物的心理活动。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心理学实验研究表明：任何两个概念，不管看上去何等迥异，但经四、五次转折，就会联系起来。“木头”与“皮球”：木头</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树林</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野地</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地球</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皮球；“天空”与“茶”：天空</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土地</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水</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喝</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茶。</a:t>
            </a:r>
            <a:endParaRPr altLang="zh-CN" dirty="0" lang="en-US" sz="2400">
              <a:ea typeface="宋体" panose="02010600030101010101" pitchFamily="2" charset="-122"/>
              <a:latin typeface="宋体" panose="02010600030101010101" pitchFamily="2" charset="-122"/>
            </a:endParaRPr>
          </a:p>
        </p:txBody>
      </p:sp>
      <p:sp useBgFill="1">
        <p:nvSpPr>
          <p:cNvPr id="4" name="Oval 5"/>
          <p:cNvSpPr/>
          <p:nvPr/>
        </p:nvSpPr>
        <p:spPr>
          <a:xfrm>
            <a:off x="3319463" y="5016500"/>
            <a:ext cx="2197100" cy="757238"/>
          </a:xfrm>
          <a:prstGeom prst="ellipse">
            <a:avLst/>
          </a:prstGeom>
          <a:ln w="25400" cmpd="sng"/>
          <a:effectLst/>
        </p:spPr>
        <p:txBody>
          <a:bodyPr wrap="none" lIns="0" rIns="0" anchor="ctr">
            <a:flatTx/>
          </a:bodyPr>
          <a:lstStyle/>
          <a:p>
            <a:pPr marL="0" marR="0" indent="0" lvl="0" algn="ctr" defTabSz="914400" rtl="0" eaLnBrk="1" latinLnBrk="0" hangingPunct="1" fontAlgn="base">
              <a:lnSpc>
                <a:spcPct val="100000"/>
              </a:lnSpc>
              <a:spcBef>
                <a:spcPct val="0"/>
              </a:spcBef>
              <a:spcAft>
                <a:spcPct val="0"/>
              </a:spcAft>
              <a:buNone/>
              <a:defRPr/>
            </a:pPr>
            <a:r>
              <a:rPr altLang="en-US"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rPr>
              <a:t>联想</a:t>
            </a:r>
            <a:endParaRPr altLang="zh-CN"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2034" name="Picture 9"/>
          <p:cNvPicPr/>
          <p:nvPr/>
        </p:nvPicPr>
        <p:blipFill>
          <a:blip r:embed="rId1"/>
          <a:stretch>
            <a:fillRect/>
          </a:stretch>
        </p:blipFill>
        <p:spPr>
          <a:xfrm>
            <a:off x="0" y="0"/>
            <a:ext cx="9144000" cy="1743075"/>
          </a:xfrm>
          <a:prstGeom prst="rect">
            <a:avLst/>
          </a:prstGeom>
          <a:noFill/>
          <a:ln w="9525">
            <a:noFill/>
          </a:ln>
        </p:spPr>
      </p:pic>
      <p:sp>
        <p:nvSpPr>
          <p:cNvPr id="172035" name="TextBox 2"/>
          <p:cNvSpPr/>
          <p:nvPr/>
        </p:nvSpPr>
        <p:spPr>
          <a:xfrm>
            <a:off x="0" y="1743075"/>
            <a:ext cx="9144000" cy="45231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想象：</a:t>
            </a:r>
            <a:r>
              <a:rPr altLang="en-US" dirty="0" lang="zh-CN" sz="2400">
                <a:ea typeface="宋体" panose="02010600030101010101" pitchFamily="2" charset="-122"/>
                <a:latin typeface="宋体" panose="02010600030101010101" pitchFamily="2" charset="-122"/>
              </a:rPr>
              <a:t>是人们根据一定的直接和间接的经验材料对研究对象的一种形象化的构思和设想。如根据图纸在头脑中浮现出楼房形象。“思想实验”。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latin typeface="宋体" panose="02010600030101010101" pitchFamily="2" charset="-122"/>
            </a:endParaRPr>
          </a:p>
          <a:p>
            <a:pPr marL="0" indent="0" lvl="0" algn="just" eaLnBrk="1" hangingPunct="1">
              <a:lnSpc>
                <a:spcPct val="150000"/>
              </a:lnSpc>
              <a:spcBef>
                <a:spcPct val="0"/>
              </a:spcBef>
              <a:buNone/>
            </a:pPr>
            <a:r>
              <a:rPr altLang="zh-CN" dirty="0" lang="en-US" sz="2400">
                <a:latin typeface="宋体" panose="02010600030101010101" pitchFamily="2" charset="-122"/>
              </a:rPr>
              <a:t>    </a:t>
            </a:r>
            <a:r>
              <a:rPr altLang="zh-CN" dirty="0" lang="zh-CN" sz="2400">
                <a:latin typeface="宋体" panose="02010600030101010101" pitchFamily="2" charset="-122"/>
              </a:rPr>
              <a:t>主体对反复思考而尚未解决的问题，因某种偶然因素或潜意识信息启发而得到突然顿悟的心理状态。</a:t>
            </a:r>
            <a:endParaRPr altLang="zh-CN" dirty="0" lang="zh-CN" sz="2400">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useBgFill="1">
        <p:nvSpPr>
          <p:cNvPr id="4" name="Oval 5"/>
          <p:cNvSpPr/>
          <p:nvPr/>
        </p:nvSpPr>
        <p:spPr>
          <a:xfrm>
            <a:off x="3617913" y="3302000"/>
            <a:ext cx="2197100" cy="757238"/>
          </a:xfrm>
          <a:prstGeom prst="ellipse">
            <a:avLst/>
          </a:prstGeom>
          <a:ln w="25400" cmpd="sng"/>
          <a:effectLst/>
        </p:spPr>
        <p:txBody>
          <a:bodyPr wrap="none" lIns="0" rIns="0" anchor="ctr">
            <a:flatTx/>
          </a:bodyPr>
          <a:lstStyle/>
          <a:p>
            <a:pPr marL="0" marR="0" indent="0" lvl="0" algn="ctr" defTabSz="914400" rtl="0" eaLnBrk="1" latinLnBrk="0" hangingPunct="1" fontAlgn="base">
              <a:lnSpc>
                <a:spcPct val="100000"/>
              </a:lnSpc>
              <a:spcBef>
                <a:spcPct val="0"/>
              </a:spcBef>
              <a:spcAft>
                <a:spcPct val="0"/>
              </a:spcAft>
              <a:buNone/>
              <a:defRPr/>
            </a:pPr>
            <a:r>
              <a:rPr altLang="zh-CN"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rPr>
              <a:t>想象</a:t>
            </a:r>
            <a:endParaRPr altLang="zh-CN"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3058" name="Picture 9"/>
          <p:cNvPicPr/>
          <p:nvPr/>
        </p:nvPicPr>
        <p:blipFill>
          <a:blip r:embed="rId1"/>
          <a:stretch>
            <a:fillRect/>
          </a:stretch>
        </p:blipFill>
        <p:spPr>
          <a:xfrm>
            <a:off x="0" y="0"/>
            <a:ext cx="9144000" cy="1743075"/>
          </a:xfrm>
          <a:prstGeom prst="rect">
            <a:avLst/>
          </a:prstGeom>
          <a:noFill/>
          <a:ln w="9525">
            <a:noFill/>
          </a:ln>
        </p:spPr>
      </p:pic>
      <p:sp>
        <p:nvSpPr>
          <p:cNvPr id="173059"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直觉：</a:t>
            </a:r>
            <a:r>
              <a:rPr altLang="en-US" dirty="0" lang="zh-CN" sz="2400">
                <a:ea typeface="宋体" panose="02010600030101010101" pitchFamily="2" charset="-122"/>
                <a:latin typeface="宋体" panose="02010600030101010101" pitchFamily="2" charset="-122"/>
              </a:rPr>
              <a:t>是思维对感性经验和已有知识进行思考时，不受某种固定的逻辑规则的约束而直接领悟事物本质的思想方式。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latin typeface="宋体" panose="02010600030101010101" pitchFamily="2" charset="-122"/>
            </a:endParaRPr>
          </a:p>
          <a:p>
            <a:pPr marL="0" indent="0" lvl="0" algn="just" eaLnBrk="1" hangingPunct="1">
              <a:lnSpc>
                <a:spcPct val="150000"/>
              </a:lnSpc>
              <a:spcBef>
                <a:spcPct val="0"/>
              </a:spcBef>
              <a:buNone/>
            </a:pPr>
            <a:endParaRPr altLang="zh-CN" dirty="0" lang="en-US" sz="2400">
              <a:latin typeface="宋体" panose="02010600030101010101" pitchFamily="2" charset="-122"/>
            </a:endParaRPr>
          </a:p>
          <a:p>
            <a:pPr marL="0" indent="0" lvl="0" algn="just" eaLnBrk="1" hangingPunct="1">
              <a:lnSpc>
                <a:spcPct val="150000"/>
              </a:lnSpc>
              <a:spcBef>
                <a:spcPct val="0"/>
              </a:spcBef>
              <a:buNone/>
            </a:pPr>
            <a:r>
              <a:rPr altLang="zh-CN" dirty="0" lang="en-US" sz="2400">
                <a:latin typeface="宋体" panose="02010600030101010101" pitchFamily="2" charset="-122"/>
              </a:rPr>
              <a:t>  </a:t>
            </a:r>
            <a:r>
              <a:rPr altLang="zh-CN" dirty="0" lang="zh-CN" sz="2400">
                <a:latin typeface="宋体" panose="02010600030101010101" pitchFamily="2" charset="-122"/>
              </a:rPr>
              <a:t>对客观事物的本质特征和普遍规律的直接领悟的深刻理解；这种领悟和理解取决于经验的积累，只有当经验积累达到融会贯通产生“共鸣”时，直觉的领悟和理解才能发生。</a:t>
            </a:r>
            <a:endParaRPr altLang="zh-CN" dirty="0" lang="zh-CN" sz="2400">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p:txBody>
      </p:sp>
      <p:sp useBgFill="1">
        <p:nvSpPr>
          <p:cNvPr id="4" name="Oval 7"/>
          <p:cNvSpPr/>
          <p:nvPr/>
        </p:nvSpPr>
        <p:spPr>
          <a:xfrm>
            <a:off x="6781800" y="2873693"/>
            <a:ext cx="2195513" cy="757238"/>
          </a:xfrm>
          <a:prstGeom prst="ellipse">
            <a:avLst/>
          </a:prstGeom>
          <a:ln w="25400" cmpd="sng"/>
          <a:effectLst/>
        </p:spPr>
        <p:txBody>
          <a:bodyPr wrap="none" lIns="0" rIns="0" anchor="ctr">
            <a:flatTx/>
          </a:bodyPr>
          <a:lstStyle/>
          <a:p>
            <a:pPr marL="0" marR="0" indent="0" lvl="0" algn="ctr" defTabSz="914400" rtl="0" eaLnBrk="1" latinLnBrk="0" hangingPunct="1" fontAlgn="base">
              <a:lnSpc>
                <a:spcPct val="100000"/>
              </a:lnSpc>
              <a:spcBef>
                <a:spcPct val="0"/>
              </a:spcBef>
              <a:spcAft>
                <a:spcPct val="0"/>
              </a:spcAft>
              <a:buNone/>
              <a:defRPr/>
            </a:pPr>
            <a:r>
              <a:rPr altLang="zh-CN"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rPr>
              <a:t>直  觉 </a:t>
            </a:r>
            <a:endParaRPr altLang="zh-CN" dirty="0" kern="1200" kumimoji="0" lang="zh-CN" normalizeH="0" b="0" cap="none" i="0" noProof="0" spc="0" strike="noStrike" sz="2800" u="none">
              <a:ln>
                <a:noFill/>
              </a:ln>
              <a:solidFill>
                <a:srgbClr val="0000FF"/>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5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4082" name="Picture 9"/>
          <p:cNvPicPr/>
          <p:nvPr/>
        </p:nvPicPr>
        <p:blipFill>
          <a:blip r:embed="rId1"/>
          <a:stretch>
            <a:fillRect/>
          </a:stretch>
        </p:blipFill>
        <p:spPr>
          <a:xfrm>
            <a:off x="0" y="0"/>
            <a:ext cx="9144000" cy="1743075"/>
          </a:xfrm>
          <a:prstGeom prst="rect">
            <a:avLst/>
          </a:prstGeom>
          <a:noFill/>
          <a:ln w="9525">
            <a:noFill/>
          </a:ln>
        </p:spPr>
      </p:pic>
      <p:sp>
        <p:nvSpPr>
          <p:cNvPr id="174083" name="TextBox 2"/>
          <p:cNvSpPr/>
          <p:nvPr/>
        </p:nvSpPr>
        <p:spPr>
          <a:xfrm>
            <a:off x="0" y="1743075"/>
            <a:ext cx="9144000" cy="19637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15000"/>
              </a:lnSpc>
              <a:spcBef>
                <a:spcPct val="0"/>
              </a:spcBef>
              <a:buNone/>
            </a:pPr>
            <a:r>
              <a:rPr altLang="zh-CN" dirty="0" lang="zh-CN" sz="2400">
                <a:latin typeface="宋体" panose="02010600030101010101" pitchFamily="2" charset="-122"/>
              </a:rPr>
              <a:t>直觉具有思维的非逻辑性、过程的自动性和信念的坚定性三个基本特征。</a:t>
            </a:r>
            <a:endParaRPr altLang="zh-CN" dirty="0" lang="zh-CN" sz="2400">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p:txBody>
      </p:sp>
      <p:sp>
        <p:nvSpPr>
          <p:cNvPr id="5" name="AutoShape 3"/>
          <p:cNvSpPr/>
          <p:nvPr/>
        </p:nvSpPr>
        <p:spPr>
          <a:xfrm>
            <a:off x="0" y="3836988"/>
            <a:ext cx="5270500" cy="2755900"/>
          </a:xfrm>
          <a:prstGeom prst="wedgeRectCallout">
            <a:avLst>
              <a:gd name="adj1" fmla="val -4125"/>
              <a:gd name="adj2" fmla="val -110338"/>
            </a:avLst>
          </a:prstGeom>
          <a:noFill/>
          <a:ln w="25400" cap="flat" cmpd="sng">
            <a:solidFill>
              <a:srgbClr val="FF00FF"/>
            </a:solidFill>
            <a:prstDash val="solid"/>
            <a:miter lim="0"/>
            <a:headEnd type="none" len="med" w="med"/>
            <a:tailEnd type="none" len="med" w="med"/>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361950" lvl="0" algn="just" eaLnBrk="1" hangingPunct="1">
              <a:lnSpc>
                <a:spcPct val="104999"/>
              </a:lnSpc>
              <a:spcBef>
                <a:spcPct val="0"/>
              </a:spcBef>
              <a:buNone/>
            </a:pPr>
            <a:r>
              <a:rPr altLang="zh-CN" dirty="0" lang="zh-CN" sz="2800">
                <a:ea typeface="宋体" panose="02010600030101010101" pitchFamily="2" charset="-122"/>
                <a:latin typeface="宋体" panose="02010600030101010101" pitchFamily="2" charset="-122"/>
              </a:rPr>
              <a:t>直觉过程不是根据一定的逻辑规则一步一步进行推理的过程，而主要是依靠头脑中知识和经验的积淀、提取、重组，依靠思维洞察力，去直接猜测、判断、理解和把握对象。</a:t>
            </a:r>
            <a:endParaRPr altLang="zh-CN" dirty="0" lang="zh-CN" sz="2800">
              <a:ea typeface="宋体" panose="02010600030101010101" pitchFamily="2" charset="-122"/>
              <a:latin typeface="宋体" panose="02010600030101010101" pitchFamily="2" charset="-122"/>
            </a:endParaRPr>
          </a:p>
        </p:txBody>
      </p:sp>
      <p:sp>
        <p:nvSpPr>
          <p:cNvPr id="6" name="AutoShape 4"/>
          <p:cNvSpPr/>
          <p:nvPr/>
        </p:nvSpPr>
        <p:spPr>
          <a:xfrm>
            <a:off x="5465763" y="3836988"/>
            <a:ext cx="3678237" cy="2755900"/>
          </a:xfrm>
          <a:prstGeom prst="wedgeRectCallout">
            <a:avLst>
              <a:gd name="adj1" fmla="val -78741"/>
              <a:gd name="adj2" fmla="val -110019"/>
            </a:avLst>
          </a:prstGeom>
          <a:noFill/>
          <a:ln w="25400" cap="flat" cmpd="sng">
            <a:solidFill>
              <a:srgbClr val="FF00FF"/>
            </a:solidFill>
            <a:prstDash val="solid"/>
            <a:miter lim="0"/>
            <a:headEnd type="none" len="med" w="med"/>
            <a:tailEnd type="none" len="med" w="med"/>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361950" lvl="0" algn="just" eaLnBrk="1" hangingPunct="1">
              <a:lnSpc>
                <a:spcPct val="104999"/>
              </a:lnSpc>
              <a:spcBef>
                <a:spcPct val="0"/>
              </a:spcBef>
              <a:buNone/>
            </a:pPr>
            <a:r>
              <a:rPr altLang="zh-CN" dirty="0" lang="zh-CN" sz="2800">
                <a:ea typeface="宋体" panose="02010600030101010101" pitchFamily="2" charset="-122"/>
                <a:latin typeface="宋体" panose="02010600030101010101" pitchFamily="2" charset="-122"/>
              </a:rPr>
              <a:t>主体无需有意识的意志努力就能够自然而然地、直接迅速地做出判断，是在不知不觉中得到关于问题的直觉洞察或顿悟的。 </a:t>
            </a:r>
            <a:endParaRPr altLang="zh-CN" dirty="0" lang="zh-CN" sz="2800">
              <a:ea typeface="宋体" panose="02010600030101010101" pitchFamily="2" charset="-122"/>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ppt_y-#ppt_h/2"/>
                                          </p:val>
                                        </p:tav>
                                        <p:tav tm="100000">
                                          <p:val>
                                            <p:strVal val="#ppt_y"/>
                                          </p:val>
                                        </p:tav>
                                      </p:tavLst>
                                    </p:anim>
                                    <p:anim calcmode="lin" valueType="num">
                                      <p:cBhvr>
                                        <p:cTn id="9" dur="500" fill="hold"/>
                                        <p:tgtEl>
                                          <p:spTgt spid="5"/>
                                        </p:tgtEl>
                                        <p:attrNameLst>
                                          <p:attrName>ppt_w</p:attrName>
                                        </p:attrNameLst>
                                      </p:cBhvr>
                                      <p:tavLst>
                                        <p:tav tm="0">
                                          <p:val>
                                            <p:strVal val="#ppt_w"/>
                                          </p:val>
                                        </p:tav>
                                        <p:tav tm="100000">
                                          <p:val>
                                            <p:strVal val="#ppt_w"/>
                                          </p:val>
                                        </p:tav>
                                      </p:tavLst>
                                    </p:anim>
                                    <p:anim calcmode="lin" valueType="num">
                                      <p:cBhvr>
                                        <p:cTn id="10" dur="500" fill="hold"/>
                                        <p:tgtEl>
                                          <p:spTgt spid="5"/>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1" nodeType="clickEffect">
                                  <p:stCondLst>
                                    <p:cond delay="0"/>
                                  </p:stCondLst>
                                  <p:childTnLst>
                                    <p:animEffect transition="out" filter="wipe(down)">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ppt_h/2"/>
                                          </p:val>
                                        </p:tav>
                                        <p:tav tm="100000">
                                          <p:val>
                                            <p:strVal val="#ppt_y"/>
                                          </p:val>
                                        </p:tav>
                                      </p:tavLst>
                                    </p:anim>
                                    <p:anim calcmode="lin" valueType="num">
                                      <p:cBhvr>
                                        <p:cTn id="22" dur="500" fill="hold"/>
                                        <p:tgtEl>
                                          <p:spTgt spid="6"/>
                                        </p:tgtEl>
                                        <p:attrNameLst>
                                          <p:attrName>ppt_w</p:attrName>
                                        </p:attrNameLst>
                                      </p:cBhvr>
                                      <p:tavLst>
                                        <p:tav tm="0">
                                          <p:val>
                                            <p:strVal val="#ppt_w"/>
                                          </p:val>
                                        </p:tav>
                                        <p:tav tm="100000">
                                          <p:val>
                                            <p:strVal val="#ppt_w"/>
                                          </p:val>
                                        </p:tav>
                                      </p:tavLst>
                                    </p:anim>
                                    <p:anim calcmode="lin" valueType="num">
                                      <p:cBhvr>
                                        <p:cTn id="23" dur="500" fill="hold"/>
                                        <p:tgtEl>
                                          <p:spTgt spid="6"/>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grpId="1" nodeType="clickEffect">
                                  <p:stCondLst>
                                    <p:cond delay="0"/>
                                  </p:stCondLst>
                                  <p:childTnLst>
                                    <p:animEffect transition="out" filter="wipe(down)">
                                      <p:cBhvr>
                                        <p:cTn id="27" dur="500"/>
                                        <p:tgtEl>
                                          <p:spTgt spid="6"/>
                                        </p:tgtEl>
                                      </p:cBhvr>
                                    </p:animEffect>
                                    <p:set>
                                      <p:cBhvr>
                                        <p:cTn id="2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15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5106" name="Picture 9"/>
          <p:cNvPicPr/>
          <p:nvPr/>
        </p:nvPicPr>
        <p:blipFill>
          <a:blip r:embed="rId1"/>
          <a:stretch>
            <a:fillRect/>
          </a:stretch>
        </p:blipFill>
        <p:spPr>
          <a:xfrm>
            <a:off x="0" y="0"/>
            <a:ext cx="9144000" cy="1743075"/>
          </a:xfrm>
          <a:prstGeom prst="rect">
            <a:avLst/>
          </a:prstGeom>
          <a:noFill/>
          <a:ln w="9525">
            <a:noFill/>
          </a:ln>
        </p:spPr>
      </p:pic>
      <p:sp>
        <p:nvSpPr>
          <p:cNvPr id="141315" name="TextBox 2"/>
          <p:cNvSpPr/>
          <p:nvPr/>
        </p:nvSpPr>
        <p:spPr>
          <a:xfrm>
            <a:off x="0" y="1743075"/>
            <a:ext cx="9144000" cy="3311525"/>
          </a:xfrm>
          <a:prstGeom prst="rect">
            <a:avLst/>
          </a:prstGeom>
          <a:noFill/>
          <a:ln w="12700">
            <a:noFill/>
          </a:ln>
        </p:spPr>
        <p:txBody>
          <a:bodyPr>
            <a:spAutoFit/>
          </a:bodyPr>
          <a:lstStyle>
            <a:lvl1pPr>
              <a:spcBef>
                <a:spcPct val="20000"/>
              </a:spcBef>
              <a:buClr>
                <a:schemeClr val="tx2"/>
              </a:buClr>
              <a:buSzPct val="50000"/>
              <a:buFont typeface="Wingdings 2" panose="05020102010507070707" pitchFamily="18" charset="2"/>
              <a:buChar char="ß"/>
              <a:defRPr sz="3200">
                <a:solidFill>
                  <a:schemeClr val="tx1"/>
                </a:solidFill>
                <a:latin typeface="Franklin Gothic Book" panose="020B0503020102020204" pitchFamily="34" charset="0"/>
                <a:ea typeface="黑体" panose="02010609060101010101" pitchFamily="49" charset="-122"/>
              </a:defRPr>
            </a:lvl1pPr>
            <a:lvl2pPr marL="742950" indent="-285750">
              <a:spcBef>
                <a:spcPct val="20000"/>
              </a:spcBef>
              <a:buClr>
                <a:schemeClr val="tx2"/>
              </a:buClr>
              <a:buSzPct val="50000"/>
              <a:buFont typeface="Wingdings 2" panose="05020102010507070707" pitchFamily="18" charset="2"/>
              <a:buChar char="Þ"/>
              <a:defRPr sz="2800">
                <a:solidFill>
                  <a:schemeClr val="tx1"/>
                </a:solidFill>
                <a:latin typeface="Franklin Gothic Book" panose="020B0503020102020204" pitchFamily="34" charset="0"/>
                <a:ea typeface="黑体" panose="02010609060101010101" pitchFamily="49" charset="-122"/>
              </a:defRPr>
            </a:lvl2pPr>
            <a:lvl3pPr marL="1143000" indent="-228600">
              <a:spcBef>
                <a:spcPct val="20000"/>
              </a:spcBef>
              <a:buClr>
                <a:schemeClr val="tx2"/>
              </a:buClr>
              <a:buSzPct val="50000"/>
              <a:buFont typeface="Wingdings 2" panose="05020102010507070707" pitchFamily="18" charset="2"/>
              <a:buChar char=""/>
              <a:defRPr sz="2400">
                <a:solidFill>
                  <a:schemeClr val="tx1"/>
                </a:solidFill>
                <a:latin typeface="Franklin Gothic Book" panose="020B0503020102020204" pitchFamily="34" charset="0"/>
                <a:ea typeface="黑体" panose="02010609060101010101" pitchFamily="49" charset="-122"/>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Franklin Gothic Book" panose="020B0503020102020204" pitchFamily="34" charset="0"/>
                <a:ea typeface="黑体" panose="02010609060101010101" pitchFamily="49" charset="-122"/>
              </a:defRPr>
            </a:lvl9pPr>
          </a:lstStyle>
          <a:p>
            <a:pPr marL="0" marR="0" indent="0" lvl="0" algn="just" defTabSz="914400" rtl="0" eaLnBrk="1" latinLnBrk="0" hangingPunct="1" fontAlgn="base">
              <a:lnSpc>
                <a:spcPct val="115000"/>
              </a:lnSpc>
              <a:spcBef>
                <a:spcPct val="20000"/>
              </a:spcBef>
              <a:spcAft>
                <a:spcPct val="0"/>
              </a:spcAft>
              <a:buNone/>
              <a:defRPr/>
            </a:pPr>
            <a:r>
              <a:rPr altLang="zh-CN" dirty="0" kern="1200" kumimoji="0" lang="zh-CN" normalizeH="0" b="0" cap="none" i="0" noProof="0" spc="0" strike="noStrike" sz="2400" u="none">
                <a:ln>
                  <a:noFill/>
                </a:ln>
                <a:solidFill>
                  <a:schemeClr val="tx2"/>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rPr>
              <a:t>直觉在科学技术创造活动中具有重要的创造功能：</a:t>
            </a:r>
            <a:endParaRPr altLang="zh-CN" dirty="0" kern="1200" kumimoji="0" lang="zh-CN" normalizeH="0" b="0" cap="none" i="0" noProof="0" spc="0" strike="noStrike" sz="2400" u="none">
              <a:ln>
                <a:noFill/>
              </a:ln>
              <a:solidFill>
                <a:schemeClr val="tx2"/>
              </a:solidFill>
              <a:effectLst>
                <a:outerShdw blurRad="38100" dist="38100" dir="2700000" algn="tl">
                  <a:srgbClr val="C0C0C0"/>
                </a:outerShdw>
              </a:effectLst>
              <a:uLnTx/>
              <a:uFillTx/>
              <a:cs typeface="+mn-cs"/>
              <a:ea typeface="黑体" panose="02010609060101010101" pitchFamily="49" charset="-122"/>
              <a:latin typeface="Arial" panose="020B0604020202020204" pitchFamily="34" charset="0"/>
            </a:endParaRPr>
          </a:p>
          <a:p>
            <a:pPr marL="0" marR="0" indent="0" lvl="0" algn="just" defTabSz="914400" rtl="0" eaLnBrk="1" latinLnBrk="0" hangingPunct="1" fontAlgn="base">
              <a:lnSpc>
                <a:spcPct val="115000"/>
              </a:lnSpc>
              <a:spcBef>
                <a:spcPct val="10000"/>
              </a:spcBef>
              <a:spcAft>
                <a:spcPct val="0"/>
              </a:spcAft>
              <a:buNone/>
              <a:defRPr/>
            </a:pPr>
            <a:r>
              <a:rPr altLang="zh-CN" dirty="0" kern="1200" kumimoji="0" lang="zh-CN" normalizeH="0" b="0" cap="none" i="0" noProof="0" spc="0" strike="noStrike" sz="2400" u="none">
                <a:ln>
                  <a:noFill/>
                </a:ln>
                <a:solidFill>
                  <a:schemeClr val="tx2"/>
                </a:solidFill>
                <a:effectLst/>
                <a:uLnTx/>
                <a:uFillTx/>
                <a:cs typeface="+mn-cs"/>
                <a:ea typeface="黑体" panose="02010609060101010101" pitchFamily="49" charset="-122"/>
                <a:latin typeface="宋体" panose="02010600030101010101" pitchFamily="2" charset="-122"/>
              </a:rPr>
              <a:t>①直觉</a:t>
            </a:r>
            <a:r>
              <a:rPr altLang="zh-CN" dirty="0" kern="1200" kumimoji="0" lang="zh-CN" normalizeH="0" b="0" cap="none" i="0" noProof="0" spc="0" strike="noStrike" sz="2400" u="none">
                <a:ln>
                  <a:noFill/>
                </a:ln>
                <a:solidFill>
                  <a:schemeClr val="tx1"/>
                </a:solidFill>
                <a:effectLst/>
                <a:uLnTx/>
                <a:uFillTx/>
                <a:cs typeface="+mn-cs"/>
                <a:ea typeface="黑体" panose="02010609060101010101" pitchFamily="49" charset="-122"/>
                <a:latin typeface="宋体" panose="02010600030101010101" pitchFamily="2" charset="-122"/>
              </a:rPr>
              <a:t>是研究者发现和确定有价值的研究方向和目标的主要思维因素。</a:t>
            </a:r>
            <a:endParaRPr altLang="zh-CN" dirty="0" kern="1200" kumimoji="0" lang="zh-CN" normalizeH="0" b="0" cap="none" i="0" noProof="0" spc="0" strike="noStrike" sz="2400" u="none">
              <a:ln>
                <a:noFill/>
              </a:ln>
              <a:solidFill>
                <a:schemeClr val="tx1"/>
              </a:solidFill>
              <a:effectLst/>
              <a:uLnTx/>
              <a:uFillTx/>
              <a:cs typeface="+mn-cs"/>
              <a:ea typeface="黑体" panose="02010609060101010101" pitchFamily="49" charset="-122"/>
              <a:latin typeface="宋体" panose="02010600030101010101" pitchFamily="2" charset="-122"/>
            </a:endParaRPr>
          </a:p>
          <a:p>
            <a:pPr marL="0" marR="0" indent="0" lvl="0" algn="just" defTabSz="914400" rtl="0" eaLnBrk="1" latinLnBrk="0" hangingPunct="1" fontAlgn="base">
              <a:lnSpc>
                <a:spcPct val="115000"/>
              </a:lnSpc>
              <a:spcBef>
                <a:spcPct val="10000"/>
              </a:spcBef>
              <a:spcAft>
                <a:spcPct val="0"/>
              </a:spcAft>
              <a:buNone/>
              <a:defRPr/>
            </a:pPr>
            <a:r>
              <a:rPr altLang="zh-CN" dirty="0" kern="1200" kumimoji="0" lang="zh-CN" normalizeH="0" b="0" cap="none" i="0" noProof="0" spc="0" strike="noStrike" sz="2400" u="none">
                <a:ln>
                  <a:noFill/>
                </a:ln>
                <a:solidFill>
                  <a:schemeClr val="tx1"/>
                </a:solidFill>
                <a:effectLst/>
                <a:uLnTx/>
                <a:uFillTx/>
                <a:cs typeface="+mn-cs"/>
                <a:ea typeface="黑体" panose="02010609060101010101" pitchFamily="49" charset="-122"/>
                <a:latin typeface="宋体" panose="02010600030101010101" pitchFamily="2" charset="-122"/>
              </a:rPr>
              <a:t>②直觉是直接做出科学发现的工具。在从现象到本质的思维飞跃过程中，真正起作用的是直觉因素。</a:t>
            </a:r>
            <a:endParaRPr altLang="zh-CN" dirty="0" kern="1200" kumimoji="0" lang="zh-CN" normalizeH="0" b="0" cap="none" i="0" noProof="0" spc="0" strike="noStrike" sz="2400" u="none">
              <a:ln>
                <a:noFill/>
              </a:ln>
              <a:solidFill>
                <a:schemeClr val="tx1"/>
              </a:solidFill>
              <a:effectLst/>
              <a:uLnTx/>
              <a:uFillTx/>
              <a:cs typeface="+mn-cs"/>
              <a:ea typeface="黑体" panose="02010609060101010101" pitchFamily="49"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rgbClr val="0000FF"/>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50000"/>
              </a:lnSpc>
              <a:spcBef>
                <a:spcPct val="0"/>
              </a:spcBef>
              <a:spcAft>
                <a:spcPct val="0"/>
              </a:spcAft>
              <a:buNone/>
              <a:defRPr/>
            </a:pPr>
            <a:endParaRPr altLang="zh-CN" dirty="0" kern="1200" kumimoji="0" lang="en-US" normalizeH="0" b="0" cap="none" i="0" noProof="0" spc="0" strike="noStrike" sz="2400" u="none">
              <a:ln>
                <a:noFill/>
              </a:ln>
              <a:solidFill>
                <a:srgbClr val="0000FF"/>
              </a:solidFill>
              <a:effectLst/>
              <a:uLnTx/>
              <a:uFillTx/>
              <a:cs typeface="+mn-cs"/>
              <a:ea typeface="宋体" panose="02010600030101010101" pitchFamily="2" charset="-122"/>
              <a:latin typeface="宋体" panose="02010600030101010101" pitchFamily="2" charset="-122"/>
            </a:endParaRPr>
          </a:p>
        </p:txBody>
      </p:sp>
      <p:sp>
        <p:nvSpPr>
          <p:cNvPr id="7" name="AutoShape 3"/>
          <p:cNvSpPr/>
          <p:nvPr/>
        </p:nvSpPr>
        <p:spPr>
          <a:xfrm>
            <a:off x="133350" y="4540250"/>
            <a:ext cx="8178800" cy="1397000"/>
          </a:xfrm>
          <a:prstGeom prst="wedgeRectCallout">
            <a:avLst>
              <a:gd name="adj1" fmla="val -11116"/>
              <a:gd name="adj2" fmla="val -81495"/>
            </a:avLst>
          </a:prstGeom>
          <a:noFill/>
          <a:ln w="25400" cap="flat" cmpd="sng">
            <a:solidFill>
              <a:srgbClr val="FF00FF"/>
            </a:solidFill>
            <a:prstDash val="solid"/>
            <a:miter lim="0"/>
            <a:headEnd type="none" len="med" w="med"/>
            <a:tailEnd type="none" len="med" w="med"/>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361950" lvl="0" algn="just" eaLnBrk="1" hangingPunct="1">
              <a:lnSpc>
                <a:spcPct val="104999"/>
              </a:lnSpc>
              <a:spcBef>
                <a:spcPct val="0"/>
              </a:spcBef>
              <a:buNone/>
            </a:pPr>
            <a:r>
              <a:rPr altLang="zh-CN" dirty="0" lang="zh-CN" sz="2800">
                <a:ea typeface="宋体" panose="02010600030101010101" pitchFamily="2" charset="-122"/>
                <a:latin typeface="宋体" panose="02010600030101010101" pitchFamily="2" charset="-122"/>
              </a:rPr>
              <a:t>爱因斯坦：要走向理论的建立，不存在什么逻辑的通道，只能通过构造性的尝试去摸索，“只有通过那种以对经验的共鸣的理解为依据的直觉。” </a:t>
            </a:r>
            <a:endParaRPr altLang="zh-CN" dirty="0" lang="zh-CN" sz="2800">
              <a:ea typeface="宋体" panose="02010600030101010101" pitchFamily="2" charset="-122"/>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ppt_y-#ppt_h/2"/>
                                          </p:val>
                                        </p:tav>
                                        <p:tav tm="100000">
                                          <p:val>
                                            <p:strVal val="#ppt_y"/>
                                          </p:val>
                                        </p:tav>
                                      </p:tavLst>
                                    </p:anim>
                                    <p:anim calcmode="lin" valueType="num">
                                      <p:cBhvr>
                                        <p:cTn id="9" dur="500" fill="hold"/>
                                        <p:tgtEl>
                                          <p:spTgt spid="7"/>
                                        </p:tgtEl>
                                        <p:attrNameLst>
                                          <p:attrName>ppt_w</p:attrName>
                                        </p:attrNameLst>
                                      </p:cBhvr>
                                      <p:tavLst>
                                        <p:tav tm="0">
                                          <p:val>
                                            <p:strVal val="#ppt_w"/>
                                          </p:val>
                                        </p:tav>
                                        <p:tav tm="100000">
                                          <p:val>
                                            <p:strVal val="#ppt_w"/>
                                          </p:val>
                                        </p:tav>
                                      </p:tavLst>
                                    </p:anim>
                                    <p:anim calcmode="lin" valueType="num">
                                      <p:cBhvr>
                                        <p:cTn id="10" dur="500" fill="hold"/>
                                        <p:tgtEl>
                                          <p:spTgt spid="7"/>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1" nodeType="clickEffect">
                                  <p:stCondLst>
                                    <p:cond delay="0"/>
                                  </p:stCondLst>
                                  <p:childTnLst>
                                    <p:animEffect transition="out" filter="wipe(down)">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15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6130" name="Picture 9"/>
          <p:cNvPicPr/>
          <p:nvPr/>
        </p:nvPicPr>
        <p:blipFill>
          <a:blip r:embed="rId1"/>
          <a:stretch>
            <a:fillRect/>
          </a:stretch>
        </p:blipFill>
        <p:spPr>
          <a:xfrm>
            <a:off x="0" y="0"/>
            <a:ext cx="9144000" cy="1743075"/>
          </a:xfrm>
          <a:prstGeom prst="rect">
            <a:avLst/>
          </a:prstGeom>
          <a:noFill/>
          <a:ln w="9525">
            <a:noFill/>
          </a:ln>
        </p:spPr>
      </p:pic>
      <p:sp>
        <p:nvSpPr>
          <p:cNvPr id="176131"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灵感：</a:t>
            </a:r>
            <a:r>
              <a:rPr altLang="en-US" dirty="0" lang="zh-CN" sz="2400">
                <a:ea typeface="宋体" panose="02010600030101010101" pitchFamily="2" charset="-122"/>
                <a:latin typeface="宋体" panose="02010600030101010101" pitchFamily="2" charset="-122"/>
              </a:rPr>
              <a:t>是指在研究工作中一种突如其来的使问题得到澄清的顿悟。它不是上帝的恩赐，是理性的突现和心灵紧张激发的结晶，是对问题长期冥想之后一种豁然开朗。</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0000FF"/>
                </a:solidFill>
                <a:ea typeface="宋体" panose="02010600030101010101" pitchFamily="2" charset="-122"/>
                <a:latin typeface="宋体" panose="02010600030101010101" pitchFamily="2" charset="-122"/>
              </a:rPr>
              <a:t>类比：</a:t>
            </a:r>
            <a:r>
              <a:rPr altLang="en-US" dirty="0" lang="zh-CN" sz="2400">
                <a:ea typeface="宋体" panose="02010600030101010101" pitchFamily="2" charset="-122"/>
                <a:latin typeface="宋体" panose="02010600030101010101" pitchFamily="2" charset="-122"/>
              </a:rPr>
              <a:t>是根据两个（或两类）对象之间在某些方面的相似或相同而推测它们在其它方面也可能相似或相同的思想方法。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类比在科学发现中具有重要的价值。</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开普勒（</a:t>
            </a:r>
            <a:r>
              <a:rPr altLang="zh-CN" dirty="0" lang="en-US" sz="2400">
                <a:ea typeface="宋体" panose="02010600030101010101" pitchFamily="2" charset="-122"/>
                <a:latin typeface="宋体" panose="02010600030101010101" pitchFamily="2" charset="-122"/>
              </a:rPr>
              <a:t>Kepler</a:t>
            </a:r>
            <a:r>
              <a:rPr altLang="en-US" dirty="0" lang="zh-CN" sz="2400">
                <a:ea typeface="宋体" panose="02010600030101010101" pitchFamily="2" charset="-122"/>
                <a:latin typeface="宋体" panose="02010600030101010101" pitchFamily="2" charset="-122"/>
              </a:rPr>
              <a:t>）把它比喻为“自然秘密的参与者”，是自己最好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5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7154" name="Picture 9"/>
          <p:cNvPicPr/>
          <p:nvPr/>
        </p:nvPicPr>
        <p:blipFill>
          <a:blip r:embed="rId1"/>
          <a:stretch>
            <a:fillRect/>
          </a:stretch>
        </p:blipFill>
        <p:spPr>
          <a:xfrm>
            <a:off x="0" y="0"/>
            <a:ext cx="9144000" cy="1743075"/>
          </a:xfrm>
          <a:prstGeom prst="rect">
            <a:avLst/>
          </a:prstGeom>
          <a:noFill/>
          <a:ln w="9525">
            <a:noFill/>
          </a:ln>
        </p:spPr>
      </p:pic>
      <p:sp>
        <p:nvSpPr>
          <p:cNvPr id="177155"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的老师。</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康德（</a:t>
            </a:r>
            <a:r>
              <a:rPr altLang="zh-CN" dirty="0" lang="en-US" sz="2400">
                <a:ea typeface="宋体" panose="02010600030101010101" pitchFamily="2" charset="-122"/>
                <a:latin typeface="宋体" panose="02010600030101010101" pitchFamily="2" charset="-122"/>
              </a:rPr>
              <a:t>Kant</a:t>
            </a:r>
            <a:r>
              <a:rPr altLang="en-US" dirty="0" lang="zh-CN" sz="2400">
                <a:ea typeface="宋体" panose="02010600030101010101" pitchFamily="2" charset="-122"/>
                <a:latin typeface="宋体" panose="02010600030101010101" pitchFamily="2" charset="-122"/>
              </a:rPr>
              <a:t>）说：“每当理智缺乏可靠论证的思路时，类比这个方法往往能指引我们前进”。</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创造性思维技法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1</a:t>
            </a:r>
            <a:r>
              <a:rPr altLang="en-US" dirty="0" lang="zh-CN" sz="2400">
                <a:solidFill>
                  <a:srgbClr val="0000FF"/>
                </a:solidFill>
                <a:ea typeface="宋体" panose="02010600030101010101" pitchFamily="2" charset="-122"/>
                <a:latin typeface="宋体" panose="02010600030101010101" pitchFamily="2" charset="-122"/>
              </a:rPr>
              <a:t>、长时间思考问题和资料，使其达到思想饱和，这是获取创造性思维的前提。</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1865</a:t>
            </a:r>
            <a:r>
              <a:rPr altLang="en-US" dirty="0" lang="zh-CN" sz="2400">
                <a:ea typeface="宋体" panose="02010600030101010101" pitchFamily="2" charset="-122"/>
                <a:latin typeface="宋体" panose="02010600030101010101" pitchFamily="2" charset="-122"/>
              </a:rPr>
              <a:t>年，德国化学家凯库勒（</a:t>
            </a:r>
            <a:r>
              <a:rPr altLang="zh-CN" dirty="0" lang="en-US" sz="2400">
                <a:ea typeface="宋体" panose="02010600030101010101" pitchFamily="2" charset="-122"/>
                <a:latin typeface="宋体" panose="02010600030101010101" pitchFamily="2" charset="-122"/>
              </a:rPr>
              <a:t>Kekule</a:t>
            </a:r>
            <a:r>
              <a:rPr altLang="en-US" dirty="0" lang="zh-CN" sz="2400">
                <a:ea typeface="宋体" panose="02010600030101010101" pitchFamily="2" charset="-122"/>
                <a:latin typeface="宋体" panose="02010600030101010101" pitchFamily="2" charset="-122"/>
              </a:rPr>
              <a:t>）为了解决苯的结构式问题，日夜苦思，据说每天只睡三、四个小时。他自己回忆说，“但事情进行得不顺利，我的心想着别的事了。我把坐椅转向炉边，进入半</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5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8178" name="Picture 9"/>
          <p:cNvPicPr/>
          <p:nvPr/>
        </p:nvPicPr>
        <p:blipFill>
          <a:blip r:embed="rId1"/>
          <a:stretch>
            <a:fillRect/>
          </a:stretch>
        </p:blipFill>
        <p:spPr>
          <a:xfrm>
            <a:off x="0" y="0"/>
            <a:ext cx="9144000" cy="1743075"/>
          </a:xfrm>
          <a:prstGeom prst="rect">
            <a:avLst/>
          </a:prstGeom>
          <a:noFill/>
          <a:ln w="9525">
            <a:noFill/>
          </a:ln>
        </p:spPr>
      </p:pic>
      <p:sp>
        <p:nvSpPr>
          <p:cNvPr id="178179"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睡眠状态。原子在我眼前飞动，长长的队伍，变化多姿，靠近了，连接起来了，一个个扭动着，回转着，像蛇一样。看，那是什么？一条蛇咬住自己的尾巴，在我眼前轻蔑地旋转。我如从电中惊醒。那晚我为这个假说的结果工作了整夜。</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先生们，让我们学会做梦吧！”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2</a:t>
            </a:r>
            <a:r>
              <a:rPr altLang="en-US" dirty="0" lang="zh-CN" sz="2400">
                <a:solidFill>
                  <a:srgbClr val="0000FF"/>
                </a:solidFill>
                <a:ea typeface="宋体" panose="02010600030101010101" pitchFamily="2" charset="-122"/>
                <a:latin typeface="宋体" panose="02010600030101010101" pitchFamily="2" charset="-122"/>
              </a:rPr>
              <a:t>、恰当放下工作，在自由与轻松中产生创造性思维。</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达尔文在工作之余阅读马尔萨斯</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人口论</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消遣时，突然产生“自然选择”想法的。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3</a:t>
            </a:r>
            <a:r>
              <a:rPr altLang="en-US" dirty="0" lang="zh-CN" sz="2400">
                <a:solidFill>
                  <a:srgbClr val="0000FF"/>
                </a:solidFill>
                <a:ea typeface="宋体" panose="02010600030101010101" pitchFamily="2" charset="-122"/>
                <a:latin typeface="宋体" panose="02010600030101010101" pitchFamily="2" charset="-122"/>
              </a:rPr>
              <a:t>、有效讨论可以促发创造思维。</a:t>
            </a:r>
            <a:endParaRPr altLang="zh-CN" dirty="0" lang="en-US"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15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79202" name="Picture 9"/>
          <p:cNvPicPr/>
          <p:nvPr/>
        </p:nvPicPr>
        <p:blipFill>
          <a:blip r:embed="rId1"/>
          <a:stretch>
            <a:fillRect/>
          </a:stretch>
        </p:blipFill>
        <p:spPr>
          <a:xfrm>
            <a:off x="0" y="0"/>
            <a:ext cx="9144000" cy="1743075"/>
          </a:xfrm>
          <a:prstGeom prst="rect">
            <a:avLst/>
          </a:prstGeom>
          <a:noFill/>
          <a:ln w="9525">
            <a:noFill/>
          </a:ln>
        </p:spPr>
      </p:pic>
      <p:sp>
        <p:nvSpPr>
          <p:cNvPr id="179203" name="TextBox 2"/>
          <p:cNvSpPr/>
          <p:nvPr/>
        </p:nvSpPr>
        <p:spPr>
          <a:xfrm>
            <a:off x="0" y="1743075"/>
            <a:ext cx="9144000" cy="6099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R.Koch</a:t>
            </a:r>
            <a:r>
              <a:rPr altLang="en-US" dirty="0" lang="zh-CN" sz="2400">
                <a:ea typeface="宋体" panose="02010600030101010101" pitchFamily="2" charset="-122"/>
                <a:latin typeface="宋体" panose="02010600030101010101" pitchFamily="2" charset="-122"/>
              </a:rPr>
              <a:t>在与朋友讨论寻找“固体培养基”时，朋友的妻子恰好从厨房送咖啡过来，偶然听到此事，便随意提议是否可用“琼脂”，结果帮助解决了一个大问题。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0000FF"/>
                </a:solidFill>
                <a:ea typeface="宋体" panose="02010600030101010101" pitchFamily="2" charset="-122"/>
                <a:latin typeface="宋体" panose="02010600030101010101" pitchFamily="2" charset="-122"/>
              </a:rPr>
              <a:t>4</a:t>
            </a:r>
            <a:r>
              <a:rPr altLang="en-US" dirty="0" lang="zh-CN" sz="2400">
                <a:solidFill>
                  <a:srgbClr val="0000FF"/>
                </a:solidFill>
                <a:ea typeface="宋体" panose="02010600030101010101" pitchFamily="2" charset="-122"/>
                <a:latin typeface="宋体" panose="02010600030101010101" pitchFamily="2" charset="-122"/>
              </a:rPr>
              <a:t>、广博的知识有助于产生创造性思维。</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实施通才教育，加强素质培养。维纳针对美国的教育情况曾说，“我们的大学偏爱与独创精神相反的模仿性，偏爱庸俗、肤浅，可以大量复制而非新生有力的东西，偏爱无益的精确性，眼光短浅与方法的局限性，而非普遍存在而又到处可以看到的新颖和优美</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这都使我有时感受到愤怒，也常常使我感受到失望和悲伤”。</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5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0226" name="Picture 9"/>
          <p:cNvPicPr/>
          <p:nvPr/>
        </p:nvPicPr>
        <p:blipFill>
          <a:blip r:embed="rId1"/>
          <a:stretch>
            <a:fillRect/>
          </a:stretch>
        </p:blipFill>
        <p:spPr>
          <a:xfrm>
            <a:off x="0" y="0"/>
            <a:ext cx="9144000" cy="1743075"/>
          </a:xfrm>
          <a:prstGeom prst="rect">
            <a:avLst/>
          </a:prstGeom>
          <a:noFill/>
          <a:ln w="9525">
            <a:noFill/>
          </a:ln>
        </p:spPr>
      </p:pic>
      <p:sp>
        <p:nvSpPr>
          <p:cNvPr id="180227"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人有人的用处</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控制论和社会</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109</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尤其要学习哲学、科学史。温伯格（</a:t>
            </a:r>
            <a:r>
              <a:rPr altLang="zh-CN" dirty="0" lang="en-US" sz="2400">
                <a:ea typeface="宋体" panose="02010600030101010101" pitchFamily="2" charset="-122"/>
                <a:latin typeface="Times New Roman" panose="02020603050405020304" pitchFamily="18" charset="0"/>
              </a:rPr>
              <a:t>W.Weinberg</a:t>
            </a:r>
            <a:r>
              <a:rPr altLang="en-US" dirty="0" lang="zh-CN" sz="2400">
                <a:ea typeface="宋体" panose="02010600030101010101" pitchFamily="2" charset="-122"/>
                <a:latin typeface="宋体" panose="02010600030101010101" pitchFamily="2" charset="-122"/>
              </a:rPr>
              <a:t>）在访问中国时曾说：“培养直觉能力有三个方面：哲学观点的指导、经验、阅读科学史”。（</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科学方法论研究</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，第</a:t>
            </a:r>
            <a:r>
              <a:rPr altLang="zh-CN" dirty="0" lang="en-US" sz="2400">
                <a:ea typeface="宋体" panose="02010600030101010101" pitchFamily="2" charset="-122"/>
                <a:latin typeface="宋体" panose="02010600030101010101" pitchFamily="2" charset="-122"/>
              </a:rPr>
              <a:t>104</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1250" name="Picture 9"/>
          <p:cNvPicPr/>
          <p:nvPr/>
        </p:nvPicPr>
        <p:blipFill>
          <a:blip r:embed="rId1"/>
          <a:stretch>
            <a:fillRect/>
          </a:stretch>
        </p:blipFill>
        <p:spPr>
          <a:xfrm>
            <a:off x="0" y="0"/>
            <a:ext cx="9144000" cy="1743075"/>
          </a:xfrm>
          <a:prstGeom prst="rect">
            <a:avLst/>
          </a:prstGeom>
          <a:noFill/>
          <a:ln w="9525">
            <a:noFill/>
          </a:ln>
        </p:spPr>
      </p:pic>
      <p:sp>
        <p:nvSpPr>
          <p:cNvPr id="181251" name="TextBox 2"/>
          <p:cNvSpPr/>
          <p:nvPr/>
        </p:nvSpPr>
        <p:spPr>
          <a:xfrm>
            <a:off x="0" y="1743075"/>
            <a:ext cx="9144000" cy="51695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第三节 科学技术研究的常规方法</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一、观察与实验：获取科学事实的方法</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ea typeface="宋体" panose="02010600030101010101" pitchFamily="2" charset="-122"/>
                <a:latin typeface="宋体" panose="02010600030101010101" pitchFamily="2" charset="-122"/>
              </a:rPr>
              <a:t>1</a:t>
            </a:r>
            <a:r>
              <a:rPr altLang="en-US" dirty="0" lang="zh-CN" b="1" sz="2400">
                <a:ea typeface="宋体" panose="02010600030101010101" pitchFamily="2" charset="-122"/>
                <a:latin typeface="宋体" panose="02010600030101010101" pitchFamily="2" charset="-122"/>
              </a:rPr>
              <a:t>、科学事实</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科学事实是科学认识主体关于客观存在的事件、现象、过程、关系等的真实描述或判断。</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科学事实的内容是客观的，而形式是主观的。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逻辑形式：单称命题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科学事实的分类：</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2274" name="Picture 9"/>
          <p:cNvPicPr/>
          <p:nvPr/>
        </p:nvPicPr>
        <p:blipFill>
          <a:blip r:embed="rId1"/>
          <a:stretch>
            <a:fillRect/>
          </a:stretch>
        </p:blipFill>
        <p:spPr>
          <a:xfrm>
            <a:off x="0" y="0"/>
            <a:ext cx="9144000" cy="1743075"/>
          </a:xfrm>
          <a:prstGeom prst="rect">
            <a:avLst/>
          </a:prstGeom>
          <a:noFill/>
          <a:ln w="9525">
            <a:noFill/>
          </a:ln>
        </p:spPr>
      </p:pic>
      <p:sp>
        <p:nvSpPr>
          <p:cNvPr id="182275" name="TextBox 2"/>
          <p:cNvSpPr/>
          <p:nvPr/>
        </p:nvSpPr>
        <p:spPr>
          <a:xfrm>
            <a:off x="0" y="1743075"/>
            <a:ext cx="9144000" cy="34150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事实</a:t>
            </a:r>
            <a:r>
              <a:rPr altLang="zh-CN" dirty="0" lang="en-US" b="1" sz="2400">
                <a:solidFill>
                  <a:srgbClr val="FF0000"/>
                </a:solidFill>
                <a:ea typeface="宋体" panose="02010600030101010101" pitchFamily="2" charset="-122"/>
                <a:latin typeface="宋体" panose="02010600030101010101" pitchFamily="2" charset="-122"/>
              </a:rPr>
              <a:t>I</a:t>
            </a:r>
            <a:r>
              <a:rPr altLang="en-US" dirty="0" lang="zh-CN" b="1" sz="2400">
                <a:solidFill>
                  <a:srgbClr val="FF0000"/>
                </a:solidFill>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指客体与仪器之间相互作用结果的描述。例如，观测仪器上所记录和显示的数字、图像等。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事实</a:t>
            </a:r>
            <a:r>
              <a:rPr altLang="zh-CN" dirty="0" lang="en-US" b="1" sz="2400">
                <a:solidFill>
                  <a:srgbClr val="FF0000"/>
                </a:solidFill>
                <a:ea typeface="宋体" panose="02010600030101010101" pitchFamily="2" charset="-122"/>
                <a:latin typeface="宋体" panose="02010600030101010101" pitchFamily="2" charset="-122"/>
              </a:rPr>
              <a:t>II</a:t>
            </a:r>
            <a:r>
              <a:rPr altLang="en-US" dirty="0" lang="zh-CN" b="1" sz="2400">
                <a:solidFill>
                  <a:srgbClr val="FF0000"/>
                </a:solidFill>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是对观察实验所得到的结果的陈述和判断。</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被观察与实验证明了的理论结论，被称为理论事实，被人称为</a:t>
            </a:r>
            <a:r>
              <a:rPr altLang="en-US" dirty="0" lang="zh-CN" b="1" sz="2400">
                <a:solidFill>
                  <a:srgbClr val="FF0000"/>
                </a:solidFill>
                <a:ea typeface="宋体" panose="02010600030101010101" pitchFamily="2" charset="-122"/>
                <a:latin typeface="宋体" panose="02010600030101010101" pitchFamily="2" charset="-122"/>
              </a:rPr>
              <a:t>事实</a:t>
            </a:r>
            <a:r>
              <a:rPr altLang="zh-CN" dirty="0" lang="en-US" b="1" sz="2400">
                <a:solidFill>
                  <a:srgbClr val="FF0000"/>
                </a:solidFill>
                <a:ea typeface="宋体" panose="02010600030101010101" pitchFamily="2" charset="-122"/>
                <a:latin typeface="宋体" panose="02010600030101010101" pitchFamily="2" charset="-122"/>
              </a:rPr>
              <a:t>III</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3298" name="Picture 9"/>
          <p:cNvPicPr/>
          <p:nvPr/>
        </p:nvPicPr>
        <p:blipFill>
          <a:blip r:embed="rId1"/>
          <a:stretch>
            <a:fillRect/>
          </a:stretch>
        </p:blipFill>
        <p:spPr>
          <a:xfrm>
            <a:off x="0" y="0"/>
            <a:ext cx="9144000" cy="1743075"/>
          </a:xfrm>
          <a:prstGeom prst="rect">
            <a:avLst/>
          </a:prstGeom>
          <a:noFill/>
          <a:ln w="9525">
            <a:noFill/>
          </a:ln>
        </p:spPr>
      </p:pic>
      <p:sp>
        <p:nvSpPr>
          <p:cNvPr id="183299" name="TextBox 2"/>
          <p:cNvSpPr/>
          <p:nvPr/>
        </p:nvSpPr>
        <p:spPr>
          <a:xfrm>
            <a:off x="-55562" y="1584325"/>
            <a:ext cx="9144000" cy="4438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事实</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3" name="左大括号 2"/>
          <p:cNvSpPr/>
          <p:nvPr/>
        </p:nvSpPr>
        <p:spPr>
          <a:xfrm>
            <a:off x="776288" y="2174875"/>
            <a:ext cx="984250" cy="4035425"/>
          </a:xfrm>
          <a:prstGeom prst="leftBrace">
            <a:avLst>
              <a:gd name="adj1" fmla="val 8333"/>
              <a:gd name="adj2" fmla="val 50000"/>
            </a:avLst>
          </a:prstGeom>
          <a:ln w="9525">
            <a:headEnd type="none" len="med" w="med"/>
            <a:tailEnd type="none" len="med" w="med"/>
          </a:ln>
        </p:spPr>
        <p:style>
          <a:lnRef idx="1">
            <a:schemeClr val="dk1"/>
          </a:lnRef>
          <a:fillRef idx="0">
            <a:schemeClr val="dk1"/>
          </a:fillRef>
          <a:effectRef idx="0">
            <a:schemeClr val="dk1"/>
          </a:effectRef>
          <a:fontRef idx="minor">
            <a:schemeClr val="tx1"/>
          </a:fontRef>
        </p:style>
        <p:txBody>
          <a:bodyPr/>
          <a:lstStyle/>
          <a:p>
            <a:pPr marL="0" marR="0" indent="0" lvl="0" algn="l" defTabSz="914400" rtl="0" eaLnBrk="1" latinLnBrk="0" hangingPunct="1" fontAlgn="base">
              <a:lnSpc>
                <a:spcPct val="100000"/>
              </a:lnSpc>
              <a:spcBef>
                <a:spcPct val="0"/>
              </a:spcBef>
              <a:spcAft>
                <a:spcPct val="0"/>
              </a:spcAft>
              <a:buNone/>
              <a:defRPr/>
            </a:pPr>
            <a:endParaRPr altLang="en-US" kern="1200" kumimoji="0" lang="zh-CN" normalizeH="0" b="0" cap="none" i="0" noProof="0" spc="0" strike="noStrike" sz="18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83301" name="矩形 3"/>
          <p:cNvSpPr/>
          <p:nvPr/>
        </p:nvSpPr>
        <p:spPr>
          <a:xfrm>
            <a:off x="1984375" y="2052638"/>
            <a:ext cx="3922713" cy="1052512"/>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a:ea typeface="宋体" panose="02010600030101010101" pitchFamily="2" charset="-122"/>
                <a:latin typeface="宋体" panose="02010600030101010101" pitchFamily="2" charset="-122"/>
              </a:rPr>
              <a:t>客观事实（本体论）</a:t>
            </a:r>
            <a:endParaRPr altLang="en-US" dirty="0" lang="zh-CN">
              <a:ea typeface="宋体" panose="02010600030101010101" pitchFamily="2" charset="-122"/>
              <a:latin typeface="宋体" panose="02010600030101010101" pitchFamily="2" charset="-122"/>
            </a:endParaRPr>
          </a:p>
        </p:txBody>
      </p:sp>
      <p:sp>
        <p:nvSpPr>
          <p:cNvPr id="183302" name="矩形 6"/>
          <p:cNvSpPr/>
          <p:nvPr/>
        </p:nvSpPr>
        <p:spPr>
          <a:xfrm>
            <a:off x="1871663" y="5032375"/>
            <a:ext cx="3622675" cy="1052513"/>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r>
              <a:rPr altLang="en-US" dirty="0" lang="zh-CN">
                <a:ea typeface="宋体" panose="02010600030101010101" pitchFamily="2" charset="-122"/>
                <a:latin typeface="宋体" panose="02010600030101010101" pitchFamily="2" charset="-122"/>
              </a:rPr>
              <a:t>经验事实（认识论）</a:t>
            </a:r>
            <a:endParaRPr altLang="en-US" dirty="0" lang="zh-CN">
              <a:ea typeface="宋体" panose="02010600030101010101" pitchFamily="2" charset="-122"/>
              <a:latin typeface="宋体" panose="02010600030101010101" pitchFamily="2" charset="-122"/>
            </a:endParaRPr>
          </a:p>
        </p:txBody>
      </p:sp>
      <p:sp>
        <p:nvSpPr>
          <p:cNvPr id="5" name="左大括号 4"/>
          <p:cNvSpPr/>
          <p:nvPr/>
        </p:nvSpPr>
        <p:spPr>
          <a:xfrm>
            <a:off x="5607050" y="3629025"/>
            <a:ext cx="984250" cy="2971800"/>
          </a:xfrm>
          <a:prstGeom prst="leftBrace">
            <a:avLst>
              <a:gd name="adj1" fmla="val 8333"/>
              <a:gd name="adj2" fmla="val 50000"/>
            </a:avLst>
          </a:prstGeom>
          <a:ln w="9525">
            <a:headEnd type="none" len="med" w="med"/>
            <a:tailEnd type="none" len="med" w="med"/>
          </a:ln>
        </p:spPr>
        <p:style>
          <a:lnRef idx="1">
            <a:schemeClr val="dk1"/>
          </a:lnRef>
          <a:fillRef idx="0">
            <a:schemeClr val="dk1"/>
          </a:fillRef>
          <a:effectRef idx="0">
            <a:schemeClr val="dk1"/>
          </a:effectRef>
          <a:fontRef idx="minor">
            <a:schemeClr val="tx1"/>
          </a:fontRef>
        </p:style>
        <p:txBody>
          <a:bodyPr/>
          <a:lstStyle/>
          <a:p>
            <a:pPr marL="0" marR="0" indent="0" lvl="0" algn="l" defTabSz="914400" rtl="0" eaLnBrk="1" latinLnBrk="0" hangingPunct="1" fontAlgn="base">
              <a:lnSpc>
                <a:spcPct val="100000"/>
              </a:lnSpc>
              <a:spcBef>
                <a:spcPct val="0"/>
              </a:spcBef>
              <a:spcAft>
                <a:spcPct val="0"/>
              </a:spcAft>
              <a:buNone/>
              <a:defRPr/>
            </a:pPr>
            <a:endParaRPr altLang="en-US" dirty="0" kern="1200" kumimoji="0" lang="zh-CN" normalizeH="0" b="0" cap="none" i="0" noProof="0" spc="0" strike="noStrike" sz="1800" u="none">
              <a:ln>
                <a:noFill/>
              </a:ln>
              <a:solidFill>
                <a:schemeClr val="tx1"/>
              </a:solidFill>
              <a:effectLst/>
              <a:uLnTx/>
              <a:uFillTx/>
              <a:cs typeface="+mn-cs"/>
              <a:ea typeface="宋体" panose="02010600030101010101" pitchFamily="2" charset="-122"/>
              <a:latin typeface="Arial" panose="020B0604020202020204" pitchFamily="34" charset="0"/>
            </a:endParaRPr>
          </a:p>
        </p:txBody>
      </p:sp>
      <p:sp>
        <p:nvSpPr>
          <p:cNvPr id="183304" name="矩形 8"/>
          <p:cNvSpPr/>
          <p:nvPr/>
        </p:nvSpPr>
        <p:spPr>
          <a:xfrm>
            <a:off x="6497638" y="3248025"/>
            <a:ext cx="2490787" cy="762000"/>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a:ea typeface="宋体" panose="02010600030101010101" pitchFamily="2" charset="-122"/>
                <a:latin typeface="宋体" panose="02010600030101010101" pitchFamily="2" charset="-122"/>
              </a:rPr>
              <a:t>事实</a:t>
            </a:r>
            <a:r>
              <a:rPr altLang="zh-CN" dirty="0" lang="en-US">
                <a:ea typeface="宋体" panose="02010600030101010101" pitchFamily="2" charset="-122"/>
                <a:latin typeface="宋体" panose="02010600030101010101" pitchFamily="2" charset="-122"/>
              </a:rPr>
              <a:t>I</a:t>
            </a:r>
            <a:endParaRPr altLang="en-US" dirty="0" lang="zh-CN">
              <a:ea typeface="宋体" panose="02010600030101010101" pitchFamily="2" charset="-122"/>
              <a:latin typeface="宋体" panose="02010600030101010101" pitchFamily="2" charset="-122"/>
            </a:endParaRPr>
          </a:p>
        </p:txBody>
      </p:sp>
      <p:sp>
        <p:nvSpPr>
          <p:cNvPr id="183305" name="矩形 9"/>
          <p:cNvSpPr/>
          <p:nvPr/>
        </p:nvSpPr>
        <p:spPr>
          <a:xfrm>
            <a:off x="6497638" y="4511675"/>
            <a:ext cx="2490787" cy="762000"/>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a:ea typeface="宋体" panose="02010600030101010101" pitchFamily="2" charset="-122"/>
                <a:latin typeface="宋体" panose="02010600030101010101" pitchFamily="2" charset="-122"/>
              </a:rPr>
              <a:t>事实</a:t>
            </a:r>
            <a:r>
              <a:rPr altLang="zh-CN" dirty="0" lang="en-US">
                <a:ea typeface="宋体" panose="02010600030101010101" pitchFamily="2" charset="-122"/>
                <a:latin typeface="宋体" panose="02010600030101010101" pitchFamily="2" charset="-122"/>
              </a:rPr>
              <a:t>II</a:t>
            </a:r>
            <a:endParaRPr altLang="en-US" dirty="0" lang="zh-CN">
              <a:ea typeface="宋体" panose="02010600030101010101" pitchFamily="2" charset="-122"/>
              <a:latin typeface="宋体" panose="02010600030101010101" pitchFamily="2" charset="-122"/>
            </a:endParaRPr>
          </a:p>
        </p:txBody>
      </p:sp>
      <p:sp>
        <p:nvSpPr>
          <p:cNvPr id="183306" name="矩形 10"/>
          <p:cNvSpPr/>
          <p:nvPr/>
        </p:nvSpPr>
        <p:spPr>
          <a:xfrm>
            <a:off x="6650038" y="5930900"/>
            <a:ext cx="2490787" cy="762000"/>
          </a:xfrm>
          <a:prstGeom prst="rect">
            <a:avLst/>
          </a:prstGeom>
          <a:solidFill>
            <a:schemeClr val="accent1"/>
          </a:solidFill>
          <a:ln w="9525" cap="flat" cmpd="sng">
            <a:solidFill>
              <a:schemeClr val="tx1"/>
            </a:solidFill>
            <a:prstDash val="solid"/>
            <a:headEnd type="none" len="med" w="med"/>
            <a:tailEnd type="none" len="med" w="med"/>
          </a:ln>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spcBef>
                <a:spcPct val="0"/>
              </a:spcBef>
              <a:buNone/>
            </a:pPr>
            <a:r>
              <a:rPr altLang="en-US" dirty="0" lang="zh-CN">
                <a:ea typeface="宋体" panose="02010600030101010101" pitchFamily="2" charset="-122"/>
                <a:latin typeface="宋体" panose="02010600030101010101" pitchFamily="2" charset="-122"/>
              </a:rPr>
              <a:t>事实</a:t>
            </a:r>
            <a:r>
              <a:rPr altLang="zh-CN" dirty="0" lang="en-US">
                <a:ea typeface="宋体" panose="02010600030101010101" pitchFamily="2" charset="-122"/>
                <a:latin typeface="宋体" panose="02010600030101010101" pitchFamily="2" charset="-122"/>
              </a:rPr>
              <a:t>III</a:t>
            </a:r>
            <a:endParaRPr altLang="en-US" dirty="0" lang="zh-CN">
              <a:ea typeface="宋体" panose="02010600030101010101" pitchFamily="2" charset="-122"/>
              <a:latin typeface="宋体" panose="02010600030101010101" pitchFamily="2" charset="-122"/>
            </a:endParaRPr>
          </a:p>
        </p:txBody>
      </p:sp>
    </p:spTree>
  </p:cSld>
  <p:clrMapOvr>
    <a:masterClrMapping/>
  </p:clrMapOvr>
</p:sld>
</file>

<file path=ppt/slides/slide16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5346" name="Picture 9"/>
          <p:cNvPicPr/>
          <p:nvPr/>
        </p:nvPicPr>
        <p:blipFill>
          <a:blip r:embed="rId1"/>
          <a:stretch>
            <a:fillRect/>
          </a:stretch>
        </p:blipFill>
        <p:spPr>
          <a:xfrm>
            <a:off x="0" y="0"/>
            <a:ext cx="9144000" cy="1743075"/>
          </a:xfrm>
          <a:prstGeom prst="rect">
            <a:avLst/>
          </a:prstGeom>
          <a:noFill/>
          <a:ln w="9525">
            <a:noFill/>
          </a:ln>
        </p:spPr>
      </p:pic>
      <p:sp>
        <p:nvSpPr>
          <p:cNvPr id="185347" name="TextBox 2"/>
          <p:cNvSpPr/>
          <p:nvPr/>
        </p:nvSpPr>
        <p:spPr>
          <a:xfrm>
            <a:off x="0" y="1743075"/>
            <a:ext cx="9144000" cy="56311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2</a:t>
            </a:r>
            <a:r>
              <a:rPr altLang="en-US" dirty="0" lang="zh-CN" b="1" sz="2400">
                <a:solidFill>
                  <a:srgbClr val="FF0000"/>
                </a:solidFill>
                <a:ea typeface="宋体" panose="02010600030101010101" pitchFamily="2" charset="-122"/>
                <a:latin typeface="宋体" panose="02010600030101010101" pitchFamily="2" charset="-122"/>
              </a:rPr>
              <a:t>、科学观察</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科学观察是指人们直接通过感官或借助于仪器，有目的、有计划地感知和描述客观事物的一种方法。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科学观察的原则：</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客观性原则：</a:t>
            </a:r>
            <a:r>
              <a:rPr altLang="en-US" dirty="0" lang="zh-CN" sz="2400">
                <a:ea typeface="宋体" panose="02010600030101010101" pitchFamily="2" charset="-122"/>
                <a:latin typeface="宋体" panose="02010600030101010101" pitchFamily="2" charset="-122"/>
              </a:rPr>
              <a:t>科学观察活动中要按照观察对象的本来面目如实记载。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全面性原则：</a:t>
            </a:r>
            <a:r>
              <a:rPr altLang="en-US" dirty="0" lang="zh-CN" sz="2400">
                <a:ea typeface="宋体" panose="02010600030101010101" pitchFamily="2" charset="-122"/>
                <a:latin typeface="宋体" panose="02010600030101010101" pitchFamily="2" charset="-122"/>
              </a:rPr>
              <a:t>客观世界的事物都是处在普遍联系之中的，只有全面观察，才能尽可能完整反映客观实际。</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竺可桢先生所以能在物候学研究中取得重大成果，也是和他数十年如一日坚持系统观察分不开的。他每天清晨起来第一件事就是测量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6370" name="Picture 9"/>
          <p:cNvPicPr/>
          <p:nvPr/>
        </p:nvPicPr>
        <p:blipFill>
          <a:blip r:embed="rId1"/>
          <a:stretch>
            <a:fillRect/>
          </a:stretch>
        </p:blipFill>
        <p:spPr>
          <a:xfrm>
            <a:off x="0" y="0"/>
            <a:ext cx="9144000" cy="1743075"/>
          </a:xfrm>
          <a:prstGeom prst="rect">
            <a:avLst/>
          </a:prstGeom>
          <a:noFill/>
          <a:ln w="9525">
            <a:noFill/>
          </a:ln>
        </p:spPr>
      </p:pic>
      <p:sp>
        <p:nvSpPr>
          <p:cNvPr id="186371"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气温、气压、风向、湿度等气象要素，从青年起一直坚持到逝世前一天，终于在晚年出版了</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物候学</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一书。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典型性原则。</a:t>
            </a:r>
            <a:r>
              <a:rPr altLang="en-US" dirty="0" lang="zh-CN" sz="2400">
                <a:ea typeface="宋体" panose="02010600030101010101" pitchFamily="2" charset="-122"/>
                <a:latin typeface="宋体" panose="02010600030101010101" pitchFamily="2" charset="-122"/>
              </a:rPr>
              <a:t>为了把错综复杂的自然现象简化，选择典型事物进行观察是必要的。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美国遗传学家摩尔根（</a:t>
            </a:r>
            <a:r>
              <a:rPr altLang="zh-CN" dirty="0" lang="en-US" sz="2400">
                <a:ea typeface="宋体" panose="02010600030101010101" pitchFamily="2" charset="-122"/>
                <a:latin typeface="宋体" panose="02010600030101010101" pitchFamily="2" charset="-122"/>
              </a:rPr>
              <a:t>Morgen</a:t>
            </a:r>
            <a:r>
              <a:rPr altLang="en-US" dirty="0" lang="zh-CN" sz="2400">
                <a:ea typeface="宋体" panose="02010600030101010101" pitchFamily="2" charset="-122"/>
                <a:latin typeface="宋体" panose="02010600030101010101" pitchFamily="2" charset="-122"/>
              </a:rPr>
              <a:t>）在做遗传基因研究时，就选择了具有典型性的果蝇作为研究对象。果蝇染色体很简单，只有</a:t>
            </a: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对，易于观察；果蝇生活史只有两周，观察周期短；果蝇生殖力强，每对亲本可以产生成百上千个子代，可以观察很多种亲代与子代间的遗传变异现象。这使研究工作大大简明化，创立了遗传学的基因学说。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7394" name="Picture 9"/>
          <p:cNvPicPr/>
          <p:nvPr/>
        </p:nvPicPr>
        <p:blipFill>
          <a:blip r:embed="rId1"/>
          <a:stretch>
            <a:fillRect/>
          </a:stretch>
        </p:blipFill>
        <p:spPr>
          <a:xfrm>
            <a:off x="0" y="0"/>
            <a:ext cx="9144000" cy="1743075"/>
          </a:xfrm>
          <a:prstGeom prst="rect">
            <a:avLst/>
          </a:prstGeom>
          <a:noFill/>
          <a:ln w="9525">
            <a:noFill/>
          </a:ln>
        </p:spPr>
      </p:pic>
      <p:sp>
        <p:nvSpPr>
          <p:cNvPr id="187395" name="TextBox 2"/>
          <p:cNvSpPr/>
          <p:nvPr/>
        </p:nvSpPr>
        <p:spPr>
          <a:xfrm>
            <a:off x="0" y="1743075"/>
            <a:ext cx="9144000" cy="56311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3</a:t>
            </a:r>
            <a:r>
              <a:rPr altLang="en-US" dirty="0" lang="zh-CN" b="1" sz="2400">
                <a:solidFill>
                  <a:srgbClr val="FF0000"/>
                </a:solidFill>
                <a:ea typeface="宋体" panose="02010600030101010101" pitchFamily="2" charset="-122"/>
                <a:latin typeface="宋体" panose="02010600030101010101" pitchFamily="2" charset="-122"/>
              </a:rPr>
              <a:t>、科学实验</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科学实验：指人们根据研究课题的需要，利用科学仪器设备人为地变革、控制或模拟研究对象，在典型或特定的条件下获取科学事实的一种科研方法。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科学实验在科学研究中的作用</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1</a:t>
            </a:r>
            <a:r>
              <a:rPr altLang="en-US" dirty="0" lang="zh-CN" sz="2400">
                <a:solidFill>
                  <a:srgbClr val="FF0000"/>
                </a:solidFill>
                <a:ea typeface="宋体" panose="02010600030101010101" pitchFamily="2" charset="-122"/>
                <a:latin typeface="宋体" panose="02010600030101010101" pitchFamily="2" charset="-122"/>
              </a:rPr>
              <a:t>、具有简化、纯化研究对象的作用。</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1799</a:t>
            </a:r>
            <a:r>
              <a:rPr altLang="en-US" dirty="0" lang="zh-CN" sz="2400">
                <a:ea typeface="宋体" panose="02010600030101010101" pitchFamily="2" charset="-122"/>
                <a:latin typeface="宋体" panose="02010600030101010101" pitchFamily="2" charset="-122"/>
              </a:rPr>
              <a:t>年，英国科学家</a:t>
            </a:r>
            <a:r>
              <a:rPr altLang="zh-CN" dirty="0" lang="en-US" sz="2400">
                <a:ea typeface="宋体" panose="02010600030101010101" pitchFamily="2" charset="-122"/>
                <a:latin typeface="宋体" panose="02010600030101010101" pitchFamily="2" charset="-122"/>
              </a:rPr>
              <a:t>H.Davy</a:t>
            </a:r>
            <a:r>
              <a:rPr altLang="en-US" dirty="0" lang="zh-CN" sz="2400">
                <a:ea typeface="宋体" panose="02010600030101010101" pitchFamily="2" charset="-122"/>
                <a:latin typeface="宋体" panose="02010600030101010101" pitchFamily="2" charset="-122"/>
              </a:rPr>
              <a:t>为了否定“热素说”，肯定“热动说”，就在真空中用一根钟表发条使两块冰互相摩擦，并把整个实验装置都保持在水的冰点，这样就排除了实验物与周围环境的热交换，使</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8418" name="Picture 9"/>
          <p:cNvPicPr/>
          <p:nvPr/>
        </p:nvPicPr>
        <p:blipFill>
          <a:blip r:embed="rId1"/>
          <a:stretch>
            <a:fillRect/>
          </a:stretch>
        </p:blipFill>
        <p:spPr>
          <a:xfrm>
            <a:off x="0" y="0"/>
            <a:ext cx="9144000" cy="1743075"/>
          </a:xfrm>
          <a:prstGeom prst="rect">
            <a:avLst/>
          </a:prstGeom>
          <a:noFill/>
          <a:ln w="9525">
            <a:noFill/>
          </a:ln>
        </p:spPr>
      </p:pic>
      <p:sp>
        <p:nvSpPr>
          <p:cNvPr id="188419" name="TextBox 2"/>
          <p:cNvSpPr/>
          <p:nvPr/>
        </p:nvSpPr>
        <p:spPr>
          <a:xfrm>
            <a:off x="0" y="1743075"/>
            <a:ext cx="9144000" cy="45231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实验在比较纯粹的条件下进行。结果两块互相摩擦的冰融化了。实验有力地证明冰融化所需的热，只能来源于摩擦，以铁的事实驳斥了“热素说”。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2</a:t>
            </a:r>
            <a:r>
              <a:rPr altLang="en-US" dirty="0" lang="zh-CN" sz="2400">
                <a:solidFill>
                  <a:srgbClr val="FF0000"/>
                </a:solidFill>
                <a:ea typeface="宋体" panose="02010600030101010101" pitchFamily="2" charset="-122"/>
                <a:latin typeface="宋体" panose="02010600030101010101" pitchFamily="2" charset="-122"/>
              </a:rPr>
              <a:t>、可以强化或激化实验对象</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自然界的事物在常态下一般不易暴露其特殊的性质及规律，实验方法可用人为的手段使实验对象处于某种极端状态，以便发现新现象，寻找新规律。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89442" name="Picture 9"/>
          <p:cNvPicPr/>
          <p:nvPr/>
        </p:nvPicPr>
        <p:blipFill>
          <a:blip r:embed="rId1"/>
          <a:stretch>
            <a:fillRect/>
          </a:stretch>
        </p:blipFill>
        <p:spPr>
          <a:xfrm>
            <a:off x="0" y="0"/>
            <a:ext cx="9144000" cy="1743075"/>
          </a:xfrm>
          <a:prstGeom prst="rect">
            <a:avLst/>
          </a:prstGeom>
          <a:noFill/>
          <a:ln w="9525">
            <a:noFill/>
          </a:ln>
        </p:spPr>
      </p:pic>
      <p:sp>
        <p:nvSpPr>
          <p:cNvPr id="189443" name="TextBox 2"/>
          <p:cNvSpPr/>
          <p:nvPr/>
        </p:nvSpPr>
        <p:spPr>
          <a:xfrm>
            <a:off x="0" y="1743075"/>
            <a:ext cx="9144000" cy="56311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1905</a:t>
            </a:r>
            <a:r>
              <a:rPr altLang="en-US" dirty="0" lang="zh-CN" sz="2400">
                <a:ea typeface="宋体" panose="02010600030101010101" pitchFamily="2" charset="-122"/>
                <a:latin typeface="宋体" panose="02010600030101010101" pitchFamily="2" charset="-122"/>
              </a:rPr>
              <a:t>年，</a:t>
            </a:r>
            <a:r>
              <a:rPr altLang="zh-CN" dirty="0" lang="en-US" sz="2400">
                <a:ea typeface="宋体" panose="02010600030101010101" pitchFamily="2" charset="-122"/>
                <a:latin typeface="宋体" panose="02010600030101010101" pitchFamily="2" charset="-122"/>
              </a:rPr>
              <a:t>Bridgeman</a:t>
            </a:r>
            <a:r>
              <a:rPr altLang="en-US" dirty="0" lang="zh-CN" sz="2400">
                <a:ea typeface="宋体" panose="02010600030101010101" pitchFamily="2" charset="-122"/>
                <a:latin typeface="宋体" panose="02010600030101010101" pitchFamily="2" charset="-122"/>
              </a:rPr>
              <a:t>发明了超高压技术，当时可达</a:t>
            </a:r>
            <a:r>
              <a:rPr altLang="zh-CN" dirty="0" lang="en-US" sz="2400">
                <a:ea typeface="宋体" panose="02010600030101010101" pitchFamily="2" charset="-122"/>
                <a:latin typeface="宋体" panose="02010600030101010101" pitchFamily="2" charset="-122"/>
              </a:rPr>
              <a:t>20000</a:t>
            </a:r>
            <a:r>
              <a:rPr altLang="en-US" dirty="0" lang="zh-CN" sz="2400">
                <a:ea typeface="宋体" panose="02010600030101010101" pitchFamily="2" charset="-122"/>
                <a:latin typeface="宋体" panose="02010600030101010101" pitchFamily="2" charset="-122"/>
              </a:rPr>
              <a:t>个大气压，目前静压可达</a:t>
            </a:r>
            <a:r>
              <a:rPr altLang="zh-CN" dirty="0" lang="en-US" sz="2400">
                <a:ea typeface="宋体" panose="02010600030101010101" pitchFamily="2" charset="-122"/>
                <a:latin typeface="宋体" panose="02010600030101010101" pitchFamily="2" charset="-122"/>
              </a:rPr>
              <a:t>200-300</a:t>
            </a:r>
            <a:r>
              <a:rPr altLang="en-US" dirty="0" lang="zh-CN" sz="2400">
                <a:ea typeface="宋体" panose="02010600030101010101" pitchFamily="2" charset="-122"/>
                <a:latin typeface="宋体" panose="02010600030101010101" pitchFamily="2" charset="-122"/>
              </a:rPr>
              <a:t>万个大气压，动压可达</a:t>
            </a:r>
            <a:r>
              <a:rPr altLang="zh-CN" dirty="0" lang="en-US" sz="2400">
                <a:ea typeface="宋体" panose="02010600030101010101" pitchFamily="2" charset="-122"/>
                <a:latin typeface="宋体" panose="02010600030101010101" pitchFamily="2" charset="-122"/>
              </a:rPr>
              <a:t>1000</a:t>
            </a:r>
            <a:r>
              <a:rPr altLang="en-US" dirty="0" lang="zh-CN" sz="2400">
                <a:ea typeface="宋体" panose="02010600030101010101" pitchFamily="2" charset="-122"/>
                <a:latin typeface="宋体" panose="02010600030101010101" pitchFamily="2" charset="-122"/>
              </a:rPr>
              <a:t>万个大气压，可使正常自然条件下不能发生的过程在高压下发生。还有</a:t>
            </a:r>
            <a:r>
              <a:rPr altLang="zh-CN" dirty="0" lang="en-US" sz="2400">
                <a:ea typeface="宋体" panose="02010600030101010101" pitchFamily="2" charset="-122"/>
                <a:latin typeface="宋体" panose="02010600030101010101" pitchFamily="2" charset="-122"/>
              </a:rPr>
              <a:t>H.K.Onnes</a:t>
            </a:r>
            <a:r>
              <a:rPr altLang="en-US" dirty="0" lang="zh-CN" sz="2400">
                <a:ea typeface="宋体" panose="02010600030101010101" pitchFamily="2" charset="-122"/>
                <a:latin typeface="宋体" panose="02010600030101010101" pitchFamily="2" charset="-122"/>
              </a:rPr>
              <a:t>用液氦方法发明的超低温技术，可以接近绝对</a:t>
            </a:r>
            <a:r>
              <a:rPr altLang="zh-CN" dirty="0" lang="en-US" sz="2400">
                <a:ea typeface="宋体" panose="02010600030101010101" pitchFamily="2" charset="-122"/>
                <a:latin typeface="宋体" panose="02010600030101010101" pitchFamily="2" charset="-122"/>
              </a:rPr>
              <a:t>0</a:t>
            </a:r>
            <a:r>
              <a:rPr altLang="en-US" dirty="0" lang="zh-CN" sz="2400">
                <a:ea typeface="宋体" panose="02010600030101010101" pitchFamily="2" charset="-122"/>
                <a:latin typeface="宋体" panose="02010600030101010101" pitchFamily="2" charset="-122"/>
              </a:rPr>
              <a:t>度，由此又产生超导研究。</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3</a:t>
            </a:r>
            <a:r>
              <a:rPr altLang="en-US" dirty="0" lang="zh-CN" sz="2400">
                <a:solidFill>
                  <a:srgbClr val="FF0000"/>
                </a:solidFill>
                <a:ea typeface="宋体" panose="02010600030101010101" pitchFamily="2" charset="-122"/>
                <a:latin typeface="宋体" panose="02010600030101010101" pitchFamily="2" charset="-122"/>
              </a:rPr>
              <a:t>、可以延缓和加速自然过程</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对电闪雷鸣、地震山崩、岩体滑坡这类转瞬即逝的过程，在自然条件下难以弄清其运动变化，可以使其在实验室中缓慢进行，以便详细研究、分析。有些自然过程十分缓慢，不便于人们尽快窥其全貌，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0466" name="Picture 9"/>
          <p:cNvPicPr/>
          <p:nvPr/>
        </p:nvPicPr>
        <p:blipFill>
          <a:blip r:embed="rId1"/>
          <a:stretch>
            <a:fillRect/>
          </a:stretch>
        </p:blipFill>
        <p:spPr>
          <a:xfrm>
            <a:off x="0" y="0"/>
            <a:ext cx="9144000" cy="1743075"/>
          </a:xfrm>
          <a:prstGeom prst="rect">
            <a:avLst/>
          </a:prstGeom>
          <a:noFill/>
          <a:ln w="9525">
            <a:noFill/>
          </a:ln>
        </p:spPr>
      </p:pic>
      <p:sp>
        <p:nvSpPr>
          <p:cNvPr id="190467" name="TextBox 2"/>
          <p:cNvSpPr/>
          <p:nvPr/>
        </p:nvSpPr>
        <p:spPr>
          <a:xfrm>
            <a:off x="0" y="1743075"/>
            <a:ext cx="9144000" cy="6099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又可以在实验室中加快其过程，尽量节省研究时间。</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、可以模拟研究对象。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有些自然过程已时过境迁，通过模拟实验方法，可以在实验室再现这些过程。米勒实验就是在实验室模拟原始生命在地球上的形成过程，为科学的生命起源学说奠定了可靠的、有说服了的实验基础。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观察实验中的认识论问题</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可观察性原则，是指科学研究的范围应该是原则上可观察的物质客体。也就是说，自然科学的研究对象可以被人们的视觉器官直接感知到；或者借助于观察仪器被视觉器官间接感知到。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6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1490" name="Picture 9"/>
          <p:cNvPicPr/>
          <p:nvPr/>
        </p:nvPicPr>
        <p:blipFill>
          <a:blip r:embed="rId1"/>
          <a:stretch>
            <a:fillRect/>
          </a:stretch>
        </p:blipFill>
        <p:spPr>
          <a:xfrm>
            <a:off x="0" y="0"/>
            <a:ext cx="9144000" cy="1743075"/>
          </a:xfrm>
          <a:prstGeom prst="rect">
            <a:avLst/>
          </a:prstGeom>
          <a:noFill/>
          <a:ln w="9525">
            <a:noFill/>
          </a:ln>
        </p:spPr>
      </p:pic>
      <p:sp>
        <p:nvSpPr>
          <p:cNvPr id="191491"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意义：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a:t>
            </a:r>
            <a:r>
              <a:rPr altLang="en-US" dirty="0" lang="zh-CN" sz="2400">
                <a:ea typeface="宋体" panose="02010600030101010101" pitchFamily="2" charset="-122"/>
                <a:latin typeface="宋体" panose="02010600030101010101" pitchFamily="2" charset="-122"/>
              </a:rPr>
              <a:t>、表明科学技术研究必然将不具有客观实在性的臆想客体（上帝、神灵、鬼怪）排除在外。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2</a:t>
            </a:r>
            <a:r>
              <a:rPr altLang="en-US" dirty="0" lang="zh-CN" sz="2400">
                <a:ea typeface="宋体" panose="02010600030101010101" pitchFamily="2" charset="-122"/>
                <a:latin typeface="宋体" panose="02010600030101010101" pitchFamily="2" charset="-122"/>
              </a:rPr>
              <a:t>、要求观察者明确客体、仪器与主体之间相互作用的客观性，保证观察客观性。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观察渗透理论</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世纪</a:t>
            </a:r>
            <a:r>
              <a:rPr altLang="zh-CN" dirty="0" lang="en-US" sz="2400">
                <a:ea typeface="宋体" panose="02010600030101010101" pitchFamily="2" charset="-122"/>
                <a:latin typeface="宋体" panose="02010600030101010101" pitchFamily="2" charset="-122"/>
              </a:rPr>
              <a:t>50</a:t>
            </a:r>
            <a:r>
              <a:rPr altLang="en-US" dirty="0" lang="zh-CN" sz="2400">
                <a:ea typeface="宋体" panose="02010600030101010101" pitchFamily="2" charset="-122"/>
                <a:latin typeface="宋体" panose="02010600030101010101" pitchFamily="2" charset="-122"/>
              </a:rPr>
              <a:t>年代，美国科学哲学家汉森在其</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发现的逻辑</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一书中并不存在那种独立于任何理论的观察，即观察渗透理论。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2514" name="Picture 9"/>
          <p:cNvPicPr/>
          <p:nvPr/>
        </p:nvPicPr>
        <p:blipFill>
          <a:blip r:embed="rId1"/>
          <a:stretch>
            <a:fillRect/>
          </a:stretch>
        </p:blipFill>
        <p:spPr>
          <a:xfrm>
            <a:off x="0" y="0"/>
            <a:ext cx="9144000" cy="1743075"/>
          </a:xfrm>
          <a:prstGeom prst="rect">
            <a:avLst/>
          </a:prstGeom>
          <a:noFill/>
          <a:ln w="9525">
            <a:noFill/>
          </a:ln>
        </p:spPr>
      </p:pic>
      <p:sp>
        <p:nvSpPr>
          <p:cNvPr id="192515"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理论决定着观察对象的选择。</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倘若没有广义相对论，人们就难以想象世界上有“光线弯曲”事实。爱丁顿也不会组织考察队专程到南半球去观察日蚀了。</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理论决定对观察对象的理解。</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格式塔心理学指出，观察转换根源在于观察者头脑中过去的知识与经验。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任何观察、实验仪器的设计和选择都离不开理论指导。</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3538" name="Picture 9"/>
          <p:cNvPicPr/>
          <p:nvPr/>
        </p:nvPicPr>
        <p:blipFill>
          <a:blip r:embed="rId1"/>
          <a:stretch>
            <a:fillRect/>
          </a:stretch>
        </p:blipFill>
        <p:spPr>
          <a:xfrm>
            <a:off x="0" y="0"/>
            <a:ext cx="9144000" cy="1743075"/>
          </a:xfrm>
          <a:prstGeom prst="rect">
            <a:avLst/>
          </a:prstGeom>
          <a:noFill/>
          <a:ln w="9525">
            <a:noFill/>
          </a:ln>
        </p:spPr>
      </p:pic>
      <p:sp>
        <p:nvSpPr>
          <p:cNvPr id="193539" name="TextBox 2"/>
          <p:cNvSpPr/>
          <p:nvPr/>
        </p:nvSpPr>
        <p:spPr>
          <a:xfrm>
            <a:off x="0" y="1743075"/>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鸭兔图</a:t>
            </a:r>
            <a:r>
              <a:rPr altLang="en-US" dirty="0" lang="zh-CN"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老妇人与少女</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193540" name="图片 2"/>
          <p:cNvPicPr/>
          <p:nvPr/>
        </p:nvPicPr>
        <p:blipFill>
          <a:blip r:embed="rId2"/>
          <a:stretch>
            <a:fillRect/>
          </a:stretch>
        </p:blipFill>
        <p:spPr>
          <a:xfrm>
            <a:off x="0" y="2409825"/>
            <a:ext cx="4572000" cy="4143375"/>
          </a:xfrm>
          <a:prstGeom prst="rect">
            <a:avLst/>
          </a:prstGeom>
          <a:noFill/>
          <a:ln w="9525">
            <a:noFill/>
          </a:ln>
        </p:spPr>
      </p:pic>
      <p:pic>
        <p:nvPicPr>
          <p:cNvPr id="193541" name="图片 4"/>
          <p:cNvPicPr/>
          <p:nvPr/>
        </p:nvPicPr>
        <p:blipFill>
          <a:blip r:embed="rId3"/>
          <a:stretch>
            <a:fillRect/>
          </a:stretch>
        </p:blipFill>
        <p:spPr>
          <a:xfrm>
            <a:off x="4572000" y="2409825"/>
            <a:ext cx="4572000" cy="4143375"/>
          </a:xfrm>
          <a:prstGeom prst="rect">
            <a:avLst/>
          </a:prstGeom>
          <a:noFill/>
          <a:ln w="9525">
            <a:noFill/>
          </a:ln>
        </p:spPr>
      </p:pic>
    </p:spTree>
  </p:cSld>
  <p:clrMapOvr>
    <a:masterClrMapping/>
  </p:clrMapOvr>
</p:sld>
</file>

<file path=ppt/slides/slide17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4562" name="Picture 9"/>
          <p:cNvPicPr/>
          <p:nvPr/>
        </p:nvPicPr>
        <p:blipFill>
          <a:blip r:embed="rId1"/>
          <a:stretch>
            <a:fillRect/>
          </a:stretch>
        </p:blipFill>
        <p:spPr>
          <a:xfrm>
            <a:off x="0" y="0"/>
            <a:ext cx="9144000" cy="1743075"/>
          </a:xfrm>
          <a:prstGeom prst="rect">
            <a:avLst/>
          </a:prstGeom>
          <a:noFill/>
          <a:ln w="9525">
            <a:noFill/>
          </a:ln>
        </p:spPr>
      </p:pic>
      <p:sp>
        <p:nvSpPr>
          <p:cNvPr id="194563"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科学仪器的使用</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、克服感官的局限性。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、测量仪器是理性方法的物化。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  </a:t>
            </a:r>
            <a:r>
              <a:rPr altLang="en-US" dirty="0" lang="zh-CN" b="1" sz="2400">
                <a:solidFill>
                  <a:srgbClr val="FF0000"/>
                </a:solidFill>
                <a:ea typeface="宋体" panose="02010600030101010101" pitchFamily="2" charset="-122"/>
                <a:latin typeface="宋体" panose="02010600030101010101" pitchFamily="2" charset="-122"/>
              </a:rPr>
              <a:t>微观领域的测不准原理</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量子理论是以微观客体及其规律作为研究对象。在这里，观察仪器是宏观的，研究对象是微观的；宏观仪器的观测必然对微观粒子产生干扰，这又对我们的认识产生干扰。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5586" name="Picture 9"/>
          <p:cNvPicPr/>
          <p:nvPr/>
        </p:nvPicPr>
        <p:blipFill>
          <a:blip r:embed="rId1"/>
          <a:stretch>
            <a:fillRect/>
          </a:stretch>
        </p:blipFill>
        <p:spPr>
          <a:xfrm>
            <a:off x="0" y="0"/>
            <a:ext cx="9144000" cy="1743075"/>
          </a:xfrm>
          <a:prstGeom prst="rect">
            <a:avLst/>
          </a:prstGeom>
          <a:noFill/>
          <a:ln w="9525">
            <a:noFill/>
          </a:ln>
        </p:spPr>
      </p:pic>
      <p:sp>
        <p:nvSpPr>
          <p:cNvPr id="195587" name="TextBox 2"/>
          <p:cNvSpPr/>
          <p:nvPr/>
        </p:nvSpPr>
        <p:spPr>
          <a:xfrm>
            <a:off x="0" y="1743075"/>
            <a:ext cx="9144000" cy="45231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例如，利用光学显微镜观测电子。光子照射一粒灰尘时，就像一个小石头打到火车上，光子反跳回来，灰尘本身不动，在显微镜下可测出灰尘的精确位子；如光子照射电子，就像火车撞上婴儿一样，电子早被弹出去，消失得无影无踪，根本谈不上测量它的位置。</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由于测不准关系的客观存在，便使宏观领域的因果律在微观领域出现动摇。爱因斯坦说：“上帝不会掷色子”，波尔则认为我们更应该关心上帝如何掷色子。</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6610" name="Picture 9"/>
          <p:cNvPicPr/>
          <p:nvPr/>
        </p:nvPicPr>
        <p:blipFill>
          <a:blip r:embed="rId1"/>
          <a:stretch>
            <a:fillRect/>
          </a:stretch>
        </p:blipFill>
        <p:spPr>
          <a:xfrm>
            <a:off x="0" y="0"/>
            <a:ext cx="9144000" cy="1743075"/>
          </a:xfrm>
          <a:prstGeom prst="rect">
            <a:avLst/>
          </a:prstGeom>
          <a:noFill/>
          <a:ln w="9525">
            <a:noFill/>
          </a:ln>
        </p:spPr>
      </p:pic>
      <p:sp>
        <p:nvSpPr>
          <p:cNvPr id="196611"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二、理想模型与理想实验</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1</a:t>
            </a:r>
            <a:r>
              <a:rPr altLang="en-US" dirty="0" lang="zh-CN" b="1" sz="2400">
                <a:solidFill>
                  <a:srgbClr val="FF0000"/>
                </a:solidFill>
                <a:ea typeface="宋体" panose="02010600030101010101" pitchFamily="2" charset="-122"/>
                <a:latin typeface="宋体" panose="02010600030101010101" pitchFamily="2" charset="-122"/>
              </a:rPr>
              <a:t>、理想模型</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    通过模型来揭示原型的形态、特征和本质的方法。理想模型方法是科学抽象的一种典型方法。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数学上的“点”、“线”、“面”；力学上的“质点”、“刚体”、“理想流体”、“理想气体”、“点电荷”、“黑体”。</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理想模型的特征：作为理想化的现实物质形态，都是现实世界中找不到的东西。它又是以客观存在为原型。</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7634" name="Picture 9"/>
          <p:cNvPicPr/>
          <p:nvPr/>
        </p:nvPicPr>
        <p:blipFill>
          <a:blip r:embed="rId1"/>
          <a:stretch>
            <a:fillRect/>
          </a:stretch>
        </p:blipFill>
        <p:spPr>
          <a:xfrm>
            <a:off x="0" y="0"/>
            <a:ext cx="9144000" cy="1743075"/>
          </a:xfrm>
          <a:prstGeom prst="rect">
            <a:avLst/>
          </a:prstGeom>
          <a:noFill/>
          <a:ln w="9525">
            <a:noFill/>
          </a:ln>
        </p:spPr>
      </p:pic>
      <p:sp>
        <p:nvSpPr>
          <p:cNvPr id="197635" name="TextBox 2"/>
          <p:cNvSpPr/>
          <p:nvPr/>
        </p:nvSpPr>
        <p:spPr>
          <a:xfrm>
            <a:off x="0" y="1743075"/>
            <a:ext cx="9144000" cy="60991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solidFill>
                  <a:srgbClr val="FF0000"/>
                </a:solidFill>
                <a:ea typeface="宋体" panose="02010600030101010101" pitchFamily="2" charset="-122"/>
                <a:latin typeface="宋体" panose="02010600030101010101" pitchFamily="2" charset="-122"/>
              </a:rPr>
              <a:t>2</a:t>
            </a:r>
            <a:r>
              <a:rPr altLang="en-US" dirty="0" lang="zh-CN" b="1" sz="2400">
                <a:solidFill>
                  <a:srgbClr val="FF0000"/>
                </a:solidFill>
                <a:ea typeface="宋体" panose="02010600030101010101" pitchFamily="2" charset="-122"/>
                <a:latin typeface="宋体" panose="02010600030101010101" pitchFamily="2" charset="-122"/>
              </a:rPr>
              <a:t>、理想实验</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理想实验：运用理想模型做推理或理论研究。也可以称“思想上的实验”。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爱因斯坦在评价伽利略的惯性定律理性实验：</a:t>
            </a:r>
            <a:r>
              <a:rPr altLang="en-US" dirty="0" lang="zh-CN" sz="2400">
                <a:solidFill>
                  <a:srgbClr val="0000FF"/>
                </a:solidFill>
                <a:ea typeface="宋体" panose="02010600030101010101" pitchFamily="2" charset="-122"/>
                <a:latin typeface="宋体" panose="02010600030101010101" pitchFamily="2" charset="-122"/>
              </a:rPr>
              <a:t>“惯性定律标志着物理学上第一个大进步，事实上物理学的真正开端。它是考虑一个既没有摩擦又没有任何外力作用而永远运动的理想实验而得来的。从这个例子以及后来的许多例子中，我们认识到用思维来创造理性实验的重要性。”</a:t>
            </a:r>
            <a:r>
              <a:rPr altLang="en-US" dirty="0" lang="zh-CN" sz="2400">
                <a:ea typeface="宋体" panose="02010600030101010101" pitchFamily="2" charset="-122"/>
                <a:latin typeface="宋体" panose="02010600030101010101" pitchFamily="2" charset="-122"/>
              </a:rPr>
              <a:t>（</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物理学的进化</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，上海科技出版社，第</a:t>
            </a:r>
            <a:r>
              <a:rPr altLang="zh-CN" dirty="0" lang="en-US" sz="2400">
                <a:ea typeface="宋体" panose="02010600030101010101" pitchFamily="2" charset="-122"/>
                <a:latin typeface="宋体" panose="02010600030101010101" pitchFamily="2" charset="-122"/>
              </a:rPr>
              <a:t>158</a:t>
            </a:r>
            <a:r>
              <a:rPr altLang="en-US" dirty="0" lang="zh-CN" sz="2400">
                <a:ea typeface="宋体" panose="02010600030101010101" pitchFamily="2" charset="-122"/>
                <a:latin typeface="宋体" panose="02010600030101010101" pitchFamily="2" charset="-122"/>
              </a:rPr>
              <a:t>页。）</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8658" name="Picture 9"/>
          <p:cNvPicPr/>
          <p:nvPr/>
        </p:nvPicPr>
        <p:blipFill>
          <a:blip r:embed="rId1"/>
          <a:stretch>
            <a:fillRect/>
          </a:stretch>
        </p:blipFill>
        <p:spPr>
          <a:xfrm>
            <a:off x="0" y="0"/>
            <a:ext cx="9144000" cy="1743075"/>
          </a:xfrm>
          <a:prstGeom prst="rect">
            <a:avLst/>
          </a:prstGeom>
          <a:noFill/>
          <a:ln w="9525">
            <a:noFill/>
          </a:ln>
        </p:spPr>
      </p:pic>
      <p:sp>
        <p:nvSpPr>
          <p:cNvPr id="198659"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三、数学方法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solidFill>
                  <a:srgbClr val="FF0000"/>
                </a:solidFill>
                <a:ea typeface="宋体" panose="02010600030101010101" pitchFamily="2" charset="-122"/>
                <a:latin typeface="宋体" panose="02010600030101010101" pitchFamily="2" charset="-122"/>
              </a:rPr>
              <a:t>1</a:t>
            </a:r>
            <a:r>
              <a:rPr altLang="en-US" dirty="0" lang="zh-CN" sz="2400">
                <a:solidFill>
                  <a:srgbClr val="FF0000"/>
                </a:solidFill>
                <a:ea typeface="宋体" panose="02010600030101010101" pitchFamily="2" charset="-122"/>
                <a:latin typeface="宋体" panose="02010600030101010101" pitchFamily="2" charset="-122"/>
              </a:rPr>
              <a:t>、数学方法</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是运用数学工具进行科学研究的方法。科学的数学化成为当代科学技术发展的趋势。</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麦克斯韦电磁场理论、相对论力学、量子力学无一不在数学帮助下完成。随着量子力学理论和方法引进化学，数学方法在量子化学中作用明显。生物学已开始运用数学方法研究生理现象、神经现象、生态系统以及遗传规律，并且产生数学生物学、生物数学这样的分支学科。在社会科学方面，数学被引进经济学、法学、考古学等。</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199682" name="Picture 9"/>
          <p:cNvPicPr/>
          <p:nvPr/>
        </p:nvPicPr>
        <p:blipFill>
          <a:blip r:embed="rId1"/>
          <a:stretch>
            <a:fillRect/>
          </a:stretch>
        </p:blipFill>
        <p:spPr>
          <a:xfrm>
            <a:off x="0" y="0"/>
            <a:ext cx="9144000" cy="1743075"/>
          </a:xfrm>
          <a:prstGeom prst="rect">
            <a:avLst/>
          </a:prstGeom>
          <a:noFill/>
          <a:ln w="9525">
            <a:noFill/>
          </a:ln>
        </p:spPr>
      </p:pic>
      <p:sp>
        <p:nvSpPr>
          <p:cNvPr id="199683"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数学方法的几种特殊功能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、为科学技术研究提供简洁、精确的形式化语言。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、数学方法为科学技术研究提供数量分析和计算工具。</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对研究对象进行数量分析和准确计算，可以精确地把握事物的质的特点和变化规律。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、提供严密推理和科学抽象的工具。</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0706" name="Picture 9"/>
          <p:cNvPicPr/>
          <p:nvPr/>
        </p:nvPicPr>
        <p:blipFill>
          <a:blip r:embed="rId1"/>
          <a:stretch>
            <a:fillRect/>
          </a:stretch>
        </p:blipFill>
        <p:spPr>
          <a:xfrm>
            <a:off x="0" y="0"/>
            <a:ext cx="9144000" cy="1743075"/>
          </a:xfrm>
          <a:prstGeom prst="rect">
            <a:avLst/>
          </a:prstGeom>
          <a:noFill/>
          <a:ln w="9525">
            <a:noFill/>
          </a:ln>
        </p:spPr>
      </p:pic>
      <p:sp>
        <p:nvSpPr>
          <p:cNvPr id="200707"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数学模型方法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数学模型是针对或参照某种事物系统的特征或数量关系，采用形式化数学语言概括或近似地表述出来的一种数学结构。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、确定性现象的数学模型。这类现象一般可用代数方程、积分方程、微分方程、差分方程来建立数学模型。确定性现象的数学模型应用得最多的是偏微分方程，它又可分为双取型、抛物型和椭圆型微分方程。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、或然性现象的数学模型。如抛硬币、射击命中目标、天气预报、地震预报等这类现象。从</a:t>
            </a:r>
            <a:r>
              <a:rPr altLang="zh-CN" dirty="0" lang="en-US" sz="2400">
                <a:ea typeface="宋体" panose="02010600030101010101" pitchFamily="2" charset="-122"/>
                <a:latin typeface="宋体" panose="02010600030101010101" pitchFamily="2" charset="-122"/>
              </a:rPr>
              <a:t>16</a:t>
            </a:r>
            <a:r>
              <a:rPr altLang="en-US" dirty="0" lang="zh-CN" sz="2400">
                <a:ea typeface="宋体" panose="02010600030101010101" pitchFamily="2" charset="-122"/>
                <a:latin typeface="宋体" panose="02010600030101010101" pitchFamily="2" charset="-122"/>
              </a:rPr>
              <a:t>世纪开始，相继产生概率论、数理统计、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7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1730" name="Picture 9"/>
          <p:cNvPicPr/>
          <p:nvPr/>
        </p:nvPicPr>
        <p:blipFill>
          <a:blip r:embed="rId1"/>
          <a:stretch>
            <a:fillRect/>
          </a:stretch>
        </p:blipFill>
        <p:spPr>
          <a:xfrm>
            <a:off x="0" y="0"/>
            <a:ext cx="9144000" cy="1743075"/>
          </a:xfrm>
          <a:prstGeom prst="rect">
            <a:avLst/>
          </a:prstGeom>
          <a:noFill/>
          <a:ln w="9525">
            <a:noFill/>
          </a:ln>
        </p:spPr>
      </p:pic>
      <p:sp>
        <p:nvSpPr>
          <p:cNvPr id="201731"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随机微分方程论、马尔科夫过程论等新的数学分支，统称随机数学。</a:t>
            </a: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、模糊现象的数学模型。</a:t>
            </a:r>
            <a:r>
              <a:rPr altLang="zh-CN" dirty="0" lang="en-US" sz="2400">
                <a:ea typeface="宋体" panose="02010600030101010101" pitchFamily="2" charset="-122"/>
                <a:latin typeface="宋体" panose="02010600030101010101" pitchFamily="2" charset="-122"/>
              </a:rPr>
              <a:t>1965</a:t>
            </a:r>
            <a:r>
              <a:rPr altLang="en-US" dirty="0" lang="zh-CN" sz="2400">
                <a:ea typeface="宋体" panose="02010600030101010101" pitchFamily="2" charset="-122"/>
                <a:latin typeface="宋体" panose="02010600030101010101" pitchFamily="2" charset="-122"/>
              </a:rPr>
              <a:t>年，美国加利福尼亚大学自动控制专家</a:t>
            </a:r>
            <a:r>
              <a:rPr altLang="zh-CN" dirty="0" lang="en-US" sz="2400">
                <a:ea typeface="宋体" panose="02010600030101010101" pitchFamily="2" charset="-122"/>
                <a:latin typeface="宋体" panose="02010600030101010101" pitchFamily="2" charset="-122"/>
              </a:rPr>
              <a:t>L.Zadeh</a:t>
            </a:r>
            <a:r>
              <a:rPr altLang="en-US" dirty="0" lang="zh-CN" sz="2400">
                <a:ea typeface="宋体" panose="02010600030101010101" pitchFamily="2" charset="-122"/>
                <a:latin typeface="宋体" panose="02010600030101010101" pitchFamily="2" charset="-122"/>
              </a:rPr>
              <a:t>提出并建立模糊集合论，标志着模糊数学的诞生。</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、突变（</a:t>
            </a:r>
            <a:r>
              <a:rPr altLang="zh-CN" dirty="0" lang="en-US" sz="2400">
                <a:ea typeface="宋体" panose="02010600030101010101" pitchFamily="2" charset="-122"/>
                <a:latin typeface="Times New Roman" panose="02020603050405020304" pitchFamily="18" charset="0"/>
              </a:rPr>
              <a:t>Catastrophe</a:t>
            </a:r>
            <a:r>
              <a:rPr altLang="en-US" dirty="0" lang="zh-CN" sz="2400">
                <a:ea typeface="宋体" panose="02010600030101010101" pitchFamily="2" charset="-122"/>
                <a:latin typeface="宋体" panose="02010600030101010101" pitchFamily="2" charset="-122"/>
              </a:rPr>
              <a:t>）现象的数学模型。</a:t>
            </a:r>
            <a:r>
              <a:rPr altLang="zh-CN" dirty="0" lang="en-US" sz="2400">
                <a:ea typeface="宋体" panose="02010600030101010101" pitchFamily="2" charset="-122"/>
                <a:latin typeface="宋体" panose="02010600030101010101" pitchFamily="2" charset="-122"/>
              </a:rPr>
              <a:t>300</a:t>
            </a:r>
            <a:r>
              <a:rPr altLang="en-US" dirty="0" lang="zh-CN" sz="2400">
                <a:ea typeface="宋体" panose="02010600030101010101" pitchFamily="2" charset="-122"/>
                <a:latin typeface="宋体" panose="02010600030101010101" pitchFamily="2" charset="-122"/>
              </a:rPr>
              <a:t>多年来，微积分所提供的数学方法圆满处理了那些连续、平滑的变化过程，但一旦遇到突变问题，已有的微分方程就束手无策了。</a:t>
            </a: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世纪</a:t>
            </a:r>
            <a:r>
              <a:rPr altLang="zh-CN" dirty="0" lang="en-US" sz="2400">
                <a:ea typeface="宋体" panose="02010600030101010101" pitchFamily="2" charset="-122"/>
                <a:latin typeface="宋体" panose="02010600030101010101" pitchFamily="2" charset="-122"/>
              </a:rPr>
              <a:t>70</a:t>
            </a:r>
            <a:r>
              <a:rPr altLang="en-US" dirty="0" lang="zh-CN" sz="2400">
                <a:ea typeface="宋体" panose="02010600030101010101" pitchFamily="2" charset="-122"/>
                <a:latin typeface="宋体" panose="02010600030101010101" pitchFamily="2" charset="-122"/>
              </a:rPr>
              <a:t>年代，法国拓扑学家</a:t>
            </a:r>
            <a:r>
              <a:rPr altLang="zh-CN" dirty="0" lang="en-US" sz="2400">
                <a:ea typeface="宋体" panose="02010600030101010101" pitchFamily="2" charset="-122"/>
                <a:latin typeface="宋体" panose="02010600030101010101" pitchFamily="2" charset="-122"/>
              </a:rPr>
              <a:t>R.Thom</a:t>
            </a:r>
            <a:r>
              <a:rPr altLang="en-US" dirty="0" lang="zh-CN" sz="2400">
                <a:ea typeface="宋体" panose="02010600030101010101" pitchFamily="2" charset="-122"/>
                <a:latin typeface="宋体" panose="02010600030101010101" pitchFamily="2" charset="-122"/>
              </a:rPr>
              <a:t>创立了突变理论。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2754" name="Picture 9"/>
          <p:cNvPicPr/>
          <p:nvPr/>
        </p:nvPicPr>
        <p:blipFill>
          <a:blip r:embed="rId1"/>
          <a:stretch>
            <a:fillRect/>
          </a:stretch>
        </p:blipFill>
        <p:spPr>
          <a:xfrm>
            <a:off x="0" y="0"/>
            <a:ext cx="9144000" cy="1743075"/>
          </a:xfrm>
          <a:prstGeom prst="rect">
            <a:avLst/>
          </a:prstGeom>
          <a:noFill/>
          <a:ln w="9525">
            <a:noFill/>
          </a:ln>
        </p:spPr>
      </p:pic>
      <p:sp>
        <p:nvSpPr>
          <p:cNvPr id="202755" name="TextBox 2"/>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四、公里化方法</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公理化方法是从尽量少的原始概念和不证自明的原始命题（公理、公设）出发，运用逻辑推理建立理论体系的一种数学方法。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世纪初，</a:t>
            </a:r>
            <a:r>
              <a:rPr altLang="zh-CN" dirty="0" lang="en-US" sz="2400">
                <a:ea typeface="宋体" panose="02010600030101010101" pitchFamily="2" charset="-122"/>
                <a:latin typeface="宋体" panose="02010600030101010101" pitchFamily="2" charset="-122"/>
              </a:rPr>
              <a:t>Hilbert</a:t>
            </a:r>
            <a:r>
              <a:rPr altLang="en-US" dirty="0" lang="zh-CN" sz="2400">
                <a:ea typeface="宋体" panose="02010600030101010101" pitchFamily="2" charset="-122"/>
                <a:latin typeface="宋体" panose="02010600030101010101" pitchFamily="2" charset="-122"/>
              </a:rPr>
              <a:t>进一步将公理化系统加以形式化，将原来的概念、命题和推理分别代之以符号、公式和符号变换，使公理化方法进一步完善而进入纯形式化阶段，故称形式公理学。</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公理化方法的局限性。</a:t>
            </a:r>
            <a:r>
              <a:rPr altLang="zh-CN" dirty="0" lang="en-US" sz="2400">
                <a:ea typeface="宋体" panose="02010600030101010101" pitchFamily="2" charset="-122"/>
                <a:latin typeface="宋体" panose="02010600030101010101" pitchFamily="2" charset="-122"/>
              </a:rPr>
              <a:t>1931</a:t>
            </a:r>
            <a:r>
              <a:rPr altLang="en-US" dirty="0" lang="zh-CN" sz="2400">
                <a:ea typeface="宋体" panose="02010600030101010101" pitchFamily="2" charset="-122"/>
                <a:latin typeface="宋体" panose="02010600030101010101" pitchFamily="2" charset="-122"/>
              </a:rPr>
              <a:t>年，奥地利数理逻辑学家哥德尔（</a:t>
            </a:r>
            <a:r>
              <a:rPr altLang="zh-CN" dirty="0" lang="en-US" sz="2400">
                <a:ea typeface="宋体" panose="02010600030101010101" pitchFamily="2" charset="-122"/>
                <a:latin typeface="宋体" panose="02010600030101010101" pitchFamily="2" charset="-122"/>
              </a:rPr>
              <a:t>Godel</a:t>
            </a:r>
            <a:r>
              <a:rPr altLang="en-US" dirty="0" lang="zh-CN" sz="2400">
                <a:ea typeface="宋体" panose="02010600030101010101" pitchFamily="2" charset="-122"/>
                <a:latin typeface="宋体" panose="02010600030101010101" pitchFamily="2" charset="-122"/>
              </a:rPr>
              <a:t>）证明了一条形式系统不完备性定理：即使像算术或包括算术在内的任何公理系统，如果它是无矛盾的，那它是不完备的。</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3778" name="Picture 9"/>
          <p:cNvPicPr/>
          <p:nvPr/>
        </p:nvPicPr>
        <p:blipFill>
          <a:blip r:embed="rId1"/>
          <a:stretch>
            <a:fillRect/>
          </a:stretch>
        </p:blipFill>
        <p:spPr>
          <a:xfrm>
            <a:off x="0" y="0"/>
            <a:ext cx="9144000" cy="1743075"/>
          </a:xfrm>
          <a:prstGeom prst="rect">
            <a:avLst/>
          </a:prstGeom>
          <a:noFill/>
          <a:ln w="9525">
            <a:noFill/>
          </a:ln>
        </p:spPr>
      </p:pic>
      <p:sp>
        <p:nvSpPr>
          <p:cNvPr id="203779"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五、技术认识的程序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与科学认识相比，技术认识的目的求善；认识认识的对象是人工自然；技术认识过程不同；解决“怎么做”的问题。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技术认识的基本程序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、技术预测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国家、企业或研究部门为实现特定目的，运用相关理论与方法，根据某项技术或技术体系过去与现在的状况，推断其未来发展趋势的过程。</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4802" name="Picture 9"/>
          <p:cNvPicPr/>
          <p:nvPr/>
        </p:nvPicPr>
        <p:blipFill>
          <a:blip r:embed="rId1"/>
          <a:stretch>
            <a:fillRect/>
          </a:stretch>
        </p:blipFill>
        <p:spPr>
          <a:xfrm>
            <a:off x="0" y="0"/>
            <a:ext cx="9144000" cy="1743075"/>
          </a:xfrm>
          <a:prstGeom prst="rect">
            <a:avLst/>
          </a:prstGeom>
          <a:noFill/>
          <a:ln w="9525">
            <a:noFill/>
          </a:ln>
        </p:spPr>
      </p:pic>
      <p:sp>
        <p:nvSpPr>
          <p:cNvPr id="204803" name="TextBox 2"/>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、技术评估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技术评估是采用科学方法预先从各个方面系统地相关技术的利弊得失进行综合评价的活动。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5826" name="Picture 9"/>
          <p:cNvPicPr/>
          <p:nvPr/>
        </p:nvPicPr>
        <p:blipFill>
          <a:blip r:embed="rId1"/>
          <a:stretch>
            <a:fillRect/>
          </a:stretch>
        </p:blipFill>
        <p:spPr>
          <a:xfrm>
            <a:off x="0" y="0"/>
            <a:ext cx="9144000" cy="1743075"/>
          </a:xfrm>
          <a:prstGeom prst="rect">
            <a:avLst/>
          </a:prstGeom>
          <a:noFill/>
          <a:ln w="9525">
            <a:noFill/>
          </a:ln>
        </p:spPr>
      </p:pic>
      <p:sp>
        <p:nvSpPr>
          <p:cNvPr id="205827"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Rectangle 3"/>
          <p:cNvSpPr/>
          <p:nvPr/>
        </p:nvSpPr>
        <p:spPr>
          <a:xfrm>
            <a:off x="307975" y="1905000"/>
            <a:ext cx="77724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资料准备阶段</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影响分析阶段</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制定对策阶段</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综合评价阶段</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zh-CN" dirty="0" kern="0" kumimoji="0" lang="en-US" normalizeH="0" b="0" cap="none" i="0" noProof="0" spc="0" strike="noStrike" sz="2800" u="none">
                <a:ln>
                  <a:noFill/>
                </a:ln>
                <a:solidFill>
                  <a:schemeClr val="tx1"/>
                </a:solidFill>
                <a:effectLst/>
                <a:uLnTx/>
                <a:uFillTx/>
                <a:cs typeface="+mn-cs"/>
                <a:ea/>
                <a:latin typeface="Arial" panose="020B0604020202020204" pitchFamily="34" charset="0"/>
              </a:rPr>
              <a:t>…………………………</a:t>
            </a:r>
            <a:endParaRPr altLang="zh-CN" dirty="0" kern="0" kumimoji="0" lang="en-US"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技术方案本身的合理性、先进性和可行性的评价</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600200" marR="0" indent="-228600" lvl="3" algn="ctr"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方案选择和优化</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1371600" marR="0" indent="0" lvl="3" algn="just" defTabSz="914400" rtl="0" eaLnBrk="1" latinLnBrk="0" hangingPunct="1" fontAlgn="base">
              <a:lnSpc>
                <a:spcPct val="100000"/>
              </a:lnSpc>
              <a:spcBef>
                <a:spcPct val="20000"/>
              </a:spcBef>
              <a:spcAft>
                <a:spcPct val="0"/>
              </a:spcAft>
              <a:buNone/>
              <a:defRPr/>
            </a:pP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342900" marR="0" indent="-342900" lvl="0" algn="l"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ß"/>
              <a:defRPr/>
            </a:pPr>
            <a:endParaRPr altLang="en-US" dirty="0" kern="0" kumimoji="0" lang="zh-CN" normalizeH="0" b="0" cap="none" i="0" noProof="0" spc="0" strike="noStrike" sz="3200" u="none">
              <a:ln>
                <a:noFill/>
              </a:ln>
              <a:solidFill>
                <a:schemeClr val="tx1"/>
              </a:solidFill>
              <a:effectLst/>
              <a:uLnTx/>
              <a:uFillTx/>
              <a:cs typeface="+mn-cs"/>
              <a:ea/>
              <a:latin typeface="Franklin Gothic Book"/>
            </a:endParaRPr>
          </a:p>
        </p:txBody>
      </p:sp>
      <p:sp>
        <p:nvSpPr>
          <p:cNvPr id="205829" name="AutoShape 4"/>
          <p:cNvSpPr/>
          <p:nvPr/>
        </p:nvSpPr>
        <p:spPr>
          <a:xfrm>
            <a:off x="7923213" y="1860550"/>
            <a:ext cx="609600" cy="2819400"/>
          </a:xfrm>
          <a:prstGeom prst="downArrow">
            <a:avLst>
              <a:gd name="adj1" fmla="val 50000"/>
              <a:gd name="adj2" fmla="val 115625"/>
            </a:avLst>
          </a:prstGeom>
          <a:solidFill>
            <a:srgbClr val="E01606"/>
          </a:solidFill>
          <a:ln w="9525" cap="flat" cmpd="sng">
            <a:solidFill>
              <a:srgbClr val="E01606"/>
            </a:solidFill>
            <a:prstDash val="solid"/>
            <a:miter lim="0"/>
            <a:headEnd type="none" len="med" w="med"/>
            <a:tailEnd type="none" len="med" w="med"/>
          </a:ln>
        </p:spPr>
        <p:txBody>
          <a:bodyPr vert="eaVert" wrap="none" anchor="ctr" anchorCtr="0"/>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spcBef>
                <a:spcPct val="0"/>
              </a:spcBef>
              <a:buNone/>
            </a:pPr>
            <a:endParaRPr altLang="en-US" dirty="0" lang="zh-CN" sz="1800">
              <a:solidFill>
                <a:schemeClr val="bg2"/>
              </a:solidFill>
              <a:ea typeface="宋体" panose="02010600030101010101" pitchFamily="2" charset="-122"/>
              <a:latin typeface="Tahoma" panose="020B0604030504040204" pitchFamily="34" charset="0"/>
            </a:endParaRPr>
          </a:p>
        </p:txBody>
      </p:sp>
    </p:spTree>
  </p:cSld>
  <p:clrMapOvr>
    <a:masterClrMapping/>
  </p:clrMapOvr>
</p:sld>
</file>

<file path=ppt/slides/slide18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6850" name="Picture 9"/>
          <p:cNvPicPr/>
          <p:nvPr/>
        </p:nvPicPr>
        <p:blipFill>
          <a:blip r:embed="rId1"/>
          <a:stretch>
            <a:fillRect/>
          </a:stretch>
        </p:blipFill>
        <p:spPr>
          <a:xfrm>
            <a:off x="0" y="0"/>
            <a:ext cx="9144000" cy="1743075"/>
          </a:xfrm>
          <a:prstGeom prst="rect">
            <a:avLst/>
          </a:prstGeom>
          <a:noFill/>
          <a:ln w="9525">
            <a:noFill/>
          </a:ln>
        </p:spPr>
      </p:pic>
      <p:sp>
        <p:nvSpPr>
          <p:cNvPr id="206851" name="TextBox 2"/>
          <p:cNvSpPr/>
          <p:nvPr/>
        </p:nvSpPr>
        <p:spPr>
          <a:xfrm>
            <a:off x="0"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
        <p:nvSpPr>
          <p:cNvPr id="4" name="Rectangle 3"/>
          <p:cNvSpPr/>
          <p:nvPr/>
        </p:nvSpPr>
        <p:spPr>
          <a:xfrm>
            <a:off x="307975" y="1905000"/>
            <a:ext cx="77724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342900" marR="0" indent="-342900" lvl="0" algn="just" defTabSz="914400" rtl="0" eaLnBrk="1" latinLnBrk="0" hangingPunct="1" fontAlgn="base">
              <a:lnSpc>
                <a:spcPct val="150000"/>
              </a:lnSpc>
              <a:spcBef>
                <a:spcPct val="0"/>
              </a:spcBef>
              <a:spcAft>
                <a:spcPct val="0"/>
              </a:spcAft>
              <a:buNone/>
              <a:defRPr/>
            </a:pPr>
            <a:r>
              <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3</a:t>
            </a: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、技术方案构思与设计</a:t>
            </a:r>
            <a:endParaRPr altLang="zh-CN" dirty="0" kern="1200" kumimoji="0" lang="en-US"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342900" marR="0" indent="-342900" lvl="0" algn="just" defTabSz="914400" rtl="0" eaLnBrk="1" latinLnBrk="0" hangingPunct="1" fontAlgn="base">
              <a:lnSpc>
                <a:spcPct val="150000"/>
              </a:lnSpc>
              <a:spcBef>
                <a:spcPct val="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  运用科学知识和实践经验，在既定的限制条件下寻找和设计满足课题需要的新方案。</a:t>
            </a: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a:p>
            <a:pPr marL="342900" marR="0" indent="-342900" lvl="0" algn="l"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ß"/>
              <a:defRPr/>
            </a:pPr>
            <a:endParaRPr altLang="en-US" dirty="0" kern="0" kumimoji="0" lang="zh-CN" normalizeH="0" b="0" cap="none" i="0" noProof="0" spc="0" strike="noStrike" sz="3200" u="none">
              <a:ln>
                <a:noFill/>
              </a:ln>
              <a:solidFill>
                <a:schemeClr val="tx1"/>
              </a:solidFill>
              <a:effectLst/>
              <a:uLnTx/>
              <a:uFillTx/>
              <a:cs typeface="+mn-cs"/>
              <a:ea/>
              <a:latin typeface="Franklin Gothic Book"/>
            </a:endParaRPr>
          </a:p>
        </p:txBody>
      </p:sp>
    </p:spTree>
  </p:cSld>
  <p:clrMapOvr>
    <a:masterClrMapping/>
  </p:clrMapOvr>
</p:sld>
</file>

<file path=ppt/slides/slide18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7874" name="Picture 9"/>
          <p:cNvPicPr/>
          <p:nvPr/>
        </p:nvPicPr>
        <p:blipFill>
          <a:blip r:embed="rId1"/>
          <a:stretch>
            <a:fillRect/>
          </a:stretch>
        </p:blipFill>
        <p:spPr>
          <a:xfrm>
            <a:off x="0" y="0"/>
            <a:ext cx="9144000" cy="1743075"/>
          </a:xfrm>
          <a:prstGeom prst="rect">
            <a:avLst/>
          </a:prstGeom>
          <a:noFill/>
          <a:ln w="9525">
            <a:noFill/>
          </a:ln>
        </p:spPr>
      </p:pic>
      <p:sp>
        <p:nvSpPr>
          <p:cNvPr id="207875" name="TextBox 2"/>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、技术试验</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在技术开发和设计、实施过程中，为了实现和提高技术成果的功能，利用科学仪器、设备人为地控制条件、变革对象，进而对技术对象进行分析和考查的实践活动和研究方法。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、技术方案的实施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是技术方案经试验确证后，根据设计阶段提供的生产或施工图纸试制新产品或建造技术系统，以获取技术研究与开发成果的过程。</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8898" name="Picture 9"/>
          <p:cNvPicPr/>
          <p:nvPr/>
        </p:nvPicPr>
        <p:blipFill>
          <a:blip r:embed="rId1"/>
          <a:stretch>
            <a:fillRect/>
          </a:stretch>
        </p:blipFill>
        <p:spPr>
          <a:xfrm>
            <a:off x="0" y="0"/>
            <a:ext cx="9144000" cy="1743075"/>
          </a:xfrm>
          <a:prstGeom prst="rect">
            <a:avLst/>
          </a:prstGeom>
          <a:noFill/>
          <a:ln w="9525">
            <a:noFill/>
          </a:ln>
        </p:spPr>
      </p:pic>
      <p:sp>
        <p:nvSpPr>
          <p:cNvPr id="208899" name="TextBox 2"/>
          <p:cNvSpPr/>
          <p:nvPr/>
        </p:nvSpPr>
        <p:spPr>
          <a:xfrm>
            <a:off x="0" y="1743075"/>
            <a:ext cx="9144000" cy="41903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技术发明与技术创新</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技术发明的内涵、主要类型和方法</a:t>
            </a:r>
            <a:endParaRPr altLang="en-US" dirty="0" lang="zh-CN" sz="2400">
              <a:ea typeface="宋体" panose="02010600030101010101" pitchFamily="2" charset="-122"/>
              <a:latin typeface="宋体" panose="02010600030101010101" pitchFamily="2" charset="-122"/>
            </a:endParaRPr>
          </a:p>
          <a:p>
            <a:pPr marL="0" indent="0" lvl="0" eaLnBrk="1" hangingPunct="1">
              <a:buNone/>
            </a:pPr>
            <a:endParaRPr altLang="zh-CN" dirty="0" lang="en-US"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技术创新的内涵、特点及创新机制</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09922" name="Picture 9"/>
          <p:cNvPicPr/>
          <p:nvPr/>
        </p:nvPicPr>
        <p:blipFill>
          <a:blip r:embed="rId1"/>
          <a:stretch>
            <a:fillRect/>
          </a:stretch>
        </p:blipFill>
        <p:spPr>
          <a:xfrm>
            <a:off x="0" y="0"/>
            <a:ext cx="9144000" cy="1743075"/>
          </a:xfrm>
          <a:prstGeom prst="rect">
            <a:avLst/>
          </a:prstGeom>
          <a:noFill/>
          <a:ln w="9525">
            <a:noFill/>
          </a:ln>
        </p:spPr>
      </p:pic>
      <p:sp>
        <p:nvSpPr>
          <p:cNvPr id="209923" name="TextBox 2"/>
          <p:cNvSpPr/>
          <p:nvPr/>
        </p:nvSpPr>
        <p:spPr>
          <a:xfrm>
            <a:off x="0" y="1743075"/>
            <a:ext cx="8907463" cy="3994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技术发明与技术创新</a:t>
            </a:r>
            <a:endParaRPr altLang="zh-CN" dirty="0" lang="en-US" b="1" sz="2400">
              <a:ea typeface="宋体" panose="02010600030101010101" pitchFamily="2" charset="-122"/>
              <a:latin typeface="宋体" panose="02010600030101010101" pitchFamily="2" charset="-122"/>
            </a:endParaRPr>
          </a:p>
          <a:p>
            <a:pPr marL="1371600" indent="0" lvl="3" algn="just" eaLnBrk="1" hangingPunct="1">
              <a:buNone/>
            </a:pPr>
            <a:r>
              <a:rPr altLang="zh-CN" dirty="0" lang="zh-CN" b="1" sz="2800">
                <a:ea typeface="宋体" panose="02010600030101010101" pitchFamily="2" charset="-122"/>
                <a:latin typeface="宋体" panose="02010600030101010101" pitchFamily="2" charset="-122"/>
              </a:rPr>
              <a:t>技术发明：</a:t>
            </a:r>
            <a:r>
              <a:rPr altLang="zh-CN" dirty="0" lang="zh-CN" sz="2800">
                <a:ea typeface="宋体" panose="02010600030101010101" pitchFamily="2" charset="-122"/>
                <a:latin typeface="宋体" panose="02010600030101010101" pitchFamily="2" charset="-122"/>
              </a:rPr>
              <a:t>是指依据对自然规律的认识能动地将自然客体变革为满足人的一定需求的有用属性的人工客体。</a:t>
            </a:r>
            <a:endParaRPr altLang="zh-CN" dirty="0" lang="zh-CN" sz="2800">
              <a:ea typeface="宋体" panose="02010600030101010101" pitchFamily="2" charset="-122"/>
              <a:latin typeface="宋体" panose="02010600030101010101" pitchFamily="2" charset="-122"/>
            </a:endParaRPr>
          </a:p>
          <a:p>
            <a:pPr marL="1371600" indent="0" lvl="3" algn="just" eaLnBrk="1" hangingPunct="1">
              <a:buNone/>
            </a:pPr>
            <a:r>
              <a:rPr altLang="zh-CN" dirty="0" lang="zh-CN" b="1" sz="2800">
                <a:ea typeface="宋体" panose="02010600030101010101" pitchFamily="2" charset="-122"/>
                <a:latin typeface="宋体" panose="02010600030101010101" pitchFamily="2" charset="-122"/>
              </a:rPr>
              <a:t>技术发明的实质：</a:t>
            </a:r>
            <a:r>
              <a:rPr altLang="zh-CN" dirty="0" lang="zh-CN" sz="2800">
                <a:ea typeface="宋体" panose="02010600030101010101" pitchFamily="2" charset="-122"/>
                <a:latin typeface="宋体" panose="02010600030101010101" pitchFamily="2" charset="-122"/>
              </a:rPr>
              <a:t>把存在的自然物变革为人工物。</a:t>
            </a:r>
            <a:endParaRPr altLang="zh-CN" dirty="0" lang="zh-CN"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09924" name="图片 2"/>
          <p:cNvPicPr/>
          <p:nvPr/>
        </p:nvPicPr>
        <p:blipFill>
          <a:blip r:embed="rId2"/>
          <a:stretch>
            <a:fillRect/>
          </a:stretch>
        </p:blipFill>
        <p:spPr>
          <a:xfrm>
            <a:off x="2308225" y="4222750"/>
            <a:ext cx="6718300" cy="2465388"/>
          </a:xfrm>
          <a:prstGeom prst="rect">
            <a:avLst/>
          </a:prstGeom>
          <a:noFill/>
          <a:ln w="9525">
            <a:noFill/>
          </a:ln>
        </p:spPr>
      </p:pic>
    </p:spTree>
  </p:cSld>
  <p:clrMapOvr>
    <a:masterClrMapping/>
  </p:clrMapOvr>
</p:sld>
</file>

<file path=ppt/slides/slide18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0946" name="Picture 9"/>
          <p:cNvPicPr/>
          <p:nvPr/>
        </p:nvPicPr>
        <p:blipFill>
          <a:blip r:embed="rId1"/>
          <a:stretch>
            <a:fillRect/>
          </a:stretch>
        </p:blipFill>
        <p:spPr>
          <a:xfrm>
            <a:off x="0" y="0"/>
            <a:ext cx="9144000" cy="1743075"/>
          </a:xfrm>
          <a:prstGeom prst="rect">
            <a:avLst/>
          </a:prstGeom>
          <a:noFill/>
          <a:ln w="9525">
            <a:noFill/>
          </a:ln>
        </p:spPr>
      </p:pic>
      <p:sp>
        <p:nvSpPr>
          <p:cNvPr id="210947" name="TextBox 2"/>
          <p:cNvSpPr/>
          <p:nvPr/>
        </p:nvSpPr>
        <p:spPr>
          <a:xfrm>
            <a:off x="0" y="1743075"/>
            <a:ext cx="680085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1371600" indent="0" lvl="3" algn="just" eaLnBrk="1" hangingPunct="1">
              <a:buNone/>
            </a:pPr>
            <a:r>
              <a:rPr altLang="en-US" dirty="0" lang="zh-CN" sz="2800">
                <a:ea typeface="宋体" panose="02010600030101010101" pitchFamily="2" charset="-122"/>
                <a:latin typeface="宋体" panose="02010600030101010101" pitchFamily="2" charset="-122"/>
              </a:rPr>
              <a:t>科学发现是从观察中产生思想，又使思想符合客观存在；技术发明是使事物从自然状态变为改变了的现实，使世界与人的意图相符合，从而实现了思想和物质的统一，这种转化的统一首先出现在概念或思想的层次上，再用实际的制作和操作加以具体证实，这就是技术发明的本质。</a:t>
            </a:r>
            <a:endParaRPr altLang="en-US" dirty="0" lang="zh-CN"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18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1970"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0" y="1928813"/>
            <a:ext cx="91440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00000"/>
              </a:lnSpc>
              <a:spcBef>
                <a:spcPct val="20000"/>
              </a:spcBef>
              <a:spcAft>
                <a:spcPct val="0"/>
              </a:spcAft>
              <a:buNone/>
              <a:defRPr/>
            </a:pPr>
            <a:r>
              <a:rPr altLang="en-US" dirty="0" kern="0" kumimoji="0" lang="zh-CN" normalizeH="0" b="1"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rPr>
              <a:t>技术发明的形式：</a:t>
            </a:r>
            <a:endParaRPr altLang="zh-CN" dirty="0" kern="0" kumimoji="0" lang="en-US" normalizeH="0" b="1"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技术原理的发明</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00000"/>
              </a:lnSpc>
              <a:spcBef>
                <a:spcPct val="20000"/>
              </a:spcBef>
              <a:spcAft>
                <a:spcPct val="0"/>
              </a:spcAft>
              <a:buNone/>
              <a:defRPr/>
            </a:pPr>
            <a:endPar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技术物品和设计方法的发明</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Tree>
  </p:cSld>
  <p:clrMapOvr>
    <a:masterClrMapping/>
  </p:clrMapOvr>
</p:sld>
</file>

<file path=ppt/slides/slide19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2994" name="Picture 9"/>
          <p:cNvPicPr/>
          <p:nvPr/>
        </p:nvPicPr>
        <p:blipFill>
          <a:blip r:embed="rId1"/>
          <a:stretch>
            <a:fillRect/>
          </a:stretch>
        </p:blipFill>
        <p:spPr>
          <a:xfrm>
            <a:off x="0" y="0"/>
            <a:ext cx="9144000" cy="1743075"/>
          </a:xfrm>
          <a:prstGeom prst="rect">
            <a:avLst/>
          </a:prstGeom>
          <a:noFill/>
          <a:ln w="9525">
            <a:noFill/>
          </a:ln>
        </p:spPr>
      </p:pic>
      <p:sp>
        <p:nvSpPr>
          <p:cNvPr id="5" name="Rectangle 3"/>
          <p:cNvSpPr/>
          <p:nvPr/>
        </p:nvSpPr>
        <p:spPr>
          <a:xfrm>
            <a:off x="0" y="2057400"/>
            <a:ext cx="91440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1371600" marR="0" indent="0" lvl="3"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a:latin typeface="Franklin Gothic Book"/>
              </a:rPr>
              <a:t>技术原理：</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指由多种不同技术要素联结成具有特定功能的技术系统的理论依据。</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1371600" marR="0" indent="0" lvl="3"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技术原理既指适用于一大类技术的普遍原理，如机械原理、电工原理等；也指适用于某种特定的技术工作原理，如加速器工作原理，程控机床工作原理等。前者可称为技术理论，旨在沟通科学同技术的联系；后者则是技术理论的具体实现。</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342900" marR="0" indent="-342900" lvl="0" algn="l"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ß"/>
              <a:defRPr/>
            </a:pPr>
            <a:endParaRPr altLang="en-US" dirty="0" kern="0" kumimoji="0" lang="zh-CN" normalizeH="0" b="0" cap="none" i="0" noProof="0" spc="0" strike="noStrike" sz="3200" u="none">
              <a:ln>
                <a:noFill/>
              </a:ln>
              <a:solidFill>
                <a:schemeClr val="tx1"/>
              </a:solidFill>
              <a:effectLst/>
              <a:uLnTx/>
              <a:uFillTx/>
              <a:cs typeface="+mn-cs"/>
              <a:ea/>
              <a:latin typeface="Franklin Gothic Book"/>
            </a:endParaRPr>
          </a:p>
        </p:txBody>
      </p:sp>
    </p:spTree>
  </p:cSld>
  <p:clrMapOvr>
    <a:masterClrMapping/>
  </p:clrMapOvr>
</p:sld>
</file>

<file path=ppt/slides/slide19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4018"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363538" y="2017713"/>
            <a:ext cx="8416925"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技术原理作为技术发明创造过程的一种理论依据，具有两个明显特征：一是符合科学所揭示的自然规律，能把对自然界的认识成果转化为变革或控制自然界的实践能力；二是体现着人类的某种技术目的；能使技术系统产生一定的效用，满足人类的某种实际需要。由是观之，技术原理，既非纯理论问题，也非纯技术问题，而是沟通科学和技术的中介原理，是科学理论的再创造、再构思过程。</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Tree>
  </p:cSld>
  <p:clrMapOvr>
    <a:masterClrMapping/>
  </p:clrMapOvr>
</p:sld>
</file>

<file path=ppt/slides/slide19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5042" name="Picture 9"/>
          <p:cNvPicPr/>
          <p:nvPr/>
        </p:nvPicPr>
        <p:blipFill>
          <a:blip r:embed="rId1"/>
          <a:stretch>
            <a:fillRect/>
          </a:stretch>
        </p:blipFill>
        <p:spPr>
          <a:xfrm>
            <a:off x="0" y="0"/>
            <a:ext cx="9144000" cy="1743075"/>
          </a:xfrm>
          <a:prstGeom prst="rect">
            <a:avLst/>
          </a:prstGeom>
          <a:noFill/>
          <a:ln w="9525">
            <a:noFill/>
          </a:ln>
        </p:spPr>
      </p:pic>
      <p:sp>
        <p:nvSpPr>
          <p:cNvPr id="215043" name="矩形 1"/>
          <p:cNvSpPr/>
          <p:nvPr/>
        </p:nvSpPr>
        <p:spPr>
          <a:xfrm>
            <a:off x="0" y="1722438"/>
            <a:ext cx="6605588" cy="52625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1371600" indent="0" lvl="3" algn="just" eaLnBrk="1" hangingPunct="1">
              <a:spcBef>
                <a:spcPct val="0"/>
              </a:spcBef>
              <a:buNone/>
            </a:pPr>
            <a:r>
              <a:rPr altLang="zh-CN" dirty="0" lang="zh-CN" sz="2400">
                <a:ea typeface="宋体" panose="02010600030101010101" pitchFamily="2" charset="-122"/>
                <a:latin typeface="Arial" panose="020B0604020202020204" pitchFamily="34" charset="0"/>
              </a:rPr>
              <a:t> </a:t>
            </a:r>
            <a:r>
              <a:rPr altLang="zh-CN" dirty="0" lang="zh-CN" sz="2800">
                <a:ea typeface="宋体" panose="02010600030101010101" pitchFamily="2" charset="-122"/>
                <a:latin typeface="Arial" panose="020B0604020202020204" pitchFamily="34" charset="0"/>
              </a:rPr>
              <a:t>技术原理归根到底源于科学。依靠科学理论的逻辑推演是技术原理构思的主要方法，特别是在理论超前于实践的当代条件下，技术的突破更是以科学的突破为先导，科学原理推演法更显重要。</a:t>
            </a:r>
            <a:endParaRPr altLang="zh-CN" dirty="0" lang="zh-CN" sz="2800">
              <a:ea typeface="宋体" panose="02010600030101010101" pitchFamily="2" charset="-122"/>
              <a:latin typeface="Arial" panose="020B0604020202020204" pitchFamily="34" charset="0"/>
            </a:endParaRPr>
          </a:p>
          <a:p>
            <a:pPr marL="1371600" indent="0" lvl="3" algn="just" eaLnBrk="1" hangingPunct="1">
              <a:spcBef>
                <a:spcPct val="0"/>
              </a:spcBef>
              <a:buNone/>
            </a:pPr>
            <a:r>
              <a:rPr altLang="zh-CN" dirty="0" lang="zh-CN" sz="2800">
                <a:ea typeface="宋体" panose="02010600030101010101" pitchFamily="2" charset="-122"/>
                <a:latin typeface="Arial" panose="020B0604020202020204" pitchFamily="34" charset="0"/>
              </a:rPr>
              <a:t>     例如，导致电讯技术革命的技术原理主要来自电磁场理论；导致信息技术革命的技术原理主要来自信息科学和系统科学；导致核能开发的技术原理主要来自核物理。</a:t>
            </a:r>
            <a:endParaRPr altLang="en-US" dirty="0" lang="zh-CN" sz="1800">
              <a:ea typeface="宋体" panose="02010600030101010101" pitchFamily="2" charset="-122"/>
              <a:latin typeface="Arial" panose="020B0604020202020204" pitchFamily="34" charset="0"/>
            </a:endParaRPr>
          </a:p>
        </p:txBody>
      </p:sp>
      <p:pic>
        <p:nvPicPr>
          <p:cNvPr id="215044" name="图片 4"/>
          <p:cNvPicPr/>
          <p:nvPr/>
        </p:nvPicPr>
        <p:blipFill>
          <a:blip r:embed="rId2"/>
          <a:stretch>
            <a:fillRect/>
          </a:stretch>
        </p:blipFill>
        <p:spPr>
          <a:xfrm>
            <a:off x="6605588" y="1870075"/>
            <a:ext cx="2538412" cy="2722563"/>
          </a:xfrm>
          <a:prstGeom prst="rect">
            <a:avLst/>
          </a:prstGeom>
          <a:noFill/>
          <a:ln w="9525">
            <a:noFill/>
          </a:ln>
        </p:spPr>
      </p:pic>
    </p:spTree>
  </p:cSld>
  <p:clrMapOvr>
    <a:masterClrMapping/>
  </p:clrMapOvr>
</p:sld>
</file>

<file path=ppt/slides/slide19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7090" name="Picture 9"/>
          <p:cNvPicPr/>
          <p:nvPr/>
        </p:nvPicPr>
        <p:blipFill>
          <a:blip r:embed="rId1"/>
          <a:stretch>
            <a:fillRect/>
          </a:stretch>
        </p:blipFill>
        <p:spPr>
          <a:xfrm>
            <a:off x="0" y="0"/>
            <a:ext cx="9144000" cy="1743075"/>
          </a:xfrm>
          <a:prstGeom prst="rect">
            <a:avLst/>
          </a:prstGeom>
          <a:noFill/>
          <a:ln w="9525">
            <a:noFill/>
          </a:ln>
        </p:spPr>
      </p:pic>
      <p:sp>
        <p:nvSpPr>
          <p:cNvPr id="6" name="Rectangle 3"/>
          <p:cNvSpPr/>
          <p:nvPr/>
        </p:nvSpPr>
        <p:spPr>
          <a:xfrm>
            <a:off x="107950" y="2276475"/>
            <a:ext cx="89281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1371600" marR="0" indent="0" lvl="3"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a:latin typeface="Franklin Gothic Book"/>
              </a:rPr>
              <a:t>     组合法：</a:t>
            </a:r>
            <a:endParaRPr altLang="zh-CN" dirty="0" kern="0" kumimoji="0" lang="en-US" normalizeH="0" b="0" cap="none" i="0" noProof="0" spc="0" strike="noStrike" sz="3200" u="none">
              <a:ln>
                <a:noFill/>
              </a:ln>
              <a:solidFill>
                <a:schemeClr val="tx1"/>
              </a:solidFill>
              <a:effectLst/>
              <a:uLnTx/>
              <a:uFillTx/>
              <a:cs typeface="+mn-cs"/>
              <a:ea/>
              <a:latin typeface="Franklin Gothic Book"/>
            </a:endParaRPr>
          </a:p>
          <a:p>
            <a:pPr marL="1371600" marR="0" indent="0" lvl="3"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rPr>
              <a:t>科学突破导致技术突破的形式不是惟一的。在有些情况下，并非利用新发现的科学原理，而是利用各种科学原理的新组合或创造某些科学原理起作用的新条件，也可形成新的技术原理。</a:t>
            </a:r>
            <a:endParaRPr altLang="en-US" dirty="0" kern="0" kumimoji="0" lang="zh-CN" normalizeH="0" b="0" cap="none" i="0" noProof="0" spc="0" strike="noStrike" sz="3200" u="none">
              <a:ln>
                <a:noFill/>
              </a:ln>
              <a:solidFill>
                <a:schemeClr val="tx1"/>
              </a:solidFill>
              <a:effectLst/>
              <a:uLnTx/>
              <a:uFillTx/>
              <a:cs typeface="+mn-cs"/>
              <a:ea typeface="宋体" panose="02010600030101010101" pitchFamily="2" charset="-122"/>
              <a:latin typeface="宋体" panose="02010600030101010101" pitchFamily="2" charset="-122"/>
            </a:endParaRPr>
          </a:p>
          <a:p>
            <a:pPr marL="1371600" marR="0" indent="0" lvl="3"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a:latin typeface="Franklin Gothic Book"/>
              </a:rPr>
              <a:t>     </a:t>
            </a:r>
            <a:endParaRPr altLang="en-US" dirty="0" kern="0" kumimoji="0" lang="zh-CN" normalizeH="0" b="0" cap="none" i="0" noProof="0" spc="0" strike="noStrike" sz="3200" u="none">
              <a:ln>
                <a:noFill/>
              </a:ln>
              <a:solidFill>
                <a:schemeClr val="tx1"/>
              </a:solidFill>
              <a:effectLst/>
              <a:uLnTx/>
              <a:uFillTx/>
              <a:cs typeface="+mn-cs"/>
              <a:ea/>
              <a:latin typeface="Franklin Gothic Book"/>
            </a:endParaRPr>
          </a:p>
          <a:p>
            <a:pPr marL="342900" marR="0" indent="-342900" lvl="0" algn="l"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ß"/>
              <a:defRPr/>
            </a:pP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p:txBody>
      </p:sp>
    </p:spTree>
  </p:cSld>
  <p:clrMapOvr>
    <a:masterClrMapping/>
  </p:clrMapOvr>
</p:sld>
</file>

<file path=ppt/slides/slide19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19138" name="Picture 9"/>
          <p:cNvPicPr/>
          <p:nvPr/>
        </p:nvPicPr>
        <p:blipFill>
          <a:blip r:embed="rId1"/>
          <a:stretch>
            <a:fillRect/>
          </a:stretch>
        </p:blipFill>
        <p:spPr>
          <a:xfrm>
            <a:off x="0" y="0"/>
            <a:ext cx="9144000" cy="1743075"/>
          </a:xfrm>
          <a:prstGeom prst="rect">
            <a:avLst/>
          </a:prstGeom>
          <a:noFill/>
          <a:ln w="9525">
            <a:noFill/>
          </a:ln>
        </p:spPr>
      </p:pic>
      <p:sp>
        <p:nvSpPr>
          <p:cNvPr id="6" name="Rectangle 3"/>
          <p:cNvSpPr/>
          <p:nvPr/>
        </p:nvSpPr>
        <p:spPr>
          <a:xfrm>
            <a:off x="107950" y="2276475"/>
            <a:ext cx="892810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1371600" marR="0" indent="0" lvl="3"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a:latin typeface="Franklin Gothic Book"/>
              </a:rPr>
              <a:t>     原理改进法：</a:t>
            </a:r>
            <a:endParaRPr altLang="zh-CN" dirty="0" kern="0" kumimoji="0" lang="en-US" normalizeH="0" b="0" cap="none" i="0" noProof="0" spc="0" strike="noStrike" sz="3200" u="none">
              <a:ln>
                <a:noFill/>
              </a:ln>
              <a:solidFill>
                <a:schemeClr val="tx1"/>
              </a:solidFill>
              <a:effectLst/>
              <a:uLnTx/>
              <a:uFillTx/>
              <a:cs typeface="+mn-cs"/>
              <a:ea/>
              <a:latin typeface="Franklin Gothic Book"/>
            </a:endParaRPr>
          </a:p>
          <a:p>
            <a:pPr marL="1371600" marR="0" indent="0" lvl="3" algn="l" defTabSz="914400" rtl="0" eaLnBrk="1" latinLnBrk="0" hangingPunct="1" fontAlgn="base">
              <a:lnSpc>
                <a:spcPct val="120000"/>
              </a:lnSpc>
              <a:spcBef>
                <a:spcPct val="2000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科学原理推演法的另一变形形式是原理改进，即在遵从现有科学理论的前提下，交换和改进已有技术原理形成新的技术原理，它是以技术类比实现的技术原理的变换，因而也是一种原理的推演。</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1371600" marR="0" indent="0" lvl="3" algn="l" defTabSz="914400" rtl="0" eaLnBrk="1" latinLnBrk="0" hangingPunct="1" fontAlgn="base">
              <a:lnSpc>
                <a:spcPct val="120000"/>
              </a:lnSpc>
              <a:spcBef>
                <a:spcPct val="20000"/>
              </a:spcBef>
              <a:spcAft>
                <a:spcPct val="0"/>
              </a:spcAft>
              <a:buNone/>
              <a:defRPr/>
            </a:pPr>
            <a:r>
              <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rPr>
              <a:t>     例如，内燃机的技术原理是从蒸汽机的技术原理类比和改进而来的；粉末冶金的技术原理是与铸造的技术原理类比变换而来的。</a:t>
            </a:r>
            <a:endParaRPr altLang="en-US" dirty="0" kern="1200" kumimoji="0" lang="zh-CN" normalizeH="0" b="0" cap="none" i="0" noProof="0" spc="0" strike="noStrike" sz="2400" u="none">
              <a:ln>
                <a:noFill/>
              </a:ln>
              <a:solidFill>
                <a:schemeClr val="tx1"/>
              </a:solidFill>
              <a:effectLst/>
              <a:uLnTx/>
              <a:uFillTx/>
              <a:cs typeface="+mn-cs"/>
              <a:ea typeface="宋体" panose="02010600030101010101" pitchFamily="2" charset="-122"/>
              <a:latin typeface="宋体" panose="02010600030101010101" pitchFamily="2" charset="-122"/>
            </a:endParaRPr>
          </a:p>
          <a:p>
            <a:pPr marL="1371600" marR="0" indent="0" lvl="3" algn="l"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3200" u="none">
                <a:ln>
                  <a:noFill/>
                </a:ln>
                <a:solidFill>
                  <a:schemeClr val="tx1"/>
                </a:solidFill>
                <a:effectLst/>
                <a:uLnTx/>
                <a:uFillTx/>
                <a:cs typeface="+mn-cs"/>
                <a:ea/>
                <a:latin typeface="Franklin Gothic Book"/>
              </a:rPr>
              <a:t>     </a:t>
            </a:r>
            <a:endParaRPr altLang="en-US" dirty="0" kern="1200" kumimoji="0" lang="zh-CN" normalizeH="0" b="0" cap="none" i="0" noProof="0" spc="0" strike="noStrike" sz="3200" u="none">
              <a:ln>
                <a:noFill/>
              </a:ln>
              <a:solidFill>
                <a:schemeClr val="tx1"/>
              </a:solidFill>
              <a:effectLst/>
              <a:uLnTx/>
              <a:uFillTx/>
              <a:cs typeface="+mn-cs"/>
              <a:ea/>
              <a:latin typeface="Franklin Gothic Book"/>
            </a:endParaRPr>
          </a:p>
          <a:p>
            <a:pPr marL="1371600" marR="0" indent="0" lvl="3" algn="just" defTabSz="914400" rtl="0" eaLnBrk="1" latinLnBrk="0" hangingPunct="1" fontAlgn="base">
              <a:lnSpc>
                <a:spcPct val="12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a:latin typeface="Franklin Gothic Book"/>
              </a:rPr>
              <a:t>     </a:t>
            </a:r>
            <a:endParaRPr altLang="en-US" dirty="0" kern="0" kumimoji="0" lang="zh-CN" normalizeH="0" b="0" cap="none" i="0" noProof="0" spc="0" strike="noStrike" sz="3200" u="none">
              <a:ln>
                <a:noFill/>
              </a:ln>
              <a:solidFill>
                <a:schemeClr val="tx1"/>
              </a:solidFill>
              <a:effectLst/>
              <a:uLnTx/>
              <a:uFillTx/>
              <a:cs typeface="+mn-cs"/>
              <a:ea/>
              <a:latin typeface="Franklin Gothic Book"/>
            </a:endParaRPr>
          </a:p>
          <a:p>
            <a:pPr marL="342900" marR="0" indent="-342900" lvl="0" algn="l" defTabSz="914400" rtl="0" eaLnBrk="1" latinLnBrk="0" hangingPunct="1" fontAlgn="base">
              <a:lnSpc>
                <a:spcPct val="100000"/>
              </a:lnSpc>
              <a:spcBef>
                <a:spcPct val="20000"/>
              </a:spcBef>
              <a:spcAft>
                <a:spcPct val="0"/>
              </a:spcAft>
              <a:buClr>
                <a:schemeClr val="tx2"/>
              </a:buClr>
              <a:buSzPct val="50000"/>
              <a:buFont typeface="05020102010507070707" pitchFamily="18" charset="2"/>
              <a:buChar char="ß"/>
              <a:defRPr/>
            </a:pPr>
            <a:endParaRPr altLang="en-US" dirty="0" kern="0" kumimoji="0" lang="zh-CN" normalizeH="0" b="0" cap="none" i="0" noProof="0" spc="0" strike="noStrike" sz="2800" u="none">
              <a:ln>
                <a:noFill/>
              </a:ln>
              <a:solidFill>
                <a:schemeClr val="tx1"/>
              </a:solidFill>
              <a:effectLst/>
              <a:uLnTx/>
              <a:uFillTx/>
              <a:cs typeface="+mn-cs"/>
              <a:ea/>
              <a:latin typeface="Franklin Gothic Book"/>
            </a:endParaRPr>
          </a:p>
        </p:txBody>
      </p:sp>
    </p:spTree>
  </p:cSld>
  <p:clrMapOvr>
    <a:masterClrMapping/>
  </p:clrMapOvr>
</p:sld>
</file>

<file path=ppt/slides/slide19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21186"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269875" y="1989138"/>
            <a:ext cx="860425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3200" u="none">
                <a:ln>
                  <a:noFill/>
                </a:ln>
                <a:solidFill>
                  <a:schemeClr val="tx1"/>
                </a:solidFill>
                <a:effectLst/>
                <a:uLnTx/>
                <a:uFillTx/>
                <a:cs typeface="+mn-cs"/>
                <a:ea/>
                <a:latin typeface="宋体" panose="02010600030101010101" pitchFamily="2" charset="-122"/>
              </a:rPr>
              <a:t>技术创新</a:t>
            </a:r>
            <a:endParaRPr altLang="zh-CN" dirty="0" kern="0" kumimoji="0" lang="en-US" normalizeH="0" b="0" cap="none" i="0" noProof="0" spc="0" strike="noStrike" sz="3200" u="none">
              <a:ln>
                <a:noFill/>
              </a:ln>
              <a:solidFill>
                <a:schemeClr val="tx1"/>
              </a:solidFill>
              <a:effectLst/>
              <a:uLnTx/>
              <a:uFillTx/>
              <a:cs typeface="+mn-cs"/>
              <a:ea/>
              <a:latin typeface="宋体" panose="02010600030101010101" pitchFamily="2" charset="-122"/>
            </a:endParaRPr>
          </a:p>
          <a:p>
            <a:pPr marL="0" marR="0" indent="0" lvl="0" algn="just" defTabSz="914400" rtl="0" eaLnBrk="1" latinLnBrk="0" hangingPunct="1" fontAlgn="base">
              <a:lnSpc>
                <a:spcPct val="100000"/>
              </a:lnSpc>
              <a:spcBef>
                <a:spcPct val="20000"/>
              </a:spcBef>
              <a:spcAft>
                <a:spcPct val="0"/>
              </a:spcAft>
              <a:buNone/>
              <a:defRPr/>
            </a:pP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创新（</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Innovation)</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一词源于</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1911</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年美籍奥地利人、著名经济学家约瑟夫</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阿罗斯</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熊彼特（</a:t>
            </a:r>
            <a:r>
              <a:rPr altLang="zh-CN" dirty="0" err="1"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JosephA</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Schumpeter)</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所写的一本书</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经济发展理论</a:t>
            </a:r>
            <a:r>
              <a:rPr altLang="zh-CN" dirty="0" kern="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。这本书标志着创新经济学的建立。</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宋体" panose="02010600030101010101" pitchFamily="2" charset="-122"/>
            </a:endParaRPr>
          </a:p>
        </p:txBody>
      </p:sp>
    </p:spTree>
  </p:cSld>
  <p:clrMapOvr>
    <a:masterClrMapping/>
  </p:clrMapOvr>
</p:sld>
</file>

<file path=ppt/slides/slide19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23234"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269875" y="1989138"/>
            <a:ext cx="860425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创新包括五种情况：</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1</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）采用一种新产品</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也就是消费者还不熟悉的产品，或一种产品的一种新的特性；</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2</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）采用一种新的生产方法；</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3</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）开辟一个新市场；</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4</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）控制或掠取了新的原材料供应来源；</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a:t>
            </a:r>
            <a:r>
              <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5</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）实现任何一种工业的新的组织，</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比如造成一种垄断地位或打破一种</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just" defTabSz="914400" rtl="0" eaLnBrk="1" latinLnBrk="0" hangingPunct="1" fontAlgn="base">
              <a:lnSpc>
                <a:spcPct val="8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垄断地位。 </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宋体" panose="02010600030101010101" pitchFamily="2" charset="-122"/>
            </a:endParaRPr>
          </a:p>
        </p:txBody>
      </p:sp>
    </p:spTree>
  </p:cSld>
  <p:clrMapOvr>
    <a:masterClrMapping/>
  </p:clrMapOvr>
</p:sld>
</file>

<file path=ppt/slides/slide19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25282"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269875" y="1989138"/>
            <a:ext cx="860425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342900" marR="0" indent="-342900" lvl="0"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现在一般对技术创新的最简单、最直观的表述是：</a:t>
            </a:r>
            <a:r>
              <a:rPr altLang="en-US" dirty="0" kern="1200" kumimoji="0" lang="zh-CN" normalizeH="0" b="0" cap="none" i="0" noProof="0" spc="0" strike="noStrike" sz="2800" u="none">
                <a:ln>
                  <a:noFill/>
                </a:ln>
                <a:solidFill>
                  <a:srgbClr val="0000FF"/>
                </a:solidFill>
                <a:effectLst/>
                <a:uLnTx/>
                <a:uFillTx/>
                <a:cs typeface="+mn-cs"/>
                <a:ea typeface="宋体" panose="02010600030101010101" pitchFamily="2" charset="-122"/>
                <a:latin typeface="宋体" panose="02010600030101010101" pitchFamily="2" charset="-122"/>
              </a:rPr>
              <a:t>“技术创新是科技新成果（包括概念、发现、发明和其他成果）转变成一种新的或改进的能够带来经济收益的新技术或新工艺”</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0" marR="0" indent="0" lvl="0" algn="l" defTabSz="914400" rtl="0" eaLnBrk="1" latinLnBrk="0" hangingPunct="1" fontAlgn="base">
              <a:lnSpc>
                <a:spcPct val="100000"/>
              </a:lnSpc>
              <a:spcBef>
                <a:spcPct val="20000"/>
              </a:spcBef>
              <a:spcAft>
                <a:spcPct val="0"/>
              </a:spcAft>
              <a:buNone/>
              <a:defRPr/>
            </a:pPr>
            <a:endParaRPr altLang="en-US" dirty="0" kern="0" kumimoji="0" lang="zh-CN" normalizeH="0" b="0" cap="none" i="0" noProof="0" spc="0" strike="noStrike" sz="3600" u="none">
              <a:ln>
                <a:noFill/>
              </a:ln>
              <a:solidFill>
                <a:schemeClr val="tx1"/>
              </a:solidFill>
              <a:effectLst/>
              <a:uLnTx/>
              <a:uFillTx/>
              <a:cs typeface="+mn-cs"/>
              <a:ea/>
              <a:latin typeface="宋体" panose="02010600030101010101" pitchFamily="2" charset="-122"/>
            </a:endParaRPr>
          </a:p>
        </p:txBody>
      </p:sp>
    </p:spTree>
  </p:cSld>
  <p:clrMapOvr>
    <a:masterClrMapping/>
  </p:clrMapOvr>
</p:sld>
</file>

<file path=ppt/slides/slide19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27330"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269875" y="1989138"/>
            <a:ext cx="8604250"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342900" marR="0" indent="-342900" lvl="0"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a:latin typeface="Franklin Gothic Book"/>
              </a:rPr>
              <a:t>技术发明与技术创新的区别：</a:t>
            </a:r>
            <a:endParaRPr altLang="en-US" dirty="0" kern="1200" kumimoji="0" lang="zh-CN" normalizeH="0" b="0" cap="none" i="0" noProof="0" spc="0" strike="noStrike" sz="2800" u="none">
              <a:ln>
                <a:noFill/>
              </a:ln>
              <a:solidFill>
                <a:schemeClr val="tx1"/>
              </a:solidFill>
              <a:effectLst/>
              <a:uLnTx/>
              <a:uFillTx/>
              <a:cs typeface="+mn-cs"/>
              <a:ea/>
              <a:latin typeface="Franklin Gothic Book"/>
            </a:endParaRPr>
          </a:p>
          <a:p>
            <a:pPr marL="342900" marR="0" indent="-342900" lvl="0"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技术发明旨在创造人工客体，实现理论的物化，是以技术方案设计和有效性评价为主的活动。其成果只是样品，不是商品，还不能与经济活动挂钩；</a:t>
            </a:r>
            <a:endPar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342900" marR="0" indent="-342900" lvl="0"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  而技术创新则以技术发明为必要条件，但不停留于成果本身，而是将其引入市场、投入实际应用，将技术成果产业化和商品化与经济活动接轨的过程。从本质上说，是用以满足经济和社会需求并提高经济效益、社会效益从而导致经济增长的技术一经济活动。</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spTree>
  </p:cSld>
  <p:clrMapOvr>
    <a:masterClrMapping/>
  </p:clrMapOvr>
</p:sld>
</file>

<file path=ppt/slides/slide19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29378" name="Picture 9"/>
          <p:cNvPicPr/>
          <p:nvPr/>
        </p:nvPicPr>
        <p:blipFill>
          <a:blip r:embed="rId1"/>
          <a:stretch>
            <a:fillRect/>
          </a:stretch>
        </p:blipFill>
        <p:spPr>
          <a:xfrm>
            <a:off x="0" y="0"/>
            <a:ext cx="9144000" cy="1743075"/>
          </a:xfrm>
          <a:prstGeom prst="rect">
            <a:avLst/>
          </a:prstGeom>
          <a:noFill/>
          <a:ln w="9525">
            <a:noFill/>
          </a:ln>
        </p:spPr>
      </p:pic>
      <p:sp>
        <p:nvSpPr>
          <p:cNvPr id="4" name="Rectangle 3"/>
          <p:cNvSpPr/>
          <p:nvPr/>
        </p:nvSpPr>
        <p:spPr>
          <a:xfrm>
            <a:off x="269875" y="1989138"/>
            <a:ext cx="5113338" cy="4114800"/>
          </a:xfrm>
          <a:prstGeom prst="rect">
            <a:avLst/>
          </a:prstGeom>
        </p:spPr>
        <p:txBody>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9pPr>
          </a:lstStyle>
          <a:p>
            <a:pPr marL="342900" marR="0" indent="-342900" lvl="0"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a:latin typeface="Franklin Gothic Book"/>
              </a:rPr>
              <a:t>技术创新的特点：</a:t>
            </a:r>
            <a:endParaRPr altLang="en-US" dirty="0" kern="1200" kumimoji="0" lang="zh-CN" normalizeH="0" b="0" cap="none" i="0" noProof="0" spc="0" strike="noStrike" sz="2800" u="none">
              <a:ln>
                <a:noFill/>
              </a:ln>
              <a:solidFill>
                <a:schemeClr val="tx1"/>
              </a:solidFill>
              <a:effectLst/>
              <a:uLnTx/>
              <a:uFillTx/>
              <a:cs typeface="+mn-cs"/>
              <a:ea/>
              <a:latin typeface="Franklin Gothic Book"/>
            </a:endParaRPr>
          </a:p>
          <a:p>
            <a:pPr marL="1371600" marR="0" indent="0" lvl="3"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a:latin typeface="Franklin Gothic Book"/>
              </a:rPr>
              <a:t> </a:t>
            </a: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一是在技术上把理论形态的科技成果物化为现实的技术系统或产品；</a:t>
            </a:r>
            <a:endParaRPr altLang="zh-CN" dirty="0" kern="1200" kumimoji="0" lang="en-US"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a:p>
            <a:pPr marL="1371600" marR="0" indent="0" lvl="3" algn="just" defTabSz="914400" rtl="0" eaLnBrk="1" latinLnBrk="0" hangingPunct="1" fontAlgn="base">
              <a:lnSpc>
                <a:spcPct val="100000"/>
              </a:lnSpc>
              <a:spcBef>
                <a:spcPct val="20000"/>
              </a:spcBef>
              <a:spcAft>
                <a:spcPct val="0"/>
              </a:spcAft>
              <a:buNone/>
              <a:defRPr/>
            </a:pPr>
            <a:r>
              <a:rPr altLang="en-US" dirty="0" kern="120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rPr>
              <a:t>二是在经济上运用新技术成果开拓市场并获取垄断利润和社会效益。这也正是技术创新活动之所以叫作技术一经济活动的根由</a:t>
            </a:r>
            <a:r>
              <a:rPr altLang="en-US" dirty="0" kern="1200" kumimoji="0" lang="zh-CN" normalizeH="0" b="0" cap="none" i="0" noProof="0" spc="0" strike="noStrike" sz="2800" u="none">
                <a:ln>
                  <a:noFill/>
                </a:ln>
                <a:solidFill>
                  <a:schemeClr val="tx1"/>
                </a:solidFill>
                <a:effectLst/>
                <a:uLnTx/>
                <a:uFillTx/>
                <a:cs typeface="+mn-cs"/>
                <a:ea/>
                <a:latin typeface="Franklin Gothic Book"/>
              </a:rPr>
              <a:t>。</a:t>
            </a:r>
            <a:endParaRPr altLang="en-US" dirty="0" kern="0" kumimoji="0" lang="zh-CN" normalizeH="0" b="0" cap="none" i="0" noProof="0" spc="0" strike="noStrike" sz="2800" u="none">
              <a:ln>
                <a:noFill/>
              </a:ln>
              <a:solidFill>
                <a:schemeClr val="tx1"/>
              </a:solidFill>
              <a:effectLst/>
              <a:uLnTx/>
              <a:uFillTx/>
              <a:cs typeface="+mn-cs"/>
              <a:ea typeface="宋体" panose="02010600030101010101" pitchFamily="2" charset="-122"/>
              <a:latin typeface="宋体" panose="02010600030101010101" pitchFamily="2" charset="-122"/>
            </a:endParaRPr>
          </a:p>
        </p:txBody>
      </p:sp>
      <p:pic>
        <p:nvPicPr>
          <p:cNvPr id="229380" name="图片 2"/>
          <p:cNvPicPr/>
          <p:nvPr/>
        </p:nvPicPr>
        <p:blipFill>
          <a:blip r:embed="rId2"/>
          <a:stretch>
            <a:fillRect/>
          </a:stretch>
        </p:blipFill>
        <p:spPr>
          <a:xfrm>
            <a:off x="5764213" y="2578100"/>
            <a:ext cx="3379787" cy="3525838"/>
          </a:xfrm>
          <a:prstGeom prst="rect">
            <a:avLst/>
          </a:prstGeom>
          <a:noFill/>
          <a:ln w="9525">
            <a:noFill/>
          </a:ln>
        </p:spPr>
      </p:pic>
    </p:spTree>
  </p:cSld>
  <p:clrMapOvr>
    <a:masterClrMapping/>
  </p:clrMapOvr>
</p:sld>
</file>

<file path=ppt/slides/slide20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1426" name="Picture 9"/>
          <p:cNvPicPr/>
          <p:nvPr/>
        </p:nvPicPr>
        <p:blipFill>
          <a:blip r:embed="rId1"/>
          <a:stretch>
            <a:fillRect/>
          </a:stretch>
        </p:blipFill>
        <p:spPr>
          <a:xfrm>
            <a:off x="0" y="0"/>
            <a:ext cx="9144000" cy="1743075"/>
          </a:xfrm>
          <a:prstGeom prst="rect">
            <a:avLst/>
          </a:prstGeom>
          <a:noFill/>
          <a:ln w="9525">
            <a:noFill/>
          </a:ln>
        </p:spPr>
      </p:pic>
      <p:sp>
        <p:nvSpPr>
          <p:cNvPr id="231427" name="TextBox 2"/>
          <p:cNvSpPr/>
          <p:nvPr/>
        </p:nvSpPr>
        <p:spPr>
          <a:xfrm>
            <a:off x="0" y="1743075"/>
            <a:ext cx="9144000" cy="451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solidFill>
                  <a:srgbClr val="FF0000"/>
                </a:solidFill>
                <a:ea typeface="微软雅黑" panose="020B0503020204020204" pitchFamily="34" charset="-122"/>
                <a:latin typeface="微软雅黑" panose="020B0503020204020204" pitchFamily="34" charset="-122"/>
              </a:rPr>
              <a:t>技术创新的精神</a:t>
            </a:r>
            <a:endParaRPr altLang="zh-CN" dirty="0" lang="en-US" b="1" sz="2800">
              <a:solidFill>
                <a:srgbClr val="FF0000"/>
              </a:solidFill>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勇敢与坚持；</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创新与务实的精神；</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创新的目标是由具体客观的需求确定的</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新需求的两种方式：技术推动的作用，需求牵引</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严谨与写作的精神；</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b="1" sz="2800">
              <a:ea typeface="宋体" panose="02010600030101010101" pitchFamily="2" charset="-122"/>
              <a:latin typeface="宋体" panose="02010600030101010101" pitchFamily="2" charset="-122"/>
            </a:endParaRPr>
          </a:p>
        </p:txBody>
      </p:sp>
    </p:spTree>
  </p:cSld>
  <p:clrMapOvr>
    <a:masterClrMapping/>
  </p:clrMapOvr>
</p:sld>
</file>

<file path=ppt/slides/slide20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2450" name="Picture 9"/>
          <p:cNvPicPr/>
          <p:nvPr/>
        </p:nvPicPr>
        <p:blipFill>
          <a:blip r:embed="rId1"/>
          <a:stretch>
            <a:fillRect/>
          </a:stretch>
        </p:blipFill>
        <p:spPr>
          <a:xfrm>
            <a:off x="0" y="0"/>
            <a:ext cx="9144000" cy="1743075"/>
          </a:xfrm>
          <a:prstGeom prst="rect">
            <a:avLst/>
          </a:prstGeom>
          <a:noFill/>
          <a:ln w="9525">
            <a:noFill/>
          </a:ln>
        </p:spPr>
      </p:pic>
      <p:sp>
        <p:nvSpPr>
          <p:cNvPr id="232451" name="TextBox 2"/>
          <p:cNvSpPr/>
          <p:nvPr/>
        </p:nvSpPr>
        <p:spPr>
          <a:xfrm>
            <a:off x="0" y="1743075"/>
            <a:ext cx="9144000" cy="5068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第四节 科研选题</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一、科学问题</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科学问题是指科学认识主体在特定的知识背景下提出的关于科学认识和科学实践中需要解决而又尚未解决的矛盾。</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物理学家贝尔纳说：“课题的形成和选择，无论是作为外部的经济技术要求，抑或作为科学本身的要求，都是科研工作中最复杂的一个阶段。一般来说，提出课题比解决课题更困难。</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所以评价和选择课题，便成了研究战略</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0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3474" name="Picture 9"/>
          <p:cNvPicPr/>
          <p:nvPr/>
        </p:nvPicPr>
        <p:blipFill>
          <a:blip r:embed="rId1"/>
          <a:stretch>
            <a:fillRect/>
          </a:stretch>
        </p:blipFill>
        <p:spPr>
          <a:xfrm>
            <a:off x="0" y="0"/>
            <a:ext cx="9144000" cy="1743075"/>
          </a:xfrm>
          <a:prstGeom prst="rect">
            <a:avLst/>
          </a:prstGeom>
          <a:noFill/>
          <a:ln w="9525">
            <a:noFill/>
          </a:ln>
        </p:spPr>
      </p:pic>
      <p:sp>
        <p:nvSpPr>
          <p:cNvPr id="233475"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的起点，要从一大堆课题中挑出带实质性的课题来，而不能把它们同非实质性课题混杂在一起。”</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二、提出问题比解决问题更重要，但也更困难</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a:t>
            </a:r>
            <a:r>
              <a:rPr altLang="en-US" dirty="0" lang="zh-CN" sz="2400">
                <a:ea typeface="宋体" panose="02010600030101010101" pitchFamily="2" charset="-122"/>
                <a:latin typeface="宋体" panose="02010600030101010101" pitchFamily="2" charset="-122"/>
              </a:rPr>
              <a:t>、提出科学问题要又敢于摆脱传统观念的勇气。</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2</a:t>
            </a:r>
            <a:r>
              <a:rPr altLang="en-US" dirty="0" lang="zh-CN" sz="2400">
                <a:ea typeface="宋体" panose="02010600030101010101" pitchFamily="2" charset="-122"/>
                <a:latin typeface="宋体" panose="02010600030101010101" pitchFamily="2" charset="-122"/>
              </a:rPr>
              <a:t>、提出科学问题要具有创造性。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3</a:t>
            </a:r>
            <a:r>
              <a:rPr altLang="en-US" dirty="0" lang="zh-CN" sz="2400">
                <a:ea typeface="宋体" panose="02010600030101010101" pitchFamily="2" charset="-122"/>
                <a:latin typeface="宋体" panose="02010600030101010101" pitchFamily="2" charset="-122"/>
              </a:rPr>
              <a:t>、提出问题往往标志着科学的真正进步。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4</a:t>
            </a:r>
            <a:r>
              <a:rPr altLang="en-US" dirty="0" lang="zh-CN" sz="2400">
                <a:ea typeface="宋体" panose="02010600030101010101" pitchFamily="2" charset="-122"/>
                <a:latin typeface="宋体" panose="02010600030101010101" pitchFamily="2" charset="-122"/>
              </a:rPr>
              <a:t>、提出问题意味着解决问题。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0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4498" name="Picture 9"/>
          <p:cNvPicPr/>
          <p:nvPr/>
        </p:nvPicPr>
        <p:blipFill>
          <a:blip r:embed="rId1"/>
          <a:stretch>
            <a:fillRect/>
          </a:stretch>
        </p:blipFill>
        <p:spPr>
          <a:xfrm>
            <a:off x="0" y="0"/>
            <a:ext cx="9144000" cy="1743075"/>
          </a:xfrm>
          <a:prstGeom prst="rect">
            <a:avLst/>
          </a:prstGeom>
          <a:noFill/>
          <a:ln w="9525">
            <a:noFill/>
          </a:ln>
        </p:spPr>
      </p:pic>
      <p:sp>
        <p:nvSpPr>
          <p:cNvPr id="234499" name="TextBox 2"/>
          <p:cNvSpPr/>
          <p:nvPr/>
        </p:nvSpPr>
        <p:spPr>
          <a:xfrm>
            <a:off x="0" y="1743075"/>
            <a:ext cx="9144000" cy="5077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三、科学问题的主要来源</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1</a:t>
            </a:r>
            <a:r>
              <a:rPr altLang="en-US" dirty="0" lang="zh-CN" b="1" sz="2400">
                <a:ea typeface="微软雅黑" panose="020B0503020204020204" pitchFamily="34" charset="-122"/>
                <a:latin typeface="微软雅黑" panose="020B0503020204020204" pitchFamily="34" charset="-122"/>
              </a:rPr>
              <a:t>、科学自身的矛盾。包括新的科学事实与原有科学理论的矛盾；科学理论内部的矛盾；对同一事物或同一现象的不同理论解释的矛盾。</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2</a:t>
            </a:r>
            <a:r>
              <a:rPr altLang="en-US" dirty="0" lang="zh-CN" b="1" sz="2400">
                <a:ea typeface="微软雅黑" panose="020B0503020204020204" pitchFamily="34" charset="-122"/>
                <a:latin typeface="微软雅黑" panose="020B0503020204020204" pitchFamily="34" charset="-122"/>
              </a:rPr>
              <a:t>、社会实践需要与现有科学解释和技术手段间的矛盾；</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3</a:t>
            </a:r>
            <a:r>
              <a:rPr altLang="en-US" dirty="0" lang="zh-CN" b="1" sz="2400">
                <a:ea typeface="微软雅黑" panose="020B0503020204020204" pitchFamily="34" charset="-122"/>
                <a:latin typeface="微软雅黑" panose="020B0503020204020204" pitchFamily="34" charset="-122"/>
              </a:rPr>
              <a:t>、各个知识领域、学科间的空白区和交叉点。如生物与化学之间、遗传学和免疫学之间的交叉点和空白区。</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4</a:t>
            </a:r>
            <a:r>
              <a:rPr altLang="en-US" dirty="0" lang="zh-CN" b="1" sz="2400">
                <a:ea typeface="微软雅黑" panose="020B0503020204020204" pitchFamily="34" charset="-122"/>
                <a:latin typeface="微软雅黑" panose="020B0503020204020204" pitchFamily="34" charset="-122"/>
              </a:rPr>
              <a:t>、科技论文与情报资料、学术报告会、论文答辩会、专题讨论会等都能够发现和提出科学问题。</a:t>
            </a:r>
            <a:endParaRPr altLang="zh-CN" dirty="0" lang="en-US" b="1" sz="2400">
              <a:ea typeface="微软雅黑" panose="020B0503020204020204" pitchFamily="34" charset="-122"/>
              <a:latin typeface="微软雅黑" panose="020B0503020204020204" pitchFamily="34" charset="-122"/>
            </a:endParaRPr>
          </a:p>
        </p:txBody>
      </p:sp>
    </p:spTree>
  </p:cSld>
  <p:clrMapOvr>
    <a:masterClrMapping/>
  </p:clrMapOvr>
</p:sld>
</file>

<file path=ppt/slides/slide20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5522" name="Picture 9"/>
          <p:cNvPicPr/>
          <p:nvPr/>
        </p:nvPicPr>
        <p:blipFill>
          <a:blip r:embed="rId1"/>
          <a:stretch>
            <a:fillRect/>
          </a:stretch>
        </p:blipFill>
        <p:spPr>
          <a:xfrm>
            <a:off x="0" y="0"/>
            <a:ext cx="9144000" cy="1743075"/>
          </a:xfrm>
          <a:prstGeom prst="rect">
            <a:avLst/>
          </a:prstGeom>
          <a:noFill/>
          <a:ln w="9525">
            <a:noFill/>
          </a:ln>
        </p:spPr>
      </p:pic>
      <p:sp>
        <p:nvSpPr>
          <p:cNvPr id="235523" name="TextBox 2"/>
          <p:cNvSpPr/>
          <p:nvPr/>
        </p:nvSpPr>
        <p:spPr>
          <a:xfrm>
            <a:off x="0" y="1892300"/>
            <a:ext cx="9144000" cy="4061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四、科研选题的原则</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i="1" sz="2400">
                <a:solidFill>
                  <a:srgbClr val="0000FF"/>
                </a:solidFill>
                <a:ea typeface="宋体" panose="02010600030101010101" pitchFamily="2" charset="-122"/>
                <a:latin typeface="宋体" panose="02010600030101010101" pitchFamily="2" charset="-122"/>
              </a:rPr>
              <a:t>  </a:t>
            </a:r>
            <a:r>
              <a:rPr altLang="en-US" dirty="0" lang="zh-CN" b="1" i="1" sz="2400">
                <a:solidFill>
                  <a:srgbClr val="0000FF"/>
                </a:solidFill>
                <a:ea typeface="宋体" panose="02010600030101010101" pitchFamily="2" charset="-122"/>
                <a:latin typeface="宋体" panose="02010600030101010101" pitchFamily="2" charset="-122"/>
              </a:rPr>
              <a:t>科学性原则，指科研选题不能违背自然规律。</a:t>
            </a:r>
            <a:endParaRPr altLang="zh-CN" dirty="0" lang="en-US" b="1" i="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、要划清科学与伪科学的界限。牛顿后半生专注研究上帝。</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、要划清自然科学与非自然科学的界限。用哲学裁决科学不对；反之也不对。</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、基础理论课题的确立以事实为依据。</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b="1" sz="2800">
              <a:ea typeface="宋体" panose="02010600030101010101" pitchFamily="2" charset="-122"/>
              <a:latin typeface="宋体" panose="02010600030101010101" pitchFamily="2" charset="-122"/>
            </a:endParaRPr>
          </a:p>
        </p:txBody>
      </p:sp>
    </p:spTree>
  </p:cSld>
  <p:clrMapOvr>
    <a:masterClrMapping/>
  </p:clrMapOvr>
</p:sld>
</file>

<file path=ppt/slides/slide20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6546" name="Picture 9"/>
          <p:cNvPicPr/>
          <p:nvPr/>
        </p:nvPicPr>
        <p:blipFill>
          <a:blip r:embed="rId1"/>
          <a:stretch>
            <a:fillRect/>
          </a:stretch>
        </p:blipFill>
        <p:spPr>
          <a:xfrm>
            <a:off x="0" y="0"/>
            <a:ext cx="9144000" cy="1743075"/>
          </a:xfrm>
          <a:prstGeom prst="rect">
            <a:avLst/>
          </a:prstGeom>
          <a:noFill/>
          <a:ln w="9525">
            <a:noFill/>
          </a:ln>
        </p:spPr>
      </p:pic>
      <p:sp>
        <p:nvSpPr>
          <p:cNvPr id="236547" name="TextBox 2"/>
          <p:cNvSpPr/>
          <p:nvPr/>
        </p:nvSpPr>
        <p:spPr>
          <a:xfrm>
            <a:off x="0" y="1892300"/>
            <a:ext cx="91440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、应用技术研究课题的确立一般应有理论根据。</a:t>
            </a:r>
            <a:r>
              <a:rPr altLang="zh-CN" dirty="0" lang="en-US" sz="2400">
                <a:ea typeface="宋体" panose="02010600030101010101" pitchFamily="2" charset="-122"/>
                <a:latin typeface="宋体" panose="02010600030101010101" pitchFamily="2" charset="-122"/>
              </a:rPr>
              <a:t>19</a:t>
            </a:r>
            <a:r>
              <a:rPr altLang="en-US" dirty="0" lang="zh-CN" sz="2400">
                <a:ea typeface="宋体" panose="02010600030101010101" pitchFamily="2" charset="-122"/>
                <a:latin typeface="宋体" panose="02010600030101010101" pitchFamily="2" charset="-122"/>
              </a:rPr>
              <a:t>世纪发明的外科消毒法的英国著名外科医生</a:t>
            </a:r>
            <a:r>
              <a:rPr altLang="zh-CN" dirty="0" lang="en-US" sz="2400">
                <a:ea typeface="宋体" panose="02010600030101010101" pitchFamily="2" charset="-122"/>
                <a:latin typeface="宋体" panose="02010600030101010101" pitchFamily="2" charset="-122"/>
              </a:rPr>
              <a:t>Lister</a:t>
            </a:r>
            <a:r>
              <a:rPr altLang="en-US" dirty="0" lang="zh-CN" sz="2400">
                <a:ea typeface="宋体" panose="02010600030101010101" pitchFamily="2" charset="-122"/>
                <a:latin typeface="宋体" panose="02010600030101010101" pitchFamily="2" charset="-122"/>
              </a:rPr>
              <a:t>在写信感谢法国微生物学家</a:t>
            </a:r>
            <a:r>
              <a:rPr altLang="zh-CN" dirty="0" lang="en-US" sz="2400">
                <a:ea typeface="宋体" panose="02010600030101010101" pitchFamily="2" charset="-122"/>
                <a:latin typeface="宋体" panose="02010600030101010101" pitchFamily="2" charset="-122"/>
              </a:rPr>
              <a:t>Paster</a:t>
            </a:r>
            <a:r>
              <a:rPr altLang="en-US" dirty="0" lang="zh-CN" sz="2400">
                <a:ea typeface="宋体" panose="02010600030101010101" pitchFamily="2" charset="-122"/>
                <a:latin typeface="宋体" panose="02010600030101010101" pitchFamily="2" charset="-122"/>
              </a:rPr>
              <a:t>说：“感谢你指出微生物的存在是腐败的真正原因，根据这唯一可靠的原理，才使我找到防腐的方法。”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i="1" sz="2400">
                <a:solidFill>
                  <a:srgbClr val="0000FF"/>
                </a:solidFill>
                <a:ea typeface="宋体" panose="02010600030101010101" pitchFamily="2" charset="-122"/>
                <a:latin typeface="宋体" panose="02010600030101010101" pitchFamily="2" charset="-122"/>
              </a:rPr>
              <a:t>  </a:t>
            </a:r>
            <a:r>
              <a:rPr altLang="en-US" dirty="0" lang="zh-CN" b="1" i="1" sz="2400">
                <a:solidFill>
                  <a:srgbClr val="0000FF"/>
                </a:solidFill>
                <a:ea typeface="宋体" panose="02010600030101010101" pitchFamily="2" charset="-122"/>
                <a:latin typeface="宋体" panose="02010600030101010101" pitchFamily="2" charset="-122"/>
              </a:rPr>
              <a:t>创造性原则：所定选题应不是重复别人劳动的课题。</a:t>
            </a:r>
            <a:endParaRPr altLang="zh-CN" dirty="0" lang="en-US" b="1" i="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、加强课题的论证和审定工作。每年在重复研究上的费用，美国曾经就高达</a:t>
            </a:r>
            <a:r>
              <a:rPr altLang="zh-CN" dirty="0" lang="en-US" sz="2400">
                <a:ea typeface="宋体" panose="02010600030101010101" pitchFamily="2" charset="-122"/>
                <a:latin typeface="宋体" panose="02010600030101010101" pitchFamily="2" charset="-122"/>
              </a:rPr>
              <a:t>10-13</a:t>
            </a:r>
            <a:r>
              <a:rPr altLang="en-US" dirty="0" lang="zh-CN" sz="2400">
                <a:ea typeface="宋体" panose="02010600030101010101" pitchFamily="2" charset="-122"/>
                <a:latin typeface="宋体" panose="02010600030101010101" pitchFamily="2" charset="-122"/>
              </a:rPr>
              <a:t>亿美元。</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0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7570" name="Picture 9"/>
          <p:cNvPicPr/>
          <p:nvPr/>
        </p:nvPicPr>
        <p:blipFill>
          <a:blip r:embed="rId1"/>
          <a:stretch>
            <a:fillRect/>
          </a:stretch>
        </p:blipFill>
        <p:spPr>
          <a:xfrm>
            <a:off x="0" y="0"/>
            <a:ext cx="9144000" cy="1743075"/>
          </a:xfrm>
          <a:prstGeom prst="rect">
            <a:avLst/>
          </a:prstGeom>
          <a:noFill/>
          <a:ln w="9525">
            <a:noFill/>
          </a:ln>
        </p:spPr>
      </p:pic>
      <p:sp>
        <p:nvSpPr>
          <p:cNvPr id="237571" name="TextBox 2"/>
          <p:cNvSpPr/>
          <p:nvPr/>
        </p:nvSpPr>
        <p:spPr>
          <a:xfrm>
            <a:off x="0" y="1892300"/>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、加强科技立法，杜绝科学研究中的不端行为。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、到学科前沿阵地选题。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、到科学空白区选题。维纳说，</a:t>
            </a:r>
            <a:r>
              <a:rPr altLang="en-US" dirty="0" lang="zh-CN" sz="2400">
                <a:solidFill>
                  <a:srgbClr val="0000FF"/>
                </a:solidFill>
                <a:ea typeface="宋体" panose="02010600030101010101" pitchFamily="2" charset="-122"/>
                <a:latin typeface="宋体" panose="02010600030101010101" pitchFamily="2" charset="-122"/>
              </a:rPr>
              <a:t>“在科学发展上可以得到最达收获的领域是各种已建立起来的部门之间的被忽视的无人区。”他在物理学、数学、自动控制、电子技术、神经生理学等学科相互渗透的空白区建立控制论。</a:t>
            </a:r>
            <a:endParaRPr altLang="zh-CN" dirty="0" lang="en-US"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0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8594" name="Picture 9"/>
          <p:cNvPicPr/>
          <p:nvPr/>
        </p:nvPicPr>
        <p:blipFill>
          <a:blip r:embed="rId1"/>
          <a:stretch>
            <a:fillRect/>
          </a:stretch>
        </p:blipFill>
        <p:spPr>
          <a:xfrm>
            <a:off x="0" y="0"/>
            <a:ext cx="9144000" cy="1743075"/>
          </a:xfrm>
          <a:prstGeom prst="rect">
            <a:avLst/>
          </a:prstGeom>
          <a:noFill/>
          <a:ln w="9525">
            <a:noFill/>
          </a:ln>
        </p:spPr>
      </p:pic>
      <p:sp>
        <p:nvSpPr>
          <p:cNvPr id="238595" name="TextBox 2"/>
          <p:cNvSpPr/>
          <p:nvPr/>
        </p:nvSpPr>
        <p:spPr>
          <a:xfrm>
            <a:off x="0" y="1892300"/>
            <a:ext cx="9144000" cy="28613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i="1" sz="2400">
                <a:solidFill>
                  <a:srgbClr val="0000FF"/>
                </a:solidFill>
                <a:ea typeface="宋体" panose="02010600030101010101" pitchFamily="2" charset="-122"/>
                <a:latin typeface="宋体" panose="02010600030101010101" pitchFamily="2" charset="-122"/>
              </a:rPr>
              <a:t> </a:t>
            </a:r>
            <a:r>
              <a:rPr altLang="zh-CN" dirty="0" lang="en-US" b="1" i="1" sz="2400">
                <a:solidFill>
                  <a:srgbClr val="0000FF"/>
                </a:solidFill>
                <a:ea typeface="宋体" panose="02010600030101010101" pitchFamily="2" charset="-122"/>
                <a:latin typeface="宋体" panose="02010600030101010101" pitchFamily="2" charset="-122"/>
              </a:rPr>
              <a:t> </a:t>
            </a:r>
            <a:r>
              <a:rPr altLang="en-US" dirty="0" lang="zh-CN" b="1" i="1" sz="2400">
                <a:solidFill>
                  <a:srgbClr val="0000FF"/>
                </a:solidFill>
                <a:ea typeface="宋体" panose="02010600030101010101" pitchFamily="2" charset="-122"/>
                <a:latin typeface="宋体" panose="02010600030101010101" pitchFamily="2" charset="-122"/>
              </a:rPr>
              <a:t>需要性原则：指选择课题必须从社会和科学发展的需要出发。</a:t>
            </a:r>
            <a:endParaRPr altLang="zh-CN" dirty="0" lang="en-US" i="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、协调科技的社会需要与自身无功利的关系。科学有其自身的规律，实际应用也不是科学唯一的目的。麦克斯韦电磁场理论创立之初，他本人并没有想到有什么应用价值，却导致了第二次技术革命。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、协调现实需要与长远需要的关系。现实的迫切需要应</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0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39618" name="Picture 9"/>
          <p:cNvPicPr/>
          <p:nvPr/>
        </p:nvPicPr>
        <p:blipFill>
          <a:blip r:embed="rId1"/>
          <a:stretch>
            <a:fillRect/>
          </a:stretch>
        </p:blipFill>
        <p:spPr>
          <a:xfrm>
            <a:off x="0" y="0"/>
            <a:ext cx="9144000" cy="1743075"/>
          </a:xfrm>
          <a:prstGeom prst="rect">
            <a:avLst/>
          </a:prstGeom>
          <a:noFill/>
          <a:ln w="9525">
            <a:noFill/>
          </a:ln>
        </p:spPr>
      </p:pic>
      <p:sp>
        <p:nvSpPr>
          <p:cNvPr id="239619" name="TextBox 2"/>
          <p:cNvSpPr/>
          <p:nvPr/>
        </p:nvSpPr>
        <p:spPr>
          <a:xfrm>
            <a:off x="0" y="1892300"/>
            <a:ext cx="9144000" cy="396938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成为我们选题的重点和主要方面，但也要恰当注意学科发展长远需要的课题。只有应用技术，没有基础理论，就会使技术最终失去发展后劲。</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i="1" sz="2400">
                <a:solidFill>
                  <a:srgbClr val="0000FF"/>
                </a:solidFill>
                <a:ea typeface="宋体" panose="02010600030101010101" pitchFamily="2" charset="-122"/>
                <a:latin typeface="宋体" panose="02010600030101010101" pitchFamily="2" charset="-122"/>
              </a:rPr>
              <a:t>  </a:t>
            </a:r>
            <a:r>
              <a:rPr altLang="en-US" dirty="0" lang="zh-CN" b="1" i="1" sz="2400">
                <a:solidFill>
                  <a:srgbClr val="0000FF"/>
                </a:solidFill>
                <a:ea typeface="宋体" panose="02010600030101010101" pitchFamily="2" charset="-122"/>
                <a:latin typeface="宋体" panose="02010600030101010101" pitchFamily="2" charset="-122"/>
              </a:rPr>
              <a:t>可行性原则：注意从主观、客观条件出发选题。</a:t>
            </a:r>
            <a:endParaRPr altLang="en-US" dirty="0" lang="zh-CN" b="1" i="1" sz="24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i="1" sz="2400">
                <a:solidFill>
                  <a:srgbClr val="0000FF"/>
                </a:solidFill>
                <a:ea typeface="宋体" panose="02010600030101010101" pitchFamily="2" charset="-122"/>
                <a:latin typeface="宋体" panose="02010600030101010101" pitchFamily="2" charset="-122"/>
              </a:rPr>
              <a:t> </a:t>
            </a:r>
            <a:r>
              <a:rPr altLang="zh-CN" dirty="0" lang="en-US" i="1" sz="2400">
                <a:solidFill>
                  <a:srgbClr val="0000FF"/>
                </a:solidFill>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美国贝尔研究所莫顿说：“选题题目不能草率，如果根本没有实现的可能，选题就等于</a:t>
            </a:r>
            <a:r>
              <a:rPr altLang="zh-CN" dirty="0" lang="en-US" sz="2400">
                <a:ea typeface="宋体" panose="02010600030101010101" pitchFamily="2" charset="-122"/>
                <a:latin typeface="宋体" panose="02010600030101010101" pitchFamily="2" charset="-122"/>
              </a:rPr>
              <a:t>0</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    1</a:t>
            </a:r>
            <a:r>
              <a:rPr altLang="en-US" dirty="0" lang="zh-CN" sz="2400">
                <a:ea typeface="宋体" panose="02010600030101010101" pitchFamily="2" charset="-122"/>
                <a:latin typeface="宋体" panose="02010600030101010101" pitchFamily="2" charset="-122"/>
              </a:rPr>
              <a:t>、选题要从主观条件出发。主要是指研究人员的知识</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0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0642" name="Picture 9"/>
          <p:cNvPicPr/>
          <p:nvPr/>
        </p:nvPicPr>
        <p:blipFill>
          <a:blip r:embed="rId1"/>
          <a:stretch>
            <a:fillRect/>
          </a:stretch>
        </p:blipFill>
        <p:spPr>
          <a:xfrm>
            <a:off x="0" y="0"/>
            <a:ext cx="9144000" cy="1743075"/>
          </a:xfrm>
          <a:prstGeom prst="rect">
            <a:avLst/>
          </a:prstGeom>
          <a:noFill/>
          <a:ln w="9525">
            <a:noFill/>
          </a:ln>
        </p:spPr>
      </p:pic>
      <p:sp>
        <p:nvSpPr>
          <p:cNvPr id="240643" name="TextBox 2"/>
          <p:cNvSpPr/>
          <p:nvPr/>
        </p:nvSpPr>
        <p:spPr>
          <a:xfrm>
            <a:off x="0" y="1892300"/>
            <a:ext cx="9144000" cy="3962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微软雅黑" panose="020B0503020204020204" pitchFamily="34" charset="-122"/>
                <a:latin typeface="微软雅黑" panose="020B0503020204020204" pitchFamily="34" charset="-122"/>
              </a:rPr>
              <a:t>结构、技术水平、研究能力、个人兴趣、对课题的认识深度等。卢瑟福曾经要求自己的研究生</a:t>
            </a:r>
            <a:r>
              <a:rPr altLang="zh-CN" dirty="0" lang="en-US" b="1" sz="2400">
                <a:ea typeface="微软雅黑" panose="020B0503020204020204" pitchFamily="34" charset="-122"/>
                <a:latin typeface="微软雅黑" panose="020B0503020204020204" pitchFamily="34" charset="-122"/>
              </a:rPr>
              <a:t>Appleton</a:t>
            </a:r>
            <a:r>
              <a:rPr altLang="en-US" dirty="0" lang="zh-CN" b="1" sz="2400">
                <a:ea typeface="微软雅黑" panose="020B0503020204020204" pitchFamily="34" charset="-122"/>
                <a:latin typeface="微软雅黑" panose="020B0503020204020204" pitchFamily="34" charset="-122"/>
              </a:rPr>
              <a:t>也研究放射性，但</a:t>
            </a:r>
            <a:r>
              <a:rPr altLang="zh-CN" dirty="0" lang="en-US" b="1" sz="2400">
                <a:ea typeface="微软雅黑" panose="020B0503020204020204" pitchFamily="34" charset="-122"/>
                <a:latin typeface="微软雅黑" panose="020B0503020204020204" pitchFamily="34" charset="-122"/>
              </a:rPr>
              <a:t>Appleton</a:t>
            </a:r>
            <a:r>
              <a:rPr altLang="en-US" dirty="0" lang="zh-CN" b="1" sz="2400">
                <a:ea typeface="微软雅黑" panose="020B0503020204020204" pitchFamily="34" charset="-122"/>
                <a:latin typeface="微软雅黑" panose="020B0503020204020204" pitchFamily="34" charset="-122"/>
              </a:rPr>
              <a:t>选择他感兴趣的无线电，终于发现了电离层，荣获</a:t>
            </a:r>
            <a:r>
              <a:rPr altLang="zh-CN" dirty="0" lang="en-US" b="1" sz="2400">
                <a:ea typeface="微软雅黑" panose="020B0503020204020204" pitchFamily="34" charset="-122"/>
                <a:latin typeface="微软雅黑" panose="020B0503020204020204" pitchFamily="34" charset="-122"/>
              </a:rPr>
              <a:t>1947</a:t>
            </a:r>
            <a:r>
              <a:rPr altLang="en-US" dirty="0" lang="zh-CN" b="1" sz="2400">
                <a:ea typeface="微软雅黑" panose="020B0503020204020204" pitchFamily="34" charset="-122"/>
                <a:latin typeface="微软雅黑" panose="020B0503020204020204" pitchFamily="34" charset="-122"/>
              </a:rPr>
              <a:t>年的诺贝尔奖。</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2</a:t>
            </a:r>
            <a:r>
              <a:rPr altLang="en-US" dirty="0" lang="zh-CN" b="1" sz="2400">
                <a:ea typeface="微软雅黑" panose="020B0503020204020204" pitchFamily="34" charset="-122"/>
                <a:latin typeface="微软雅黑" panose="020B0503020204020204" pitchFamily="34" charset="-122"/>
              </a:rPr>
              <a:t>、选题要从客观现实条件出发。主要是资料、设备、经费、时间、协作条件、导师特长等。</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1666" name="Picture 9"/>
          <p:cNvPicPr/>
          <p:nvPr/>
        </p:nvPicPr>
        <p:blipFill>
          <a:blip r:embed="rId1"/>
          <a:stretch>
            <a:fillRect/>
          </a:stretch>
        </p:blipFill>
        <p:spPr>
          <a:xfrm>
            <a:off x="0" y="0"/>
            <a:ext cx="9144000" cy="1743075"/>
          </a:xfrm>
          <a:prstGeom prst="rect">
            <a:avLst/>
          </a:prstGeom>
          <a:noFill/>
          <a:ln w="9525">
            <a:noFill/>
          </a:ln>
        </p:spPr>
      </p:pic>
      <p:sp>
        <p:nvSpPr>
          <p:cNvPr id="241667" name="TextBox 2"/>
          <p:cNvSpPr/>
          <p:nvPr/>
        </p:nvSpPr>
        <p:spPr>
          <a:xfrm>
            <a:off x="0" y="1892300"/>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3</a:t>
            </a:r>
            <a:r>
              <a:rPr altLang="en-US" dirty="0" lang="zh-CN" b="1" sz="2400">
                <a:ea typeface="微软雅黑" panose="020B0503020204020204" pitchFamily="34" charset="-122"/>
                <a:latin typeface="微软雅黑" panose="020B0503020204020204" pitchFamily="34" charset="-122"/>
              </a:rPr>
              <a:t>、扬长避短，创造条件。杨振宁善于抽象思维，不善于动手，赴美以后先学实验物理，后改学理论物理，获得成功。第二次世界大战之后，英国由于资金短缺造不起高能加速器，物理学家</a:t>
            </a:r>
            <a:r>
              <a:rPr altLang="zh-CN" dirty="0" lang="en-US" b="1" sz="2400">
                <a:ea typeface="微软雅黑" panose="020B0503020204020204" pitchFamily="34" charset="-122"/>
                <a:latin typeface="微软雅黑" panose="020B0503020204020204" pitchFamily="34" charset="-122"/>
              </a:rPr>
              <a:t>Bower</a:t>
            </a:r>
            <a:r>
              <a:rPr altLang="en-US" dirty="0" lang="zh-CN" b="1" sz="2400">
                <a:ea typeface="微软雅黑" panose="020B0503020204020204" pitchFamily="34" charset="-122"/>
                <a:latin typeface="微软雅黑" panose="020B0503020204020204" pitchFamily="34" charset="-122"/>
              </a:rPr>
              <a:t>穷则思变，将未开封的照相底片放到高山上，捕捉由太空穿越大气层的高能粒子，结果发现了新的介子，获得</a:t>
            </a:r>
            <a:r>
              <a:rPr altLang="zh-CN" dirty="0" lang="en-US" b="1" sz="2400">
                <a:ea typeface="微软雅黑" panose="020B0503020204020204" pitchFamily="34" charset="-122"/>
                <a:latin typeface="微软雅黑" panose="020B0503020204020204" pitchFamily="34" charset="-122"/>
              </a:rPr>
              <a:t>1950</a:t>
            </a:r>
            <a:r>
              <a:rPr altLang="en-US" dirty="0" lang="zh-CN" b="1" sz="2400">
                <a:ea typeface="微软雅黑" panose="020B0503020204020204" pitchFamily="34" charset="-122"/>
                <a:latin typeface="微软雅黑" panose="020B0503020204020204" pitchFamily="34" charset="-122"/>
              </a:rPr>
              <a:t>年诺贝尔物理学奖。</a:t>
            </a:r>
            <a:endParaRPr altLang="zh-CN" dirty="0" lang="en-US" b="1" sz="2400">
              <a:ea typeface="微软雅黑" panose="020B0503020204020204" pitchFamily="34" charset="-122"/>
              <a:latin typeface="微软雅黑" panose="020B0503020204020204" pitchFamily="34" charset="-122"/>
            </a:endParaRPr>
          </a:p>
          <a:p>
            <a:pPr marL="0" indent="0" lvl="0" algn="just" eaLnBrk="1" hangingPunct="1">
              <a:lnSpc>
                <a:spcPct val="150000"/>
              </a:lnSpc>
              <a:spcBef>
                <a:spcPct val="0"/>
              </a:spcBef>
              <a:buNone/>
            </a:pPr>
            <a:r>
              <a:rPr altLang="zh-CN" dirty="0" lang="en-US" b="1" sz="2400">
                <a:ea typeface="微软雅黑" panose="020B0503020204020204" pitchFamily="34" charset="-122"/>
                <a:latin typeface="微软雅黑" panose="020B0503020204020204" pitchFamily="34" charset="-122"/>
              </a:rPr>
              <a:t>  4</a:t>
            </a:r>
            <a:r>
              <a:rPr altLang="en-US" dirty="0" lang="zh-CN" b="1" sz="2400">
                <a:ea typeface="微软雅黑" panose="020B0503020204020204" pitchFamily="34" charset="-122"/>
                <a:latin typeface="微软雅黑" panose="020B0503020204020204" pitchFamily="34" charset="-122"/>
              </a:rPr>
              <a:t>、要注意联合研究。</a:t>
            </a:r>
            <a:r>
              <a:rPr altLang="zh-CN" dirty="0" lang="en-US" b="1" sz="2400">
                <a:ea typeface="微软雅黑" panose="020B0503020204020204" pitchFamily="34" charset="-122"/>
                <a:latin typeface="微软雅黑" panose="020B0503020204020204" pitchFamily="34" charset="-122"/>
              </a:rPr>
              <a:t>J.Watson</a:t>
            </a:r>
            <a:r>
              <a:rPr altLang="en-US" dirty="0" lang="zh-CN" b="1" sz="2400">
                <a:ea typeface="微软雅黑" panose="020B0503020204020204" pitchFamily="34" charset="-122"/>
                <a:latin typeface="微软雅黑" panose="020B0503020204020204" pitchFamily="34" charset="-122"/>
              </a:rPr>
              <a:t>和</a:t>
            </a:r>
            <a:r>
              <a:rPr altLang="zh-CN" dirty="0" lang="en-US" b="1" sz="2400">
                <a:ea typeface="微软雅黑" panose="020B0503020204020204" pitchFamily="34" charset="-122"/>
                <a:latin typeface="微软雅黑" panose="020B0503020204020204" pitchFamily="34" charset="-122"/>
              </a:rPr>
              <a:t>F.Crick</a:t>
            </a:r>
            <a:r>
              <a:rPr altLang="en-US" dirty="0" lang="zh-CN" b="1" sz="2400">
                <a:ea typeface="微软雅黑" panose="020B0503020204020204" pitchFamily="34" charset="-122"/>
                <a:latin typeface="微软雅黑" panose="020B0503020204020204" pitchFamily="34" charset="-122"/>
              </a:rPr>
              <a:t>，一个是美国人，</a:t>
            </a:r>
            <a:endParaRPr altLang="zh-CN" dirty="0" lang="en-US" b="1" sz="2400">
              <a:ea typeface="微软雅黑" panose="020B0503020204020204" pitchFamily="34" charset="-122"/>
              <a:latin typeface="微软雅黑" panose="020B0503020204020204" pitchFamily="34" charset="-122"/>
            </a:endParaRPr>
          </a:p>
        </p:txBody>
      </p:sp>
    </p:spTree>
  </p:cSld>
  <p:clrMapOvr>
    <a:masterClrMapping/>
  </p:clrMapOvr>
</p:sld>
</file>

<file path=ppt/slides/slide21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2690" name="Picture 9"/>
          <p:cNvPicPr/>
          <p:nvPr/>
        </p:nvPicPr>
        <p:blipFill>
          <a:blip r:embed="rId1"/>
          <a:stretch>
            <a:fillRect/>
          </a:stretch>
        </p:blipFill>
        <p:spPr>
          <a:xfrm>
            <a:off x="0" y="0"/>
            <a:ext cx="9144000" cy="1743075"/>
          </a:xfrm>
          <a:prstGeom prst="rect">
            <a:avLst/>
          </a:prstGeom>
          <a:noFill/>
          <a:ln w="9525">
            <a:noFill/>
          </a:ln>
        </p:spPr>
      </p:pic>
      <p:sp>
        <p:nvSpPr>
          <p:cNvPr id="242691" name="TextBox 2"/>
          <p:cNvSpPr/>
          <p:nvPr/>
        </p:nvSpPr>
        <p:spPr>
          <a:xfrm>
            <a:off x="0" y="1868488"/>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一个英国人；一个学生物，一个学物理。素不相识，在</a:t>
            </a:r>
            <a:r>
              <a:rPr altLang="zh-CN" dirty="0" lang="en-US" sz="2400">
                <a:ea typeface="宋体" panose="02010600030101010101" pitchFamily="2" charset="-122"/>
                <a:latin typeface="宋体" panose="02010600030101010101" pitchFamily="2" charset="-122"/>
              </a:rPr>
              <a:t>Cavendish</a:t>
            </a:r>
            <a:r>
              <a:rPr altLang="en-US" dirty="0" lang="zh-CN" sz="2400">
                <a:ea typeface="宋体" panose="02010600030101010101" pitchFamily="2" charset="-122"/>
                <a:latin typeface="宋体" panose="02010600030101010101" pitchFamily="2" charset="-122"/>
              </a:rPr>
              <a:t>实验室碰到一起，志趣相投，联合研究</a:t>
            </a:r>
            <a:r>
              <a:rPr altLang="zh-CN" dirty="0" lang="en-US" sz="2400">
                <a:ea typeface="宋体" panose="02010600030101010101" pitchFamily="2" charset="-122"/>
                <a:latin typeface="宋体" panose="02010600030101010101" pitchFamily="2" charset="-122"/>
              </a:rPr>
              <a:t>DNA</a:t>
            </a:r>
            <a:r>
              <a:rPr altLang="en-US" dirty="0" lang="zh-CN" sz="2400">
                <a:ea typeface="宋体" panose="02010600030101010101" pitchFamily="2" charset="-122"/>
                <a:latin typeface="宋体" panose="02010600030101010101" pitchFamily="2" charset="-122"/>
              </a:rPr>
              <a:t>分子结构，不到两年就获得诺贝尔奖。据统计，</a:t>
            </a:r>
            <a:r>
              <a:rPr altLang="zh-CN" dirty="0" lang="en-US" sz="2400">
                <a:ea typeface="宋体" panose="02010600030101010101" pitchFamily="2" charset="-122"/>
                <a:latin typeface="宋体" panose="02010600030101010101" pitchFamily="2" charset="-122"/>
              </a:rPr>
              <a:t>1901-1972</a:t>
            </a:r>
            <a:r>
              <a:rPr altLang="en-US" dirty="0" lang="zh-CN" sz="2400">
                <a:ea typeface="宋体" panose="02010600030101010101" pitchFamily="2" charset="-122"/>
                <a:latin typeface="宋体" panose="02010600030101010101" pitchFamily="2" charset="-122"/>
              </a:rPr>
              <a:t>年</a:t>
            </a:r>
            <a:r>
              <a:rPr altLang="zh-CN" dirty="0" lang="en-US" sz="2400">
                <a:ea typeface="宋体" panose="02010600030101010101" pitchFamily="2" charset="-122"/>
                <a:latin typeface="宋体" panose="02010600030101010101" pitchFamily="2" charset="-122"/>
              </a:rPr>
              <a:t>268</a:t>
            </a:r>
            <a:r>
              <a:rPr altLang="en-US" dirty="0" lang="zh-CN" sz="2400">
                <a:ea typeface="宋体" panose="02010600030101010101" pitchFamily="2" charset="-122"/>
                <a:latin typeface="宋体" panose="02010600030101010101" pitchFamily="2" charset="-122"/>
              </a:rPr>
              <a:t>位诺贝尔奖得主有</a:t>
            </a:r>
            <a:r>
              <a:rPr altLang="zh-CN" dirty="0" lang="en-US" sz="2400">
                <a:ea typeface="宋体" panose="02010600030101010101" pitchFamily="2" charset="-122"/>
                <a:latin typeface="宋体" panose="02010600030101010101" pitchFamily="2" charset="-122"/>
              </a:rPr>
              <a:t>185</a:t>
            </a:r>
            <a:r>
              <a:rPr altLang="en-US" dirty="0" lang="zh-CN" sz="2400">
                <a:ea typeface="宋体" panose="02010600030101010101" pitchFamily="2" charset="-122"/>
                <a:latin typeface="宋体" panose="02010600030101010101" pitchFamily="2" charset="-122"/>
              </a:rPr>
              <a:t>人因联合研究而获胜，占三分之二。</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1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3714" name="Picture 9"/>
          <p:cNvPicPr/>
          <p:nvPr/>
        </p:nvPicPr>
        <p:blipFill>
          <a:blip r:embed="rId1"/>
          <a:stretch>
            <a:fillRect/>
          </a:stretch>
        </p:blipFill>
        <p:spPr>
          <a:xfrm>
            <a:off x="0" y="0"/>
            <a:ext cx="9144000" cy="1743075"/>
          </a:xfrm>
          <a:prstGeom prst="rect">
            <a:avLst/>
          </a:prstGeom>
          <a:noFill/>
          <a:ln w="9525">
            <a:noFill/>
          </a:ln>
        </p:spPr>
      </p:pic>
      <p:sp>
        <p:nvSpPr>
          <p:cNvPr id="243715"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五、科研选题的一般程序</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、调查研究、分析资料和发现问题；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、初步论证和筛选课题；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、专家评价和确定课题；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论文开题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、制定规划，确保实施。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1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4738" name="Picture 9"/>
          <p:cNvPicPr/>
          <p:nvPr/>
        </p:nvPicPr>
        <p:blipFill>
          <a:blip r:embed="rId1"/>
          <a:stretch>
            <a:fillRect/>
          </a:stretch>
        </p:blipFill>
        <p:spPr>
          <a:xfrm>
            <a:off x="0" y="0"/>
            <a:ext cx="9144000" cy="1743075"/>
          </a:xfrm>
          <a:prstGeom prst="rect">
            <a:avLst/>
          </a:prstGeom>
          <a:noFill/>
          <a:ln w="9525">
            <a:noFill/>
          </a:ln>
        </p:spPr>
      </p:pic>
      <p:sp>
        <p:nvSpPr>
          <p:cNvPr id="244739" name="TextBox 2"/>
          <p:cNvSpPr/>
          <p:nvPr/>
        </p:nvSpPr>
        <p:spPr>
          <a:xfrm>
            <a:off x="0" y="1743075"/>
            <a:ext cx="9144000" cy="4899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ea typeface="宋体" panose="02010600030101010101" pitchFamily="2" charset="-122"/>
                <a:latin typeface="宋体" panose="02010600030101010101" pitchFamily="2" charset="-122"/>
              </a:rPr>
              <a:t>论文写作</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一、从研究方法角度，结合所学专业，谈谈如何进行科学技术研究？</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二、如何写作开题报告？查找相关资料，结合所学专业，设计一份开题报告。</a:t>
            </a:r>
            <a:endParaRPr altLang="zh-CN" dirty="0" lang="en-US" sz="2800">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禁止抄袭、禁止抄袭、禁止抄袭！！！</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重要的事情说三遍。</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1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45762" name="TextBox 2"/>
          <p:cNvSpPr/>
          <p:nvPr/>
        </p:nvSpPr>
        <p:spPr>
          <a:xfrm>
            <a:off x="0" y="1855788"/>
            <a:ext cx="9144000" cy="62268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buNone/>
            </a:pPr>
            <a:r>
              <a:rPr altLang="en-US" dirty="0" lang="zh-CN" b="1">
                <a:solidFill>
                  <a:srgbClr val="FF0000"/>
                </a:solidFill>
              </a:rPr>
              <a:t>第四章 马克思主义的科学技术与社会</a:t>
            </a:r>
            <a:endParaRPr altLang="zh-CN" dirty="0" lang="en-US" b="1"/>
          </a:p>
          <a:p>
            <a:pPr marL="0" indent="0" lvl="0" algn="ctr" eaLnBrk="1" hangingPunct="1">
              <a:lnSpc>
                <a:spcPct val="150000"/>
              </a:lnSpc>
              <a:buNone/>
            </a:pPr>
            <a:r>
              <a:rPr altLang="en-US" dirty="0" lang="zh-CN" b="1" sz="2800">
                <a:solidFill>
                  <a:srgbClr val="FF0000"/>
                </a:solidFill>
              </a:rPr>
              <a:t>第一节 科学技术的社会建制</a:t>
            </a:r>
            <a:endParaRPr altLang="zh-CN" dirty="0" lang="en-US" b="1" sz="2800">
              <a:solidFill>
                <a:srgbClr val="FF0000"/>
              </a:solidFill>
            </a:endParaRPr>
          </a:p>
          <a:p>
            <a:pPr marL="0" indent="0" lvl="0" algn="just" eaLnBrk="1" hangingPunct="1">
              <a:lnSpc>
                <a:spcPct val="150000"/>
              </a:lnSpc>
              <a:buNone/>
            </a:pPr>
            <a:r>
              <a:rPr altLang="en-US" dirty="0" lang="zh-CN" b="1" sz="2800">
                <a:solidFill>
                  <a:srgbClr val="FF0000"/>
                </a:solidFill>
                <a:ea typeface="宋体" panose="02010600030101010101" pitchFamily="2" charset="-122"/>
                <a:latin typeface="宋体" panose="02010600030101010101" pitchFamily="2" charset="-122"/>
              </a:rPr>
              <a:t>一、科学技术的社会一体化</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buNone/>
            </a:pPr>
            <a:r>
              <a:rPr altLang="zh-CN" dirty="0" lang="en-US" b="1" sz="2400">
                <a:solidFill>
                  <a:srgbClr val="FF0000"/>
                </a:solidFill>
                <a:ea typeface="宋体" panose="02010600030101010101" pitchFamily="2" charset="-122"/>
                <a:latin typeface="宋体" panose="02010600030101010101" pitchFamily="2" charset="-122"/>
              </a:rPr>
              <a:t>  1</a:t>
            </a:r>
            <a:r>
              <a:rPr altLang="en-US" dirty="0" lang="zh-CN" b="1" sz="2400">
                <a:solidFill>
                  <a:srgbClr val="FF0000"/>
                </a:solidFill>
                <a:ea typeface="宋体" panose="02010600030101010101" pitchFamily="2" charset="-122"/>
                <a:latin typeface="宋体" panose="02010600030101010101" pitchFamily="2" charset="-122"/>
              </a:rPr>
              <a:t>、大科学的出现</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大科学是指把科学技术看作科学、技术、经济、社会系统协通发展的一个整体过程。大科学是当代科学、技术、经济、社会发展的历史必然。</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buNone/>
            </a:pP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buNone/>
            </a:pPr>
            <a:endParaRPr altLang="zh-CN" dirty="0" lang="en-US" b="1">
              <a:ea typeface="宋体" panose="02010600030101010101" pitchFamily="2" charset="-122"/>
              <a:latin typeface="宋体" panose="02010600030101010101" pitchFamily="2" charset="-122"/>
            </a:endParaRPr>
          </a:p>
        </p:txBody>
      </p:sp>
      <p:pic>
        <p:nvPicPr>
          <p:cNvPr id="245763" name="Picture 9"/>
          <p:cNvPicPr/>
          <p:nvPr/>
        </p:nvPicPr>
        <p:blipFill>
          <a:blip r:embed="rId1"/>
          <a:stretch>
            <a:fillRect/>
          </a:stretch>
        </p:blipFill>
        <p:spPr>
          <a:xfrm>
            <a:off x="0" y="0"/>
            <a:ext cx="9144000" cy="1743075"/>
          </a:xfrm>
          <a:prstGeom prst="rect">
            <a:avLst/>
          </a:prstGeom>
          <a:noFill/>
          <a:ln w="9525">
            <a:noFill/>
          </a:ln>
        </p:spPr>
      </p:pic>
    </p:spTree>
    <p:custDataLst>
      <p:tags r:id="rId2"/>
    </p:custDataLst>
  </p:cSld>
  <p:clrMapOvr>
    <a:masterClrMapping/>
  </p:clrMapOvr>
  <p:transition advTm="30701">
    <p:comb dir="vert"/>
  </p:transition>
</p:sld>
</file>

<file path=ppt/slides/slide21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46786" name="TextBox 2"/>
          <p:cNvSpPr/>
          <p:nvPr/>
        </p:nvSpPr>
        <p:spPr>
          <a:xfrm>
            <a:off x="0" y="1708150"/>
            <a:ext cx="9144000" cy="4537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1871</a:t>
            </a:r>
            <a:r>
              <a:rPr altLang="en-US" dirty="0" lang="zh-CN" sz="2800">
                <a:ea typeface="宋体" panose="02010600030101010101" pitchFamily="2" charset="-122"/>
                <a:latin typeface="宋体" panose="02010600030101010101" pitchFamily="2" charset="-122"/>
              </a:rPr>
              <a:t>年，卡文迪许实验室建立；</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1942</a:t>
            </a:r>
            <a:r>
              <a:rPr altLang="en-US" dirty="0" lang="zh-CN" sz="2800">
                <a:ea typeface="宋体" panose="02010600030101010101" pitchFamily="2" charset="-122"/>
                <a:latin typeface="宋体" panose="02010600030101010101" pitchFamily="2" charset="-122"/>
              </a:rPr>
              <a:t>年，美国“曼哈顿工程”（</a:t>
            </a:r>
            <a:r>
              <a:rPr altLang="zh-CN" dirty="0" lang="en-US" sz="2800">
                <a:ea typeface="宋体" panose="02010600030101010101" pitchFamily="2" charset="-122"/>
                <a:latin typeface="宋体" panose="02010600030101010101" pitchFamily="2" charset="-122"/>
              </a:rPr>
              <a:t>Manhatten</a:t>
            </a:r>
            <a:r>
              <a:rPr altLang="en-US" dirty="0" lang="zh-CN" sz="2800">
                <a:ea typeface="宋体" panose="02010600030101010101" pitchFamily="2" charset="-122"/>
                <a:latin typeface="宋体" panose="02010600030101010101" pitchFamily="2" charset="-122"/>
              </a:rPr>
              <a:t>）科学模式标志着现代科学由小科学走向大科学；</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1957</a:t>
            </a:r>
            <a:r>
              <a:rPr altLang="en-US" dirty="0" lang="zh-CN" sz="2800">
                <a:ea typeface="宋体" panose="02010600030101010101" pitchFamily="2" charset="-122"/>
                <a:latin typeface="宋体" panose="02010600030101010101" pitchFamily="2" charset="-122"/>
              </a:rPr>
              <a:t>年，温伯格（</a:t>
            </a:r>
            <a:r>
              <a:rPr altLang="zh-CN" dirty="0" lang="en-US" sz="2800">
                <a:ea typeface="宋体" panose="02010600030101010101" pitchFamily="2" charset="-122"/>
                <a:latin typeface="宋体" panose="02010600030101010101" pitchFamily="2" charset="-122"/>
              </a:rPr>
              <a:t>Weinberg</a:t>
            </a:r>
            <a:r>
              <a:rPr altLang="en-US" dirty="0" lang="zh-CN" sz="2800">
                <a:ea typeface="宋体" panose="02010600030101010101" pitchFamily="2" charset="-122"/>
                <a:latin typeface="宋体" panose="02010600030101010101" pitchFamily="2" charset="-122"/>
              </a:rPr>
              <a:t>）首先提出大科学概念；</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1962</a:t>
            </a:r>
            <a:r>
              <a:rPr altLang="en-US" dirty="0" lang="zh-CN" sz="2800">
                <a:ea typeface="宋体" panose="02010600030101010101" pitchFamily="2" charset="-122"/>
                <a:latin typeface="宋体" panose="02010600030101010101" pitchFamily="2" charset="-122"/>
              </a:rPr>
              <a:t>年，普赖斯（</a:t>
            </a:r>
            <a:r>
              <a:rPr altLang="zh-CN" dirty="0" lang="en-US" sz="2800">
                <a:ea typeface="宋体" panose="02010600030101010101" pitchFamily="2" charset="-122"/>
                <a:latin typeface="宋体" panose="02010600030101010101" pitchFamily="2" charset="-122"/>
              </a:rPr>
              <a:t>D. Price</a:t>
            </a:r>
            <a:r>
              <a:rPr altLang="en-US" dirty="0" lang="zh-CN" sz="2800">
                <a:ea typeface="宋体" panose="02010600030101010101" pitchFamily="2" charset="-122"/>
                <a:latin typeface="宋体" panose="02010600030101010101" pitchFamily="2" charset="-122"/>
              </a:rPr>
              <a:t>）在</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小科学，大科学</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中首先论述了“大科学”的出现。</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b="1" sz="2800">
              <a:ea typeface="宋体" panose="02010600030101010101" pitchFamily="2" charset="-122"/>
              <a:latin typeface="Arial" panose="020B0604020202020204" pitchFamily="34" charset="0"/>
            </a:endParaRPr>
          </a:p>
        </p:txBody>
      </p:sp>
      <p:pic>
        <p:nvPicPr>
          <p:cNvPr id="246787" name="Picture 9"/>
          <p:cNvPicPr/>
          <p:nvPr/>
        </p:nvPicPr>
        <p:blipFill>
          <a:blip r:embed="rId1"/>
          <a:stretch>
            <a:fillRect/>
          </a:stretch>
        </p:blipFill>
        <p:spPr>
          <a:xfrm>
            <a:off x="0" y="0"/>
            <a:ext cx="9144000" cy="1743075"/>
          </a:xfrm>
          <a:prstGeom prst="rect">
            <a:avLst/>
          </a:prstGeom>
          <a:noFill/>
          <a:ln w="9525">
            <a:noFill/>
          </a:ln>
        </p:spPr>
      </p:pic>
    </p:spTree>
    <p:custDataLst>
      <p:tags r:id="rId2"/>
    </p:custDataLst>
  </p:cSld>
  <p:clrMapOvr>
    <a:masterClrMapping/>
  </p:clrMapOvr>
  <p:transition advTm="28081">
    <p:cover dir="d"/>
  </p:transition>
</p:sld>
</file>

<file path=ppt/slides/slide21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47810" name="TextBox 2"/>
          <p:cNvSpPr/>
          <p:nvPr/>
        </p:nvSpPr>
        <p:spPr>
          <a:xfrm>
            <a:off x="0" y="1903413"/>
            <a:ext cx="9144000" cy="4514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2</a:t>
            </a:r>
            <a:r>
              <a:rPr altLang="en-US" dirty="0" lang="zh-CN" b="1" sz="2800">
                <a:ea typeface="宋体" panose="02010600030101010101" pitchFamily="2" charset="-122"/>
                <a:latin typeface="宋体" panose="02010600030101010101" pitchFamily="2" charset="-122"/>
              </a:rPr>
              <a:t>、大科学的本质特征</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R&amp;D</a:t>
            </a:r>
            <a:r>
              <a:rPr altLang="en-US" dirty="0" lang="zh-CN" sz="2800">
                <a:ea typeface="宋体" panose="02010600030101010101" pitchFamily="2" charset="-122"/>
                <a:latin typeface="宋体" panose="02010600030101010101" pitchFamily="2" charset="-122"/>
              </a:rPr>
              <a:t>经费巨大；</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）拥有巨大的研究组织；</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）科学、技术、工程、管理一体化特征；</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4</a:t>
            </a:r>
            <a:r>
              <a:rPr altLang="en-US" dirty="0" lang="zh-CN" sz="2800">
                <a:ea typeface="宋体" panose="02010600030101010101" pitchFamily="2" charset="-122"/>
                <a:latin typeface="宋体" panose="02010600030101010101" pitchFamily="2" charset="-122"/>
              </a:rPr>
              <a:t>）与产业经济联系密切，国家介入其中，全球相互依存。</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pic>
        <p:nvPicPr>
          <p:cNvPr id="247811" name="Picture 9"/>
          <p:cNvPicPr/>
          <p:nvPr/>
        </p:nvPicPr>
        <p:blipFill>
          <a:blip r:embed="rId1"/>
          <a:stretch>
            <a:fillRect/>
          </a:stretch>
        </p:blipFill>
        <p:spPr>
          <a:xfrm>
            <a:off x="0" y="0"/>
            <a:ext cx="9144000" cy="1743075"/>
          </a:xfrm>
          <a:prstGeom prst="rect">
            <a:avLst/>
          </a:prstGeom>
          <a:noFill/>
          <a:ln w="9525">
            <a:noFill/>
          </a:ln>
        </p:spPr>
      </p:pic>
    </p:spTree>
    <p:custDataLst>
      <p:tags r:id="rId2"/>
    </p:custDataLst>
  </p:cSld>
  <p:clrMapOvr>
    <a:masterClrMapping/>
  </p:clrMapOvr>
  <p:transition advTm="87798">
    <p:randomBar/>
  </p:transition>
</p:sld>
</file>

<file path=ppt/slides/slide21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8834" name="Picture 9"/>
          <p:cNvPicPr/>
          <p:nvPr/>
        </p:nvPicPr>
        <p:blipFill>
          <a:blip r:embed="rId1"/>
          <a:stretch>
            <a:fillRect/>
          </a:stretch>
        </p:blipFill>
        <p:spPr>
          <a:xfrm>
            <a:off x="0" y="0"/>
            <a:ext cx="9144000" cy="1743075"/>
          </a:xfrm>
          <a:prstGeom prst="rect">
            <a:avLst/>
          </a:prstGeom>
          <a:noFill/>
          <a:ln w="9525">
            <a:noFill/>
          </a:ln>
        </p:spPr>
      </p:pic>
      <p:sp>
        <p:nvSpPr>
          <p:cNvPr id="248835" name="TextBox 2"/>
          <p:cNvSpPr/>
          <p:nvPr/>
        </p:nvSpPr>
        <p:spPr>
          <a:xfrm>
            <a:off x="0" y="1708150"/>
            <a:ext cx="9144000" cy="5162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二、科学技术的社会建制</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1</a:t>
            </a:r>
            <a:r>
              <a:rPr altLang="en-US" dirty="0" lang="zh-CN" b="1" sz="2800">
                <a:ea typeface="宋体" panose="02010600030101010101" pitchFamily="2" charset="-122"/>
                <a:latin typeface="宋体" panose="02010600030101010101" pitchFamily="2" charset="-122"/>
              </a:rPr>
              <a:t>、科学技术的社会建制的概念</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科学技术的社会建制是指科学技术事业成为社会结构中一个相对独立的社会部门，也即科学技术的制度化。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化学工程学社会建制：</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1888</a:t>
            </a:r>
            <a:r>
              <a:rPr altLang="en-US" dirty="0" lang="zh-CN" sz="2800">
                <a:ea typeface="宋体" panose="02010600030101010101" pitchFamily="2" charset="-122"/>
                <a:latin typeface="宋体" panose="02010600030101010101" pitchFamily="2" charset="-122"/>
              </a:rPr>
              <a:t>年美国麻省理工学院成立专业；（</a:t>
            </a: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1892</a:t>
            </a:r>
            <a:r>
              <a:rPr altLang="en-US" dirty="0" lang="zh-CN" sz="2800">
                <a:ea typeface="宋体" panose="02010600030101010101" pitchFamily="2" charset="-122"/>
                <a:latin typeface="宋体" panose="02010600030101010101" pitchFamily="2" charset="-122"/>
              </a:rPr>
              <a:t>年授予专业学士学位；（</a:t>
            </a: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1908</a:t>
            </a:r>
            <a:r>
              <a:rPr altLang="en-US" dirty="0" lang="zh-CN" sz="2800">
                <a:ea typeface="宋体" panose="02010600030101010101" pitchFamily="2" charset="-122"/>
                <a:latin typeface="宋体" panose="02010600030101010101" pitchFamily="2" charset="-122"/>
              </a:rPr>
              <a:t>年在</a:t>
            </a:r>
            <a:r>
              <a:rPr altLang="zh-CN" dirty="0" lang="en-US" sz="2800">
                <a:ea typeface="宋体" panose="02010600030101010101" pitchFamily="2" charset="-122"/>
                <a:latin typeface="宋体" panose="02010600030101010101" pitchFamily="2" charset="-122"/>
              </a:rPr>
              <a:t>AICHE</a:t>
            </a:r>
            <a:r>
              <a:rPr altLang="en-US" dirty="0" lang="zh-CN" sz="2800">
                <a:ea typeface="宋体" panose="02010600030101010101" pitchFamily="2" charset="-122"/>
                <a:latin typeface="宋体" panose="02010600030101010101" pitchFamily="2" charset="-122"/>
              </a:rPr>
              <a:t>成立；（</a:t>
            </a:r>
            <a:r>
              <a:rPr altLang="zh-CN" dirty="0" lang="en-US" sz="2800">
                <a:ea typeface="宋体" panose="02010600030101010101" pitchFamily="2" charset="-122"/>
                <a:latin typeface="宋体" panose="02010600030101010101" pitchFamily="2" charset="-122"/>
              </a:rPr>
              <a:t>4</a:t>
            </a:r>
            <a:r>
              <a:rPr altLang="en-US" dirty="0" lang="zh-CN" sz="2800">
                <a:ea typeface="宋体" panose="02010600030101010101" pitchFamily="2" charset="-122"/>
                <a:latin typeface="宋体" panose="02010600030101010101" pitchFamily="2" charset="-122"/>
              </a:rPr>
              <a:t>）</a:t>
            </a:r>
            <a:r>
              <a:rPr altLang="zh-CN" dirty="0" lang="en-US" sz="2800">
                <a:ea typeface="宋体" panose="02010600030101010101" pitchFamily="2" charset="-122"/>
                <a:latin typeface="宋体" panose="02010600030101010101" pitchFamily="2" charset="-122"/>
              </a:rPr>
              <a:t>1908</a:t>
            </a:r>
            <a:r>
              <a:rPr altLang="en-US" dirty="0" lang="zh-CN" sz="2800">
                <a:ea typeface="宋体" panose="02010600030101010101" pitchFamily="2" charset="-122"/>
                <a:latin typeface="宋体" panose="02010600030101010101" pitchFamily="2" charset="-122"/>
              </a:rPr>
              <a:t>年</a:t>
            </a:r>
            <a:r>
              <a:rPr altLang="zh-CN" dirty="0" lang="en-US" sz="2800">
                <a:ea typeface="宋体" panose="02010600030101010101" pitchFamily="2" charset="-122"/>
                <a:latin typeface="宋体" panose="02010600030101010101" pitchFamily="2" charset="-122"/>
              </a:rPr>
              <a:t>CEP</a:t>
            </a:r>
            <a:r>
              <a:rPr altLang="en-US" dirty="0" lang="zh-CN" sz="2800">
                <a:ea typeface="宋体" panose="02010600030101010101" pitchFamily="2" charset="-122"/>
                <a:latin typeface="宋体" panose="02010600030101010101" pitchFamily="2" charset="-122"/>
              </a:rPr>
              <a:t>创刊；</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1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49858" name="Picture 9"/>
          <p:cNvPicPr/>
          <p:nvPr/>
        </p:nvPicPr>
        <p:blipFill>
          <a:blip r:embed="rId1"/>
          <a:stretch>
            <a:fillRect/>
          </a:stretch>
        </p:blipFill>
        <p:spPr>
          <a:xfrm>
            <a:off x="0" y="0"/>
            <a:ext cx="9144000" cy="1743075"/>
          </a:xfrm>
          <a:prstGeom prst="rect">
            <a:avLst/>
          </a:prstGeom>
          <a:noFill/>
          <a:ln w="9525">
            <a:noFill/>
          </a:ln>
        </p:spPr>
      </p:pic>
      <p:sp>
        <p:nvSpPr>
          <p:cNvPr id="249859" name="TextBox 5"/>
          <p:cNvSpPr/>
          <p:nvPr/>
        </p:nvSpPr>
        <p:spPr>
          <a:xfrm>
            <a:off x="0" y="1743075"/>
            <a:ext cx="9144000" cy="51768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2</a:t>
            </a:r>
            <a:r>
              <a:rPr altLang="en-US" dirty="0" lang="zh-CN" b="1" sz="2800">
                <a:ea typeface="宋体" panose="02010600030101010101" pitchFamily="2" charset="-122"/>
                <a:latin typeface="宋体" panose="02010600030101010101" pitchFamily="2" charset="-122"/>
              </a:rPr>
              <a:t>、科学技术社会建制是科技活动不断社会化的产物。</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graphicFrame>
        <p:nvGraphicFramePr>
          <p:cNvPr id="2" name="表格 1"/>
          <p:cNvGraphicFramePr>
            <a:graphicFrameLocks noGrp="1"/>
          </p:cNvGraphicFramePr>
          <p:nvPr/>
        </p:nvGraphicFramePr>
        <p:xfrm>
          <a:off x="0" y="2365375"/>
          <a:ext cx="9144000" cy="4794251"/>
        </p:xfrm>
        <a:graphic>
          <a:graphicData uri="http://schemas.openxmlformats.org/drawingml/2006/table">
            <a:tbl>
              <a:tblPr firstRow="1" bandRow="1">
                <a:tableStyleId>{5C22544A-7EE6-4342-B048-85BDC9FD1C3A}</a:tableStyleId>
              </a:tblPr>
              <a:tblGrid>
                <a:gridCol w="1362976"/>
                <a:gridCol w="1940941"/>
                <a:gridCol w="2182483"/>
                <a:gridCol w="1828800"/>
                <a:gridCol w="1828800"/>
              </a:tblGrid>
              <a:tr h="697709">
                <a:tc>
                  <a:txBody>
                    <a:bodyPr/>
                    <a:lstStyle/>
                    <a:p>
                      <a:pPr/>
                      <a:r>
                        <a:rPr altLang="en-US" dirty="0" lang="zh-CN" sz="1800">
                          <a:solidFill>
                            <a:srgbClr val="0000FF"/>
                          </a:solidFill>
                          <a:ea typeface="宋体" panose="02010600030101010101" pitchFamily="2" charset="-122"/>
                          <a:latin typeface="宋体" panose="02010600030101010101" pitchFamily="2" charset="-122"/>
                        </a:rPr>
                        <a:t>年代</a:t>
                      </a:r>
                      <a:endParaRPr altLang="en-US" dirty="0" lang="zh-CN" sz="1800">
                        <a:solidFill>
                          <a:srgbClr val="0000FF"/>
                        </a:solidFill>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solidFill>
                            <a:srgbClr val="0000FF"/>
                          </a:solidFill>
                          <a:ea typeface="宋体" panose="02010600030101010101" pitchFamily="2" charset="-122"/>
                          <a:latin typeface="宋体" panose="02010600030101010101" pitchFamily="2" charset="-122"/>
                        </a:rPr>
                        <a:t>科学活动目标</a:t>
                      </a:r>
                      <a:endParaRPr altLang="en-US" dirty="0" lang="zh-CN" sz="1800">
                        <a:solidFill>
                          <a:srgbClr val="0000FF"/>
                        </a:solidFill>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solidFill>
                            <a:srgbClr val="0000FF"/>
                          </a:solidFill>
                          <a:ea typeface="宋体" panose="02010600030101010101" pitchFamily="2" charset="-122"/>
                          <a:latin typeface="宋体" panose="02010600030101010101" pitchFamily="2" charset="-122"/>
                        </a:rPr>
                        <a:t>科学共同体活动特征</a:t>
                      </a:r>
                      <a:endParaRPr altLang="en-US" dirty="0" lang="zh-CN" sz="1800">
                        <a:solidFill>
                          <a:srgbClr val="0000FF"/>
                        </a:solidFill>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solidFill>
                            <a:srgbClr val="0000FF"/>
                          </a:solidFill>
                          <a:ea typeface="宋体" panose="02010600030101010101" pitchFamily="2" charset="-122"/>
                          <a:latin typeface="宋体" panose="02010600030101010101" pitchFamily="2" charset="-122"/>
                        </a:rPr>
                        <a:t>典型案例</a:t>
                      </a:r>
                      <a:endParaRPr altLang="en-US" dirty="0" lang="zh-CN" sz="1800">
                        <a:solidFill>
                          <a:srgbClr val="0000FF"/>
                        </a:solidFill>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solidFill>
                            <a:srgbClr val="0000FF"/>
                          </a:solidFill>
                          <a:ea typeface="宋体" panose="02010600030101010101" pitchFamily="2" charset="-122"/>
                          <a:latin typeface="宋体" panose="02010600030101010101" pitchFamily="2" charset="-122"/>
                        </a:rPr>
                        <a:t>交流方式</a:t>
                      </a:r>
                      <a:endParaRPr altLang="en-US" dirty="0" lang="zh-CN" sz="1800">
                        <a:solidFill>
                          <a:srgbClr val="0000FF"/>
                        </a:solidFill>
                        <a:ea typeface="宋体" panose="02010600030101010101" pitchFamily="2" charset="-122"/>
                        <a:latin typeface="宋体" panose="02010600030101010101" pitchFamily="2" charset="-122"/>
                      </a:endParaRPr>
                    </a:p>
                  </a:txBody>
                  <a:tcPr marT="45712" marB="45712" anchor="t"/>
                </a:tc>
              </a:tr>
              <a:tr h="996727">
                <a:tc>
                  <a:txBody>
                    <a:bodyPr/>
                    <a:lstStyle/>
                    <a:p>
                      <a:pPr/>
                      <a:r>
                        <a:rPr altLang="zh-CN" dirty="0" lang="en-US" sz="1800">
                          <a:ea typeface="宋体" panose="02010600030101010101" pitchFamily="2" charset="-122"/>
                          <a:latin typeface="宋体" panose="02010600030101010101" pitchFamily="2" charset="-122"/>
                        </a:rPr>
                        <a:t>17</a:t>
                      </a:r>
                      <a:r>
                        <a:rPr altLang="en-US" dirty="0" lang="zh-CN" sz="1800">
                          <a:ea typeface="宋体" panose="02010600030101010101" pitchFamily="2" charset="-122"/>
                          <a:latin typeface="宋体" panose="02010600030101010101" pitchFamily="2" charset="-122"/>
                        </a:rPr>
                        <a:t>世纪</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生产知识</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个体劳动与松散学会交流</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山猫学会（意大利）、皇家学会（英国）</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刊物、会议通讯等</a:t>
                      </a:r>
                      <a:endParaRPr altLang="en-US" dirty="0" lang="zh-CN" sz="1800">
                        <a:ea typeface="宋体" panose="02010600030101010101" pitchFamily="2" charset="-122"/>
                        <a:latin typeface="宋体" panose="02010600030101010101" pitchFamily="2" charset="-122"/>
                      </a:endParaRPr>
                    </a:p>
                  </a:txBody>
                  <a:tcPr marT="45712" marB="45712" anchor="t"/>
                </a:tc>
              </a:tr>
              <a:tr h="1188704">
                <a:tc>
                  <a:txBody>
                    <a:bodyPr/>
                    <a:lstStyle/>
                    <a:p>
                      <a:pPr/>
                      <a:r>
                        <a:rPr altLang="zh-CN" dirty="0" lang="en-US" sz="1800">
                          <a:ea typeface="宋体" panose="02010600030101010101" pitchFamily="2" charset="-122"/>
                          <a:latin typeface="宋体" panose="02010600030101010101" pitchFamily="2" charset="-122"/>
                        </a:rPr>
                        <a:t>18</a:t>
                      </a:r>
                      <a:r>
                        <a:rPr altLang="en-US" dirty="0" lang="zh-CN" sz="1800">
                          <a:ea typeface="宋体" panose="02010600030101010101" pitchFamily="2" charset="-122"/>
                          <a:latin typeface="宋体" panose="02010600030101010101" pitchFamily="2" charset="-122"/>
                        </a:rPr>
                        <a:t>、</a:t>
                      </a:r>
                      <a:r>
                        <a:rPr altLang="zh-CN" dirty="0" lang="en-US" sz="1800">
                          <a:ea typeface="宋体" panose="02010600030101010101" pitchFamily="2" charset="-122"/>
                          <a:latin typeface="宋体" panose="02010600030101010101" pitchFamily="2" charset="-122"/>
                        </a:rPr>
                        <a:t>19</a:t>
                      </a:r>
                      <a:r>
                        <a:rPr altLang="en-US" dirty="0" lang="zh-CN" sz="1800">
                          <a:ea typeface="宋体" panose="02010600030101010101" pitchFamily="2" charset="-122"/>
                          <a:latin typeface="宋体" panose="02010600030101010101" pitchFamily="2" charset="-122"/>
                        </a:rPr>
                        <a:t>世纪</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发展学科</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专业实验室</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李比希实验室、卡文迪许实验室</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专业学科内学术会议，派遣研究生、在协作研究中互动</a:t>
                      </a:r>
                      <a:endParaRPr altLang="en-US" dirty="0" lang="zh-CN" sz="1800">
                        <a:ea typeface="宋体" panose="02010600030101010101" pitchFamily="2" charset="-122"/>
                        <a:latin typeface="宋体" panose="02010600030101010101" pitchFamily="2" charset="-122"/>
                      </a:endParaRPr>
                    </a:p>
                  </a:txBody>
                  <a:tcPr marT="45712" marB="45712" anchor="t"/>
                </a:tc>
              </a:tr>
              <a:tr h="914384">
                <a:tc>
                  <a:txBody>
                    <a:bodyPr/>
                    <a:lstStyle/>
                    <a:p>
                      <a:pPr/>
                      <a:r>
                        <a:rPr altLang="zh-CN" dirty="0" lang="en-US" sz="1800">
                          <a:ea typeface="宋体" panose="02010600030101010101" pitchFamily="2" charset="-122"/>
                          <a:latin typeface="宋体" panose="02010600030101010101" pitchFamily="2" charset="-122"/>
                        </a:rPr>
                        <a:t>19</a:t>
                      </a:r>
                      <a:r>
                        <a:rPr altLang="en-US" dirty="0" lang="zh-CN" sz="1800">
                          <a:ea typeface="宋体" panose="02010600030101010101" pitchFamily="2" charset="-122"/>
                          <a:latin typeface="宋体" panose="02010600030101010101" pitchFamily="2" charset="-122"/>
                        </a:rPr>
                        <a:t>、</a:t>
                      </a:r>
                      <a:r>
                        <a:rPr altLang="zh-CN" dirty="0" lang="en-US" sz="1800">
                          <a:ea typeface="宋体" panose="02010600030101010101" pitchFamily="2" charset="-122"/>
                          <a:latin typeface="宋体" panose="02010600030101010101" pitchFamily="2" charset="-122"/>
                        </a:rPr>
                        <a:t>20</a:t>
                      </a:r>
                      <a:r>
                        <a:rPr altLang="en-US" dirty="0" lang="zh-CN" sz="1800">
                          <a:ea typeface="宋体" panose="02010600030101010101" pitchFamily="2" charset="-122"/>
                          <a:latin typeface="宋体" panose="02010600030101010101" pitchFamily="2" charset="-122"/>
                        </a:rPr>
                        <a:t>世纪</a:t>
                      </a:r>
                      <a:endParaRPr altLang="zh-CN" dirty="0" lang="en-US"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发明创造</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发明工厂</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爱迪生研究所</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通过市场、聘用或解聘，以调整知识结构</a:t>
                      </a:r>
                      <a:endParaRPr altLang="en-US" dirty="0" lang="zh-CN" sz="1800">
                        <a:ea typeface="宋体" panose="02010600030101010101" pitchFamily="2" charset="-122"/>
                        <a:latin typeface="宋体" panose="02010600030101010101" pitchFamily="2" charset="-122"/>
                      </a:endParaRPr>
                    </a:p>
                  </a:txBody>
                  <a:tcPr marT="45712" marB="45712" anchor="t"/>
                </a:tc>
              </a:tr>
              <a:tr h="996727">
                <a:tc>
                  <a:txBody>
                    <a:bodyPr/>
                    <a:lstStyle/>
                    <a:p>
                      <a:pPr/>
                      <a:r>
                        <a:rPr altLang="zh-CN" dirty="0" lang="en-US" sz="1800">
                          <a:ea typeface="宋体" panose="02010600030101010101" pitchFamily="2" charset="-122"/>
                          <a:latin typeface="宋体" panose="02010600030101010101" pitchFamily="2" charset="-122"/>
                        </a:rPr>
                        <a:t>20</a:t>
                      </a:r>
                      <a:r>
                        <a:rPr altLang="en-US" dirty="0" lang="zh-CN" sz="1800">
                          <a:ea typeface="宋体" panose="02010600030101010101" pitchFamily="2" charset="-122"/>
                          <a:latin typeface="宋体" panose="02010600030101010101" pitchFamily="2" charset="-122"/>
                        </a:rPr>
                        <a:t>世纪</a:t>
                      </a:r>
                      <a:r>
                        <a:rPr altLang="zh-CN" dirty="0" lang="en-US" sz="1800">
                          <a:ea typeface="宋体" panose="02010600030101010101" pitchFamily="2" charset="-122"/>
                          <a:latin typeface="宋体" panose="02010600030101010101" pitchFamily="2" charset="-122"/>
                        </a:rPr>
                        <a:t>40</a:t>
                      </a:r>
                      <a:r>
                        <a:rPr altLang="en-US" dirty="0" lang="zh-CN" sz="1800">
                          <a:ea typeface="宋体" panose="02010600030101010101" pitchFamily="2" charset="-122"/>
                          <a:latin typeface="宋体" panose="02010600030101010101" pitchFamily="2" charset="-122"/>
                        </a:rPr>
                        <a:t>年代</a:t>
                      </a:r>
                      <a:endParaRPr altLang="zh-CN" dirty="0" lang="en-US" sz="1800">
                        <a:ea typeface="宋体" panose="02010600030101010101" pitchFamily="2" charset="-122"/>
                        <a:latin typeface="宋体" panose="02010600030101010101" pitchFamily="2" charset="-122"/>
                      </a:endParaRPr>
                    </a:p>
                    <a:p>
                      <a:pPr/>
                      <a:endParaRPr altLang="zh-CN" dirty="0" lang="en-US"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形成产业</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研究、实验、生产一体化</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曼哈顿工程研究中心</a:t>
                      </a:r>
                      <a:endParaRPr altLang="en-US" dirty="0" lang="zh-CN" sz="1800">
                        <a:ea typeface="宋体" panose="02010600030101010101" pitchFamily="2" charset="-122"/>
                        <a:latin typeface="宋体" panose="02010600030101010101" pitchFamily="2" charset="-122"/>
                      </a:endParaRPr>
                    </a:p>
                  </a:txBody>
                  <a:tcPr marT="45712" marB="45712" anchor="t"/>
                </a:tc>
                <a:tc>
                  <a:txBody>
                    <a:bodyPr/>
                    <a:lstStyle/>
                    <a:p>
                      <a:pPr/>
                      <a:r>
                        <a:rPr altLang="en-US" dirty="0" lang="zh-CN" sz="1800">
                          <a:ea typeface="宋体" panose="02010600030101010101" pitchFamily="2" charset="-122"/>
                          <a:latin typeface="宋体" panose="02010600030101010101" pitchFamily="2" charset="-122"/>
                        </a:rPr>
                        <a:t>国家、政府等直接干预，组织各方专家会议</a:t>
                      </a:r>
                      <a:endParaRPr altLang="en-US" dirty="0" lang="zh-CN" sz="1800">
                        <a:ea typeface="宋体" panose="02010600030101010101" pitchFamily="2" charset="-122"/>
                        <a:latin typeface="宋体" panose="02010600030101010101" pitchFamily="2" charset="-122"/>
                      </a:endParaRPr>
                    </a:p>
                  </a:txBody>
                  <a:tcPr marT="45712" marB="45712" anchor="t"/>
                </a:tc>
              </a:tr>
            </a:tbl>
          </a:graphicData>
        </a:graphic>
      </p:graphicFrame>
    </p:spTree>
  </p:cSld>
  <p:clrMapOvr>
    <a:masterClrMapping/>
  </p:clrMapOvr>
</p:sld>
</file>

<file path=ppt/slides/slide21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0882" name="Picture 9"/>
          <p:cNvPicPr/>
          <p:nvPr/>
        </p:nvPicPr>
        <p:blipFill>
          <a:blip r:embed="rId1"/>
          <a:stretch>
            <a:fillRect/>
          </a:stretch>
        </p:blipFill>
        <p:spPr>
          <a:xfrm>
            <a:off x="0" y="0"/>
            <a:ext cx="9144000" cy="1743075"/>
          </a:xfrm>
          <a:prstGeom prst="rect">
            <a:avLst/>
          </a:prstGeom>
          <a:noFill/>
          <a:ln w="9525">
            <a:noFill/>
          </a:ln>
        </p:spPr>
      </p:pic>
      <p:sp>
        <p:nvSpPr>
          <p:cNvPr id="250883" name="TextBox 5"/>
          <p:cNvSpPr/>
          <p:nvPr/>
        </p:nvSpPr>
        <p:spPr>
          <a:xfrm>
            <a:off x="0" y="1743075"/>
            <a:ext cx="9144000" cy="2978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3</a:t>
            </a:r>
            <a:r>
              <a:rPr altLang="en-US" dirty="0" lang="zh-CN" b="1" sz="2800">
                <a:solidFill>
                  <a:srgbClr val="FF0000"/>
                </a:solidFill>
                <a:ea typeface="宋体" panose="02010600030101010101" pitchFamily="2" charset="-122"/>
                <a:latin typeface="宋体" panose="02010600030101010101" pitchFamily="2" charset="-122"/>
              </a:rPr>
              <a:t>、科学社会建制化程度高低的标准</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自主性；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适应性；</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广泛性。</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Arial" panose="020B0604020202020204" pitchFamily="34" charset="0"/>
            </a:endParaRPr>
          </a:p>
        </p:txBody>
      </p:sp>
    </p:spTree>
  </p:cSld>
  <p:clrMapOvr>
    <a:masterClrMapping/>
  </p:clrMapOvr>
</p:sld>
</file>

<file path=ppt/slides/slide22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1906" name="Picture 9"/>
          <p:cNvPicPr/>
          <p:nvPr/>
        </p:nvPicPr>
        <p:blipFill>
          <a:blip r:embed="rId1"/>
          <a:stretch>
            <a:fillRect/>
          </a:stretch>
        </p:blipFill>
        <p:spPr>
          <a:xfrm>
            <a:off x="0" y="0"/>
            <a:ext cx="9144000" cy="1743075"/>
          </a:xfrm>
          <a:prstGeom prst="rect">
            <a:avLst/>
          </a:prstGeom>
          <a:noFill/>
          <a:ln w="9525">
            <a:noFill/>
          </a:ln>
        </p:spPr>
      </p:pic>
      <p:sp>
        <p:nvSpPr>
          <p:cNvPr id="251907" name="TextBox 5"/>
          <p:cNvSpPr/>
          <p:nvPr/>
        </p:nvSpPr>
        <p:spPr>
          <a:xfrm>
            <a:off x="0" y="1743075"/>
            <a:ext cx="9144000" cy="4537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三、科学技术的组织机构</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1</a:t>
            </a:r>
            <a:r>
              <a:rPr altLang="en-US" dirty="0" lang="zh-CN" b="1" sz="2800">
                <a:solidFill>
                  <a:srgbClr val="FF0000"/>
                </a:solidFill>
                <a:ea typeface="宋体" panose="02010600030101010101" pitchFamily="2" charset="-122"/>
                <a:latin typeface="宋体" panose="02010600030101010101" pitchFamily="2" charset="-122"/>
              </a:rPr>
              <a:t>、</a:t>
            </a:r>
            <a:r>
              <a:rPr altLang="en-US" dirty="0" lang="zh-CN" b="1" sz="2800">
                <a:solidFill>
                  <a:srgbClr val="FF0000"/>
                </a:solidFill>
                <a:ea typeface="宋体" panose="02010600030101010101" pitchFamily="2" charset="-122"/>
                <a:latin typeface="Arial" panose="020B0604020202020204" pitchFamily="34" charset="0"/>
              </a:rPr>
              <a:t>科学技术组织机构类型</a:t>
            </a:r>
            <a:endParaRPr altLang="zh-CN" dirty="0" lang="en-US" b="1" sz="2800">
              <a:solidFill>
                <a:srgbClr val="FF0000"/>
              </a:solidFill>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en-US" dirty="0" lang="zh-CN" sz="2800">
                <a:ea typeface="宋体" panose="02010600030101010101" pitchFamily="2" charset="-122"/>
                <a:latin typeface="Arial" panose="020B0604020202020204" pitchFamily="34" charset="0"/>
              </a:rPr>
              <a:t>科学技术决策、管理与咨询机构；</a:t>
            </a:r>
            <a:endParaRPr altLang="zh-CN" dirty="0" lang="en-US" sz="28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en-US" dirty="0" lang="zh-CN" sz="2800">
                <a:ea typeface="宋体" panose="02010600030101010101" pitchFamily="2" charset="-122"/>
                <a:latin typeface="Arial" panose="020B0604020202020204" pitchFamily="34" charset="0"/>
              </a:rPr>
              <a:t>科学技术活动的组织结构；</a:t>
            </a:r>
            <a:endParaRPr altLang="zh-CN" dirty="0" lang="en-US" sz="28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en-US" dirty="0" lang="zh-CN" sz="2800">
                <a:ea typeface="宋体" panose="02010600030101010101" pitchFamily="2" charset="-122"/>
                <a:latin typeface="Arial" panose="020B0604020202020204" pitchFamily="34" charset="0"/>
              </a:rPr>
              <a:t>科学技术传播机构；</a:t>
            </a:r>
            <a:endParaRPr altLang="zh-CN" dirty="0" lang="en-US" sz="28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en-US" dirty="0" lang="zh-CN" sz="2800">
                <a:ea typeface="宋体" panose="02010600030101010101" pitchFamily="2" charset="-122"/>
                <a:latin typeface="Arial" panose="020B0604020202020204" pitchFamily="34" charset="0"/>
              </a:rPr>
              <a:t>科学技术人才培养机构。</a:t>
            </a:r>
            <a:endParaRPr altLang="zh-CN" dirty="0" lang="en-US" sz="28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Arial" panose="020B0604020202020204" pitchFamily="34" charset="0"/>
            </a:endParaRPr>
          </a:p>
        </p:txBody>
      </p:sp>
    </p:spTree>
  </p:cSld>
  <p:clrMapOvr>
    <a:masterClrMapping/>
  </p:clrMapOvr>
</p:sld>
</file>

<file path=ppt/slides/slide22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2930" name="Picture 9"/>
          <p:cNvPicPr/>
          <p:nvPr/>
        </p:nvPicPr>
        <p:blipFill>
          <a:blip r:embed="rId1"/>
          <a:stretch>
            <a:fillRect/>
          </a:stretch>
        </p:blipFill>
        <p:spPr>
          <a:xfrm>
            <a:off x="0" y="0"/>
            <a:ext cx="9144000" cy="1743075"/>
          </a:xfrm>
          <a:prstGeom prst="rect">
            <a:avLst/>
          </a:prstGeom>
          <a:noFill/>
          <a:ln w="9525">
            <a:noFill/>
          </a:ln>
        </p:spPr>
      </p:pic>
      <p:sp>
        <p:nvSpPr>
          <p:cNvPr id="252931" name="TextBox 5"/>
          <p:cNvSpPr/>
          <p:nvPr/>
        </p:nvSpPr>
        <p:spPr>
          <a:xfrm>
            <a:off x="0" y="1743075"/>
            <a:ext cx="9144000" cy="5262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2</a:t>
            </a:r>
            <a:r>
              <a:rPr altLang="en-US" dirty="0" lang="zh-CN" b="1" sz="2800">
                <a:solidFill>
                  <a:srgbClr val="FF0000"/>
                </a:solidFill>
                <a:ea typeface="宋体" panose="02010600030101010101" pitchFamily="2" charset="-122"/>
                <a:latin typeface="宋体" panose="02010600030101010101" pitchFamily="2" charset="-122"/>
              </a:rPr>
              <a:t>、科学共同体</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科学共同体</a:t>
            </a:r>
            <a:r>
              <a:rPr altLang="en-US" dirty="0" lang="zh-CN" sz="2800">
                <a:ea typeface="宋体" panose="02010600030101010101" pitchFamily="2" charset="-122"/>
                <a:latin typeface="宋体" panose="02010600030101010101" pitchFamily="2" charset="-122"/>
              </a:rPr>
              <a:t>是以共同的科学范式为基础形成的科学家群体，他们在同样的实践规则和标准下从事科学研究。科学学派和无形学院是科学共同体的两种主要形式。</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技术共同体</a:t>
            </a:r>
            <a:r>
              <a:rPr altLang="en-US" dirty="0" lang="zh-CN" sz="2800">
                <a:ea typeface="宋体" panose="02010600030101010101" pitchFamily="2" charset="-122"/>
                <a:latin typeface="宋体" panose="02010600030101010101" pitchFamily="2" charset="-122"/>
              </a:rPr>
              <a:t>是以共同的技术范式为基础形成的技术专家群体。</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Arial" panose="020B0604020202020204" pitchFamily="34" charset="0"/>
              </a:rPr>
              <a:t>    </a:t>
            </a:r>
            <a:r>
              <a:rPr altLang="en-US" dirty="0" lang="zh-CN" sz="2800">
                <a:ea typeface="宋体" panose="02010600030101010101" pitchFamily="2" charset="-122"/>
                <a:latin typeface="Arial" panose="020B0604020202020204" pitchFamily="34" charset="0"/>
              </a:rPr>
              <a:t>科学共同体通过学术会议、期刊以及其它无形形式进行国内国际的交流。</a:t>
            </a:r>
            <a:endParaRPr altLang="zh-CN" dirty="0" lang="en-US" sz="2800">
              <a:ea typeface="宋体" panose="02010600030101010101" pitchFamily="2" charset="-122"/>
              <a:latin typeface="Arial" panose="020B0604020202020204" pitchFamily="34" charset="0"/>
            </a:endParaRPr>
          </a:p>
        </p:txBody>
      </p:sp>
    </p:spTree>
  </p:cSld>
  <p:clrMapOvr>
    <a:masterClrMapping/>
  </p:clrMapOvr>
</p:sld>
</file>

<file path=ppt/slides/slide22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3954" name="Picture 9"/>
          <p:cNvPicPr/>
          <p:nvPr/>
        </p:nvPicPr>
        <p:blipFill>
          <a:blip r:embed="rId1"/>
          <a:stretch>
            <a:fillRect/>
          </a:stretch>
        </p:blipFill>
        <p:spPr>
          <a:xfrm>
            <a:off x="0" y="0"/>
            <a:ext cx="9144000" cy="1743075"/>
          </a:xfrm>
          <a:prstGeom prst="rect">
            <a:avLst/>
          </a:prstGeom>
          <a:noFill/>
          <a:ln w="9525">
            <a:noFill/>
          </a:ln>
        </p:spPr>
      </p:pic>
      <p:sp>
        <p:nvSpPr>
          <p:cNvPr id="253955" name="TextBox 5"/>
          <p:cNvSpPr/>
          <p:nvPr/>
        </p:nvSpPr>
        <p:spPr>
          <a:xfrm>
            <a:off x="0" y="1743075"/>
            <a:ext cx="9144000" cy="461581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b="1" sz="2800">
                <a:solidFill>
                  <a:srgbClr val="FF0000"/>
                </a:solidFill>
                <a:ea typeface="宋体" panose="02010600030101010101" pitchFamily="2" charset="-122"/>
                <a:latin typeface="宋体" panose="02010600030101010101" pitchFamily="2" charset="-122"/>
              </a:rPr>
              <a:t>3</a:t>
            </a:r>
            <a:r>
              <a:rPr altLang="en-US" dirty="0" lang="zh-CN" b="1" sz="2800">
                <a:solidFill>
                  <a:srgbClr val="FF0000"/>
                </a:solidFill>
                <a:ea typeface="宋体" panose="02010600030101010101" pitchFamily="2" charset="-122"/>
                <a:latin typeface="宋体" panose="02010600030101010101" pitchFamily="2" charset="-122"/>
              </a:rPr>
              <a:t>、科学共同体的社会分层</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ea typeface="宋体" panose="02010600030101010101" pitchFamily="2" charset="-122"/>
                <a:latin typeface="宋体" panose="02010600030101010101" pitchFamily="2" charset="-122"/>
              </a:rPr>
              <a:t>在共同体内部，组成人员按照职称、学术职务、学术声望等进行社会分层。</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社会分层的优势积累效应</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马太效应。马太效应即富有者愈富，穷者愈穷的累积效应。</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圣经</a:t>
            </a:r>
            <a:r>
              <a:rPr altLang="zh-CN" dirty="0" lang="en-US"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的“马太福音”说：“凡有的，还要给它，叫他有余。没有的，连他所有的，也要夺过去”。在科学研究活动中，当一位科学工作</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4978" name="Picture 9"/>
          <p:cNvPicPr/>
          <p:nvPr/>
        </p:nvPicPr>
        <p:blipFill>
          <a:blip r:embed="rId1"/>
          <a:stretch>
            <a:fillRect/>
          </a:stretch>
        </p:blipFill>
        <p:spPr>
          <a:xfrm>
            <a:off x="0" y="0"/>
            <a:ext cx="9144000" cy="1743075"/>
          </a:xfrm>
          <a:prstGeom prst="rect">
            <a:avLst/>
          </a:prstGeom>
          <a:noFill/>
          <a:ln w="9525">
            <a:noFill/>
          </a:ln>
        </p:spPr>
      </p:pic>
      <p:sp>
        <p:nvSpPr>
          <p:cNvPr id="254979" name="TextBox 5"/>
          <p:cNvSpPr/>
          <p:nvPr/>
        </p:nvSpPr>
        <p:spPr>
          <a:xfrm>
            <a:off x="0" y="1743075"/>
            <a:ext cx="9144000" cy="58086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者获得一定的优势以后，他将会获得更多的优势；而未能获得优势者则相对会变得更加弱势。“马太效应”不仅体现在科学家个人身上，而且也表现在共同体或国家层面上。</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四、科学技术的伦理规范</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1</a:t>
            </a:r>
            <a:r>
              <a:rPr altLang="en-US" dirty="0" lang="zh-CN" b="1" sz="2800">
                <a:ea typeface="宋体" panose="02010600030101010101" pitchFamily="2" charset="-122"/>
                <a:latin typeface="宋体" panose="02010600030101010101" pitchFamily="2" charset="-122"/>
              </a:rPr>
              <a:t>、科学的社会规范</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美国科学社会学家默顿提出了一套科学共同体的行为规范：公有主义、普遍主义、无私利性、独创性和有条理的怀疑主义。</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6002" name="Picture 9"/>
          <p:cNvPicPr/>
          <p:nvPr/>
        </p:nvPicPr>
        <p:blipFill>
          <a:blip r:embed="rId1"/>
          <a:stretch>
            <a:fillRect/>
          </a:stretch>
        </p:blipFill>
        <p:spPr>
          <a:xfrm>
            <a:off x="0" y="0"/>
            <a:ext cx="9144000" cy="1743075"/>
          </a:xfrm>
          <a:prstGeom prst="rect">
            <a:avLst/>
          </a:prstGeom>
          <a:noFill/>
          <a:ln w="9525">
            <a:noFill/>
          </a:ln>
        </p:spPr>
      </p:pic>
      <p:sp>
        <p:nvSpPr>
          <p:cNvPr id="256003" name="TextBox 5"/>
          <p:cNvSpPr/>
          <p:nvPr/>
        </p:nvSpPr>
        <p:spPr>
          <a:xfrm>
            <a:off x="0" y="1743075"/>
            <a:ext cx="9144000" cy="5162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solidFill>
                  <a:srgbClr val="FF0000"/>
                </a:solidFill>
                <a:ea typeface="宋体" panose="02010600030101010101" pitchFamily="2" charset="-122"/>
                <a:latin typeface="宋体" panose="02010600030101010101" pitchFamily="2" charset="-122"/>
              </a:rPr>
              <a:t>   公有主义（</a:t>
            </a:r>
            <a:r>
              <a:rPr altLang="zh-CN" dirty="0" lang="en-US" sz="2800">
                <a:solidFill>
                  <a:srgbClr val="FF0000"/>
                </a:solidFill>
                <a:ea typeface="宋体" panose="02010600030101010101" pitchFamily="2" charset="-122"/>
                <a:latin typeface="Times New Roman" panose="02020603050405020304" pitchFamily="18" charset="0"/>
              </a:rPr>
              <a:t>communalism</a:t>
            </a:r>
            <a:r>
              <a:rPr altLang="en-US" dirty="0" lang="zh-CN" sz="2800">
                <a:solidFill>
                  <a:srgbClr val="FF0000"/>
                </a:solidFill>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科学是公共的知识，所有人都是可以利用的。也就是说，科学成果不属于科学家个人，而属于全世界。科学发现应该尽快地向科学共同体交流。 </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普遍主义（</a:t>
            </a:r>
            <a:r>
              <a:rPr altLang="zh-CN" dirty="0" lang="en-US" sz="2800">
                <a:solidFill>
                  <a:srgbClr val="FF0000"/>
                </a:solidFill>
                <a:ea typeface="宋体" panose="02010600030101010101" pitchFamily="2" charset="-122"/>
                <a:latin typeface="Times New Roman" panose="02020603050405020304" pitchFamily="18" charset="0"/>
              </a:rPr>
              <a:t>universalism</a:t>
            </a:r>
            <a:r>
              <a:rPr altLang="en-US" dirty="0" lang="zh-CN" sz="2800">
                <a:solidFill>
                  <a:srgbClr val="FF0000"/>
                </a:solidFill>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科学知识不存在特殊权益的根源。在科学面前人人平等，发现成果和理论论证应该根据它们内在的价值来衡量，不管提出者的国籍、民族、宗教、阶级、年龄或科学上的地位。</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7026" name="Picture 9"/>
          <p:cNvPicPr/>
          <p:nvPr/>
        </p:nvPicPr>
        <p:blipFill>
          <a:blip r:embed="rId1"/>
          <a:stretch>
            <a:fillRect/>
          </a:stretch>
        </p:blipFill>
        <p:spPr>
          <a:xfrm>
            <a:off x="0" y="0"/>
            <a:ext cx="9144000" cy="1743075"/>
          </a:xfrm>
          <a:prstGeom prst="rect">
            <a:avLst/>
          </a:prstGeom>
          <a:noFill/>
          <a:ln w="9525">
            <a:noFill/>
          </a:ln>
        </p:spPr>
      </p:pic>
      <p:sp>
        <p:nvSpPr>
          <p:cNvPr id="257027" name="TextBox 5"/>
          <p:cNvSpPr/>
          <p:nvPr/>
        </p:nvSpPr>
        <p:spPr>
          <a:xfrm>
            <a:off x="0" y="1743075"/>
            <a:ext cx="9144000" cy="451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  无私利性（</a:t>
            </a:r>
            <a:r>
              <a:rPr altLang="zh-CN" dirty="0" lang="en-US" sz="2800">
                <a:solidFill>
                  <a:srgbClr val="FF0000"/>
                </a:solidFill>
                <a:ea typeface="宋体" panose="02010600030101010101" pitchFamily="2" charset="-122"/>
                <a:latin typeface="Times New Roman" panose="02020603050405020304" pitchFamily="18" charset="0"/>
              </a:rPr>
              <a:t>disinterestedness</a:t>
            </a:r>
            <a:r>
              <a:rPr altLang="en-US" dirty="0" lang="zh-CN" sz="2800">
                <a:solidFill>
                  <a:srgbClr val="FF0000"/>
                </a:solidFill>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为科学而科学，科学家进行研究和提供成果时，除了促进知识以外，不应该有其它动机。 他们在接受或排斥任何具体科学思想时，应该不计个人利益。</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独立性（</a:t>
            </a:r>
            <a:r>
              <a:rPr altLang="zh-CN" dirty="0" lang="en-US" sz="2800">
                <a:solidFill>
                  <a:srgbClr val="FF0000"/>
                </a:solidFill>
                <a:ea typeface="宋体" panose="02010600030101010101" pitchFamily="2" charset="-122"/>
                <a:latin typeface="Times New Roman" panose="02020603050405020304" pitchFamily="18" charset="0"/>
              </a:rPr>
              <a:t>originality</a:t>
            </a:r>
            <a:r>
              <a:rPr altLang="en-US" dirty="0" lang="zh-CN" sz="2800">
                <a:solidFill>
                  <a:srgbClr val="FF0000"/>
                </a:solidFill>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科学是对未知世界的发现，科学研究成果总应该是新颖的。一项科学研究没有给人类的科学知识大厦增添新内容，则无所谓贡献于科学。</a:t>
            </a: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8050" name="Picture 9"/>
          <p:cNvPicPr/>
          <p:nvPr/>
        </p:nvPicPr>
        <p:blipFill>
          <a:blip r:embed="rId1"/>
          <a:stretch>
            <a:fillRect/>
          </a:stretch>
        </p:blipFill>
        <p:spPr>
          <a:xfrm>
            <a:off x="0" y="0"/>
            <a:ext cx="9144000" cy="1743075"/>
          </a:xfrm>
          <a:prstGeom prst="rect">
            <a:avLst/>
          </a:prstGeom>
          <a:noFill/>
          <a:ln w="9525">
            <a:noFill/>
          </a:ln>
        </p:spPr>
      </p:pic>
      <p:sp>
        <p:nvSpPr>
          <p:cNvPr id="258051" name="TextBox 5"/>
          <p:cNvSpPr/>
          <p:nvPr/>
        </p:nvSpPr>
        <p:spPr>
          <a:xfrm>
            <a:off x="0" y="1743075"/>
            <a:ext cx="9144000" cy="5162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a:t>
            </a:r>
            <a:r>
              <a:rPr altLang="en-US" dirty="0" lang="zh-CN" sz="2800">
                <a:solidFill>
                  <a:srgbClr val="FF0000"/>
                </a:solidFill>
                <a:ea typeface="宋体" panose="02010600030101010101" pitchFamily="2" charset="-122"/>
                <a:latin typeface="宋体" panose="02010600030101010101" pitchFamily="2" charset="-122"/>
              </a:rPr>
              <a:t>有条理的怀疑主义（</a:t>
            </a:r>
            <a:r>
              <a:rPr altLang="zh-CN" dirty="0" lang="en-US" sz="2800">
                <a:solidFill>
                  <a:srgbClr val="FF0000"/>
                </a:solidFill>
                <a:ea typeface="宋体" panose="02010600030101010101" pitchFamily="2" charset="-122"/>
                <a:latin typeface="Times New Roman" panose="02020603050405020304" pitchFamily="18" charset="0"/>
              </a:rPr>
              <a:t>disinterestedness</a:t>
            </a:r>
            <a:r>
              <a:rPr altLang="en-US" dirty="0" lang="zh-CN" sz="2800">
                <a:solidFill>
                  <a:srgbClr val="FF0000"/>
                </a:solidFill>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宋体" panose="02010600030101010101" pitchFamily="2" charset="-122"/>
              </a:rPr>
              <a:t>科学家们怀疑一切，对于科学知识，无论是新的还是旧的，都应该持续地仔细检查可能的事实错误或论证的矛盾。</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b="1" sz="2800">
                <a:ea typeface="宋体" panose="02010600030101010101" pitchFamily="2" charset="-122"/>
                <a:latin typeface="宋体" panose="02010600030101010101" pitchFamily="2" charset="-122"/>
              </a:rPr>
              <a:t>2</a:t>
            </a:r>
            <a:r>
              <a:rPr altLang="en-US" dirty="0" lang="zh-CN" b="1" sz="2800">
                <a:ea typeface="宋体" panose="02010600030101010101" pitchFamily="2" charset="-122"/>
                <a:latin typeface="宋体" panose="02010600030101010101" pitchFamily="2" charset="-122"/>
              </a:rPr>
              <a:t>、技术的社会规范</a:t>
            </a:r>
            <a:endParaRPr altLang="zh-CN" dirty="0" lang="en-US" b="1"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技术伦理指人们在技术相关伦理关系中应当遵守的道德规则。</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solidFill>
                  <a:srgbClr val="0000FF"/>
                </a:solidFill>
                <a:ea typeface="宋体" panose="02010600030101010101" pitchFamily="2" charset="-122"/>
                <a:latin typeface="宋体" panose="02010600030101010101" pitchFamily="2" charset="-122"/>
              </a:rPr>
              <a:t>    排他性。</a:t>
            </a:r>
            <a:r>
              <a:rPr altLang="en-US" dirty="0" lang="zh-CN" sz="2800">
                <a:ea typeface="宋体" panose="02010600030101010101" pitchFamily="2" charset="-122"/>
                <a:latin typeface="宋体" panose="02010600030101010101" pitchFamily="2" charset="-122"/>
              </a:rPr>
              <a:t>技术需要保护技术发明者的所有权利。</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59074" name="Picture 9"/>
          <p:cNvPicPr/>
          <p:nvPr/>
        </p:nvPicPr>
        <p:blipFill>
          <a:blip r:embed="rId1"/>
          <a:stretch>
            <a:fillRect/>
          </a:stretch>
        </p:blipFill>
        <p:spPr>
          <a:xfrm>
            <a:off x="0" y="0"/>
            <a:ext cx="9144000" cy="1743075"/>
          </a:xfrm>
          <a:prstGeom prst="rect">
            <a:avLst/>
          </a:prstGeom>
          <a:noFill/>
          <a:ln w="9525">
            <a:noFill/>
          </a:ln>
        </p:spPr>
      </p:pic>
      <p:sp>
        <p:nvSpPr>
          <p:cNvPr id="259075" name="TextBox 5"/>
          <p:cNvSpPr/>
          <p:nvPr/>
        </p:nvSpPr>
        <p:spPr>
          <a:xfrm>
            <a:off x="0" y="1743075"/>
            <a:ext cx="9144000" cy="5162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服务公众的安全与健康、尊重环境和生命等公众利益；</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诚实公平，维护职业的荣誉与尊严等。</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solidFill>
                  <a:srgbClr val="0000FF"/>
                </a:solidFill>
                <a:ea typeface="宋体" panose="02010600030101010101" pitchFamily="2" charset="-122"/>
                <a:latin typeface="宋体" panose="02010600030101010101" pitchFamily="2" charset="-122"/>
              </a:rPr>
              <a:t>技术发展中的伦理问题</a:t>
            </a:r>
            <a:endParaRPr altLang="zh-CN" dirty="0" lang="en-US" sz="2800">
              <a:solidFill>
                <a:srgbClr val="0000FF"/>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    首先，技术发展的目的性问题。尽管不同社会制度和文化价值观的学者会有不同的看法，但我们要关注技术发展要承担的伦理责任。例如，德国技术伦理学家汉斯尤纳斯的“责任伦理”说。</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0098" name="Picture 9"/>
          <p:cNvPicPr/>
          <p:nvPr/>
        </p:nvPicPr>
        <p:blipFill>
          <a:blip r:embed="rId1"/>
          <a:stretch>
            <a:fillRect/>
          </a:stretch>
        </p:blipFill>
        <p:spPr>
          <a:xfrm>
            <a:off x="0" y="0"/>
            <a:ext cx="9144000" cy="1743075"/>
          </a:xfrm>
          <a:prstGeom prst="rect">
            <a:avLst/>
          </a:prstGeom>
          <a:noFill/>
          <a:ln w="9525">
            <a:noFill/>
          </a:ln>
        </p:spPr>
      </p:pic>
      <p:sp>
        <p:nvSpPr>
          <p:cNvPr id="260099" name="TextBox 5"/>
          <p:cNvSpPr/>
          <p:nvPr/>
        </p:nvSpPr>
        <p:spPr>
          <a:xfrm>
            <a:off x="0" y="1743075"/>
            <a:ext cx="9144000" cy="25765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其次，实现真、善、美的统一，是技术追求的最高伦理。技术强调的就是追求善，善的技术有利于人类。</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800">
                <a:ea typeface="宋体" panose="02010600030101010101" pitchFamily="2" charset="-122"/>
                <a:latin typeface="宋体" panose="02010600030101010101" pitchFamily="2" charset="-122"/>
              </a:rPr>
              <a:t>最后，如何对待技术的负面效应。</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2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1122" name="Picture 9"/>
          <p:cNvPicPr/>
          <p:nvPr/>
        </p:nvPicPr>
        <p:blipFill>
          <a:blip r:embed="rId1"/>
          <a:stretch>
            <a:fillRect/>
          </a:stretch>
        </p:blipFill>
        <p:spPr>
          <a:xfrm>
            <a:off x="0" y="0"/>
            <a:ext cx="9144000" cy="1743075"/>
          </a:xfrm>
          <a:prstGeom prst="rect">
            <a:avLst/>
          </a:prstGeom>
          <a:noFill/>
          <a:ln w="9525">
            <a:noFill/>
          </a:ln>
        </p:spPr>
      </p:pic>
      <p:sp>
        <p:nvSpPr>
          <p:cNvPr id="261123" name="TextBox 5"/>
          <p:cNvSpPr/>
          <p:nvPr/>
        </p:nvSpPr>
        <p:spPr>
          <a:xfrm>
            <a:off x="0" y="1743075"/>
            <a:ext cx="9144000" cy="4146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第二节 科学技术的社会组织</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一、科学技术界的社会分层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社会分层：按照一定的标准将人们区分为高低不同的等级序列。</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社会分层的标准：</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、人的属性分类：性别、年龄等。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、人的社会属性分类：收入、权力、权威、教育程度等。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800">
              <a:ea typeface="宋体" panose="02010600030101010101" pitchFamily="2" charset="-122"/>
              <a:latin typeface="宋体" panose="02010600030101010101" pitchFamily="2" charset="-122"/>
            </a:endParaRPr>
          </a:p>
        </p:txBody>
      </p:sp>
    </p:spTree>
  </p:cSld>
  <p:clrMapOvr>
    <a:masterClrMapping/>
  </p:clrMapOvr>
</p:sld>
</file>

<file path=ppt/slides/slide23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2146" name="Picture 9"/>
          <p:cNvPicPr/>
          <p:nvPr/>
        </p:nvPicPr>
        <p:blipFill>
          <a:blip r:embed="rId1"/>
          <a:stretch>
            <a:fillRect/>
          </a:stretch>
        </p:blipFill>
        <p:spPr>
          <a:xfrm>
            <a:off x="0" y="0"/>
            <a:ext cx="9144000" cy="1743075"/>
          </a:xfrm>
          <a:prstGeom prst="rect">
            <a:avLst/>
          </a:prstGeom>
          <a:noFill/>
          <a:ln w="9525">
            <a:noFill/>
          </a:ln>
        </p:spPr>
      </p:pic>
      <p:sp>
        <p:nvSpPr>
          <p:cNvPr id="262147" name="TextBox 5"/>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科学技术界的社会分层：</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、美国的科尔兄弟</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科学中的社会分层</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，认为在科学界有“富有者”和“一无所有者</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之分。</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、科学史家普赖斯</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大科学、小科学</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，根据科学家的论文生成率，把他们分为高产者与低产者、贡献大的与贡献小的等。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、朱克曼</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科学界中的精英</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中讨论了科学精英与奖励制度时也描绘了科学界的分层现象。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3170" name="Picture 9"/>
          <p:cNvPicPr/>
          <p:nvPr/>
        </p:nvPicPr>
        <p:blipFill>
          <a:blip r:embed="rId1"/>
          <a:stretch>
            <a:fillRect/>
          </a:stretch>
        </p:blipFill>
        <p:spPr>
          <a:xfrm>
            <a:off x="0" y="0"/>
            <a:ext cx="9144000" cy="1743075"/>
          </a:xfrm>
          <a:prstGeom prst="rect">
            <a:avLst/>
          </a:prstGeom>
          <a:noFill/>
          <a:ln w="9525">
            <a:noFill/>
          </a:ln>
        </p:spPr>
      </p:pic>
      <p:sp>
        <p:nvSpPr>
          <p:cNvPr id="263171" name="TextBox 5"/>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二、科学界的社会承认</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、主要通过学术职位的承认和学术声望的承认来体现。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学术职位指科学家在学术单位所担任的职位。学术职位的承认是根据学术职位高低来获得承认的。</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、学术声望的大小，主要是用“知名度”来反映。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机构声望的光环效应；</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科学奖励的声望效应；</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科学家论文数量及其被引证的状况。</a:t>
            </a: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4194" name="Picture 9"/>
          <p:cNvPicPr/>
          <p:nvPr/>
        </p:nvPicPr>
        <p:blipFill>
          <a:blip r:embed="rId1"/>
          <a:stretch>
            <a:fillRect/>
          </a:stretch>
        </p:blipFill>
        <p:spPr>
          <a:xfrm>
            <a:off x="0" y="0"/>
            <a:ext cx="9144000" cy="1743075"/>
          </a:xfrm>
          <a:prstGeom prst="rect">
            <a:avLst/>
          </a:prstGeom>
          <a:noFill/>
          <a:ln w="9525">
            <a:noFill/>
          </a:ln>
        </p:spPr>
      </p:pic>
      <p:sp>
        <p:nvSpPr>
          <p:cNvPr id="264195" name="TextBox 5"/>
          <p:cNvSpPr/>
          <p:nvPr/>
        </p:nvSpPr>
        <p:spPr>
          <a:xfrm>
            <a:off x="0" y="1743075"/>
            <a:ext cx="9144000" cy="3883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科学权威的作用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、促进科学知识的增长；</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、保证科学正确的普遍主义原则和民主精神；</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、促进科学思想的有效交流；</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、科学研究领域之外的作用。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5218" name="Picture 9"/>
          <p:cNvPicPr/>
          <p:nvPr/>
        </p:nvPicPr>
        <p:blipFill>
          <a:blip r:embed="rId1"/>
          <a:stretch>
            <a:fillRect/>
          </a:stretch>
        </p:blipFill>
        <p:spPr>
          <a:xfrm>
            <a:off x="0" y="0"/>
            <a:ext cx="9144000" cy="1743075"/>
          </a:xfrm>
          <a:prstGeom prst="rect">
            <a:avLst/>
          </a:prstGeom>
          <a:noFill/>
          <a:ln w="9525">
            <a:noFill/>
          </a:ln>
        </p:spPr>
      </p:pic>
      <p:sp>
        <p:nvSpPr>
          <p:cNvPr id="265219" name="TextBox 5"/>
          <p:cNvSpPr/>
          <p:nvPr/>
        </p:nvSpPr>
        <p:spPr>
          <a:xfrm>
            <a:off x="0" y="1743075"/>
            <a:ext cx="9144000" cy="4991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三、科学技术界的互动</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、科学技术界的互动以及形式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社会互动：人与人之间的社会交往活动。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科学技术界的互动：科学技术界内部科学家之间的交互作用。</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学习、交流、合作与竞争、冲突等形式。</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、科学技术界互动的功能</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正面：促进科学的发展；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负面：背离科学精神和学术道德行为。</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6242" name="Picture 9"/>
          <p:cNvPicPr/>
          <p:nvPr/>
        </p:nvPicPr>
        <p:blipFill>
          <a:blip r:embed="rId1"/>
          <a:stretch>
            <a:fillRect/>
          </a:stretch>
        </p:blipFill>
        <p:spPr>
          <a:xfrm>
            <a:off x="0" y="0"/>
            <a:ext cx="9144000" cy="1743075"/>
          </a:xfrm>
          <a:prstGeom prst="rect">
            <a:avLst/>
          </a:prstGeom>
          <a:noFill/>
          <a:ln w="9525">
            <a:noFill/>
          </a:ln>
        </p:spPr>
      </p:pic>
      <p:sp>
        <p:nvSpPr>
          <p:cNvPr id="266243" name="TextBox 5"/>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科学技术界的社会组织</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科学技术的学术阵地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SCI</a:t>
            </a:r>
            <a:r>
              <a:rPr altLang="en-US" dirty="0" lang="zh-CN" sz="2400">
                <a:ea typeface="宋体" panose="02010600030101010101" pitchFamily="2" charset="-122"/>
                <a:latin typeface="宋体" panose="02010600030101010101" pitchFamily="2" charset="-122"/>
              </a:rPr>
              <a:t>（科学引文索引）、</a:t>
            </a:r>
            <a:r>
              <a:rPr altLang="zh-CN" dirty="0" lang="en-US" sz="2400">
                <a:ea typeface="宋体" panose="02010600030101010101" pitchFamily="2" charset="-122"/>
                <a:latin typeface="宋体" panose="02010600030101010101" pitchFamily="2" charset="-122"/>
              </a:rPr>
              <a:t>EI</a:t>
            </a:r>
            <a:r>
              <a:rPr altLang="en-US" dirty="0" lang="zh-CN" sz="2400">
                <a:ea typeface="宋体" panose="02010600030101010101" pitchFamily="2" charset="-122"/>
                <a:latin typeface="宋体" panose="02010600030101010101" pitchFamily="2" charset="-122"/>
              </a:rPr>
              <a:t>（工程索引）和</a:t>
            </a:r>
            <a:r>
              <a:rPr altLang="zh-CN" dirty="0" lang="en-US" sz="2400">
                <a:ea typeface="宋体" panose="02010600030101010101" pitchFamily="2" charset="-122"/>
                <a:latin typeface="宋体" panose="02010600030101010101" pitchFamily="2" charset="-122"/>
              </a:rPr>
              <a:t>ISTP</a:t>
            </a:r>
            <a:r>
              <a:rPr altLang="en-US" dirty="0" lang="zh-CN" sz="2400">
                <a:ea typeface="宋体" panose="02010600030101010101" pitchFamily="2" charset="-122"/>
                <a:latin typeface="宋体" panose="02010600030101010101" pitchFamily="2" charset="-122"/>
              </a:rPr>
              <a:t>（科技会议记录索引）是世界著名的三大科技文献检索系统。</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科学技术的教育机构：大学、研究所</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7266" name="Picture 9"/>
          <p:cNvPicPr/>
          <p:nvPr/>
        </p:nvPicPr>
        <p:blipFill>
          <a:blip r:embed="rId1"/>
          <a:stretch>
            <a:fillRect/>
          </a:stretch>
        </p:blipFill>
        <p:spPr>
          <a:xfrm>
            <a:off x="0" y="0"/>
            <a:ext cx="9144000" cy="1743075"/>
          </a:xfrm>
          <a:prstGeom prst="rect">
            <a:avLst/>
          </a:prstGeom>
          <a:noFill/>
          <a:ln w="9525">
            <a:noFill/>
          </a:ln>
        </p:spPr>
      </p:pic>
      <p:sp>
        <p:nvSpPr>
          <p:cNvPr id="267267" name="TextBox 5"/>
          <p:cNvSpPr/>
          <p:nvPr/>
        </p:nvSpPr>
        <p:spPr>
          <a:xfrm>
            <a:off x="0" y="1743075"/>
            <a:ext cx="91440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科学技术的体制目标和社会规范</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科学技术的体制目标</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爱因斯坦将科学家分为三大类：</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功利型：</a:t>
            </a:r>
            <a:r>
              <a:rPr altLang="en-US" dirty="0" lang="zh-CN" sz="2400">
                <a:ea typeface="宋体" panose="02010600030101010101" pitchFamily="2" charset="-122"/>
                <a:latin typeface="宋体" panose="02010600030101010101" pitchFamily="2" charset="-122"/>
              </a:rPr>
              <a:t>大多数人从事的科学事业只是一个职业，为了谋求自己的收入、名誉和地位，倾向于争取有直接效应的成果。</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兴趣型：</a:t>
            </a:r>
            <a:r>
              <a:rPr altLang="en-US" dirty="0" lang="zh-CN" sz="2400">
                <a:ea typeface="宋体" panose="02010600030101010101" pitchFamily="2" charset="-122"/>
                <a:latin typeface="宋体" panose="02010600030101010101" pitchFamily="2" charset="-122"/>
              </a:rPr>
              <a:t>出于个人爱好，实现自我价值。</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信仰型：</a:t>
            </a:r>
            <a:r>
              <a:rPr altLang="en-US" dirty="0" lang="zh-CN" sz="2400">
                <a:ea typeface="宋体" panose="02010600030101010101" pitchFamily="2" charset="-122"/>
                <a:latin typeface="宋体" panose="02010600030101010101" pitchFamily="2" charset="-122"/>
              </a:rPr>
              <a:t>有执着信仰的人把科学当作神圣的事业。</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8290" name="Picture 9"/>
          <p:cNvPicPr/>
          <p:nvPr/>
        </p:nvPicPr>
        <p:blipFill>
          <a:blip r:embed="rId1"/>
          <a:stretch>
            <a:fillRect/>
          </a:stretch>
        </p:blipFill>
        <p:spPr>
          <a:xfrm>
            <a:off x="0" y="0"/>
            <a:ext cx="9144000" cy="1743075"/>
          </a:xfrm>
          <a:prstGeom prst="rect">
            <a:avLst/>
          </a:prstGeom>
          <a:noFill/>
          <a:ln w="9525">
            <a:noFill/>
          </a:ln>
        </p:spPr>
      </p:pic>
      <p:sp>
        <p:nvSpPr>
          <p:cNvPr id="268291" name="TextBox 5"/>
          <p:cNvSpPr/>
          <p:nvPr/>
        </p:nvSpPr>
        <p:spPr>
          <a:xfrm>
            <a:off x="9525"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第三节 科学技术的社会运行</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一、科学技术社会运行的特点</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科学技术与生产的一体化；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科学技术社会化；</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科学技术业成为国家的战略产业</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高技术是科学技术的制高点；</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国家创新体系是科学技术的新体制。</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69314" name="Picture 9"/>
          <p:cNvPicPr/>
          <p:nvPr/>
        </p:nvPicPr>
        <p:blipFill>
          <a:blip r:embed="rId1"/>
          <a:stretch>
            <a:fillRect/>
          </a:stretch>
        </p:blipFill>
        <p:spPr>
          <a:xfrm>
            <a:off x="0" y="0"/>
            <a:ext cx="9144000" cy="1743075"/>
          </a:xfrm>
          <a:prstGeom prst="rect">
            <a:avLst/>
          </a:prstGeom>
          <a:noFill/>
          <a:ln w="9525">
            <a:noFill/>
          </a:ln>
        </p:spPr>
      </p:pic>
      <p:sp>
        <p:nvSpPr>
          <p:cNvPr id="269315" name="TextBox 5"/>
          <p:cNvSpPr/>
          <p:nvPr/>
        </p:nvSpPr>
        <p:spPr>
          <a:xfrm>
            <a:off x="9525" y="1743075"/>
            <a:ext cx="9144000" cy="2776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二、科学技术社会运行的不平衡性</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、区域（空间）运行的不平衡；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、历史（时间）运行的不平衡。</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0338" name="Picture 9"/>
          <p:cNvPicPr/>
          <p:nvPr/>
        </p:nvPicPr>
        <p:blipFill>
          <a:blip r:embed="rId1"/>
          <a:stretch>
            <a:fillRect/>
          </a:stretch>
        </p:blipFill>
        <p:spPr>
          <a:xfrm>
            <a:off x="0" y="0"/>
            <a:ext cx="9144000" cy="1743075"/>
          </a:xfrm>
          <a:prstGeom prst="rect">
            <a:avLst/>
          </a:prstGeom>
          <a:noFill/>
          <a:ln w="9525">
            <a:noFill/>
          </a:ln>
        </p:spPr>
      </p:pic>
      <p:sp>
        <p:nvSpPr>
          <p:cNvPr id="270339" name="TextBox 5"/>
          <p:cNvSpPr/>
          <p:nvPr/>
        </p:nvSpPr>
        <p:spPr>
          <a:xfrm>
            <a:off x="9525" y="1743075"/>
            <a:ext cx="9144000" cy="5453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sz="2800">
                <a:solidFill>
                  <a:srgbClr val="FF0000"/>
                </a:solidFill>
                <a:latin typeface="黑体" panose="02010609060101010101" pitchFamily="49" charset="-122"/>
              </a:rPr>
              <a:t>第三节 科学技术对社会的影响</a:t>
            </a:r>
            <a:endParaRPr altLang="zh-CN" dirty="0" lang="en-US" sz="2800">
              <a:solidFill>
                <a:srgbClr val="FF0000"/>
              </a:solidFill>
              <a:latin typeface="黑体" panose="02010609060101010101" pitchFamily="49" charset="-122"/>
            </a:endParaRPr>
          </a:p>
          <a:p>
            <a:pPr marL="0" indent="0" lvl="0" algn="just" eaLnBrk="1" hangingPunct="1">
              <a:lnSpc>
                <a:spcPct val="150000"/>
              </a:lnSpc>
              <a:spcBef>
                <a:spcPct val="0"/>
              </a:spcBef>
              <a:buNone/>
            </a:pPr>
            <a:r>
              <a:rPr altLang="en-US" dirty="0" lang="zh-CN" sz="2400">
                <a:latin typeface="黑体" panose="02010609060101010101" pitchFamily="49" charset="-122"/>
              </a:rPr>
              <a:t>一、科学技术对人类生存状况的普遍影响</a:t>
            </a:r>
            <a:endParaRPr altLang="zh-CN" dirty="0" lang="en-US"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、物质世界的改造</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、生活状况的改变</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、现代技术的世界性扩展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t>二、科学的价值负载与科学伦理</a:t>
            </a:r>
            <a:endParaRPr altLang="zh-CN" dirty="0" lang="en-US" sz="2400">
              <a:ea typeface="宋体" panose="02010600030101010101" pitchFamily="2" charset="-122"/>
              <a:latin typeface="宋体" panose="02010600030101010101" pitchFamily="2" charset="-122"/>
            </a:endParaRPr>
          </a:p>
          <a:p>
            <a:pPr marL="0" indent="0" lvl="0" eaLnBrk="1" hangingPunct="1">
              <a:buNone/>
            </a:pPr>
            <a:r>
              <a:rPr altLang="en-US" dirty="0" lang="zh-CN" b="1" sz="2400">
                <a:ea typeface="宋体" panose="02010600030101010101" pitchFamily="2" charset="-122"/>
                <a:latin typeface="宋体" panose="02010600030101010101" pitchFamily="2" charset="-122"/>
              </a:rPr>
              <a:t>科学价值中立说：</a:t>
            </a:r>
            <a:endParaRPr altLang="en-US" dirty="0" lang="zh-CN" b="1" sz="2400">
              <a:ea typeface="宋体" panose="02010600030101010101" pitchFamily="2" charset="-122"/>
              <a:latin typeface="宋体" panose="02010600030101010101" pitchFamily="2" charset="-122"/>
            </a:endParaRPr>
          </a:p>
          <a:p>
            <a:pPr marL="0" indent="0" lvl="0" eaLnBrk="1" hangingPunct="1">
              <a:buNone/>
            </a:pPr>
            <a:r>
              <a:rPr altLang="en-US" dirty="0" lang="zh-CN" sz="2400">
                <a:ea typeface="宋体" panose="02010600030101010101" pitchFamily="2" charset="-122"/>
                <a:latin typeface="宋体" panose="02010600030101010101" pitchFamily="2" charset="-122"/>
              </a:rPr>
              <a:t>    科学是对世界的客观描述，科学是纯粹的、公正的，具有绝对确定性。科学只是一个工具，好人或坏人都可以使用。</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3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1362" name="Picture 9"/>
          <p:cNvPicPr/>
          <p:nvPr/>
        </p:nvPicPr>
        <p:blipFill>
          <a:blip r:embed="rId1"/>
          <a:stretch>
            <a:fillRect/>
          </a:stretch>
        </p:blipFill>
        <p:spPr>
          <a:xfrm>
            <a:off x="0" y="0"/>
            <a:ext cx="9144000" cy="1743075"/>
          </a:xfrm>
          <a:prstGeom prst="rect">
            <a:avLst/>
          </a:prstGeom>
          <a:noFill/>
          <a:ln w="9525">
            <a:noFill/>
          </a:ln>
        </p:spPr>
      </p:pic>
      <p:sp>
        <p:nvSpPr>
          <p:cNvPr id="271363" name="TextBox 5"/>
          <p:cNvSpPr/>
          <p:nvPr/>
        </p:nvSpPr>
        <p:spPr>
          <a:xfrm>
            <a:off x="9525" y="1743075"/>
            <a:ext cx="9144000" cy="5397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buNone/>
            </a:pPr>
            <a:r>
              <a:rPr altLang="en-US" dirty="0" lang="zh-CN" sz="2400">
                <a:ea typeface="宋体" panose="02010600030101010101" pitchFamily="2" charset="-122"/>
                <a:latin typeface="宋体" panose="02010600030101010101" pitchFamily="2" charset="-122"/>
              </a:rPr>
              <a:t>科学价值中立说的逻辑基础：</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en-US" dirty="0" lang="zh-CN" sz="2400">
                <a:ea typeface="宋体" panose="02010600030101010101" pitchFamily="2" charset="-122"/>
                <a:latin typeface="宋体" panose="02010600030101010101" pitchFamily="2" charset="-122"/>
              </a:rPr>
              <a:t>   按休谟的观点，科学只关心“是什么”，用的是实证性陈述，绝对不应涉及“应该是什么”这些规范性陈述，规范性陈述不能从实证性陈述中演绎出来。</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t>科学的价值负载说：</a:t>
            </a:r>
            <a:endParaRPr altLang="zh-CN" dirty="0" lang="en-US" sz="2400">
              <a:ea typeface="宋体" panose="02010600030101010101" pitchFamily="2" charset="-122"/>
              <a:latin typeface="宋体" panose="02010600030101010101" pitchFamily="2" charset="-122"/>
            </a:endParaRPr>
          </a:p>
          <a:p>
            <a:pPr marL="0" indent="0" lvl="0" eaLnBrk="1" hangingPunct="1">
              <a:buNone/>
            </a:pPr>
            <a:r>
              <a:rPr altLang="en-US" dirty="0" lang="zh-CN" sz="2400">
                <a:ea typeface="宋体" panose="02010600030101010101" pitchFamily="2" charset="-122"/>
                <a:latin typeface="宋体" panose="02010600030101010101" pitchFamily="2" charset="-122"/>
              </a:rPr>
              <a:t>科学作为一种社会活动必然涉及价值；</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en-US" dirty="0" lang="zh-CN" sz="2400">
                <a:ea typeface="宋体" panose="02010600030101010101" pitchFamily="2" charset="-122"/>
                <a:latin typeface="宋体" panose="02010600030101010101" pitchFamily="2" charset="-122"/>
              </a:rPr>
              <a:t>科学是在政府和工业公司财政支持下进行的，整个科学进程本身充满了选择性，充满了选择与偏好。实证性陈述和规范性陈述不能完全区分，科学应有自己内在的价值尺度。</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4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2386" name="Picture 9"/>
          <p:cNvPicPr/>
          <p:nvPr/>
        </p:nvPicPr>
        <p:blipFill>
          <a:blip r:embed="rId1"/>
          <a:stretch>
            <a:fillRect/>
          </a:stretch>
        </p:blipFill>
        <p:spPr>
          <a:xfrm>
            <a:off x="0" y="0"/>
            <a:ext cx="9144000" cy="1743075"/>
          </a:xfrm>
          <a:prstGeom prst="rect">
            <a:avLst/>
          </a:prstGeom>
          <a:noFill/>
          <a:ln w="9525">
            <a:noFill/>
          </a:ln>
        </p:spPr>
      </p:pic>
      <p:sp>
        <p:nvSpPr>
          <p:cNvPr id="272387" name="TextBox 2"/>
          <p:cNvSpPr/>
          <p:nvPr/>
        </p:nvSpPr>
        <p:spPr>
          <a:xfrm>
            <a:off x="0" y="1916113"/>
            <a:ext cx="9144000" cy="4918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a:solidFill>
                  <a:srgbClr val="FF0000"/>
                </a:solidFill>
                <a:ea typeface="宋体" panose="02010600030101010101" pitchFamily="2" charset="-122"/>
                <a:latin typeface="宋体" panose="02010600030101010101" pitchFamily="2" charset="-122"/>
              </a:rPr>
              <a:t>第五章 马克思主义科技观中国化成果与创新型国家建设</a:t>
            </a:r>
            <a:endParaRPr altLang="zh-CN" dirty="0" lang="en-US" b="1">
              <a:solidFill>
                <a:srgbClr val="FF0000"/>
              </a:solidFill>
              <a:ea typeface="宋体" panose="02010600030101010101" pitchFamily="2" charset="-122"/>
              <a:latin typeface="宋体" panose="02010600030101010101" pitchFamily="2" charset="-122"/>
            </a:endParaRPr>
          </a:p>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第一节 马克思主义科技观中国化成果</a:t>
            </a:r>
            <a:endParaRPr altLang="zh-CN" dirty="0" lang="en-US" b="1" sz="28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一、毛泽东的科学技术观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、科学技术促进生产力发展；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、向科学进军，赶超世界科学发展；</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Arial" panose="020B0604020202020204" pitchFamily="34" charset="0"/>
              </a:rPr>
              <a:t>开展群众性的技术革新和技术革命运动；</a:t>
            </a:r>
            <a:endParaRPr altLang="zh-CN" dirty="0" lang="en-US" sz="24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、自力更生为主和引进吸收为辅；</a:t>
            </a: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52182">
    <p:circle/>
  </p:transition>
</p:sld>
</file>

<file path=ppt/slides/slide24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73410" name="TextBox 2"/>
          <p:cNvSpPr/>
          <p:nvPr/>
        </p:nvSpPr>
        <p:spPr>
          <a:xfrm>
            <a:off x="0" y="1746250"/>
            <a:ext cx="9144000" cy="49768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、建设工人阶级的科学技术队伍。</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二、邓小平的科学技术观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1</a:t>
            </a:r>
            <a:r>
              <a:rPr altLang="en-US" dirty="0" lang="zh-CN" sz="2800">
                <a:ea typeface="宋体" panose="02010600030101010101" pitchFamily="2" charset="-122"/>
                <a:latin typeface="宋体" panose="02010600030101010101" pitchFamily="2" charset="-122"/>
              </a:rPr>
              <a:t>、</a:t>
            </a:r>
            <a:r>
              <a:rPr altLang="en-US" dirty="0" lang="zh-CN" sz="2800">
                <a:ea typeface="宋体" panose="02010600030101010101" pitchFamily="2" charset="-122"/>
                <a:latin typeface="Arial" panose="020B0604020202020204" pitchFamily="34" charset="0"/>
              </a:rPr>
              <a:t>科学技术是第一生产力；</a:t>
            </a:r>
            <a:endParaRPr altLang="zh-CN" dirty="0" lang="en-US" sz="28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2</a:t>
            </a:r>
            <a:r>
              <a:rPr altLang="en-US" dirty="0" lang="zh-CN" sz="2800">
                <a:ea typeface="宋体" panose="02010600030101010101" pitchFamily="2" charset="-122"/>
                <a:latin typeface="宋体" panose="02010600030101010101" pitchFamily="2" charset="-122"/>
              </a:rPr>
              <a:t>、科学技术为经济建设服务；</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3</a:t>
            </a:r>
            <a:r>
              <a:rPr altLang="en-US" dirty="0" lang="zh-CN" sz="2800">
                <a:ea typeface="宋体" panose="02010600030101010101" pitchFamily="2" charset="-122"/>
                <a:latin typeface="宋体" panose="02010600030101010101" pitchFamily="2" charset="-122"/>
              </a:rPr>
              <a:t>、尊重知识、尊重人才；</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4</a:t>
            </a:r>
            <a:r>
              <a:rPr altLang="en-US" dirty="0" lang="zh-CN" sz="2800">
                <a:ea typeface="宋体" panose="02010600030101010101" pitchFamily="2" charset="-122"/>
                <a:latin typeface="宋体" panose="02010600030101010101" pitchFamily="2" charset="-122"/>
              </a:rPr>
              <a:t>、发展高科技、实现产业化；</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5</a:t>
            </a:r>
            <a:r>
              <a:rPr altLang="en-US" dirty="0" lang="zh-CN" sz="2800">
                <a:ea typeface="宋体" panose="02010600030101010101" pitchFamily="2" charset="-122"/>
                <a:latin typeface="宋体" panose="02010600030101010101" pitchFamily="2" charset="-122"/>
              </a:rPr>
              <a:t>、进行科技体制改革；</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800">
                <a:ea typeface="宋体" panose="02010600030101010101" pitchFamily="2" charset="-122"/>
                <a:latin typeface="宋体" panose="02010600030101010101" pitchFamily="2" charset="-122"/>
              </a:rPr>
              <a:t>6</a:t>
            </a:r>
            <a:r>
              <a:rPr altLang="en-US" dirty="0" lang="zh-CN" sz="2800">
                <a:ea typeface="宋体" panose="02010600030101010101" pitchFamily="2" charset="-122"/>
                <a:latin typeface="宋体" panose="02010600030101010101" pitchFamily="2" charset="-122"/>
              </a:rPr>
              <a:t>、学习和引进国外先进科技。</a:t>
            </a:r>
            <a:endParaRPr altLang="zh-CN" dirty="0" lang="en-US" sz="2800">
              <a:ea typeface="宋体" panose="02010600030101010101" pitchFamily="2" charset="-122"/>
              <a:latin typeface="宋体" panose="02010600030101010101" pitchFamily="2" charset="-122"/>
            </a:endParaRPr>
          </a:p>
        </p:txBody>
      </p:sp>
      <p:pic>
        <p:nvPicPr>
          <p:cNvPr id="273411" name="Picture 9"/>
          <p:cNvPicPr/>
          <p:nvPr/>
        </p:nvPicPr>
        <p:blipFill>
          <a:blip r:embed="rId1"/>
          <a:stretch>
            <a:fillRect/>
          </a:stretch>
        </p:blipFill>
        <p:spPr>
          <a:xfrm>
            <a:off x="0" y="0"/>
            <a:ext cx="9144000" cy="1743075"/>
          </a:xfrm>
          <a:prstGeom prst="rect">
            <a:avLst/>
          </a:prstGeom>
          <a:noFill/>
          <a:ln w="9525">
            <a:noFill/>
          </a:ln>
        </p:spPr>
      </p:pic>
    </p:spTree>
    <p:custDataLst>
      <p:tags r:id="rId2"/>
    </p:custDataLst>
  </p:cSld>
  <p:clrMapOvr>
    <a:masterClrMapping/>
  </p:clrMapOvr>
  <p:transition advTm="64116">
    <p:diamond/>
  </p:transition>
</p:sld>
</file>

<file path=ppt/slides/slide24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74434" name="TextBox 2"/>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三、江泽民的科学技术观</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、科技是先进生产力的集中体现；</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、实施科教兴国战略；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、科技创新是经济社会发展的决定因素；</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、科技要发展、人才是关键；</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、科技体制改革和科技法制建设；</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6</a:t>
            </a:r>
            <a:r>
              <a:rPr altLang="en-US" dirty="0" lang="zh-CN" sz="2400">
                <a:ea typeface="宋体" panose="02010600030101010101" pitchFamily="2" charset="-122"/>
                <a:latin typeface="宋体" panose="02010600030101010101" pitchFamily="2" charset="-122"/>
              </a:rPr>
              <a:t>、科学技术伦理问题是</a:t>
            </a:r>
            <a:r>
              <a:rPr altLang="zh-CN" dirty="0" lang="en-US" sz="2400">
                <a:ea typeface="宋体" panose="02010600030101010101" pitchFamily="2" charset="-122"/>
                <a:latin typeface="宋体" panose="02010600030101010101" pitchFamily="2" charset="-122"/>
              </a:rPr>
              <a:t>21</a:t>
            </a:r>
            <a:r>
              <a:rPr altLang="en-US" dirty="0" lang="zh-CN" sz="2400">
                <a:ea typeface="宋体" panose="02010600030101010101" pitchFamily="2" charset="-122"/>
                <a:latin typeface="宋体" panose="02010600030101010101" pitchFamily="2" charset="-122"/>
              </a:rPr>
              <a:t>世纪的重要问题。</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74435" name="Picture 9"/>
          <p:cNvPicPr/>
          <p:nvPr/>
        </p:nvPicPr>
        <p:blipFill>
          <a:blip r:embed="rId1"/>
          <a:stretch>
            <a:fillRect/>
          </a:stretch>
        </p:blipFill>
        <p:spPr>
          <a:xfrm>
            <a:off x="0" y="0"/>
            <a:ext cx="9144000" cy="1743075"/>
          </a:xfrm>
          <a:prstGeom prst="rect">
            <a:avLst/>
          </a:prstGeom>
          <a:noFill/>
          <a:ln w="9525">
            <a:noFill/>
          </a:ln>
        </p:spPr>
      </p:pic>
    </p:spTree>
    <p:custDataLst>
      <p:tags r:id="rId2"/>
    </p:custDataLst>
  </p:cSld>
  <p:clrMapOvr>
    <a:masterClrMapping/>
  </p:clrMapOvr>
  <p:transition advTm="64116">
    <p:diamond/>
  </p:transition>
</p:sld>
</file>

<file path=ppt/slides/slide24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75458" name="TextBox 2"/>
          <p:cNvSpPr/>
          <p:nvPr/>
        </p:nvSpPr>
        <p:spPr>
          <a:xfrm>
            <a:off x="0" y="1743075"/>
            <a:ext cx="5260975"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四、胡锦涛的科学技术观</a:t>
            </a:r>
            <a:endParaRPr altLang="zh-CN" dirty="0" lang="en-US" b="1" sz="24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、提高</a:t>
            </a:r>
            <a:r>
              <a:rPr altLang="en-US" dirty="0" lang="zh-CN" sz="2400">
                <a:solidFill>
                  <a:srgbClr val="FF0000"/>
                </a:solidFill>
                <a:ea typeface="宋体" panose="02010600030101010101" pitchFamily="2" charset="-122"/>
                <a:latin typeface="宋体" panose="02010600030101010101" pitchFamily="2" charset="-122"/>
              </a:rPr>
              <a:t>自主创新能力，建设创新型国家</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、加强</a:t>
            </a:r>
            <a:r>
              <a:rPr altLang="en-US" dirty="0" lang="zh-CN" sz="2400">
                <a:solidFill>
                  <a:srgbClr val="FF0000"/>
                </a:solidFill>
                <a:ea typeface="宋体" panose="02010600030101010101" pitchFamily="2" charset="-122"/>
                <a:latin typeface="宋体" panose="02010600030101010101" pitchFamily="2" charset="-122"/>
              </a:rPr>
              <a:t>科学技术人才队伍建设</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实施人才强国战略</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、深化</a:t>
            </a:r>
            <a:r>
              <a:rPr altLang="en-US" dirty="0" lang="zh-CN" sz="2400">
                <a:solidFill>
                  <a:srgbClr val="FF0000"/>
                </a:solidFill>
                <a:ea typeface="宋体" panose="02010600030101010101" pitchFamily="2" charset="-122"/>
                <a:latin typeface="宋体" panose="02010600030101010101" pitchFamily="2" charset="-122"/>
              </a:rPr>
              <a:t>科学技术体制改革</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、重视</a:t>
            </a:r>
            <a:r>
              <a:rPr altLang="en-US" dirty="0" lang="zh-CN" sz="2400">
                <a:solidFill>
                  <a:srgbClr val="FF0000"/>
                </a:solidFill>
                <a:ea typeface="宋体" panose="02010600030101010101" pitchFamily="2" charset="-122"/>
                <a:latin typeface="宋体" panose="02010600030101010101" pitchFamily="2" charset="-122"/>
              </a:rPr>
              <a:t>推动环境和谐发展的科学技术</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、选择</a:t>
            </a:r>
            <a:r>
              <a:rPr altLang="en-US" dirty="0" lang="zh-CN" sz="2400">
                <a:solidFill>
                  <a:srgbClr val="FF0000"/>
                </a:solidFill>
                <a:ea typeface="宋体" panose="02010600030101010101" pitchFamily="2" charset="-122"/>
                <a:latin typeface="宋体" panose="02010600030101010101" pitchFamily="2" charset="-122"/>
              </a:rPr>
              <a:t>重点领域实现重点发展和突破</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6</a:t>
            </a:r>
            <a:r>
              <a:rPr altLang="en-US" dirty="0" lang="zh-CN" sz="2400">
                <a:ea typeface="宋体" panose="02010600030101010101" pitchFamily="2" charset="-122"/>
                <a:latin typeface="宋体" panose="02010600030101010101" pitchFamily="2" charset="-122"/>
              </a:rPr>
              <a:t>、大力发展</a:t>
            </a:r>
            <a:r>
              <a:rPr altLang="en-US" dirty="0" lang="zh-CN" sz="2400">
                <a:solidFill>
                  <a:srgbClr val="FF0000"/>
                </a:solidFill>
                <a:ea typeface="宋体" panose="02010600030101010101" pitchFamily="2" charset="-122"/>
                <a:latin typeface="宋体" panose="02010600030101010101" pitchFamily="2" charset="-122"/>
              </a:rPr>
              <a:t>民生科学技术</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75459" name="Picture 9"/>
          <p:cNvPicPr/>
          <p:nvPr/>
        </p:nvPicPr>
        <p:blipFill>
          <a:blip r:embed="rId1"/>
          <a:stretch>
            <a:fillRect/>
          </a:stretch>
        </p:blipFill>
        <p:spPr>
          <a:xfrm>
            <a:off x="0" y="0"/>
            <a:ext cx="9144000" cy="1743075"/>
          </a:xfrm>
          <a:prstGeom prst="rect">
            <a:avLst/>
          </a:prstGeom>
          <a:noFill/>
          <a:ln w="9525">
            <a:noFill/>
          </a:ln>
        </p:spPr>
      </p:pic>
      <p:pic>
        <p:nvPicPr>
          <p:cNvPr id="275460" name="图片 2"/>
          <p:cNvPicPr/>
          <p:nvPr/>
        </p:nvPicPr>
        <p:blipFill>
          <a:blip r:embed="rId2"/>
          <a:stretch>
            <a:fillRect/>
          </a:stretch>
        </p:blipFill>
        <p:spPr>
          <a:xfrm>
            <a:off x="5389563" y="2174875"/>
            <a:ext cx="3625850" cy="4271963"/>
          </a:xfrm>
          <a:prstGeom prst="rect">
            <a:avLst/>
          </a:prstGeom>
          <a:noFill/>
          <a:ln w="9525">
            <a:noFill/>
          </a:ln>
        </p:spPr>
      </p:pic>
    </p:spTree>
    <p:custDataLst>
      <p:tags r:id="rId3"/>
    </p:custDataLst>
  </p:cSld>
  <p:clrMapOvr>
    <a:masterClrMapping/>
  </p:clrMapOvr>
  <p:transition advTm="64116">
    <p:diamond/>
  </p:transition>
</p:sld>
</file>

<file path=ppt/slides/slide24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276482" name="TextBox 2"/>
          <p:cNvSpPr/>
          <p:nvPr/>
        </p:nvSpPr>
        <p:spPr>
          <a:xfrm>
            <a:off x="0" y="1743075"/>
            <a:ext cx="5270500" cy="55451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五、习近平的科学技术观</a:t>
            </a:r>
            <a:endParaRPr altLang="zh-CN" dirty="0" lang="en-US" b="1" sz="2400">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科技</a:t>
            </a:r>
            <a:r>
              <a:rPr altLang="en-US" dirty="0" lang="zh-CN" sz="2400">
                <a:ea typeface="宋体" panose="02010600030101010101" pitchFamily="2" charset="-122"/>
                <a:latin typeface="宋体" panose="02010600030101010101" pitchFamily="2" charset="-122"/>
              </a:rPr>
              <a:t>是国家强盛之基，</a:t>
            </a:r>
            <a:r>
              <a:rPr altLang="en-US" dirty="0" lang="zh-CN" sz="2400">
                <a:solidFill>
                  <a:srgbClr val="FF0000"/>
                </a:solidFill>
                <a:ea typeface="宋体" panose="02010600030101010101" pitchFamily="2" charset="-122"/>
                <a:latin typeface="宋体" panose="02010600030101010101" pitchFamily="2" charset="-122"/>
              </a:rPr>
              <a:t>创新</a:t>
            </a:r>
            <a:r>
              <a:rPr altLang="en-US" dirty="0" lang="zh-CN" sz="2400">
                <a:ea typeface="宋体" panose="02010600030101010101" pitchFamily="2" charset="-122"/>
                <a:latin typeface="宋体" panose="02010600030101010101" pitchFamily="2" charset="-122"/>
              </a:rPr>
              <a:t>是民族进步之魂；</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、坚定不移</a:t>
            </a:r>
            <a:r>
              <a:rPr altLang="en-US" dirty="0" lang="zh-CN" sz="2400">
                <a:solidFill>
                  <a:srgbClr val="FF0000"/>
                </a:solidFill>
                <a:ea typeface="宋体" panose="02010600030101010101" pitchFamily="2" charset="-122"/>
                <a:latin typeface="宋体" panose="02010600030101010101" pitchFamily="2" charset="-122"/>
              </a:rPr>
              <a:t>创新、创新再创新</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、加快</a:t>
            </a:r>
            <a:r>
              <a:rPr altLang="en-US" dirty="0" lang="zh-CN" sz="2400">
                <a:solidFill>
                  <a:srgbClr val="FF0000"/>
                </a:solidFill>
                <a:ea typeface="宋体" panose="02010600030101010101" pitchFamily="2" charset="-122"/>
                <a:latin typeface="宋体" panose="02010600030101010101" pitchFamily="2" charset="-122"/>
              </a:rPr>
              <a:t>创新型国家建设步伐</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、深化</a:t>
            </a:r>
            <a:r>
              <a:rPr altLang="en-US" dirty="0" lang="zh-CN" sz="2400">
                <a:solidFill>
                  <a:srgbClr val="FF0000"/>
                </a:solidFill>
                <a:ea typeface="宋体" panose="02010600030101010101" pitchFamily="2" charset="-122"/>
                <a:latin typeface="宋体" panose="02010600030101010101" pitchFamily="2" charset="-122"/>
              </a:rPr>
              <a:t>科技体制改革</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、增强</a:t>
            </a:r>
            <a:r>
              <a:rPr altLang="en-US" dirty="0" lang="zh-CN" sz="2400">
                <a:solidFill>
                  <a:srgbClr val="FF0000"/>
                </a:solidFill>
                <a:ea typeface="宋体" panose="02010600030101010101" pitchFamily="2" charset="-122"/>
                <a:latin typeface="宋体" panose="02010600030101010101" pitchFamily="2" charset="-122"/>
              </a:rPr>
              <a:t>科技创新活力</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6</a:t>
            </a:r>
            <a:r>
              <a:rPr altLang="en-US" dirty="0" lang="zh-CN" sz="2400">
                <a:ea typeface="宋体" panose="02010600030101010101" pitchFamily="2" charset="-122"/>
                <a:latin typeface="宋体" panose="02010600030101010101" pitchFamily="2" charset="-122"/>
              </a:rPr>
              <a:t>、破除制约</a:t>
            </a:r>
            <a:r>
              <a:rPr altLang="en-US" dirty="0" lang="zh-CN" sz="2400">
                <a:solidFill>
                  <a:srgbClr val="FF0000"/>
                </a:solidFill>
                <a:ea typeface="宋体" panose="02010600030101010101" pitchFamily="2" charset="-122"/>
                <a:latin typeface="宋体" panose="02010600030101010101" pitchFamily="2" charset="-122"/>
              </a:rPr>
              <a:t>科技创新的思想障碍和制度藩篱</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76483" name="Picture 9"/>
          <p:cNvPicPr/>
          <p:nvPr/>
        </p:nvPicPr>
        <p:blipFill>
          <a:blip r:embed="rId1"/>
          <a:stretch>
            <a:fillRect/>
          </a:stretch>
        </p:blipFill>
        <p:spPr>
          <a:xfrm>
            <a:off x="0" y="0"/>
            <a:ext cx="9144000" cy="1743075"/>
          </a:xfrm>
          <a:prstGeom prst="rect">
            <a:avLst/>
          </a:prstGeom>
          <a:noFill/>
          <a:ln w="9525">
            <a:noFill/>
          </a:ln>
        </p:spPr>
      </p:pic>
      <p:pic>
        <p:nvPicPr>
          <p:cNvPr id="276484" name="图片 2"/>
          <p:cNvPicPr/>
          <p:nvPr/>
        </p:nvPicPr>
        <p:blipFill>
          <a:blip r:embed="rId2"/>
          <a:stretch>
            <a:fillRect/>
          </a:stretch>
        </p:blipFill>
        <p:spPr>
          <a:xfrm>
            <a:off x="5270500" y="2373313"/>
            <a:ext cx="3716338" cy="3935412"/>
          </a:xfrm>
          <a:prstGeom prst="rect">
            <a:avLst/>
          </a:prstGeom>
          <a:noFill/>
          <a:ln w="9525">
            <a:noFill/>
          </a:ln>
        </p:spPr>
      </p:pic>
    </p:spTree>
    <p:custDataLst>
      <p:tags r:id="rId3"/>
    </p:custDataLst>
  </p:cSld>
  <p:clrMapOvr>
    <a:masterClrMapping/>
  </p:clrMapOvr>
  <p:transition advTm="64116">
    <p:diamond/>
  </p:transition>
</p:sld>
</file>

<file path=ppt/slides/slide24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7506" name="Picture 9"/>
          <p:cNvPicPr/>
          <p:nvPr/>
        </p:nvPicPr>
        <p:blipFill>
          <a:blip r:embed="rId1"/>
          <a:stretch>
            <a:fillRect/>
          </a:stretch>
        </p:blipFill>
        <p:spPr>
          <a:xfrm>
            <a:off x="0" y="0"/>
            <a:ext cx="9144000" cy="1743075"/>
          </a:xfrm>
          <a:prstGeom prst="rect">
            <a:avLst/>
          </a:prstGeom>
          <a:noFill/>
          <a:ln w="9525">
            <a:noFill/>
          </a:ln>
        </p:spPr>
      </p:pic>
      <p:sp>
        <p:nvSpPr>
          <p:cNvPr id="277507" name="TextBox 2"/>
          <p:cNvSpPr/>
          <p:nvPr/>
        </p:nvSpPr>
        <p:spPr>
          <a:xfrm>
            <a:off x="0" y="1743075"/>
            <a:ext cx="9144000" cy="3902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ea typeface="宋体" panose="02010600030101010101" pitchFamily="2" charset="-122"/>
                <a:latin typeface="宋体" panose="02010600030101010101" pitchFamily="2" charset="-122"/>
              </a:rPr>
              <a:t>六、中国马克思主义科技观的基本内容</a:t>
            </a:r>
            <a:endParaRPr altLang="zh-CN" dirty="0" lang="en-US"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、科学技术</a:t>
            </a:r>
            <a:r>
              <a:rPr altLang="en-US" dirty="0" lang="zh-CN" sz="2400">
                <a:solidFill>
                  <a:srgbClr val="FF0000"/>
                </a:solidFill>
                <a:ea typeface="宋体" panose="02010600030101010101" pitchFamily="2" charset="-122"/>
                <a:latin typeface="宋体" panose="02010600030101010101" pitchFamily="2" charset="-122"/>
              </a:rPr>
              <a:t>功能观</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、科学技术</a:t>
            </a:r>
            <a:r>
              <a:rPr altLang="en-US" dirty="0" lang="zh-CN" sz="2400">
                <a:solidFill>
                  <a:srgbClr val="FF0000"/>
                </a:solidFill>
                <a:ea typeface="宋体" panose="02010600030101010101" pitchFamily="2" charset="-122"/>
                <a:latin typeface="宋体" panose="02010600030101010101" pitchFamily="2" charset="-122"/>
              </a:rPr>
              <a:t>战略观</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、科学技术</a:t>
            </a:r>
            <a:r>
              <a:rPr altLang="en-US" dirty="0" lang="zh-CN" sz="2400">
                <a:solidFill>
                  <a:srgbClr val="FF0000"/>
                </a:solidFill>
                <a:ea typeface="宋体" panose="02010600030101010101" pitchFamily="2" charset="-122"/>
                <a:latin typeface="宋体" panose="02010600030101010101" pitchFamily="2" charset="-122"/>
              </a:rPr>
              <a:t>人才观</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、科学技术</a:t>
            </a:r>
            <a:r>
              <a:rPr altLang="en-US" dirty="0" lang="zh-CN" sz="2400">
                <a:solidFill>
                  <a:srgbClr val="FF0000"/>
                </a:solidFill>
                <a:ea typeface="宋体" panose="02010600030101010101" pitchFamily="2" charset="-122"/>
                <a:latin typeface="宋体" panose="02010600030101010101" pitchFamily="2" charset="-122"/>
              </a:rPr>
              <a:t>和谐观</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zh-CN" dirty="0" lang="en-US" sz="2400">
                <a:ea typeface="宋体" panose="02010600030101010101" pitchFamily="2" charset="-122"/>
                <a:latin typeface="宋体" panose="02010600030101010101" pitchFamily="2" charset="-122"/>
              </a:rPr>
              <a:t>5</a:t>
            </a:r>
            <a:r>
              <a:rPr altLang="en-US" dirty="0" lang="zh-CN" sz="2400">
                <a:ea typeface="宋体" panose="02010600030101010101" pitchFamily="2" charset="-122"/>
                <a:latin typeface="宋体" panose="02010600030101010101" pitchFamily="2" charset="-122"/>
              </a:rPr>
              <a:t>、科学技术</a:t>
            </a:r>
            <a:r>
              <a:rPr altLang="en-US" dirty="0" lang="zh-CN" sz="2400">
                <a:solidFill>
                  <a:srgbClr val="FF0000"/>
                </a:solidFill>
                <a:ea typeface="宋体" panose="02010600030101010101" pitchFamily="2" charset="-122"/>
                <a:latin typeface="宋体" panose="02010600030101010101" pitchFamily="2" charset="-122"/>
              </a:rPr>
              <a:t>创新观</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zh-CN" sz="2400">
              <a:ea typeface="宋体" panose="02010600030101010101" pitchFamily="2" charset="-122"/>
              <a:latin typeface="Arial" panose="020B0604020202020204" pitchFamily="34" charset="0"/>
            </a:endParaRPr>
          </a:p>
        </p:txBody>
      </p:sp>
      <p:pic>
        <p:nvPicPr>
          <p:cNvPr id="277508" name="图片 2"/>
          <p:cNvPicPr/>
          <p:nvPr/>
        </p:nvPicPr>
        <p:blipFill>
          <a:blip r:embed="rId2"/>
          <a:stretch>
            <a:fillRect/>
          </a:stretch>
        </p:blipFill>
        <p:spPr>
          <a:xfrm>
            <a:off x="3213100" y="2540000"/>
            <a:ext cx="2717800" cy="2946400"/>
          </a:xfrm>
          <a:prstGeom prst="rect">
            <a:avLst/>
          </a:prstGeom>
          <a:noFill/>
          <a:ln w="9525">
            <a:noFill/>
          </a:ln>
        </p:spPr>
      </p:pic>
      <p:pic>
        <p:nvPicPr>
          <p:cNvPr id="277509" name="图片 4"/>
          <p:cNvPicPr/>
          <p:nvPr/>
        </p:nvPicPr>
        <p:blipFill>
          <a:blip r:embed="rId3"/>
          <a:stretch>
            <a:fillRect/>
          </a:stretch>
        </p:blipFill>
        <p:spPr>
          <a:xfrm>
            <a:off x="6116638" y="2540000"/>
            <a:ext cx="2843212" cy="2946400"/>
          </a:xfrm>
          <a:prstGeom prst="rect">
            <a:avLst/>
          </a:prstGeom>
          <a:noFill/>
          <a:ln w="9525">
            <a:noFill/>
          </a:ln>
        </p:spPr>
      </p:pic>
    </p:spTree>
    <p:custDataLst>
      <p:tags r:id="rId4"/>
    </p:custDataLst>
  </p:cSld>
  <p:clrMapOvr>
    <a:masterClrMapping/>
  </p:clrMapOvr>
  <p:transition advTm="21949">
    <p:wipe dir="d"/>
  </p:transition>
</p:sld>
</file>

<file path=ppt/slides/slide24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8530" name="Picture 9"/>
          <p:cNvPicPr/>
          <p:nvPr/>
        </p:nvPicPr>
        <p:blipFill>
          <a:blip r:embed="rId1"/>
          <a:stretch>
            <a:fillRect/>
          </a:stretch>
        </p:blipFill>
        <p:spPr>
          <a:xfrm>
            <a:off x="0" y="0"/>
            <a:ext cx="9144000" cy="1743075"/>
          </a:xfrm>
          <a:prstGeom prst="rect">
            <a:avLst/>
          </a:prstGeom>
          <a:noFill/>
          <a:ln w="9525">
            <a:noFill/>
          </a:ln>
        </p:spPr>
      </p:pic>
      <p:sp>
        <p:nvSpPr>
          <p:cNvPr id="278531" name="TextBox 4"/>
          <p:cNvSpPr/>
          <p:nvPr/>
        </p:nvSpPr>
        <p:spPr>
          <a:xfrm>
            <a:off x="0" y="1743075"/>
            <a:ext cx="9144000" cy="5084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b="1" sz="2800">
                <a:solidFill>
                  <a:srgbClr val="FF0000"/>
                </a:solidFill>
                <a:ea typeface="宋体" panose="02010600030101010101" pitchFamily="2" charset="-122"/>
                <a:latin typeface="宋体" panose="02010600030101010101" pitchFamily="2" charset="-122"/>
              </a:rPr>
              <a:t>第二节 创新型国家建设</a:t>
            </a:r>
            <a:endParaRPr altLang="zh-CN" dirty="0" lang="en-US" b="1" sz="2000">
              <a:solidFill>
                <a:srgbClr val="FF0000"/>
              </a:solidFill>
              <a:ea typeface="宋体" panose="02010600030101010101" pitchFamily="2" charset="-122"/>
              <a:latin typeface="Arial" panose="020B0604020202020204" pitchFamily="34" charset="0"/>
            </a:endParaRPr>
          </a:p>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一、创新型国家的特征</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共同特征：</a:t>
            </a:r>
            <a:r>
              <a:rPr altLang="en-US" dirty="0" lang="zh-CN" sz="2400">
                <a:solidFill>
                  <a:srgbClr val="FF0000"/>
                </a:solidFill>
                <a:ea typeface="宋体" panose="02010600030101010101" pitchFamily="2" charset="-122"/>
                <a:latin typeface="宋体" panose="02010600030101010101" pitchFamily="2" charset="-122"/>
              </a:rPr>
              <a:t>科技进步贡献率在</a:t>
            </a:r>
            <a:r>
              <a:rPr altLang="zh-CN" dirty="0" lang="en-US" sz="2400">
                <a:solidFill>
                  <a:srgbClr val="FF0000"/>
                </a:solidFill>
                <a:ea typeface="宋体" panose="02010600030101010101" pitchFamily="2" charset="-122"/>
                <a:latin typeface="宋体" panose="02010600030101010101" pitchFamily="2" charset="-122"/>
              </a:rPr>
              <a:t>70%</a:t>
            </a:r>
            <a:r>
              <a:rPr altLang="en-US" dirty="0" lang="zh-CN" sz="2400">
                <a:solidFill>
                  <a:srgbClr val="FF0000"/>
                </a:solidFill>
                <a:ea typeface="宋体" panose="02010600030101010101" pitchFamily="2" charset="-122"/>
                <a:latin typeface="宋体" panose="02010600030101010101" pitchFamily="2" charset="-122"/>
              </a:rPr>
              <a:t>以上</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研发投入占</a:t>
            </a:r>
            <a:r>
              <a:rPr altLang="zh-CN" dirty="0" lang="en-US" sz="2400">
                <a:solidFill>
                  <a:srgbClr val="FF0000"/>
                </a:solidFill>
                <a:ea typeface="宋体" panose="02010600030101010101" pitchFamily="2" charset="-122"/>
                <a:latin typeface="宋体" panose="02010600030101010101" pitchFamily="2" charset="-122"/>
              </a:rPr>
              <a:t>GDP</a:t>
            </a:r>
            <a:r>
              <a:rPr altLang="en-US" dirty="0" lang="zh-CN" sz="2400">
                <a:solidFill>
                  <a:srgbClr val="FF0000"/>
                </a:solidFill>
                <a:ea typeface="宋体" panose="02010600030101010101" pitchFamily="2" charset="-122"/>
                <a:latin typeface="宋体" panose="02010600030101010101" pitchFamily="2" charset="-122"/>
              </a:rPr>
              <a:t>的比例一般在</a:t>
            </a:r>
            <a:r>
              <a:rPr altLang="zh-CN" dirty="0" lang="en-US" sz="2400">
                <a:solidFill>
                  <a:srgbClr val="FF0000"/>
                </a:solidFill>
                <a:ea typeface="宋体" panose="02010600030101010101" pitchFamily="2" charset="-122"/>
                <a:latin typeface="宋体" panose="02010600030101010101" pitchFamily="2" charset="-122"/>
              </a:rPr>
              <a:t>2%</a:t>
            </a:r>
            <a:r>
              <a:rPr altLang="en-US" dirty="0" lang="zh-CN" sz="2400">
                <a:solidFill>
                  <a:srgbClr val="FF0000"/>
                </a:solidFill>
                <a:ea typeface="宋体" panose="02010600030101010101" pitchFamily="2" charset="-122"/>
                <a:latin typeface="宋体" panose="02010600030101010101" pitchFamily="2" charset="-122"/>
              </a:rPr>
              <a:t>以上</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对外技术依存度指标一般在</a:t>
            </a:r>
            <a:r>
              <a:rPr altLang="zh-CN" dirty="0" lang="en-US" sz="2400">
                <a:solidFill>
                  <a:srgbClr val="FF0000"/>
                </a:solidFill>
                <a:ea typeface="宋体" panose="02010600030101010101" pitchFamily="2" charset="-122"/>
                <a:latin typeface="宋体" panose="02010600030101010101" pitchFamily="2" charset="-122"/>
              </a:rPr>
              <a:t>30%</a:t>
            </a:r>
            <a:r>
              <a:rPr altLang="en-US" dirty="0" lang="zh-CN" sz="2400">
                <a:solidFill>
                  <a:srgbClr val="FF0000"/>
                </a:solidFill>
                <a:ea typeface="宋体" panose="02010600030101010101" pitchFamily="2" charset="-122"/>
                <a:latin typeface="宋体" panose="02010600030101010101" pitchFamily="2" charset="-122"/>
              </a:rPr>
              <a:t>以下</a:t>
            </a:r>
            <a:r>
              <a:rPr altLang="en-US" dirty="0" lang="zh-CN"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所获得的三方专利数数量大</a:t>
            </a:r>
            <a:r>
              <a:rPr altLang="en-US" dirty="0" lang="zh-CN" sz="2400">
                <a:ea typeface="宋体" panose="02010600030101010101" pitchFamily="2" charset="-122"/>
                <a:latin typeface="宋体" panose="02010600030101010101" pitchFamily="2" charset="-122"/>
              </a:rPr>
              <a:t>。（美国、欧洲、日本授权的专利最多）</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目前，世界上公认的创新型国家</a:t>
            </a: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个左右：美国、日本、德国、芬兰、瑞典、韩国等。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eaLnBrk="1" hangingPunct="1">
              <a:lnSpc>
                <a:spcPct val="150000"/>
              </a:lnSpc>
              <a:spcBef>
                <a:spcPct val="0"/>
              </a:spcBef>
              <a:buNone/>
            </a:pPr>
            <a:endParaRPr altLang="zh-CN" dirty="0" lang="en-US" sz="2400">
              <a:solidFill>
                <a:srgbClr val="0000FF"/>
              </a:solidFill>
              <a:ea typeface="宋体" panose="02010600030101010101" pitchFamily="2" charset="-122"/>
              <a:latin typeface="宋体" panose="02010600030101010101" pitchFamily="2" charset="-122"/>
            </a:endParaRPr>
          </a:p>
        </p:txBody>
      </p:sp>
    </p:spTree>
  </p:cSld>
  <p:clrMapOvr>
    <a:masterClrMapping/>
  </p:clrMapOvr>
</p:sld>
</file>

<file path=ppt/slides/slide24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79554" name="Picture 9"/>
          <p:cNvPicPr/>
          <p:nvPr/>
        </p:nvPicPr>
        <p:blipFill>
          <a:blip r:embed="rId1"/>
          <a:stretch>
            <a:fillRect/>
          </a:stretch>
        </p:blipFill>
        <p:spPr>
          <a:xfrm>
            <a:off x="0" y="0"/>
            <a:ext cx="9144000" cy="1743075"/>
          </a:xfrm>
          <a:prstGeom prst="rect">
            <a:avLst/>
          </a:prstGeom>
          <a:noFill/>
          <a:ln w="9525">
            <a:noFill/>
          </a:ln>
        </p:spPr>
      </p:pic>
      <p:sp>
        <p:nvSpPr>
          <p:cNvPr id="279555" name="TextBox 5"/>
          <p:cNvSpPr/>
          <p:nvPr/>
        </p:nvSpPr>
        <p:spPr>
          <a:xfrm>
            <a:off x="0" y="1743075"/>
            <a:ext cx="9144000" cy="4622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ea typeface="宋体" panose="02010600030101010101" pitchFamily="2" charset="-122"/>
                <a:latin typeface="宋体" panose="02010600030101010101" pitchFamily="2" charset="-122"/>
              </a:rPr>
              <a:t>二、我国建设创新型国家的目标</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现状：</a:t>
            </a:r>
            <a:r>
              <a:rPr altLang="en-US" dirty="0" lang="zh-CN" sz="2400">
                <a:ea typeface="宋体" panose="02010600030101010101" pitchFamily="2" charset="-122"/>
                <a:latin typeface="宋体" panose="02010600030101010101" pitchFamily="2" charset="-122"/>
              </a:rPr>
              <a:t>我国科技创新能力在主要国家中处于</a:t>
            </a:r>
            <a:r>
              <a:rPr altLang="en-US" dirty="0" lang="zh-CN">
                <a:solidFill>
                  <a:srgbClr val="FF0000"/>
                </a:solidFill>
                <a:ea typeface="宋体" panose="02010600030101010101" pitchFamily="2" charset="-122"/>
                <a:latin typeface="宋体" panose="02010600030101010101" pitchFamily="2" charset="-122"/>
              </a:rPr>
              <a:t>中等水平</a:t>
            </a:r>
            <a:r>
              <a:rPr altLang="en-US" dirty="0" lang="zh-CN" sz="2400">
                <a:ea typeface="宋体" panose="02010600030101010101" pitchFamily="2" charset="-122"/>
                <a:latin typeface="宋体" panose="02010600030101010101" pitchFamily="2" charset="-122"/>
              </a:rPr>
              <a:t>。</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    战略：</a:t>
            </a:r>
            <a:r>
              <a:rPr altLang="en-US" dirty="0" lang="zh-CN" sz="2400">
                <a:ea typeface="宋体" panose="02010600030101010101" pitchFamily="2" charset="-122"/>
                <a:latin typeface="宋体" panose="02010600030101010101" pitchFamily="2" charset="-122"/>
              </a:rPr>
              <a:t>在全面建设小康社会步入关键阶段之际，根据特定的国情和需求，我国提出，要把科技进步和创新作为经济社会发展的首要推动力量，把提高自主创新能力作为调整经济结构、转变增长方式、提高国家竞争力的中心环节，把建设创新型国家作为面向未来的重大战略。</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Sld>
  <p:clrMapOvr>
    <a:masterClrMapping/>
  </p:clrMapOvr>
</p:sld>
</file>

<file path=ppt/slides/slide24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0578" name="Picture 9"/>
          <p:cNvPicPr/>
          <p:nvPr/>
        </p:nvPicPr>
        <p:blipFill>
          <a:blip r:embed="rId1"/>
          <a:stretch>
            <a:fillRect/>
          </a:stretch>
        </p:blipFill>
        <p:spPr>
          <a:xfrm>
            <a:off x="0" y="0"/>
            <a:ext cx="9144000" cy="1743075"/>
          </a:xfrm>
          <a:prstGeom prst="rect">
            <a:avLst/>
          </a:prstGeom>
          <a:noFill/>
          <a:ln w="9525">
            <a:noFill/>
          </a:ln>
        </p:spPr>
      </p:pic>
      <p:sp>
        <p:nvSpPr>
          <p:cNvPr id="280579" name="TextBox 5"/>
          <p:cNvSpPr/>
          <p:nvPr/>
        </p:nvSpPr>
        <p:spPr>
          <a:xfrm>
            <a:off x="0" y="1743075"/>
            <a:ext cx="9144000" cy="3328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ea typeface="宋体" panose="02010600030101010101" pitchFamily="2" charset="-122"/>
                <a:latin typeface="宋体" panose="02010600030101010101" pitchFamily="2" charset="-122"/>
              </a:rPr>
              <a:t>    目标：到</a:t>
            </a:r>
            <a:r>
              <a:rPr altLang="zh-CN" dirty="0" lang="en-US" sz="2400">
                <a:ea typeface="宋体" panose="02010600030101010101" pitchFamily="2" charset="-122"/>
                <a:latin typeface="宋体" panose="02010600030101010101" pitchFamily="2" charset="-122"/>
              </a:rPr>
              <a:t>2020</a:t>
            </a:r>
            <a:r>
              <a:rPr altLang="en-US" dirty="0" lang="zh-CN" sz="2400">
                <a:ea typeface="宋体" panose="02010600030101010101" pitchFamily="2" charset="-122"/>
                <a:latin typeface="宋体" panose="02010600030101010101" pitchFamily="2" charset="-122"/>
              </a:rPr>
              <a:t>年，</a:t>
            </a:r>
            <a:r>
              <a:rPr altLang="en-US" dirty="0" lang="zh-CN" sz="2400">
                <a:solidFill>
                  <a:srgbClr val="FF0000"/>
                </a:solidFill>
                <a:ea typeface="宋体" panose="02010600030101010101" pitchFamily="2" charset="-122"/>
                <a:latin typeface="宋体" panose="02010600030101010101" pitchFamily="2" charset="-122"/>
              </a:rPr>
              <a:t>使我国的自主创新能力显著增强，科技促进经济社会发展和保障国家安全的能力显著增强，基础科学和前沿技术研究综合实力显著增强，</a:t>
            </a:r>
            <a:r>
              <a:rPr altLang="en-US" dirty="0" lang="zh-CN" sz="2400">
                <a:ea typeface="宋体" panose="02010600030101010101" pitchFamily="2" charset="-122"/>
                <a:latin typeface="宋体" panose="02010600030101010101" pitchFamily="2" charset="-122"/>
              </a:rPr>
              <a:t>取得一批在世界具有重大影响的科学技术成果，进入创新型国家行列，为全面建设小康社会提供强有力的支撑。</a:t>
            </a:r>
            <a:endParaRPr altLang="zh-CN" dirty="0" lang="en-US" sz="28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4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1602" name="Picture 9"/>
          <p:cNvPicPr/>
          <p:nvPr/>
        </p:nvPicPr>
        <p:blipFill>
          <a:blip r:embed="rId1"/>
          <a:stretch>
            <a:fillRect/>
          </a:stretch>
        </p:blipFill>
        <p:spPr>
          <a:xfrm>
            <a:off x="0" y="0"/>
            <a:ext cx="9144000" cy="1743075"/>
          </a:xfrm>
          <a:prstGeom prst="rect">
            <a:avLst/>
          </a:prstGeom>
          <a:noFill/>
          <a:ln w="9525">
            <a:noFill/>
          </a:ln>
        </p:spPr>
      </p:pic>
      <p:sp>
        <p:nvSpPr>
          <p:cNvPr id="281603" name="TextBox 5"/>
          <p:cNvSpPr/>
          <p:nvPr/>
        </p:nvSpPr>
        <p:spPr>
          <a:xfrm>
            <a:off x="0" y="1743075"/>
            <a:ext cx="9144000" cy="3440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ctr" eaLnBrk="1" hangingPunct="1">
              <a:lnSpc>
                <a:spcPct val="150000"/>
              </a:lnSpc>
              <a:spcBef>
                <a:spcPct val="0"/>
              </a:spcBef>
              <a:buNone/>
            </a:pPr>
            <a:r>
              <a:rPr altLang="en-US" dirty="0" lang="zh-CN" sz="2400">
                <a:solidFill>
                  <a:srgbClr val="FF0000"/>
                </a:solidFill>
              </a:rPr>
              <a:t>第三节 科学精神、人文精神与创新型人才培养</a:t>
            </a:r>
            <a:endParaRPr altLang="zh-CN" dirty="0" lang="en-US" sz="2400">
              <a:solidFill>
                <a:srgbClr val="FF0000"/>
              </a:solidFill>
            </a:endParaRPr>
          </a:p>
          <a:p>
            <a:pPr marL="0" indent="0" lvl="0" eaLnBrk="1" hangingPunct="1">
              <a:buNone/>
            </a:pPr>
            <a:r>
              <a:rPr altLang="zh-CN" dirty="0" lang="en-US" sz="2400">
                <a:ea typeface="宋体" panose="02010600030101010101" pitchFamily="2" charset="-122"/>
                <a:latin typeface="宋体" panose="02010600030101010101" pitchFamily="2" charset="-122"/>
              </a:rPr>
              <a:t>1</a:t>
            </a:r>
            <a:r>
              <a:rPr altLang="en-US" dirty="0" lang="zh-CN" sz="2400">
                <a:ea typeface="宋体" panose="02010600030101010101" pitchFamily="2" charset="-122"/>
                <a:latin typeface="宋体" panose="02010600030101010101" pitchFamily="2" charset="-122"/>
              </a:rPr>
              <a:t>、两种文化的分离及其根源</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2</a:t>
            </a:r>
            <a:r>
              <a:rPr altLang="en-US" dirty="0" lang="zh-CN" sz="2400">
                <a:ea typeface="宋体" panose="02010600030101010101" pitchFamily="2" charset="-122"/>
                <a:latin typeface="宋体" panose="02010600030101010101" pitchFamily="2" charset="-122"/>
              </a:rPr>
              <a:t>、融合两种文化的可能性</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3</a:t>
            </a:r>
            <a:r>
              <a:rPr altLang="en-US" dirty="0" lang="zh-CN" sz="2400">
                <a:ea typeface="宋体" panose="02010600030101010101" pitchFamily="2" charset="-122"/>
                <a:latin typeface="宋体" panose="02010600030101010101" pitchFamily="2" charset="-122"/>
              </a:rPr>
              <a:t>、科学精神与人文精神</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zh-CN" dirty="0" lang="en-US" sz="2400">
                <a:ea typeface="宋体" panose="02010600030101010101" pitchFamily="2" charset="-122"/>
                <a:latin typeface="宋体" panose="02010600030101010101" pitchFamily="2" charset="-122"/>
              </a:rPr>
              <a:t>4</a:t>
            </a:r>
            <a:r>
              <a:rPr altLang="en-US" dirty="0" lang="zh-CN" sz="2400">
                <a:ea typeface="宋体" panose="02010600030101010101" pitchFamily="2" charset="-122"/>
                <a:latin typeface="宋体" panose="02010600030101010101" pitchFamily="2" charset="-122"/>
              </a:rPr>
              <a:t>、弘扬科学与人文精神对创新型人才培养的意义</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2626" name="Picture 9"/>
          <p:cNvPicPr/>
          <p:nvPr/>
        </p:nvPicPr>
        <p:blipFill>
          <a:blip r:embed="rId1"/>
          <a:stretch>
            <a:fillRect/>
          </a:stretch>
        </p:blipFill>
        <p:spPr>
          <a:xfrm>
            <a:off x="0" y="0"/>
            <a:ext cx="9144000" cy="1743075"/>
          </a:xfrm>
          <a:prstGeom prst="rect">
            <a:avLst/>
          </a:prstGeom>
          <a:noFill/>
          <a:ln w="9525">
            <a:noFill/>
          </a:ln>
        </p:spPr>
      </p:pic>
      <p:sp>
        <p:nvSpPr>
          <p:cNvPr id="282627" name="TextBox 5"/>
          <p:cNvSpPr/>
          <p:nvPr/>
        </p:nvSpPr>
        <p:spPr>
          <a:xfrm>
            <a:off x="0" y="1743075"/>
            <a:ext cx="9144000" cy="4437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b="1" sz="2400">
                <a:solidFill>
                  <a:srgbClr val="FF0000"/>
                </a:solidFill>
              </a:rPr>
              <a:t>一、两种文化的分离及其根源</a:t>
            </a:r>
            <a:endParaRPr altLang="zh-CN" dirty="0" lang="en-US"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t>     </a:t>
            </a:r>
            <a:r>
              <a:rPr altLang="en-US" dirty="0" lang="zh-CN" sz="2400">
                <a:ea typeface="宋体" panose="02010600030101010101" pitchFamily="2" charset="-122"/>
                <a:latin typeface="宋体" panose="02010600030101010101" pitchFamily="2" charset="-122"/>
              </a:rPr>
              <a:t>从人类历史的源头一直到近代初期，科学与人文基本上尚处在某种紧密相连、甚至浑然一体的状态。从１７世纪开始，随着近代自然科学的逐步独立，两种文化之间的裂缝也逐渐浮现，但直到１９世纪中叶，科学与人文的发展在总体上还是比较和谐的。启蒙运动主要表现的是一场新的文化综合运动，而不是文化分裂运动。堪称两种文化分离和对立的时期大致始于１９世纪与２０世纪之交．发展在２０世纪。</a:t>
            </a: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3650" name="Picture 9"/>
          <p:cNvPicPr/>
          <p:nvPr/>
        </p:nvPicPr>
        <p:blipFill>
          <a:blip r:embed="rId1"/>
          <a:stretch>
            <a:fillRect/>
          </a:stretch>
        </p:blipFill>
        <p:spPr>
          <a:xfrm>
            <a:off x="0" y="0"/>
            <a:ext cx="9144000" cy="1743075"/>
          </a:xfrm>
          <a:prstGeom prst="rect">
            <a:avLst/>
          </a:prstGeom>
          <a:noFill/>
          <a:ln w="9525">
            <a:noFill/>
          </a:ln>
        </p:spPr>
      </p:pic>
      <p:sp>
        <p:nvSpPr>
          <p:cNvPr id="283651" name="TextBox 5"/>
          <p:cNvSpPr/>
          <p:nvPr/>
        </p:nvSpPr>
        <p:spPr>
          <a:xfrm>
            <a:off x="0" y="1743075"/>
            <a:ext cx="9144000" cy="51768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lnSpc>
                <a:spcPct val="80000"/>
              </a:lnSpc>
              <a:buNone/>
            </a:pPr>
            <a:r>
              <a:rPr altLang="en-US" dirty="0" lang="zh-CN" b="1" sz="2400">
                <a:ea typeface="宋体" panose="02010600030101010101" pitchFamily="2" charset="-122"/>
                <a:latin typeface="宋体" panose="02010600030101010101" pitchFamily="2" charset="-122"/>
              </a:rPr>
              <a:t>索卡尔的“恶作剧”</a:t>
            </a:r>
            <a:endParaRPr altLang="en-US" dirty="0" lang="zh-CN" b="1" sz="2400">
              <a:ea typeface="宋体" panose="02010600030101010101" pitchFamily="2" charset="-122"/>
              <a:latin typeface="宋体" panose="02010600030101010101" pitchFamily="2" charset="-122"/>
            </a:endParaRPr>
          </a:p>
          <a:p>
            <a:pPr marL="0" indent="0" lvl="0" algn="just" eaLnBrk="1" hangingPunct="1">
              <a:lnSpc>
                <a:spcPct val="150000"/>
              </a:lnSpc>
              <a:buNone/>
            </a:pPr>
            <a:r>
              <a:rPr altLang="en-US" dirty="0" lang="zh-CN" sz="2400">
                <a:ea typeface="宋体" panose="02010600030101010101" pitchFamily="2" charset="-122"/>
                <a:latin typeface="宋体" panose="02010600030101010101" pitchFamily="2" charset="-122"/>
              </a:rPr>
              <a:t>    </a:t>
            </a:r>
            <a:r>
              <a:rPr altLang="zh-CN" dirty="0" lang="en-US" sz="2400">
                <a:ea typeface="宋体" panose="02010600030101010101" pitchFamily="2" charset="-122"/>
                <a:latin typeface="宋体" panose="02010600030101010101" pitchFamily="2" charset="-122"/>
              </a:rPr>
              <a:t>1996</a:t>
            </a:r>
            <a:r>
              <a:rPr altLang="en-US" dirty="0" lang="zh-CN" sz="2400">
                <a:ea typeface="宋体" panose="02010600030101010101" pitchFamily="2" charset="-122"/>
                <a:latin typeface="宋体" panose="02010600030101010101" pitchFamily="2" charset="-122"/>
              </a:rPr>
              <a:t>年秋，纽约大学物理学教授索卡尔</a:t>
            </a:r>
            <a:r>
              <a:rPr altLang="zh-CN" dirty="0" lang="en-US" sz="2400">
                <a:ea typeface="宋体" panose="02010600030101010101" pitchFamily="2" charset="-122"/>
                <a:latin typeface="宋体" panose="02010600030101010101" pitchFamily="2" charset="-122"/>
              </a:rPr>
              <a:t>(Alan D. Sokal)</a:t>
            </a:r>
            <a:r>
              <a:rPr altLang="en-US" dirty="0" lang="zh-CN" sz="2400">
                <a:ea typeface="宋体" panose="02010600030101010101" pitchFamily="2" charset="-122"/>
                <a:latin typeface="宋体" panose="02010600030101010101" pitchFamily="2" charset="-122"/>
              </a:rPr>
              <a:t>在文化批评先锋刊物</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社会文本</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上发表</a:t>
            </a:r>
            <a:r>
              <a:rPr altLang="zh-CN" dirty="0" lang="en-US"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超越边界，迈向量子引力的变革性诠释学</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的文章。宣称后现代物理理论并非由物理实在决定。这篇文章立即得到发表。但很快索卡尔在另外一家刊物</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交流</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上坦白，这篇文章纯粹是胡说，其目的是检验人文学者的学术水平。他认为当一切被还原为话语、社会建构，任何论点就不再需要严谨的论证，自信和伪装的博学便是一切 。</a:t>
            </a:r>
            <a:endParaRPr altLang="en-US" dirty="0" lang="zh-CN" sz="2400">
              <a:ea typeface="宋体" panose="02010600030101010101" pitchFamily="2" charset="-122"/>
              <a:latin typeface="宋体" panose="02010600030101010101" pitchFamily="2" charset="-122"/>
            </a:endParaRPr>
          </a:p>
          <a:p>
            <a:pPr marL="0" indent="0" lvl="0" eaLnBrk="1" hangingPunct="1">
              <a:lnSpc>
                <a:spcPct val="80000"/>
              </a:lnSpc>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4674" name="Picture 9"/>
          <p:cNvPicPr/>
          <p:nvPr/>
        </p:nvPicPr>
        <p:blipFill>
          <a:blip r:embed="rId1"/>
          <a:stretch>
            <a:fillRect/>
          </a:stretch>
        </p:blipFill>
        <p:spPr>
          <a:xfrm>
            <a:off x="0" y="0"/>
            <a:ext cx="9144000" cy="1743075"/>
          </a:xfrm>
          <a:prstGeom prst="rect">
            <a:avLst/>
          </a:prstGeom>
          <a:noFill/>
          <a:ln w="9525">
            <a:noFill/>
          </a:ln>
        </p:spPr>
      </p:pic>
      <p:sp>
        <p:nvSpPr>
          <p:cNvPr id="284675" name="TextBox 5"/>
          <p:cNvSpPr/>
          <p:nvPr/>
        </p:nvSpPr>
        <p:spPr>
          <a:xfrm>
            <a:off x="0" y="1743075"/>
            <a:ext cx="9144000" cy="4252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buNone/>
            </a:pPr>
            <a:r>
              <a:rPr altLang="zh-CN" dirty="0" lang="en-US" sz="2400">
                <a:ea typeface="宋体" panose="02010600030101010101" pitchFamily="2" charset="-122"/>
                <a:latin typeface="宋体" panose="02010600030101010101" pitchFamily="2" charset="-122"/>
              </a:rPr>
              <a:t>    1956</a:t>
            </a:r>
            <a:r>
              <a:rPr altLang="en-US" dirty="0" lang="zh-CN" sz="2400">
                <a:ea typeface="宋体" panose="02010600030101010101" pitchFamily="2" charset="-122"/>
                <a:latin typeface="宋体" panose="02010600030101010101" pitchFamily="2" charset="-122"/>
              </a:rPr>
              <a:t>年，英国作家（科学家）</a:t>
            </a:r>
            <a:r>
              <a:rPr altLang="zh-CN" dirty="0" lang="en-US" sz="2400">
                <a:ea typeface="宋体" panose="02010600030101010101" pitchFamily="2" charset="-122"/>
                <a:latin typeface="宋体" panose="02010600030101010101" pitchFamily="2" charset="-122"/>
              </a:rPr>
              <a:t>C·P</a:t>
            </a:r>
            <a:r>
              <a:rPr altLang="en-US" dirty="0" lang="zh-CN" sz="2400">
                <a:ea typeface="宋体" panose="02010600030101010101" pitchFamily="2" charset="-122"/>
                <a:latin typeface="宋体" panose="02010600030101010101" pitchFamily="2" charset="-122"/>
              </a:rPr>
              <a:t>斯诺发表了</a:t>
            </a:r>
            <a:r>
              <a:rPr altLang="zh-CN" dirty="0" lang="en-US" sz="2400">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两种文化与科学革命</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的讲演，谈到随着科学技术的发展，人文科学知识分子与科学知识分子及他们各自所代表的文化日益分化，形成了两种文化</a:t>
            </a: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他们之间“</a:t>
            </a:r>
            <a:r>
              <a:rPr altLang="en-US" dirty="0" lang="zh-CN" sz="2400">
                <a:solidFill>
                  <a:srgbClr val="FF0000"/>
                </a:solidFill>
                <a:ea typeface="宋体" panose="02010600030101010101" pitchFamily="2" charset="-122"/>
                <a:latin typeface="宋体" panose="02010600030101010101" pitchFamily="2" charset="-122"/>
              </a:rPr>
              <a:t>存在着互不理解的鸿沟</a:t>
            </a:r>
            <a:r>
              <a:rPr altLang="zh-CN" dirty="0" lang="en-US" sz="2400">
                <a:solidFill>
                  <a:srgbClr val="FF0000"/>
                </a:solidFill>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有时（特别是在年青人中间）还互相憎恨和厌恶，当然大多数是由于缺乏了解，他们都荒谬地歪曲了对方的形象</a:t>
            </a:r>
            <a:r>
              <a:rPr altLang="en-US" dirty="0" lang="zh-CN" sz="2400">
                <a:ea typeface="宋体" panose="02010600030101010101" pitchFamily="2" charset="-122"/>
                <a:latin typeface="宋体" panose="02010600030101010101" pitchFamily="2" charset="-122"/>
              </a:rPr>
              <a:t>”。</a:t>
            </a:r>
            <a:endParaRPr altLang="en-US" dirty="0" lang="zh-CN" sz="2400">
              <a:ea typeface="宋体" panose="02010600030101010101" pitchFamily="2" charset="-122"/>
              <a:latin typeface="宋体" panose="02010600030101010101" pitchFamily="2" charset="-122"/>
            </a:endParaRPr>
          </a:p>
          <a:p>
            <a:pPr marL="0" indent="0" lvl="0" eaLnBrk="1" hangingPunct="1">
              <a:lnSpc>
                <a:spcPct val="80000"/>
              </a:lnSpc>
              <a:buNone/>
            </a:pP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5698" name="Picture 9"/>
          <p:cNvPicPr/>
          <p:nvPr/>
        </p:nvPicPr>
        <p:blipFill>
          <a:blip r:embed="rId1"/>
          <a:stretch>
            <a:fillRect/>
          </a:stretch>
        </p:blipFill>
        <p:spPr>
          <a:xfrm>
            <a:off x="0" y="0"/>
            <a:ext cx="9144000" cy="1743075"/>
          </a:xfrm>
          <a:prstGeom prst="rect">
            <a:avLst/>
          </a:prstGeom>
          <a:noFill/>
          <a:ln w="9525">
            <a:noFill/>
          </a:ln>
        </p:spPr>
      </p:pic>
      <p:sp>
        <p:nvSpPr>
          <p:cNvPr id="285699" name="TextBox 5"/>
          <p:cNvSpPr/>
          <p:nvPr/>
        </p:nvSpPr>
        <p:spPr>
          <a:xfrm>
            <a:off x="0" y="1743075"/>
            <a:ext cx="9144000" cy="22225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lnSpc>
                <a:spcPct val="150000"/>
              </a:lnSpc>
              <a:buNone/>
            </a:pPr>
            <a:r>
              <a:rPr altLang="zh-CN" dirty="0" lang="en-US" sz="2400">
                <a:ea typeface="宋体" panose="02010600030101010101" pitchFamily="2" charset="-122"/>
                <a:latin typeface="宋体" panose="02010600030101010101" pitchFamily="2" charset="-122"/>
              </a:rPr>
              <a:t>    </a:t>
            </a:r>
            <a:r>
              <a:rPr altLang="en-US" dirty="0" lang="zh-CN" sz="2400"/>
              <a:t> </a:t>
            </a:r>
            <a:r>
              <a:rPr altLang="en-US" dirty="0" lang="zh-CN" sz="2400">
                <a:ea typeface="宋体" panose="02010600030101010101" pitchFamily="2" charset="-122"/>
                <a:latin typeface="宋体" panose="02010600030101010101" pitchFamily="2" charset="-122"/>
              </a:rPr>
              <a:t>造成分裂的主要根源有三个：一是科学与教育的高度专门化与专业化；二是狭隘的科学主义与狭隘的人文主义的对立；三是科学对人、自然和社会的巨大影响。</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85700" name="图片 4"/>
          <p:cNvPicPr/>
          <p:nvPr/>
        </p:nvPicPr>
        <p:blipFill>
          <a:blip r:embed="rId2"/>
          <a:stretch>
            <a:fillRect/>
          </a:stretch>
        </p:blipFill>
        <p:spPr>
          <a:xfrm>
            <a:off x="5281613" y="3683000"/>
            <a:ext cx="3741737" cy="2438400"/>
          </a:xfrm>
          <a:prstGeom prst="rect">
            <a:avLst/>
          </a:prstGeom>
          <a:noFill/>
          <a:ln w="9525">
            <a:noFill/>
          </a:ln>
        </p:spPr>
      </p:pic>
      <p:pic>
        <p:nvPicPr>
          <p:cNvPr id="285701" name="图片 6"/>
          <p:cNvPicPr/>
          <p:nvPr/>
        </p:nvPicPr>
        <p:blipFill>
          <a:blip r:embed="rId3"/>
          <a:stretch>
            <a:fillRect/>
          </a:stretch>
        </p:blipFill>
        <p:spPr>
          <a:xfrm>
            <a:off x="233363" y="3683000"/>
            <a:ext cx="3743325" cy="2438400"/>
          </a:xfrm>
          <a:prstGeom prst="rect">
            <a:avLst/>
          </a:prstGeom>
          <a:noFill/>
          <a:ln w="9525">
            <a:noFill/>
          </a:ln>
        </p:spPr>
      </p:pic>
    </p:spTree>
    <p:custDataLst>
      <p:tags r:id="rId4"/>
    </p:custDataLst>
  </p:cSld>
  <p:clrMapOvr>
    <a:masterClrMapping/>
  </p:clrMapOvr>
  <p:transition advTm="46052">
    <p:wipe dir="u"/>
  </p:transition>
</p:sld>
</file>

<file path=ppt/slides/slide25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6722" name="Picture 9"/>
          <p:cNvPicPr/>
          <p:nvPr/>
        </p:nvPicPr>
        <p:blipFill>
          <a:blip r:embed="rId1"/>
          <a:stretch>
            <a:fillRect/>
          </a:stretch>
        </p:blipFill>
        <p:spPr>
          <a:xfrm>
            <a:off x="0" y="0"/>
            <a:ext cx="9144000" cy="1743075"/>
          </a:xfrm>
          <a:prstGeom prst="rect">
            <a:avLst/>
          </a:prstGeom>
          <a:noFill/>
          <a:ln w="9525">
            <a:noFill/>
          </a:ln>
        </p:spPr>
      </p:pic>
      <p:sp>
        <p:nvSpPr>
          <p:cNvPr id="286723" name="TextBox 5"/>
          <p:cNvSpPr/>
          <p:nvPr/>
        </p:nvSpPr>
        <p:spPr>
          <a:xfrm>
            <a:off x="0" y="1743075"/>
            <a:ext cx="9144000" cy="4733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buNone/>
            </a:pPr>
            <a:r>
              <a:rPr altLang="en-US" dirty="0" lang="zh-CN" sz="2400">
                <a:solidFill>
                  <a:srgbClr val="FF0000"/>
                </a:solidFill>
              </a:rPr>
              <a:t>二、融合两种文化的可能性</a:t>
            </a:r>
            <a:endParaRPr altLang="zh-CN" dirty="0" lang="en-US" sz="2400">
              <a:solidFill>
                <a:srgbClr val="FF0000"/>
              </a:solidFill>
            </a:endParaRPr>
          </a:p>
          <a:p>
            <a:pPr marL="0" indent="0" lvl="0" eaLnBrk="1" hangingPunct="1">
              <a:lnSpc>
                <a:spcPct val="89999"/>
              </a:lnSpc>
              <a:buNone/>
            </a:pPr>
            <a:r>
              <a:rPr altLang="en-US" dirty="0" lang="zh-CN" b="1" sz="2400">
                <a:latin typeface="宋体" panose="02010600030101010101" pitchFamily="2" charset="-122"/>
              </a:rPr>
              <a:t>卢梭</a:t>
            </a:r>
            <a:r>
              <a:rPr altLang="en-US" dirty="0" lang="zh-CN" sz="2400">
                <a:latin typeface="宋体" panose="02010600030101010101" pitchFamily="2" charset="-122"/>
              </a:rPr>
              <a:t> </a:t>
            </a:r>
            <a:endParaRPr altLang="en-US" dirty="0" lang="zh-CN" sz="2400">
              <a:latin typeface="宋体" panose="02010600030101010101" pitchFamily="2" charset="-122"/>
            </a:endParaRPr>
          </a:p>
          <a:p>
            <a:pPr marL="0" indent="0" lvl="0" eaLnBrk="1" hangingPunct="1">
              <a:lnSpc>
                <a:spcPct val="89999"/>
              </a:lnSpc>
              <a:buNone/>
            </a:pPr>
            <a:r>
              <a:rPr altLang="en-US" dirty="0" lang="zh-CN" sz="2400">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我们的灵魂正随着我们的科学和我们的艺术之臻于完美而越发腐败，“随着科学与艺术的光芒在我们的地平线上升起，德行也就消逝了”。</a:t>
            </a:r>
            <a:endParaRPr altLang="en-US" dirty="0" lang="zh-CN" sz="2400">
              <a:ea typeface="宋体" panose="02010600030101010101" pitchFamily="2" charset="-122"/>
              <a:latin typeface="宋体" panose="02010600030101010101" pitchFamily="2" charset="-122"/>
            </a:endParaRPr>
          </a:p>
          <a:p>
            <a:pPr marL="0" indent="0" lvl="0" eaLnBrk="1" hangingPunct="1">
              <a:lnSpc>
                <a:spcPct val="89999"/>
              </a:lnSpc>
              <a:buNone/>
            </a:pPr>
            <a:r>
              <a:rPr altLang="en-US" dirty="0" lang="zh-CN" b="1" sz="2400">
                <a:latin typeface="宋体" panose="02010600030101010101" pitchFamily="2" charset="-122"/>
              </a:rPr>
              <a:t>达尔文的悲哀</a:t>
            </a:r>
            <a:endParaRPr altLang="en-US" dirty="0" lang="zh-CN" b="1" sz="2400">
              <a:latin typeface="宋体" panose="02010600030101010101" pitchFamily="2" charset="-122"/>
            </a:endParaRPr>
          </a:p>
          <a:p>
            <a:pPr marL="0" indent="0" lvl="0" eaLnBrk="1" hangingPunct="1">
              <a:lnSpc>
                <a:spcPct val="89999"/>
              </a:lnSpc>
              <a:buNone/>
            </a:pPr>
            <a:r>
              <a:rPr altLang="en-US" dirty="0" lang="zh-CN" b="1"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达尔文发现长期的科学训练和工作，改变了他看世界的眼光，他看到了别人看不到的奥妙，却同时也丧失了别人拥有的感受能力。在</a:t>
            </a:r>
            <a:r>
              <a:rPr altLang="zh-CN" dirty="0" lang="en-US" sz="2400">
                <a:ea typeface="宋体" panose="02010600030101010101" pitchFamily="2" charset="-122"/>
                <a:latin typeface="宋体" panose="02010600030101010101" pitchFamily="2" charset="-122"/>
              </a:rPr>
              <a:t>1867</a:t>
            </a:r>
            <a:r>
              <a:rPr altLang="en-US" dirty="0" lang="zh-CN" sz="2400">
                <a:ea typeface="宋体" panose="02010600030101010101" pitchFamily="2" charset="-122"/>
                <a:latin typeface="宋体" panose="02010600030101010101" pitchFamily="2" charset="-122"/>
              </a:rPr>
              <a:t>年回忆录中他发现自己对诗歌、戏剧、绘画、音乐等人性中“高尚的审美兴趣”的丧失，而这可能是幸福的丧失是发自内心的转变。</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7746" name="Picture 9"/>
          <p:cNvPicPr/>
          <p:nvPr/>
        </p:nvPicPr>
        <p:blipFill>
          <a:blip r:embed="rId1"/>
          <a:stretch>
            <a:fillRect/>
          </a:stretch>
        </p:blipFill>
        <p:spPr>
          <a:xfrm>
            <a:off x="0" y="0"/>
            <a:ext cx="9144000" cy="1743075"/>
          </a:xfrm>
          <a:prstGeom prst="rect">
            <a:avLst/>
          </a:prstGeom>
          <a:noFill/>
          <a:ln w="9525">
            <a:noFill/>
          </a:ln>
        </p:spPr>
      </p:pic>
      <p:sp>
        <p:nvSpPr>
          <p:cNvPr id="287747" name="TextBox 5"/>
          <p:cNvSpPr/>
          <p:nvPr/>
        </p:nvSpPr>
        <p:spPr>
          <a:xfrm>
            <a:off x="0" y="1743075"/>
            <a:ext cx="9144000" cy="33670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buNone/>
            </a:pPr>
            <a:r>
              <a:rPr altLang="en-US" dirty="0" lang="zh-CN" b="1" sz="2400">
                <a:ea typeface="宋体" panose="02010600030101010101" pitchFamily="2" charset="-122"/>
                <a:latin typeface="宋体" panose="02010600030101010101" pitchFamily="2" charset="-122"/>
              </a:rPr>
              <a:t>韦伯：祛魅的世界</a:t>
            </a:r>
            <a:endParaRPr altLang="en-US" dirty="0" lang="zh-CN" b="1" sz="2400">
              <a:ea typeface="宋体" panose="02010600030101010101" pitchFamily="2" charset="-122"/>
              <a:latin typeface="宋体" panose="02010600030101010101" pitchFamily="2" charset="-122"/>
            </a:endParaRPr>
          </a:p>
          <a:p>
            <a:pPr marL="0" indent="0" lvl="0" eaLnBrk="1" hangingPunct="1">
              <a:buNone/>
            </a:pPr>
            <a:r>
              <a:rPr altLang="en-US" dirty="0" lang="zh-CN" sz="2400">
                <a:ea typeface="宋体" panose="02010600030101010101" pitchFamily="2" charset="-122"/>
                <a:latin typeface="宋体" panose="02010600030101010101" pitchFamily="2" charset="-122"/>
              </a:rPr>
              <a:t>    马克斯</a:t>
            </a:r>
            <a:r>
              <a:rPr altLang="zh-CN" dirty="0" lang="en-US" sz="2400">
                <a:ea typeface="宋体" panose="02010600030101010101" pitchFamily="2" charset="-122"/>
                <a:latin typeface="宋体" panose="02010600030101010101" pitchFamily="2" charset="-122"/>
              </a:rPr>
              <a:t>·</a:t>
            </a:r>
            <a:r>
              <a:rPr altLang="en-US" dirty="0" lang="zh-CN" sz="2400">
                <a:ea typeface="宋体" panose="02010600030101010101" pitchFamily="2" charset="-122"/>
                <a:latin typeface="宋体" panose="02010600030101010101" pitchFamily="2" charset="-122"/>
              </a:rPr>
              <a:t>韦伯把丧失意义与自由的世界称为祛魅的世界，（</a:t>
            </a:r>
            <a:r>
              <a:rPr altLang="zh-CN" dirty="0" lang="en-US" sz="2400">
                <a:ea typeface="宋体" panose="02010600030101010101" pitchFamily="2" charset="-122"/>
                <a:latin typeface="宋体" panose="02010600030101010101" pitchFamily="2" charset="-122"/>
              </a:rPr>
              <a:t>the disenchantment of the world</a:t>
            </a:r>
            <a:r>
              <a:rPr altLang="en-US" dirty="0" lang="zh-CN" sz="2400">
                <a:ea typeface="宋体" panose="02010600030101010101" pitchFamily="2" charset="-122"/>
                <a:latin typeface="宋体" panose="02010600030101010101" pitchFamily="2" charset="-122"/>
              </a:rPr>
              <a:t>），即把自然的神性或人性去除掉，以方便对自然进行完全还原论的解释，特别是机械论的解释。</a:t>
            </a:r>
            <a:endParaRPr altLang="en-US" dirty="0" lang="zh-CN" sz="2400">
              <a:ea typeface="宋体" panose="02010600030101010101" pitchFamily="2" charset="-122"/>
              <a:latin typeface="宋体" panose="02010600030101010101" pitchFamily="2" charset="-122"/>
            </a:endParaRPr>
          </a:p>
          <a:p>
            <a:pPr marL="0" indent="0" lvl="0" eaLnBrk="1" hangingPunct="1">
              <a:buNone/>
            </a:pPr>
            <a:r>
              <a:rPr altLang="en-US" dirty="0" lang="zh-CN" b="1" sz="2400">
                <a:ea typeface="宋体" panose="02010600030101010101" pitchFamily="2" charset="-122"/>
                <a:latin typeface="宋体" panose="02010600030101010101" pitchFamily="2" charset="-122"/>
              </a:rPr>
              <a:t>尼采“上帝死了”</a:t>
            </a:r>
            <a:endParaRPr altLang="en-US" dirty="0" lang="zh-CN" b="1" sz="2400">
              <a:ea typeface="宋体" panose="02010600030101010101" pitchFamily="2" charset="-122"/>
              <a:latin typeface="宋体" panose="02010600030101010101" pitchFamily="2" charset="-122"/>
            </a:endParaRPr>
          </a:p>
          <a:p>
            <a:pPr marL="0" indent="0" lvl="0" eaLnBrk="1" hangingPunct="1">
              <a:buNone/>
            </a:pPr>
            <a:r>
              <a:rPr altLang="en-US" dirty="0" lang="zh-CN" b="1" sz="2400">
                <a:ea typeface="宋体" panose="02010600030101010101" pitchFamily="2" charset="-122"/>
                <a:latin typeface="宋体" panose="02010600030101010101" pitchFamily="2" charset="-122"/>
              </a:rPr>
              <a:t>浪漫主义运动</a:t>
            </a:r>
            <a:endParaRPr altLang="en-US" dirty="0" lang="zh-CN" b="1"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8770" name="Picture 9"/>
          <p:cNvPicPr/>
          <p:nvPr/>
        </p:nvPicPr>
        <p:blipFill>
          <a:blip r:embed="rId1"/>
          <a:stretch>
            <a:fillRect/>
          </a:stretch>
        </p:blipFill>
        <p:spPr>
          <a:xfrm>
            <a:off x="0" y="0"/>
            <a:ext cx="9144000" cy="1743075"/>
          </a:xfrm>
          <a:prstGeom prst="rect">
            <a:avLst/>
          </a:prstGeom>
          <a:noFill/>
          <a:ln w="9525">
            <a:noFill/>
          </a:ln>
        </p:spPr>
      </p:pic>
      <p:sp>
        <p:nvSpPr>
          <p:cNvPr id="288771" name="TextBox 5"/>
          <p:cNvSpPr/>
          <p:nvPr/>
        </p:nvSpPr>
        <p:spPr>
          <a:xfrm>
            <a:off x="0" y="1743075"/>
            <a:ext cx="9144000" cy="411670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lnSpc>
                <a:spcPct val="150000"/>
              </a:lnSpc>
              <a:buNone/>
            </a:pPr>
            <a:r>
              <a:rPr altLang="zh-CN" dirty="0" lang="en-US" sz="2400">
                <a:ea typeface="宋体" panose="02010600030101010101" pitchFamily="2" charset="-122"/>
                <a:latin typeface="宋体" panose="02010600030101010101" pitchFamily="2" charset="-122"/>
              </a:rPr>
              <a:t>    19</a:t>
            </a:r>
            <a:r>
              <a:rPr altLang="en-US" dirty="0" lang="zh-CN" sz="2400">
                <a:ea typeface="宋体" panose="02010600030101010101" pitchFamily="2" charset="-122"/>
                <a:latin typeface="宋体" panose="02010600030101010101" pitchFamily="2" charset="-122"/>
              </a:rPr>
              <a:t>世纪末</a:t>
            </a:r>
            <a:r>
              <a:rPr altLang="zh-CN" dirty="0" lang="en-US" sz="2400">
                <a:ea typeface="宋体" panose="02010600030101010101" pitchFamily="2" charset="-122"/>
                <a:latin typeface="宋体" panose="02010600030101010101" pitchFamily="2" charset="-122"/>
              </a:rPr>
              <a:t>20</a:t>
            </a:r>
            <a:r>
              <a:rPr altLang="en-US" dirty="0" lang="zh-CN" sz="2400">
                <a:ea typeface="宋体" panose="02010600030101010101" pitchFamily="2" charset="-122"/>
                <a:latin typeface="宋体" panose="02010600030101010101" pitchFamily="2" charset="-122"/>
              </a:rPr>
              <a:t>世纪初物理学新的进展冲击着人们对经典科学的概念基础，近代自然科学构造的世界概念（机械决定论）逐渐受到怀疑。</a:t>
            </a:r>
            <a:endParaRPr altLang="en-US" dirty="0" lang="zh-CN" sz="2400">
              <a:ea typeface="宋体" panose="02010600030101010101" pitchFamily="2" charset="-122"/>
              <a:latin typeface="宋体" panose="02010600030101010101" pitchFamily="2" charset="-122"/>
            </a:endParaRPr>
          </a:p>
          <a:p>
            <a:pPr marL="0" indent="0" lvl="0" eaLnBrk="1" hangingPunct="1">
              <a:lnSpc>
                <a:spcPct val="150000"/>
              </a:lnSpc>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生物学中机体论的复兴，要求把生物机体作为一个整体加以研究 。</a:t>
            </a:r>
            <a:endParaRPr altLang="en-US" dirty="0" lang="zh-CN" sz="2400">
              <a:ea typeface="宋体" panose="02010600030101010101" pitchFamily="2" charset="-122"/>
              <a:latin typeface="宋体" panose="02010600030101010101" pitchFamily="2" charset="-122"/>
            </a:endParaRPr>
          </a:p>
          <a:p>
            <a:pPr marL="0" indent="0" lvl="0" eaLnBrk="1" hangingPunct="1">
              <a:lnSpc>
                <a:spcPct val="150000"/>
              </a:lnSpc>
              <a:buNone/>
            </a:pPr>
            <a:r>
              <a:rPr altLang="zh-CN" dirty="0" lang="en-US" sz="2400">
                <a:ea typeface="宋体" panose="02010600030101010101" pitchFamily="2" charset="-122"/>
                <a:latin typeface="宋体" panose="02010600030101010101" pitchFamily="2" charset="-122"/>
              </a:rPr>
              <a:t>    </a:t>
            </a:r>
            <a:r>
              <a:rPr altLang="en-US" dirty="0" lang="zh-CN" sz="2400">
                <a:ea typeface="宋体" panose="02010600030101010101" pitchFamily="2" charset="-122"/>
                <a:latin typeface="宋体" panose="02010600030101010101" pitchFamily="2" charset="-122"/>
              </a:rPr>
              <a:t>科学史之父萨顿把科学史作为沟通科学与人文的桥梁。</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5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89794" name="Picture 9"/>
          <p:cNvPicPr/>
          <p:nvPr/>
        </p:nvPicPr>
        <p:blipFill>
          <a:blip r:embed="rId1"/>
          <a:stretch>
            <a:fillRect/>
          </a:stretch>
        </p:blipFill>
        <p:spPr>
          <a:xfrm>
            <a:off x="0" y="0"/>
            <a:ext cx="9144000" cy="1743075"/>
          </a:xfrm>
          <a:prstGeom prst="rect">
            <a:avLst/>
          </a:prstGeom>
          <a:noFill/>
          <a:ln w="9525">
            <a:noFill/>
          </a:ln>
        </p:spPr>
      </p:pic>
      <p:sp>
        <p:nvSpPr>
          <p:cNvPr id="289795" name="TextBox 5"/>
          <p:cNvSpPr/>
          <p:nvPr/>
        </p:nvSpPr>
        <p:spPr>
          <a:xfrm>
            <a:off x="0" y="1743075"/>
            <a:ext cx="9144000" cy="38465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lnSpc>
                <a:spcPct val="150000"/>
              </a:lnSpc>
              <a:buNone/>
            </a:pPr>
            <a:r>
              <a:rPr altLang="en-US" dirty="0" lang="zh-CN" b="1" sz="2400">
                <a:solidFill>
                  <a:srgbClr val="FF0000"/>
                </a:solidFill>
                <a:ea typeface="宋体" panose="02010600030101010101" pitchFamily="2" charset="-122"/>
                <a:latin typeface="宋体" panose="02010600030101010101" pitchFamily="2" charset="-122"/>
              </a:rPr>
              <a:t>三、科学精神</a:t>
            </a:r>
            <a:endParaRPr altLang="zh-CN" dirty="0" lang="en-US" b="1" sz="2400">
              <a:solidFill>
                <a:srgbClr val="FF0000"/>
              </a:solidFill>
              <a:ea typeface="宋体" panose="02010600030101010101" pitchFamily="2" charset="-122"/>
              <a:latin typeface="宋体" panose="02010600030101010101" pitchFamily="2" charset="-122"/>
            </a:endParaRPr>
          </a:p>
          <a:p>
            <a:pPr marL="0" indent="0" lvl="0" eaLnBrk="1" hangingPunct="1">
              <a:lnSpc>
                <a:spcPct val="150000"/>
              </a:lnSpc>
              <a:buNone/>
            </a:pPr>
            <a:r>
              <a:rPr altLang="en-US" dirty="0" lang="zh-CN" sz="2400">
                <a:ea typeface="宋体" panose="02010600030101010101" pitchFamily="2" charset="-122"/>
                <a:latin typeface="宋体" panose="02010600030101010101" pitchFamily="2" charset="-122"/>
              </a:rPr>
              <a:t>    科学精神是指</a:t>
            </a:r>
            <a:r>
              <a:rPr altLang="en-US" dirty="0" lang="zh-CN" sz="2400">
                <a:solidFill>
                  <a:srgbClr val="FF0000"/>
                </a:solidFill>
                <a:ea typeface="宋体" panose="02010600030101010101" pitchFamily="2" charset="-122"/>
                <a:latin typeface="宋体" panose="02010600030101010101" pitchFamily="2" charset="-122"/>
              </a:rPr>
              <a:t>人们在科学活动中形成的</a:t>
            </a:r>
            <a:r>
              <a:rPr altLang="en-US" dirty="0" lang="zh-CN" sz="2400">
                <a:ea typeface="宋体" panose="02010600030101010101" pitchFamily="2" charset="-122"/>
                <a:latin typeface="宋体" panose="02010600030101010101" pitchFamily="2" charset="-122"/>
              </a:rPr>
              <a:t>，体现于</a:t>
            </a:r>
            <a:r>
              <a:rPr altLang="en-US" dirty="0" lang="zh-CN" sz="2400">
                <a:solidFill>
                  <a:srgbClr val="FF0000"/>
                </a:solidFill>
                <a:ea typeface="宋体" panose="02010600030101010101" pitchFamily="2" charset="-122"/>
                <a:latin typeface="宋体" panose="02010600030101010101" pitchFamily="2" charset="-122"/>
              </a:rPr>
              <a:t>科学知识、科学思想、科学方法中的一种观念、意识和态度。</a:t>
            </a:r>
            <a:r>
              <a:rPr altLang="en-US" dirty="0" lang="zh-CN" sz="2400">
                <a:ea typeface="宋体" panose="02010600030101010101" pitchFamily="2" charset="-122"/>
                <a:latin typeface="宋体" panose="02010600030101010101" pitchFamily="2" charset="-122"/>
              </a:rPr>
              <a:t>西方文化传统中理性思维的发展以及重视经验和自然的哲学传统是近代科学精神得以形成的温床。 </a:t>
            </a:r>
            <a:endParaRPr altLang="en-US" dirty="0" lang="zh-CN" sz="2400">
              <a:ea typeface="宋体" panose="02010600030101010101" pitchFamily="2" charset="-122"/>
              <a:latin typeface="宋体" panose="02010600030101010101" pitchFamily="2" charset="-122"/>
            </a:endParaRPr>
          </a:p>
          <a:p>
            <a:pPr marL="0" indent="0" lvl="0" eaLnBrk="1" hangingPunct="1">
              <a:buNone/>
            </a:pPr>
            <a:endParaRPr altLang="zh-CN" dirty="0" lang="en-US" sz="2400"/>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89796" name="图片 2"/>
          <p:cNvPicPr/>
          <p:nvPr/>
        </p:nvPicPr>
        <p:blipFill>
          <a:blip r:embed="rId2"/>
          <a:stretch>
            <a:fillRect/>
          </a:stretch>
        </p:blipFill>
        <p:spPr>
          <a:xfrm>
            <a:off x="2106613" y="4341813"/>
            <a:ext cx="3263900" cy="1743075"/>
          </a:xfrm>
          <a:prstGeom prst="rect">
            <a:avLst/>
          </a:prstGeom>
          <a:noFill/>
          <a:ln w="9525">
            <a:noFill/>
          </a:ln>
        </p:spPr>
      </p:pic>
      <p:sp>
        <p:nvSpPr>
          <p:cNvPr id="289797" name="TextBox 2"/>
          <p:cNvSpPr/>
          <p:nvPr/>
        </p:nvSpPr>
        <p:spPr>
          <a:xfrm>
            <a:off x="5480050" y="4341813"/>
            <a:ext cx="3116263" cy="16684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一切推理必须从观察和实验推来。</a:t>
            </a:r>
            <a:r>
              <a:rPr altLang="zh-CN" dirty="0" lang="en-US" sz="2400">
                <a:solidFill>
                  <a:srgbClr val="FF0000"/>
                </a:solidFill>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伽利</a:t>
            </a:r>
            <a:r>
              <a:rPr altLang="en-US" dirty="0" lang="zh-CN" sz="2000">
                <a:solidFill>
                  <a:srgbClr val="FF0000"/>
                </a:solidFill>
                <a:ea typeface="宋体" panose="02010600030101010101" pitchFamily="2" charset="-122"/>
                <a:latin typeface="宋体" panose="02010600030101010101" pitchFamily="2" charset="-122"/>
              </a:rPr>
              <a:t>略</a:t>
            </a:r>
            <a:endParaRPr altLang="zh-CN" dirty="0" lang="en-US" sz="2000">
              <a:solidFill>
                <a:srgbClr val="FF0000"/>
              </a:solidFill>
              <a:ea typeface="宋体" panose="02010600030101010101" pitchFamily="2" charset="-122"/>
              <a:latin typeface="宋体" panose="02010600030101010101" pitchFamily="2" charset="-122"/>
            </a:endParaRPr>
          </a:p>
        </p:txBody>
      </p:sp>
    </p:spTree>
    <p:custDataLst>
      <p:tags r:id="rId3"/>
    </p:custDataLst>
  </p:cSld>
  <p:clrMapOvr>
    <a:masterClrMapping/>
  </p:clrMapOvr>
  <p:transition advTm="46052">
    <p:wipe dir="u"/>
  </p:transition>
</p:sld>
</file>

<file path=ppt/slides/slide25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90818" name="Picture 9"/>
          <p:cNvPicPr/>
          <p:nvPr/>
        </p:nvPicPr>
        <p:blipFill>
          <a:blip r:embed="rId1"/>
          <a:stretch>
            <a:fillRect/>
          </a:stretch>
        </p:blipFill>
        <p:spPr>
          <a:xfrm>
            <a:off x="0" y="0"/>
            <a:ext cx="9144000" cy="1387475"/>
          </a:xfrm>
          <a:prstGeom prst="rect">
            <a:avLst/>
          </a:prstGeom>
          <a:noFill/>
          <a:ln w="9525">
            <a:noFill/>
          </a:ln>
        </p:spPr>
      </p:pic>
      <p:sp>
        <p:nvSpPr>
          <p:cNvPr id="290819" name="TextBox 5"/>
          <p:cNvSpPr/>
          <p:nvPr/>
        </p:nvSpPr>
        <p:spPr>
          <a:xfrm>
            <a:off x="0" y="1792288"/>
            <a:ext cx="9144000" cy="55451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buNone/>
            </a:pPr>
            <a:r>
              <a:rPr altLang="en-US" dirty="0" lang="zh-CN" b="1" sz="2400">
                <a:solidFill>
                  <a:srgbClr val="FF0000"/>
                </a:solidFill>
              </a:rPr>
              <a:t>理性精神</a:t>
            </a:r>
            <a:endParaRPr altLang="en-US" dirty="0" lang="zh-CN" b="1" sz="2400">
              <a:solidFill>
                <a:srgbClr val="FF0000"/>
              </a:solidFill>
            </a:endParaRPr>
          </a:p>
          <a:p>
            <a:pPr marL="0" indent="0" lvl="0" algn="just" eaLnBrk="1" hangingPunct="1">
              <a:buNone/>
            </a:pPr>
            <a:endParaRPr altLang="zh-CN" dirty="0" lang="en-US" b="1" sz="2400">
              <a:solidFill>
                <a:srgbClr val="FF0000"/>
              </a:solidFill>
            </a:endParaRPr>
          </a:p>
          <a:p>
            <a:pPr marL="0" indent="0" lvl="0" algn="just" eaLnBrk="1" hangingPunct="1">
              <a:buNone/>
            </a:pPr>
            <a:r>
              <a:rPr altLang="en-US" dirty="0" lang="zh-CN" b="1" sz="2400">
                <a:solidFill>
                  <a:srgbClr val="FF0000"/>
                </a:solidFill>
              </a:rPr>
              <a:t>实证精神</a:t>
            </a:r>
            <a:endParaRPr altLang="en-US" dirty="0" lang="zh-CN" b="1" sz="2400">
              <a:solidFill>
                <a:srgbClr val="FF0000"/>
              </a:solidFill>
            </a:endParaRPr>
          </a:p>
          <a:p>
            <a:pPr marL="0" indent="0" lvl="0" algn="just" eaLnBrk="1" hangingPunct="1">
              <a:buNone/>
            </a:pPr>
            <a:endParaRPr altLang="zh-CN" dirty="0" lang="en-US" b="1" sz="2400">
              <a:solidFill>
                <a:srgbClr val="FF0000"/>
              </a:solidFill>
            </a:endParaRPr>
          </a:p>
          <a:p>
            <a:pPr marL="0" indent="0" lvl="0" algn="just" eaLnBrk="1" hangingPunct="1">
              <a:buNone/>
            </a:pPr>
            <a:r>
              <a:rPr altLang="en-US" dirty="0" lang="zh-CN" b="1" sz="2400">
                <a:solidFill>
                  <a:srgbClr val="FF0000"/>
                </a:solidFill>
              </a:rPr>
              <a:t>怀疑和批判精神</a:t>
            </a:r>
            <a:endParaRPr altLang="en-US" dirty="0" lang="zh-CN" b="1" sz="2400">
              <a:solidFill>
                <a:srgbClr val="FF0000"/>
              </a:solidFill>
            </a:endParaRPr>
          </a:p>
          <a:p>
            <a:pPr marL="0" indent="0" lvl="0" algn="just" eaLnBrk="1" hangingPunct="1">
              <a:buNone/>
            </a:pPr>
            <a:endParaRPr altLang="zh-CN" dirty="0" lang="en-US" b="1" sz="2400">
              <a:solidFill>
                <a:srgbClr val="FF0000"/>
              </a:solidFill>
            </a:endParaRPr>
          </a:p>
          <a:p>
            <a:pPr marL="0" indent="0" lvl="0" algn="just" eaLnBrk="1" hangingPunct="1">
              <a:buNone/>
            </a:pPr>
            <a:r>
              <a:rPr altLang="en-US" dirty="0" lang="zh-CN" b="1" sz="2400">
                <a:solidFill>
                  <a:srgbClr val="FF0000"/>
                </a:solidFill>
              </a:rPr>
              <a:t>创新精神</a:t>
            </a:r>
            <a:endParaRPr altLang="en-US" dirty="0" lang="zh-CN" b="1" sz="2400">
              <a:solidFill>
                <a:srgbClr val="FF0000"/>
              </a:solidFill>
            </a:endParaRPr>
          </a:p>
          <a:p>
            <a:pPr marL="0" indent="0" lvl="0" algn="just" eaLnBrk="1" hangingPunct="1">
              <a:buNone/>
            </a:pPr>
            <a:endParaRPr altLang="zh-CN" dirty="0" lang="en-US" b="1" sz="2400">
              <a:solidFill>
                <a:srgbClr val="FF0000"/>
              </a:solidFill>
            </a:endParaRPr>
          </a:p>
          <a:p>
            <a:pPr marL="0" indent="0" lvl="0" algn="just" eaLnBrk="1" hangingPunct="1">
              <a:buNone/>
            </a:pPr>
            <a:r>
              <a:rPr altLang="en-US" dirty="0" lang="zh-CN" b="1" sz="2400">
                <a:solidFill>
                  <a:srgbClr val="FF0000"/>
                </a:solidFill>
              </a:rPr>
              <a:t>自由精神</a:t>
            </a:r>
            <a:endParaRPr altLang="en-US" dirty="0" lang="zh-CN" b="1" sz="2400">
              <a:solidFill>
                <a:srgbClr val="FF0000"/>
              </a:solidFill>
            </a:endParaRPr>
          </a:p>
          <a:p>
            <a:pPr marL="0" indent="0" lvl="0" eaLnBrk="1" hangingPunct="1">
              <a:lnSpc>
                <a:spcPct val="150000"/>
              </a:lnSpc>
              <a:buNone/>
            </a:pPr>
            <a:endParaRPr altLang="en-US" dirty="0" lang="zh-CN" sz="2400">
              <a:ea typeface="宋体" panose="02010600030101010101" pitchFamily="2" charset="-122"/>
              <a:latin typeface="宋体" panose="02010600030101010101" pitchFamily="2" charset="-122"/>
            </a:endParaRPr>
          </a:p>
          <a:p>
            <a:pPr marL="0" indent="0" lvl="0" eaLnBrk="1" hangingPunct="1">
              <a:buNone/>
            </a:pPr>
            <a:endParaRPr altLang="en-US" dirty="0" lang="zh-CN" sz="2400"/>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90820" name="图片 4"/>
          <p:cNvPicPr/>
          <p:nvPr/>
        </p:nvPicPr>
        <p:blipFill>
          <a:blip r:embed="rId2"/>
          <a:stretch>
            <a:fillRect/>
          </a:stretch>
        </p:blipFill>
        <p:spPr>
          <a:xfrm>
            <a:off x="2724150" y="1743075"/>
            <a:ext cx="2352675" cy="4000500"/>
          </a:xfrm>
          <a:prstGeom prst="rect">
            <a:avLst/>
          </a:prstGeom>
          <a:noFill/>
          <a:ln w="9525">
            <a:noFill/>
          </a:ln>
        </p:spPr>
      </p:pic>
      <p:sp>
        <p:nvSpPr>
          <p:cNvPr id="290821" name="TextBox 2"/>
          <p:cNvSpPr/>
          <p:nvPr/>
        </p:nvSpPr>
        <p:spPr>
          <a:xfrm>
            <a:off x="5224463" y="2952750"/>
            <a:ext cx="3771900" cy="166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400">
                <a:solidFill>
                  <a:srgbClr val="FF0000"/>
                </a:solidFill>
                <a:ea typeface="宋体" panose="02010600030101010101" pitchFamily="2" charset="-122"/>
                <a:latin typeface="宋体" panose="02010600030101010101" pitchFamily="2" charset="-122"/>
              </a:rPr>
              <a:t>要学会做科学中的粗活，要研究事实，对比事实和积累事实。</a:t>
            </a:r>
            <a:r>
              <a:rPr altLang="zh-CN" dirty="0" lang="en-US" sz="2400">
                <a:solidFill>
                  <a:srgbClr val="FF0000"/>
                </a:solidFill>
                <a:ea typeface="宋体" panose="02010600030101010101" pitchFamily="2" charset="-122"/>
                <a:latin typeface="宋体" panose="02010600030101010101" pitchFamily="2" charset="-122"/>
              </a:rPr>
              <a:t>——</a:t>
            </a:r>
            <a:r>
              <a:rPr altLang="en-US" dirty="0" lang="zh-CN" sz="2400">
                <a:solidFill>
                  <a:srgbClr val="FF0000"/>
                </a:solidFill>
                <a:ea typeface="宋体" panose="02010600030101010101" pitchFamily="2" charset="-122"/>
                <a:latin typeface="宋体" panose="02010600030101010101" pitchFamily="2" charset="-122"/>
              </a:rPr>
              <a:t>巴浦洛夫</a:t>
            </a:r>
            <a:endParaRPr altLang="zh-CN" dirty="0" lang="en-US" sz="2400">
              <a:solidFill>
                <a:srgbClr val="FF0000"/>
              </a:solidFill>
              <a:ea typeface="宋体" panose="02010600030101010101" pitchFamily="2" charset="-122"/>
              <a:latin typeface="宋体" panose="02010600030101010101" pitchFamily="2" charset="-122"/>
            </a:endParaRPr>
          </a:p>
        </p:txBody>
      </p:sp>
    </p:spTree>
    <p:custDataLst>
      <p:tags r:id="rId3"/>
    </p:custDataLst>
  </p:cSld>
  <p:clrMapOvr>
    <a:masterClrMapping/>
  </p:clrMapOvr>
  <p:transition advTm="46052">
    <p:wipe dir="u"/>
  </p:transition>
</p:sld>
</file>

<file path=ppt/slides/slide25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91842" name="Picture 9"/>
          <p:cNvPicPr/>
          <p:nvPr/>
        </p:nvPicPr>
        <p:blipFill>
          <a:blip r:embed="rId1"/>
          <a:stretch>
            <a:fillRect/>
          </a:stretch>
        </p:blipFill>
        <p:spPr>
          <a:xfrm>
            <a:off x="0" y="0"/>
            <a:ext cx="9144000" cy="1743075"/>
          </a:xfrm>
          <a:prstGeom prst="rect">
            <a:avLst/>
          </a:prstGeom>
          <a:noFill/>
          <a:ln w="9525">
            <a:noFill/>
          </a:ln>
        </p:spPr>
      </p:pic>
      <p:sp>
        <p:nvSpPr>
          <p:cNvPr id="291843" name="TextBox 5"/>
          <p:cNvSpPr/>
          <p:nvPr/>
        </p:nvSpPr>
        <p:spPr>
          <a:xfrm>
            <a:off x="0" y="1792288"/>
            <a:ext cx="9144000" cy="24431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eaLnBrk="1" hangingPunct="1">
              <a:buNone/>
            </a:pPr>
            <a:endParaRPr altLang="en-US" dirty="0" lang="zh-CN" sz="2400"/>
          </a:p>
          <a:p>
            <a:pPr marL="0" indent="0" lvl="0" eaLnBrk="1" hangingPunct="1">
              <a:buNone/>
            </a:pPr>
            <a:endParaRPr altLang="zh-CN" dirty="0" lang="en-US" sz="2400"/>
          </a:p>
          <a:p>
            <a:pPr marL="0" indent="0" lvl="0" eaLnBrk="1" hangingPunct="1">
              <a:lnSpc>
                <a:spcPct val="150000"/>
              </a:lnSpc>
              <a:buNone/>
            </a:pPr>
            <a:endParaRPr altLang="en-US" dirty="0" lang="zh-CN" sz="2400">
              <a:ea typeface="宋体" panose="02010600030101010101" pitchFamily="2" charset="-122"/>
              <a:latin typeface="宋体" panose="02010600030101010101" pitchFamily="2" charset="-122"/>
            </a:endParaRPr>
          </a:p>
          <a:p>
            <a:pPr marL="0" indent="0" lvl="0" eaLnBrk="1" hangingPunct="1">
              <a:buNone/>
            </a:pPr>
            <a:endParaRPr altLang="en-US" dirty="0" lang="zh-CN" sz="2400"/>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pic>
        <p:nvPicPr>
          <p:cNvPr id="291844" name="图片 7"/>
          <p:cNvPicPr/>
          <p:nvPr/>
        </p:nvPicPr>
        <p:blipFill>
          <a:blip r:embed="rId2"/>
          <a:stretch>
            <a:fillRect/>
          </a:stretch>
        </p:blipFill>
        <p:spPr>
          <a:xfrm>
            <a:off x="596900" y="1912938"/>
            <a:ext cx="3832225" cy="2201862"/>
          </a:xfrm>
          <a:prstGeom prst="rect">
            <a:avLst/>
          </a:prstGeom>
          <a:noFill/>
          <a:ln w="9525">
            <a:noFill/>
          </a:ln>
        </p:spPr>
      </p:pic>
      <p:sp>
        <p:nvSpPr>
          <p:cNvPr id="291845" name="TextBox 2"/>
          <p:cNvSpPr/>
          <p:nvPr/>
        </p:nvSpPr>
        <p:spPr>
          <a:xfrm>
            <a:off x="4714875" y="1990725"/>
            <a:ext cx="4200525" cy="9445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000">
                <a:solidFill>
                  <a:srgbClr val="FF0000"/>
                </a:solidFill>
                <a:ea typeface="宋体" panose="02010600030101010101" pitchFamily="2" charset="-122"/>
                <a:latin typeface="宋体" panose="02010600030101010101" pitchFamily="2" charset="-122"/>
              </a:rPr>
              <a:t>提出问题比解决问题更重要。</a:t>
            </a:r>
            <a:r>
              <a:rPr altLang="zh-CN" dirty="0" lang="en-US" sz="2000">
                <a:solidFill>
                  <a:srgbClr val="FF0000"/>
                </a:solidFill>
                <a:ea typeface="宋体" panose="02010600030101010101" pitchFamily="2" charset="-122"/>
                <a:latin typeface="宋体" panose="02010600030101010101" pitchFamily="2" charset="-122"/>
              </a:rPr>
              <a:t>——</a:t>
            </a:r>
            <a:r>
              <a:rPr altLang="en-US" dirty="0" lang="zh-CN" sz="2000">
                <a:solidFill>
                  <a:srgbClr val="FF0000"/>
                </a:solidFill>
                <a:ea typeface="宋体" panose="02010600030101010101" pitchFamily="2" charset="-122"/>
                <a:latin typeface="宋体" panose="02010600030101010101" pitchFamily="2" charset="-122"/>
              </a:rPr>
              <a:t>爱因斯坦</a:t>
            </a:r>
            <a:endParaRPr altLang="zh-CN" dirty="0" lang="en-US" sz="2000">
              <a:solidFill>
                <a:srgbClr val="FF0000"/>
              </a:solidFill>
              <a:ea typeface="宋体" panose="02010600030101010101" pitchFamily="2" charset="-122"/>
              <a:latin typeface="宋体" panose="02010600030101010101" pitchFamily="2" charset="-122"/>
            </a:endParaRPr>
          </a:p>
        </p:txBody>
      </p:sp>
      <p:pic>
        <p:nvPicPr>
          <p:cNvPr id="291846" name="图片 4"/>
          <p:cNvPicPr/>
          <p:nvPr/>
        </p:nvPicPr>
        <p:blipFill>
          <a:blip r:embed="rId3"/>
          <a:stretch>
            <a:fillRect/>
          </a:stretch>
        </p:blipFill>
        <p:spPr>
          <a:xfrm>
            <a:off x="652463" y="4235450"/>
            <a:ext cx="3719512" cy="2203450"/>
          </a:xfrm>
          <a:prstGeom prst="rect">
            <a:avLst/>
          </a:prstGeom>
          <a:noFill/>
          <a:ln w="9525">
            <a:noFill/>
          </a:ln>
        </p:spPr>
      </p:pic>
      <p:sp>
        <p:nvSpPr>
          <p:cNvPr id="291847" name="TextBox 2"/>
          <p:cNvSpPr/>
          <p:nvPr/>
        </p:nvSpPr>
        <p:spPr>
          <a:xfrm>
            <a:off x="4714875" y="4845050"/>
            <a:ext cx="4200525" cy="942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spcBef>
                <a:spcPct val="0"/>
              </a:spcBef>
              <a:buNone/>
            </a:pPr>
            <a:r>
              <a:rPr altLang="en-US" dirty="0" lang="zh-CN" sz="2000">
                <a:solidFill>
                  <a:srgbClr val="FF0000"/>
                </a:solidFill>
                <a:ea typeface="宋体" panose="02010600030101010101" pitchFamily="2" charset="-122"/>
                <a:latin typeface="宋体" panose="02010600030101010101" pitchFamily="2" charset="-122"/>
              </a:rPr>
              <a:t>打开一切科学的钥匙毫无异议是问号。</a:t>
            </a:r>
            <a:r>
              <a:rPr altLang="zh-CN" dirty="0" lang="en-US" sz="2000">
                <a:solidFill>
                  <a:srgbClr val="FF0000"/>
                </a:solidFill>
                <a:ea typeface="宋体" panose="02010600030101010101" pitchFamily="2" charset="-122"/>
                <a:latin typeface="宋体" panose="02010600030101010101" pitchFamily="2" charset="-122"/>
              </a:rPr>
              <a:t>——</a:t>
            </a:r>
            <a:r>
              <a:rPr altLang="en-US" dirty="0" lang="zh-CN" sz="2000">
                <a:solidFill>
                  <a:srgbClr val="FF0000"/>
                </a:solidFill>
                <a:ea typeface="宋体" panose="02010600030101010101" pitchFamily="2" charset="-122"/>
                <a:latin typeface="宋体" panose="02010600030101010101" pitchFamily="2" charset="-122"/>
              </a:rPr>
              <a:t>巴尔扎克</a:t>
            </a:r>
            <a:endParaRPr altLang="zh-CN" dirty="0" lang="en-US" sz="2000">
              <a:solidFill>
                <a:srgbClr val="FF0000"/>
              </a:solidFill>
              <a:ea typeface="宋体" panose="02010600030101010101" pitchFamily="2" charset="-122"/>
              <a:latin typeface="宋体" panose="02010600030101010101" pitchFamily="2" charset="-122"/>
            </a:endParaRPr>
          </a:p>
        </p:txBody>
      </p:sp>
    </p:spTree>
    <p:custDataLst>
      <p:tags r:id="rId4"/>
    </p:custDataLst>
  </p:cSld>
  <p:clrMapOvr>
    <a:masterClrMapping/>
  </p:clrMapOvr>
  <p:transition advTm="46052">
    <p:wipe dir="u"/>
  </p:transition>
</p:sld>
</file>

<file path=ppt/slides/slide26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pic>
        <p:nvPicPr>
          <p:cNvPr id="292866" name="Picture 9"/>
          <p:cNvPicPr/>
          <p:nvPr/>
        </p:nvPicPr>
        <p:blipFill>
          <a:blip r:embed="rId1"/>
          <a:stretch>
            <a:fillRect/>
          </a:stretch>
        </p:blipFill>
        <p:spPr>
          <a:xfrm>
            <a:off x="0" y="0"/>
            <a:ext cx="9144000" cy="1743075"/>
          </a:xfrm>
          <a:prstGeom prst="rect">
            <a:avLst/>
          </a:prstGeom>
          <a:noFill/>
          <a:ln w="9525">
            <a:noFill/>
          </a:ln>
        </p:spPr>
      </p:pic>
      <p:sp>
        <p:nvSpPr>
          <p:cNvPr id="292867" name="TextBox 5"/>
          <p:cNvSpPr/>
          <p:nvPr/>
        </p:nvSpPr>
        <p:spPr>
          <a:xfrm>
            <a:off x="0" y="1743075"/>
            <a:ext cx="9144000" cy="5065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lgn="just" eaLnBrk="1" hangingPunct="1">
              <a:lnSpc>
                <a:spcPct val="150000"/>
              </a:lnSpc>
              <a:buNone/>
            </a:pPr>
            <a:r>
              <a:rPr altLang="en-US" dirty="0" lang="zh-CN" sz="2400">
                <a:solidFill>
                  <a:srgbClr val="FF0000"/>
                </a:solidFill>
                <a:ea typeface="宋体" panose="02010600030101010101" pitchFamily="2" charset="-122"/>
                <a:latin typeface="宋体" panose="02010600030101010101" pitchFamily="2" charset="-122"/>
              </a:rPr>
              <a:t>人文精神的内涵</a:t>
            </a:r>
            <a:endParaRPr altLang="en-US" dirty="0" lang="zh-CN" sz="2400">
              <a:solidFill>
                <a:srgbClr val="FF0000"/>
              </a:solidFill>
              <a:ea typeface="宋体" panose="02010600030101010101" pitchFamily="2" charset="-122"/>
              <a:latin typeface="宋体" panose="02010600030101010101" pitchFamily="2" charset="-122"/>
            </a:endParaRPr>
          </a:p>
          <a:p>
            <a:pPr marL="0" indent="0" lvl="0" algn="just" eaLnBrk="1" hangingPunct="1">
              <a:lnSpc>
                <a:spcPct val="150000"/>
              </a:lnSpc>
              <a:buNone/>
            </a:pPr>
            <a:r>
              <a:rPr altLang="en-US" dirty="0" lang="zh-CN" sz="2400">
                <a:ea typeface="宋体" panose="02010600030101010101" pitchFamily="2" charset="-122"/>
                <a:latin typeface="宋体" panose="02010600030101010101" pitchFamily="2" charset="-122"/>
              </a:rPr>
              <a:t>  </a:t>
            </a:r>
            <a:r>
              <a:rPr altLang="en-US" dirty="0" lang="zh-CN" sz="2400">
                <a:solidFill>
                  <a:srgbClr val="FF0000"/>
                </a:solidFill>
                <a:ea typeface="宋体" panose="02010600030101010101" pitchFamily="2" charset="-122"/>
                <a:latin typeface="宋体" panose="02010600030101010101" pitchFamily="2" charset="-122"/>
              </a:rPr>
              <a:t>人文精神</a:t>
            </a:r>
            <a:r>
              <a:rPr altLang="en-US" dirty="0" lang="zh-CN" sz="2400">
                <a:ea typeface="宋体" panose="02010600030101010101" pitchFamily="2" charset="-122"/>
                <a:latin typeface="宋体" panose="02010600030101010101" pitchFamily="2" charset="-122"/>
              </a:rPr>
              <a:t>是指蕴涵于人文社会科学学科中的</a:t>
            </a:r>
            <a:r>
              <a:rPr altLang="en-US" dirty="0" lang="zh-CN" sz="2400">
                <a:solidFill>
                  <a:srgbClr val="FF0000"/>
                </a:solidFill>
                <a:ea typeface="宋体" panose="02010600030101010101" pitchFamily="2" charset="-122"/>
                <a:latin typeface="宋体" panose="02010600030101010101" pitchFamily="2" charset="-122"/>
              </a:rPr>
              <a:t>对人类生存的意义和价值</a:t>
            </a:r>
            <a:r>
              <a:rPr altLang="en-US" dirty="0" lang="zh-CN" sz="2400">
                <a:ea typeface="宋体" panose="02010600030101010101" pitchFamily="2" charset="-122"/>
                <a:latin typeface="宋体" panose="02010600030101010101" pitchFamily="2" charset="-122"/>
              </a:rPr>
              <a:t>的关怀，是在人文认识活动中形成的一系列价值观念和态度。 </a:t>
            </a:r>
            <a:endParaRPr altLang="en-US" dirty="0" lang="zh-CN"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r>
              <a:rPr altLang="en-US" dirty="0" lang="zh-CN" sz="2400"/>
              <a:t>    人文精神较注重非理性的因素，它的特点主要表现为：以人为尺度，追求善和美；在肯定理性作用的前提下，重视人的精神在社会实践活动过程中的作用。总体上讲，人文精神尊重人的价值，注重人的精神生活，追求人生的真谛，强调社会的精神支柱和文化繁荣的重要性，重视生产的人文效益、产品的文化含量等。</a:t>
            </a:r>
            <a:endParaRPr altLang="zh-CN" dirty="0" lang="en-US" sz="2400">
              <a:ea typeface="宋体" panose="02010600030101010101" pitchFamily="2" charset="-122"/>
              <a:latin typeface="宋体" panose="02010600030101010101" pitchFamily="2" charset="-122"/>
            </a:endParaRPr>
          </a:p>
          <a:p>
            <a:pPr marL="0" indent="0" lvl="0" algn="just" eaLnBrk="1" hangingPunct="1">
              <a:lnSpc>
                <a:spcPct val="150000"/>
              </a:lnSpc>
              <a:spcBef>
                <a:spcPct val="0"/>
              </a:spcBef>
              <a:buNone/>
            </a:pPr>
            <a:endParaRPr altLang="zh-CN" dirty="0" lang="en-US" sz="2400">
              <a:ea typeface="宋体" panose="02010600030101010101" pitchFamily="2" charset="-122"/>
              <a:latin typeface="宋体" panose="02010600030101010101" pitchFamily="2" charset="-122"/>
            </a:endParaRPr>
          </a:p>
        </p:txBody>
      </p:sp>
    </p:spTree>
    <p:custDataLst>
      <p:tags r:id="rId2"/>
    </p:custDataLst>
  </p:cSld>
  <p:clrMapOvr>
    <a:masterClrMapping/>
  </p:clrMapOvr>
  <p:transition advTm="46052">
    <p:wipe dir="u"/>
  </p:transition>
</p:sld>
</file>

<file path=ppt/slides/slide26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p:sp>
        <p:nvSpPr>
          <p:cNvPr id="351234" name="WordArt 4"/>
          <p:cNvSpPr/>
          <p:nvPr/>
        </p:nvSpPr>
        <p:spPr>
          <a:xfrm>
            <a:off x="1109663" y="4579938"/>
            <a:ext cx="4500562" cy="1531937"/>
          </a:xfrm>
          <a:prstGeom prst="rect">
            <a:avLst/>
          </a:prstGeom>
        </p:spPr>
        <p:txBody>
          <a:bodyPr wrap="none" fromWordArt="1">
            <a:prstTxWarp prst="textPlain">
              <a:avLst>
                <a:gd name="adj" fmla="val 50000"/>
              </a:avLst>
            </a:prstTxWarp>
            <a:normAutofit/>
          </a:bodyPr>
          <a:p>
            <a:pPr algn="ctr"/>
            <a:r>
              <a:rPr altLang="en-US" lang="zh-CN" sz="3600">
                <a:solidFill>
                  <a:srgbClr val="0000FF"/>
                </a:solidFill>
                <a:ea typeface="黑体" panose="02010609060101010101" pitchFamily="49" charset="-122"/>
                <a:latin typeface="黑体" panose="02010609060101010101" pitchFamily="49" charset="-122"/>
              </a:rPr>
              <a:t>谢谢！</a:t>
            </a:r>
            <a:endParaRPr altLang="en-US" lang="zh-CN" sz="3600">
              <a:solidFill>
                <a:srgbClr val="0000FF"/>
              </a:solidFill>
              <a:ea typeface="黑体" panose="02010609060101010101" pitchFamily="49" charset="-122"/>
              <a:latin typeface="黑体" panose="02010609060101010101" pitchFamily="49" charset="-122"/>
            </a:endParaRPr>
          </a:p>
        </p:txBody>
      </p:sp>
      <p:pic>
        <p:nvPicPr>
          <p:cNvPr id="351235" name="Picture 9"/>
          <p:cNvPicPr/>
          <p:nvPr/>
        </p:nvPicPr>
        <p:blipFill>
          <a:blip r:embed="rId1"/>
          <a:stretch>
            <a:fillRect/>
          </a:stretch>
        </p:blipFill>
        <p:spPr>
          <a:xfrm>
            <a:off x="0" y="0"/>
            <a:ext cx="9144000" cy="1743075"/>
          </a:xfrm>
          <a:prstGeom prst="rect">
            <a:avLst/>
          </a:prstGeom>
          <a:noFill/>
          <a:ln w="9525">
            <a:noFill/>
          </a:ln>
        </p:spPr>
      </p:pic>
      <p:sp>
        <p:nvSpPr>
          <p:cNvPr id="351236" name="矩形 1"/>
          <p:cNvSpPr/>
          <p:nvPr/>
        </p:nvSpPr>
        <p:spPr>
          <a:xfrm>
            <a:off x="379413" y="2014538"/>
            <a:ext cx="8385175" cy="1847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50000"/>
              <a:buFont typeface="Wingdings 2" panose="05020102010507070707" pitchFamily="18" charset="2"/>
              <a:buChar char="ß"/>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anose="05020102010507070707" pitchFamily="18" charset="2"/>
              <a:buChar char="Þ"/>
              <a:defRPr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5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mn-lt"/>
                <a:ea typeface="+mn-ea"/>
              </a:defRPr>
            </a:lvl5pPr>
          </a:lstStyle>
          <a:p>
            <a:pPr marL="0" indent="0" lvl="0">
              <a:spcBef>
                <a:spcPct val="0"/>
              </a:spcBef>
              <a:buNone/>
            </a:pPr>
            <a:r>
              <a:rPr altLang="en-US" dirty="0" lang="zh-CN" b="1">
                <a:solidFill>
                  <a:schemeClr val="accent1"/>
                </a:solidFill>
                <a:ea typeface="宋体" panose="02010600030101010101" pitchFamily="2" charset="-122"/>
                <a:latin typeface="Arial" panose="020B0604020202020204" pitchFamily="34" charset="0"/>
              </a:rPr>
              <a:t>让我们共同努力，</a:t>
            </a:r>
            <a:endParaRPr altLang="en-US" dirty="0" lang="zh-CN" b="1">
              <a:solidFill>
                <a:schemeClr val="accent1"/>
              </a:solidFill>
              <a:ea typeface="宋体" panose="02010600030101010101" pitchFamily="2" charset="-122"/>
              <a:latin typeface="Arial" panose="020B0604020202020204" pitchFamily="34" charset="0"/>
            </a:endParaRPr>
          </a:p>
          <a:p>
            <a:pPr marL="0" indent="0" lvl="0">
              <a:spcBef>
                <a:spcPct val="0"/>
              </a:spcBef>
              <a:buNone/>
            </a:pPr>
            <a:r>
              <a:rPr altLang="en-US" dirty="0" lang="zh-CN" b="1">
                <a:solidFill>
                  <a:schemeClr val="accent1"/>
                </a:solidFill>
                <a:ea typeface="宋体" panose="02010600030101010101" pitchFamily="2" charset="-122"/>
                <a:latin typeface="Arial" panose="020B0604020202020204" pitchFamily="34" charset="0"/>
              </a:rPr>
              <a:t>              教学相长，开拓创新！</a:t>
            </a:r>
            <a:endParaRPr altLang="en-US" dirty="0" lang="zh-CN" b="1">
              <a:solidFill>
                <a:schemeClr val="accent1"/>
              </a:solidFill>
              <a:ea typeface="宋体" panose="02010600030101010101" pitchFamily="2" charset="-122"/>
              <a:latin typeface="Arial" panose="020B0604020202020204" pitchFamily="34" charset="0"/>
            </a:endParaRPr>
          </a:p>
          <a:p>
            <a:pPr marL="457200" indent="0" lvl="1">
              <a:spcBef>
                <a:spcPct val="0"/>
              </a:spcBef>
              <a:buNone/>
            </a:pPr>
            <a:r>
              <a:rPr altLang="en-US" dirty="0" lang="zh-CN" b="1" sz="3200">
                <a:solidFill>
                  <a:schemeClr val="accent1"/>
                </a:solidFill>
                <a:ea typeface="宋体" panose="02010600030101010101" pitchFamily="2" charset="-122"/>
                <a:latin typeface="Arial" panose="020B0604020202020204" pitchFamily="34" charset="0"/>
              </a:rPr>
              <a:t>让我们记住：志存高远，责任为先</a:t>
            </a:r>
            <a:endParaRPr altLang="en-US" dirty="0" lang="zh-CN" b="1" sz="3200">
              <a:solidFill>
                <a:schemeClr val="accent1"/>
              </a:solidFill>
              <a:ea typeface="宋体" panose="02010600030101010101" pitchFamily="2" charset="-122"/>
              <a:latin typeface="Arial" panose="020B0604020202020204" pitchFamily="34" charset="0"/>
            </a:endParaRPr>
          </a:p>
          <a:p>
            <a:pPr marL="0" indent="0" lvl="0">
              <a:spcBef>
                <a:spcPct val="0"/>
              </a:spcBef>
              <a:buNone/>
            </a:pPr>
            <a:r>
              <a:rPr altLang="en-US" dirty="0" lang="zh-CN" b="1" sz="1800">
                <a:solidFill>
                  <a:schemeClr val="accent1"/>
                </a:solidFill>
                <a:ea typeface="宋体" panose="02010600030101010101" pitchFamily="2" charset="-122"/>
                <a:latin typeface="Arial" panose="020B0604020202020204" pitchFamily="34" charset="0"/>
              </a:rPr>
              <a:t>              </a:t>
            </a:r>
            <a:endParaRPr altLang="en-US" dirty="0" lang="zh-CN" b="1" sz="1800">
              <a:solidFill>
                <a:schemeClr val="accent1"/>
              </a:solidFill>
              <a:ea typeface="宋体" panose="02010600030101010101" pitchFamily="2" charset="-122"/>
              <a:latin typeface="Arial" panose="020B0604020202020204" pitchFamily="34" charset="0"/>
            </a:endParaRPr>
          </a:p>
        </p:txBody>
      </p:sp>
      <p:pic>
        <p:nvPicPr>
          <p:cNvPr id="351237" name="Picture 3" descr="B4506B051BF6383A15D82BB777EDAD11"/>
          <p:cNvPicPr/>
          <p:nvPr/>
        </p:nvPicPr>
        <p:blipFill>
          <a:blip r:embed="rId2"/>
          <a:stretch>
            <a:fillRect/>
          </a:stretch>
        </p:blipFill>
        <p:spPr>
          <a:xfrm>
            <a:off x="6045200" y="3646488"/>
            <a:ext cx="2933700" cy="2641600"/>
          </a:xfrm>
          <a:prstGeom prst="rect">
            <a:avLst/>
          </a:prstGeom>
          <a:noFill/>
          <a:ln w="9525">
            <a:noFill/>
          </a:ln>
        </p:spPr>
      </p:pic>
    </p:spTree>
  </p:cSld>
  <p:clrMapOvr>
    <a:masterClrMapping/>
  </p:clrMapOvr>
  <p:transition advTm="7582">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51234"/>
                                        </p:tgtEl>
                                        <p:attrNameLst>
                                          <p:attrName>style.visibility</p:attrName>
                                        </p:attrNameLst>
                                      </p:cBhvr>
                                      <p:to>
                                        <p:strVal val="visible"/>
                                      </p:to>
                                    </p:set>
                                    <p:anim calcmode="lin" valueType="num">
                                      <p:cBhvr>
                                        <p:cTn id="7" dur="1000" fill="hold"/>
                                        <p:tgtEl>
                                          <p:spTgt spid="351234"/>
                                        </p:tgtEl>
                                        <p:attrNameLst>
                                          <p:attrName>ppt_w</p:attrName>
                                        </p:attrNameLst>
                                      </p:cBhvr>
                                      <p:tavLst>
                                        <p:tav tm="0">
                                          <p:val>
                                            <p:fltVal val="0.000000"/>
                                          </p:val>
                                        </p:tav>
                                        <p:tav tm="100000">
                                          <p:val>
                                            <p:strVal val="#ppt_w"/>
                                          </p:val>
                                        </p:tav>
                                      </p:tavLst>
                                    </p:anim>
                                    <p:anim calcmode="lin" valueType="num">
                                      <p:cBhvr>
                                        <p:cTn id="8" dur="1000" fill="hold"/>
                                        <p:tgtEl>
                                          <p:spTgt spid="351234"/>
                                        </p:tgtEl>
                                        <p:attrNameLst>
                                          <p:attrName>ppt_h</p:attrName>
                                        </p:attrNameLst>
                                      </p:cBhvr>
                                      <p:tavLst>
                                        <p:tav tm="0">
                                          <p:val>
                                            <p:fltVal val="0.00000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TIMING" val="|0.3"/>
</p:tagLst>
</file>

<file path=ppt/tags/tag2.xml><?xml version="1.0" encoding="utf-8"?>
<p:tagLst xmlns:p="http://schemas.openxmlformats.org/presentationml/2006/main">
  <p:tag name="TIMING" val="|0.3"/>
</p:tagLst>
</file>

<file path=ppt/tags/tag3.xml><?xml version="1.0" encoding="utf-8"?>
<p:tagLst xmlns:p="http://schemas.openxmlformats.org/presentationml/2006/main">
  <p:tag name="TIMING" val="|0.3"/>
</p:tagLst>
</file>

<file path=ppt/tags/tag4.xml><?xml version="1.0" encoding="utf-8"?>
<p:tagLst xmlns:p="http://schemas.openxmlformats.org/presentationml/2006/main">
  <p:tag name="TIMING" val="|17.7|15.7|8.1|9.0"/>
</p:tagLst>
</file>

<file path=ppt/tags/tag5.xml><?xml version="1.0" encoding="utf-8"?>
<p:tagLst xmlns:p="http://schemas.openxmlformats.org/presentationml/2006/main">
  <p:tag name="TIMING" val="|12.3|12.4"/>
</p:tagLst>
</file>

<file path=ppt/tags/tag6.xml><?xml version="1.0" encoding="utf-8"?>
<p:tagLst xmlns:p="http://schemas.openxmlformats.org/presentationml/2006/main">
  <p:tag name="TIMING" val="|2.3"/>
</p:tagLst>
</file>

<file path=ppt/tags/tag7.xml><?xml version="1.0" encoding="utf-8"?>
<p:tagLst xmlns:p="http://schemas.openxmlformats.org/presentationml/2006/main">
  <p:tag name="TIMING" val="|0.9|12.1"/>
</p:tagLst>
</file>

<file path=ppt/tags/tag8.xml><?xml version="1.0" encoding="utf-8"?>
<p:tagLst xmlns:p="http://schemas.openxmlformats.org/presentationml/2006/main">
  <p:tag name="TIMING" val="|2.2"/>
</p:tagLst>
</file>

<file path=ppt/tags/tag9.xml><?xml version="1.0" encoding="utf-8"?>
<p:tagLst xmlns:p="http://schemas.openxmlformats.org/presentationml/2006/main">
  <p:tag name="TIMING" val="|0.7|12.3|8.4|34.1|6.3|10.1"/>
</p:tagLst>
</file>

<file path=ppt/tags/tag10.xml><?xml version="1.0" encoding="utf-8"?>
<p:tagLst xmlns:p="http://schemas.openxmlformats.org/presentationml/2006/main">
  <p:tag name="TIMING" val="|0.9|21.4|4.4|5.7"/>
</p:tagLst>
</file>

<file path=ppt/tags/tag11.xml><?xml version="1.0" encoding="utf-8"?>
<p:tagLst xmlns:p="http://schemas.openxmlformats.org/presentationml/2006/main">
  <p:tag name="TIMING" val="|0.9|9.6|11.5|36.3"/>
</p:tagLst>
</file>

<file path=ppt/tags/tag12.xml><?xml version="1.0" encoding="utf-8"?>
<p:tagLst xmlns:p="http://schemas.openxmlformats.org/presentationml/2006/main">
  <p:tag name="TIMING" val="|0.9|9.6|11.5|36.3"/>
</p:tagLst>
</file>

<file path=ppt/tags/tag13.xml><?xml version="1.0" encoding="utf-8"?>
<p:tagLst xmlns:p="http://schemas.openxmlformats.org/presentationml/2006/main">
  <p:tag name="TIMING" val="|0.9|9.6|11.5|36.3"/>
</p:tagLst>
</file>

<file path=ppt/tags/tag14.xml><?xml version="1.0" encoding="utf-8"?>
<p:tagLst xmlns:p="http://schemas.openxmlformats.org/presentationml/2006/main">
  <p:tag name="TIMING" val="|0.9|9.6|11.5|36.3"/>
</p:tagLst>
</file>

<file path=ppt/tags/tag15.xml><?xml version="1.0" encoding="utf-8"?>
<p:tagLst xmlns:p="http://schemas.openxmlformats.org/presentationml/2006/main">
  <p:tag name="TIMING" val="|0.3|5.9"/>
</p:tagLst>
</file>

<file path=ppt/tags/tag16.xml><?xml version="1.0" encoding="utf-8"?>
<p:tagLst xmlns:p="http://schemas.openxmlformats.org/presentationml/2006/main">
  <p:tag name="TIMING" val="|0.7|15.3|13.7"/>
</p:tagLst>
</file>

<file path=ppt/tags/tag17.xml><?xml version="1.0" encoding="utf-8"?>
<p:tagLst xmlns:p="http://schemas.openxmlformats.org/presentationml/2006/main">
  <p:tag name="TIMING" val="|0.7|15.3|13.7"/>
</p:tagLst>
</file>

<file path=ppt/tags/tag18.xml><?xml version="1.0" encoding="utf-8"?>
<p:tagLst xmlns:p="http://schemas.openxmlformats.org/presentationml/2006/main">
  <p:tag name="TIMING" val="|0.7|15.3|13.7"/>
</p:tagLst>
</file>

<file path=ppt/tags/tag19.xml><?xml version="1.0" encoding="utf-8"?>
<p:tagLst xmlns:p="http://schemas.openxmlformats.org/presentationml/2006/main">
  <p:tag name="TIMING" val="|0.7|15.3|13.7"/>
</p:tagLst>
</file>

<file path=ppt/tags/tag20.xml><?xml version="1.0" encoding="utf-8"?>
<p:tagLst xmlns:p="http://schemas.openxmlformats.org/presentationml/2006/main">
  <p:tag name="TIMING" val="|0.7|15.3|13.7"/>
</p:tagLst>
</file>

<file path=ppt/tags/tag21.xml><?xml version="1.0" encoding="utf-8"?>
<p:tagLst xmlns:p="http://schemas.openxmlformats.org/presentationml/2006/main">
  <p:tag name="TIMING" val="|0.7|15.3|13.7"/>
</p:tagLst>
</file>

<file path=ppt/tags/tag22.xml><?xml version="1.0" encoding="utf-8"?>
<p:tagLst xmlns:p="http://schemas.openxmlformats.org/presentationml/2006/main">
  <p:tag name="TIMING" val="|0.7|15.3|13.7"/>
</p:tagLst>
</file>

<file path=ppt/tags/tag23.xml><?xml version="1.0" encoding="utf-8"?>
<p:tagLst xmlns:p="http://schemas.openxmlformats.org/presentationml/2006/main">
  <p:tag name="TIMING" val="|0.7|15.3|13.7"/>
</p:tagLst>
</file>

<file path=ppt/tags/tag24.xml><?xml version="1.0" encoding="utf-8"?>
<p:tagLst xmlns:p="http://schemas.openxmlformats.org/presentationml/2006/main">
  <p:tag name="TIMING" val="|0.7|15.3|13.7"/>
</p:tagLst>
</file>

<file path=ppt/tags/tag25.xml><?xml version="1.0" encoding="utf-8"?>
<p:tagLst xmlns:p="http://schemas.openxmlformats.org/presentationml/2006/main">
  <p:tag name="TIMING" val="|0.7|15.3|13.7"/>
</p:tagLst>
</file>

<file path=ppt/tags/tag26.xml><?xml version="1.0" encoding="utf-8"?>
<p:tagLst xmlns:p="http://schemas.openxmlformats.org/presentationml/2006/main">
  <p:tag name="TIMING" val="|0.7|15.3|13.7"/>
</p:tagLst>
</file>

<file path=ppt/tags/tag27.xml><?xml version="1.0" encoding="utf-8"?>
<p:tagLst xmlns:p="http://schemas.openxmlformats.org/presentationml/2006/main">
  <p:tag name="TIMING" val="|0.7|15.3|13.7"/>
</p:tagLst>
</file>

<file path=ppt/tags/tag28.xml><?xml version="1.0" encoding="utf-8"?>
<p:tagLst xmlns:p="http://schemas.openxmlformats.org/presentationml/2006/main">
  <p:tag name="TIMING" val="|0.7|15.3|13.7"/>
</p:tagLst>
</file>

<file path=ppt/tags/tag29.xml><?xml version="1.0" encoding="utf-8"?>
<p:tagLst xmlns:p="http://schemas.openxmlformats.org/presentationml/2006/main">
  <p:tag name="COMMONDATA" val="eyJoZGlkIjoiNzE5NjhiY2NiZjlmODAwNzc5MjgyNmFhYWQ0YzEzMzkifQ=="/>
  <p:tag name="commondata" val="eyJoZGlkIjoiZDZkMWMwMmMwYmRiNTk2MzgyYmMyNDllMGU4MzA4ZGUifQ=="/>
</p:tagLst>
</file>

<file path=ppt/theme/theme1.xml><?xml version="1.0" encoding="utf-8"?>
<a:theme xmlns:a="http://schemas.openxmlformats.org/drawingml/2006/main" name="2_暗香扑面">
  <a:themeElements>
    <a:clrScheme name="2_暗香扑面 1">
      <a:dk1>
        <a:srgbClr val="000000"/>
      </a:dk1>
      <a:lt1>
        <a:srgbClr val="FFFFFF"/>
      </a:lt1>
      <a:dk2>
        <a:srgbClr val="2F2F2F"/>
      </a:dk2>
      <a:lt2>
        <a:srgbClr val="FFFFF4"/>
      </a:lt2>
      <a:accent1>
        <a:srgbClr val="918415"/>
      </a:accent1>
      <a:accent2>
        <a:srgbClr val="C47546"/>
      </a:accent2>
      <a:accent3>
        <a:srgbClr val="FFFFFF"/>
      </a:accent3>
      <a:accent4>
        <a:srgbClr val="000000"/>
      </a:accent4>
      <a:accent5>
        <a:srgbClr val="C7C2AA"/>
      </a:accent5>
      <a:accent6>
        <a:srgbClr val="B1693F"/>
      </a:accent6>
      <a:hlink>
        <a:srgbClr val="00D5D5"/>
      </a:hlink>
      <a:folHlink>
        <a:srgbClr val="DD00DD"/>
      </a:folHlink>
    </a:clrScheme>
    <a:fontScheme name="2_暗香扑面">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暗香扑面 1">
        <a:dk1>
          <a:srgbClr val="000000"/>
        </a:dk1>
        <a:lt1>
          <a:srgbClr val="FFFFFF"/>
        </a:lt1>
        <a:dk2>
          <a:srgbClr val="2F2F2F"/>
        </a:dk2>
        <a:lt2>
          <a:srgbClr val="FFFFF4"/>
        </a:lt2>
        <a:accent1>
          <a:srgbClr val="918415"/>
        </a:accent1>
        <a:accent2>
          <a:srgbClr val="C47546"/>
        </a:accent2>
        <a:accent3>
          <a:srgbClr val="FFFFFF"/>
        </a:accent3>
        <a:accent4>
          <a:srgbClr val="000000"/>
        </a:accent4>
        <a:accent5>
          <a:srgbClr val="C7C2AA"/>
        </a:accent5>
        <a:accent6>
          <a:srgbClr val="B1693F"/>
        </a:accent6>
        <a:hlink>
          <a:srgbClr val="00D5D5"/>
        </a:hlink>
        <a:folHlink>
          <a:srgbClr val="DD00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暗香扑面">
  <a:themeElements>
    <a:clrScheme name="7_暗香扑面 1">
      <a:dk1>
        <a:srgbClr val="000000"/>
      </a:dk1>
      <a:lt1>
        <a:srgbClr val="FFFFFF"/>
      </a:lt1>
      <a:dk2>
        <a:srgbClr val="2F2F2F"/>
      </a:dk2>
      <a:lt2>
        <a:srgbClr val="FFFFF4"/>
      </a:lt2>
      <a:accent1>
        <a:srgbClr val="918415"/>
      </a:accent1>
      <a:accent2>
        <a:srgbClr val="C47546"/>
      </a:accent2>
      <a:accent3>
        <a:srgbClr val="FFFFFF"/>
      </a:accent3>
      <a:accent4>
        <a:srgbClr val="000000"/>
      </a:accent4>
      <a:accent5>
        <a:srgbClr val="C7C2AA"/>
      </a:accent5>
      <a:accent6>
        <a:srgbClr val="B1693F"/>
      </a:accent6>
      <a:hlink>
        <a:srgbClr val="00D5D5"/>
      </a:hlink>
      <a:folHlink>
        <a:srgbClr val="DD00DD"/>
      </a:folHlink>
    </a:clrScheme>
    <a:fontScheme name="7_暗香扑面">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暗香扑面 1">
        <a:dk1>
          <a:srgbClr val="000000"/>
        </a:dk1>
        <a:lt1>
          <a:srgbClr val="FFFFFF"/>
        </a:lt1>
        <a:dk2>
          <a:srgbClr val="2F2F2F"/>
        </a:dk2>
        <a:lt2>
          <a:srgbClr val="FFFFF4"/>
        </a:lt2>
        <a:accent1>
          <a:srgbClr val="918415"/>
        </a:accent1>
        <a:accent2>
          <a:srgbClr val="C47546"/>
        </a:accent2>
        <a:accent3>
          <a:srgbClr val="FFFFFF"/>
        </a:accent3>
        <a:accent4>
          <a:srgbClr val="000000"/>
        </a:accent4>
        <a:accent5>
          <a:srgbClr val="C7C2AA"/>
        </a:accent5>
        <a:accent6>
          <a:srgbClr val="B1693F"/>
        </a:accent6>
        <a:hlink>
          <a:srgbClr val="00D5D5"/>
        </a:hlink>
        <a:folHlink>
          <a:srgbClr val="DD00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0</TotalTime>
  <Words>31334</Words>
  <Application>WPS 演示</Application>
  <PresentationFormat>全屏显示(4:3)</PresentationFormat>
  <Paragraphs>1937</Paragraphs>
  <Slides>262</Slides>
  <Notes>21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262</vt:i4>
      </vt:variant>
    </vt:vector>
  </HeadingPairs>
  <TitlesOfParts>
    <vt:vector size="278" baseType="lpstr">
      <vt:lpstr>Arial</vt:lpstr>
      <vt:lpstr>宋体</vt:lpstr>
      <vt:lpstr>Wingdings</vt:lpstr>
      <vt:lpstr>Franklin Gothic Book</vt:lpstr>
      <vt:lpstr>黑体</vt:lpstr>
      <vt:lpstr>Franklin Gothic Medium</vt:lpstr>
      <vt:lpstr>微软雅黑</vt:lpstr>
      <vt:lpstr>Wingdings 2</vt:lpstr>
      <vt:lpstr>Calibri</vt:lpstr>
      <vt:lpstr>楷体_GB2312</vt:lpstr>
      <vt:lpstr>新宋体</vt:lpstr>
      <vt:lpstr>Arial Unicode MS</vt:lpstr>
      <vt:lpstr>Times New Roman</vt:lpstr>
      <vt:lpstr>Tahoma</vt:lpstr>
      <vt:lpstr>2_暗香扑面</vt:lpstr>
      <vt:lpstr>7_暗香扑面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xiong</dc:creator>
  <cp:lastModifiedBy>飞鸟</cp:lastModifiedBy>
  <cp:revision>2137</cp:revision>
  <dcterms:created xsi:type="dcterms:W3CDTF">2013-01-25T01:44:00Z</dcterms:created>
  <dcterms:modified xsi:type="dcterms:W3CDTF">2026-05-15T14:08:52Z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KSOProductBuildVer">
    <vt:lpwstr>2052-12.1.0.25865</vt:lpwstr>
  </property>
  <property fmtid="{D5CDD505-2E9C-101B-9397-08002B2CF9AE}" pid="3" name="ICV">
    <vt:lpwstr>E8CD1567032C46AFBC95F63DA088EC0B</vt:lpwstr>
  </property>
</Properties>
</file>